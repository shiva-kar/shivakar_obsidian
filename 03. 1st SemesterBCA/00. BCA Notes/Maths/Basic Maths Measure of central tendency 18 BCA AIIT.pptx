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7" r:id="rId2"/>
    <p:sldId id="457" r:id="rId3"/>
    <p:sldId id="259" r:id="rId4"/>
    <p:sldId id="658" r:id="rId5"/>
    <p:sldId id="660" r:id="rId6"/>
    <p:sldId id="661" r:id="rId7"/>
    <p:sldId id="673" r:id="rId8"/>
    <p:sldId id="674" r:id="rId9"/>
    <p:sldId id="662" r:id="rId10"/>
    <p:sldId id="675" r:id="rId11"/>
    <p:sldId id="676" r:id="rId12"/>
    <p:sldId id="663" r:id="rId13"/>
    <p:sldId id="677" r:id="rId14"/>
    <p:sldId id="678" r:id="rId15"/>
    <p:sldId id="664" r:id="rId16"/>
    <p:sldId id="665" r:id="rId17"/>
    <p:sldId id="666" r:id="rId18"/>
    <p:sldId id="667" r:id="rId19"/>
    <p:sldId id="679" r:id="rId20"/>
    <p:sldId id="668" r:id="rId21"/>
    <p:sldId id="669" r:id="rId22"/>
    <p:sldId id="670" r:id="rId23"/>
    <p:sldId id="671" r:id="rId24"/>
    <p:sldId id="680" r:id="rId25"/>
    <p:sldId id="672" r:id="rId26"/>
    <p:sldId id="482" r:id="rId27"/>
    <p:sldId id="483" r:id="rId28"/>
    <p:sldId id="681" r:id="rId29"/>
    <p:sldId id="682" r:id="rId30"/>
    <p:sldId id="683" r:id="rId31"/>
    <p:sldId id="684" r:id="rId32"/>
    <p:sldId id="685" r:id="rId33"/>
    <p:sldId id="724" r:id="rId34"/>
    <p:sldId id="725" r:id="rId35"/>
    <p:sldId id="726" r:id="rId36"/>
    <p:sldId id="686" r:id="rId37"/>
    <p:sldId id="687" r:id="rId38"/>
    <p:sldId id="688" r:id="rId39"/>
    <p:sldId id="689" r:id="rId40"/>
    <p:sldId id="690" r:id="rId41"/>
    <p:sldId id="692" r:id="rId42"/>
    <p:sldId id="693" r:id="rId43"/>
    <p:sldId id="727" r:id="rId44"/>
    <p:sldId id="72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8" autoAdjust="0"/>
    <p:restoredTop sz="94660"/>
  </p:normalViewPr>
  <p:slideViewPr>
    <p:cSldViewPr snapToGrid="0">
      <p:cViewPr>
        <p:scale>
          <a:sx n="64" d="100"/>
          <a:sy n="64" d="100"/>
        </p:scale>
        <p:origin x="72" y="46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2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6.wmf"/></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1:46.154"/>
    </inkml:context>
    <inkml:brush xml:id="br0">
      <inkml:brushProperty name="width" value="0.1" units="cm"/>
      <inkml:brushProperty name="height" value="0.1" units="cm"/>
      <inkml:brushProperty name="color" value="#333333"/>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1:57.499"/>
    </inkml:context>
    <inkml:brush xml:id="br0">
      <inkml:brushProperty name="width" value="0.1" units="cm"/>
      <inkml:brushProperty name="height" value="0.1" units="cm"/>
      <inkml:brushProperty name="color" value="#333333"/>
      <inkml:brushProperty name="ignorePressure" value="1"/>
    </inkml:brush>
  </inkml:definitions>
  <inkml:trace contextRef="#ctx0" brushRef="#br0">0 1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1:58.947"/>
    </inkml:context>
    <inkml:brush xml:id="br0">
      <inkml:brushProperty name="width" value="0.1" units="cm"/>
      <inkml:brushProperty name="height" value="0.1" units="cm"/>
      <inkml:brushProperty name="color" value="#333333"/>
      <inkml:brushProperty name="ignorePressure" value="1"/>
    </inkml:brush>
  </inkml:definitions>
  <inkml:trace contextRef="#ctx0" brushRef="#br0">0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2:03.749"/>
    </inkml:context>
    <inkml:brush xml:id="br0">
      <inkml:brushProperty name="width" value="0.1" units="cm"/>
      <inkml:brushProperty name="height" value="0.1" units="cm"/>
      <inkml:brushProperty name="color" value="#333333"/>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2:04.346"/>
    </inkml:context>
    <inkml:brush xml:id="br0">
      <inkml:brushProperty name="width" value="0.1" units="cm"/>
      <inkml:brushProperty name="height" value="0.1" units="cm"/>
      <inkml:brushProperty name="color" value="#333333"/>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2:04.663"/>
    </inkml:context>
    <inkml:brush xml:id="br0">
      <inkml:brushProperty name="width" value="0.1" units="cm"/>
      <inkml:brushProperty name="height" value="0.1" units="cm"/>
      <inkml:brushProperty name="color" value="#333333"/>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2:12.642"/>
    </inkml:context>
    <inkml:brush xml:id="br0">
      <inkml:brushProperty name="width" value="0.1" units="cm"/>
      <inkml:brushProperty name="height" value="0.1" units="cm"/>
      <inkml:brushProperty name="color" value="#333333"/>
      <inkml:brushProperty name="ignorePressure" value="1"/>
    </inkml:brush>
  </inkml:definitions>
  <inkml:trace contextRef="#ctx0" brushRef="#br0">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7:46.913"/>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14:41.888"/>
    </inkml:context>
    <inkml:brush xml:id="br0">
      <inkml:brushProperty name="width" value="0.05" units="cm"/>
      <inkml:brushProperty name="height" value="0.05" units="cm"/>
      <inkml:brushProperty name="color" value="#333333"/>
      <inkml:brushProperty name="ignorePressure" value="1"/>
    </inkml:brush>
  </inkml:definitions>
  <inkml:trace contextRef="#ctx0" brushRef="#br0">1 1,'0'0,"0"0,0 0,0 0,0 0,0 0,0 0,0 0,0 0,0 0,0 0,0 0,0 0,0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20:58.487"/>
    </inkml:context>
    <inkml:brush xml:id="br0">
      <inkml:brushProperty name="width" value="0.05" units="cm"/>
      <inkml:brushProperty name="height" value="0.05" units="cm"/>
      <inkml:brushProperty name="color" value="#333333"/>
      <inkml:brushProperty name="ignorePressure" value="1"/>
    </inkml:brush>
  </inkml:definitions>
  <inkml:trace contextRef="#ctx0" brushRef="#br0">91 1,'-6'0,"-7"0,-7 0,-7 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21:24.981"/>
    </inkml:context>
    <inkml:brush xml:id="br0">
      <inkml:brushProperty name="width" value="0.05" units="cm"/>
      <inkml:brushProperty name="height" value="0.05" units="cm"/>
      <inkml:brushProperty name="color" value="#333333"/>
      <inkml:brushProperty name="ignorePressure" value="1"/>
    </inkml:brush>
  </inkml:definitions>
  <inkml:trace contextRef="#ctx0" brushRef="#br0">1 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22:35.359"/>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0,'0'0,"0"0,0 0,0 0,0 0,0 0,0 0,0 0,0 0,0 0,0 0,0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34:00.684"/>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1,'0'0,"0"0,0 0,0 0,0 0,0 0,0 0,0 0,0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42:27.896"/>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42:28.762"/>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1-05T08:41:41.645"/>
    </inkml:context>
    <inkml:brush xml:id="br0">
      <inkml:brushProperty name="width" value="0.05" units="cm"/>
      <inkml:brushProperty name="height" value="0.05" units="cm"/>
      <inkml:brushProperty name="color" value="#333333"/>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05-11-2020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2</a:t>
            </a:fld>
            <a:endParaRPr lang="en-IN" dirty="0"/>
          </a:p>
        </p:txBody>
      </p:sp>
    </p:spTree>
    <p:extLst>
      <p:ext uri="{BB962C8B-B14F-4D97-AF65-F5344CB8AC3E}">
        <p14:creationId xmlns:p14="http://schemas.microsoft.com/office/powerpoint/2010/main" val="2994825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431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12.w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6.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7.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0.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1.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23.wmf"/></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customXml" Target="../ink/ink3.xml"/><Relationship Id="rId4" Type="http://schemas.openxmlformats.org/officeDocument/2006/relationships/customXml" Target="../ink/ink2.xml"/></Relationships>
</file>

<file path=ppt/slides/_rels/slide27.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customXml" Target="../ink/ink11.xml"/><Relationship Id="rId3" Type="http://schemas.openxmlformats.org/officeDocument/2006/relationships/customXml" Target="../ink/ink4.xml"/><Relationship Id="rId7" Type="http://schemas.openxmlformats.org/officeDocument/2006/relationships/customXml" Target="../ink/ink7.xml"/><Relationship Id="rId12"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customXml" Target="../ink/ink6.xml"/><Relationship Id="rId11" Type="http://schemas.openxmlformats.org/officeDocument/2006/relationships/customXml" Target="../ink/ink10.xml"/><Relationship Id="rId5" Type="http://schemas.openxmlformats.org/officeDocument/2006/relationships/customXml" Target="../ink/ink5.xml"/><Relationship Id="rId10" Type="http://schemas.openxmlformats.org/officeDocument/2006/relationships/customXml" Target="../ink/ink9.xml"/><Relationship Id="rId4" Type="http://schemas.openxmlformats.org/officeDocument/2006/relationships/image" Target="../media/image24.png"/><Relationship Id="rId9" Type="http://schemas.openxmlformats.org/officeDocument/2006/relationships/image" Target="../media/image26.png"/><Relationship Id="rId14" Type="http://schemas.openxmlformats.org/officeDocument/2006/relationships/customXml" Target="../ink/ink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9.bin"/><Relationship Id="rId7" Type="http://schemas.openxmlformats.org/officeDocument/2006/relationships/image" Target="../media/image29.wmf"/><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oleObject" Target="../embeddings/oleObject20.bin"/><Relationship Id="rId5" Type="http://schemas.openxmlformats.org/officeDocument/2006/relationships/image" Target="../media/image31.png"/><Relationship Id="rId4" Type="http://schemas.openxmlformats.org/officeDocument/2006/relationships/image" Target="../media/image28.wmf"/><Relationship Id="rId9" Type="http://schemas.openxmlformats.org/officeDocument/2006/relationships/image" Target="../media/image30.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image" Target="../media/image32.wmf"/><Relationship Id="rId5" Type="http://schemas.openxmlformats.org/officeDocument/2006/relationships/oleObject" Target="../embeddings/oleObject23.bin"/><Relationship Id="rId4" Type="http://schemas.openxmlformats.org/officeDocument/2006/relationships/image" Target="../media/image29.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19.vml"/><Relationship Id="rId4" Type="http://schemas.openxmlformats.org/officeDocument/2006/relationships/image" Target="../media/image33.wmf"/></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3.xml"/><Relationship Id="rId1" Type="http://schemas.openxmlformats.org/officeDocument/2006/relationships/vmlDrawing" Target="../drawings/vmlDrawing20.vml"/><Relationship Id="rId6" Type="http://schemas.openxmlformats.org/officeDocument/2006/relationships/image" Target="../media/image35.wmf"/><Relationship Id="rId5" Type="http://schemas.openxmlformats.org/officeDocument/2006/relationships/oleObject" Target="../embeddings/oleObject26.bin"/><Relationship Id="rId4" Type="http://schemas.openxmlformats.org/officeDocument/2006/relationships/image" Target="../media/image34.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3.xml"/><Relationship Id="rId1" Type="http://schemas.openxmlformats.org/officeDocument/2006/relationships/vmlDrawing" Target="../drawings/vmlDrawing21.vml"/><Relationship Id="rId4" Type="http://schemas.openxmlformats.org/officeDocument/2006/relationships/image" Target="../media/image36.wmf"/></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4.xml"/><Relationship Id="rId1" Type="http://schemas.openxmlformats.org/officeDocument/2006/relationships/slideLayout" Target="../slideLayouts/slideLayout13.xml"/><Relationship Id="rId4" Type="http://schemas.openxmlformats.org/officeDocument/2006/relationships/customXml" Target="../ink/ink15.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Measure of central </a:t>
            </a:r>
            <a:r>
              <a:rPr lang="en-US" altLang="en-US" sz="2500" dirty="0" err="1">
                <a:solidFill>
                  <a:schemeClr val="tx1"/>
                </a:solidFill>
                <a:latin typeface="Times New Roman" panose="02020603050405020304" pitchFamily="18" charset="0"/>
              </a:rPr>
              <a:t>tendancy</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304589-BD54-45D9-A84C-DE8A3A67047B}"/>
              </a:ext>
            </a:extLst>
          </p:cNvPr>
          <p:cNvSpPr txBox="1"/>
          <p:nvPr/>
        </p:nvSpPr>
        <p:spPr>
          <a:xfrm>
            <a:off x="228600" y="3080187"/>
            <a:ext cx="11734800" cy="666786"/>
          </a:xfrm>
          <a:prstGeom prst="rect">
            <a:avLst/>
          </a:prstGeom>
          <a:noFill/>
        </p:spPr>
        <p:txBody>
          <a:bodyPr wrap="square" rtlCol="0">
            <a:spAutoFit/>
          </a:bodyPr>
          <a:lstStyle/>
          <a:p>
            <a:pPr algn="ctr"/>
            <a:r>
              <a:rPr lang="en-US" altLang="en-US" sz="3733" b="1" dirty="0">
                <a:solidFill>
                  <a:srgbClr val="00B050"/>
                </a:solidFill>
                <a:effectLst>
                  <a:outerShdw blurRad="38100" dist="38100" dir="2700000" algn="tl">
                    <a:srgbClr val="000000">
                      <a:alpha val="43137"/>
                    </a:srgbClr>
                  </a:outerShdw>
                </a:effectLst>
                <a:latin typeface="Century Gothic" panose="020B0502020202020204" pitchFamily="34" charset="0"/>
              </a:rPr>
              <a:t>Measure of Central </a:t>
            </a:r>
            <a:r>
              <a:rPr lang="en-US" altLang="en-US" sz="3733" b="1" dirty="0" err="1">
                <a:solidFill>
                  <a:srgbClr val="00B050"/>
                </a:solidFill>
                <a:effectLst>
                  <a:outerShdw blurRad="38100" dist="38100" dir="2700000" algn="tl">
                    <a:srgbClr val="000000">
                      <a:alpha val="43137"/>
                    </a:srgbClr>
                  </a:outerShdw>
                </a:effectLst>
                <a:latin typeface="Century Gothic" panose="020B0502020202020204" pitchFamily="34" charset="0"/>
              </a:rPr>
              <a:t>Tendancy</a:t>
            </a:r>
            <a:endParaRPr lang="en-US" altLang="en-US" sz="3733" b="1" dirty="0">
              <a:solidFill>
                <a:srgbClr val="00B050"/>
              </a:solidFill>
              <a:effectLst>
                <a:outerShdw blurRad="38100" dist="38100" dir="2700000" algn="tl">
                  <a:srgbClr val="000000">
                    <a:alpha val="43137"/>
                  </a:srgbClr>
                </a:outerShdw>
              </a:effectLst>
              <a:latin typeface="Century Gothic" panose="020B0502020202020204" pitchFamily="34" charset="0"/>
            </a:endParaRPr>
          </a:p>
        </p:txBody>
      </p:sp>
    </p:spTree>
    <p:extLst>
      <p:ext uri="{BB962C8B-B14F-4D97-AF65-F5344CB8AC3E}">
        <p14:creationId xmlns:p14="http://schemas.microsoft.com/office/powerpoint/2010/main" val="250262207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3">
            <a:extLst>
              <a:ext uri="{FF2B5EF4-FFF2-40B4-BE49-F238E27FC236}">
                <a16:creationId xmlns:a16="http://schemas.microsoft.com/office/drawing/2014/main" id="{5F1EE331-B810-4B90-AAE3-27840B32B5E7}"/>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8195" name="TextBox 5">
            <a:extLst>
              <a:ext uri="{FF2B5EF4-FFF2-40B4-BE49-F238E27FC236}">
                <a16:creationId xmlns:a16="http://schemas.microsoft.com/office/drawing/2014/main" id="{A677DCC1-C254-48CB-8D61-5905D1984C4A}"/>
              </a:ext>
            </a:extLst>
          </p:cNvPr>
          <p:cNvSpPr txBox="1">
            <a:spLocks noChangeArrowheads="1"/>
          </p:cNvSpPr>
          <p:nvPr/>
        </p:nvSpPr>
        <p:spPr bwMode="auto">
          <a:xfrm>
            <a:off x="14224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Introduction</a:t>
            </a:r>
          </a:p>
        </p:txBody>
      </p:sp>
      <p:sp>
        <p:nvSpPr>
          <p:cNvPr id="8196" name="TextBox 6">
            <a:extLst>
              <a:ext uri="{FF2B5EF4-FFF2-40B4-BE49-F238E27FC236}">
                <a16:creationId xmlns:a16="http://schemas.microsoft.com/office/drawing/2014/main" id="{67B774E2-C9E0-425B-BB7F-E4550CF969AC}"/>
              </a:ext>
            </a:extLst>
          </p:cNvPr>
          <p:cNvSpPr txBox="1">
            <a:spLocks noChangeArrowheads="1"/>
          </p:cNvSpPr>
          <p:nvPr/>
        </p:nvSpPr>
        <p:spPr bwMode="auto">
          <a:xfrm>
            <a:off x="2286000" y="2144714"/>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alibri" panose="020F0502020204030204" pitchFamily="34" charset="0"/>
              </a:rPr>
              <a:t>We studied the different methods of presenting statistical data. The story does not end here. We have to go a long way with these well presented statistical data.</a:t>
            </a:r>
          </a:p>
          <a:p>
            <a:pPr eaLnBrk="1" hangingPunct="1"/>
            <a:endParaRPr lang="en-US" altLang="en-US">
              <a:latin typeface="Calibri" panose="020F0502020204030204" pitchFamily="34" charset="0"/>
            </a:endParaRPr>
          </a:p>
          <a:p>
            <a:pPr eaLnBrk="1" hangingPunct="1"/>
            <a:r>
              <a:rPr lang="en-US" altLang="en-US">
                <a:latin typeface="Calibri" panose="020F0502020204030204" pitchFamily="34" charset="0"/>
              </a:rPr>
              <a:t>Suppose we have the data regarding the marks obtained by all the students of a class and we are to give an impression regarding the performance of students.</a:t>
            </a:r>
          </a:p>
          <a:p>
            <a:pPr eaLnBrk="1" hangingPunct="1"/>
            <a:endParaRPr lang="en-US" altLang="en-US">
              <a:latin typeface="Calibri" panose="020F0502020204030204" pitchFamily="34" charset="0"/>
            </a:endParaRPr>
          </a:p>
          <a:p>
            <a:pPr eaLnBrk="1" hangingPunct="1"/>
            <a:r>
              <a:rPr lang="en-US" altLang="en-US">
                <a:latin typeface="Calibri" panose="020F0502020204030204" pitchFamily="34" charset="0"/>
              </a:rPr>
              <a:t>Similarly, if we intend to compare the wage distribution of workers in two factories and to decide as to which factory is paying more to individual workers, than the other.</a:t>
            </a:r>
          </a:p>
          <a:p>
            <a:pPr eaLnBrk="1" hangingPunct="1"/>
            <a:endParaRPr lang="en-US" altLang="en-US" b="1">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8" name="Text Box 4">
            <a:extLst>
              <a:ext uri="{FF2B5EF4-FFF2-40B4-BE49-F238E27FC236}">
                <a16:creationId xmlns:a16="http://schemas.microsoft.com/office/drawing/2014/main" id="{D2E54AEE-1F8F-4C97-AA59-AD287717552E}"/>
              </a:ext>
            </a:extLst>
          </p:cNvPr>
          <p:cNvSpPr txBox="1">
            <a:spLocks noChangeArrowheads="1"/>
          </p:cNvSpPr>
          <p:nvPr/>
        </p:nvSpPr>
        <p:spPr bwMode="auto">
          <a:xfrm>
            <a:off x="2422525" y="1793876"/>
            <a:ext cx="725487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a:latin typeface="Calibri" panose="020F0502020204030204" pitchFamily="34" charset="0"/>
              </a:rPr>
              <a:t>Such type of problems can be easily dealt with, if we could find  single value of the variable which may be considered as a representative of entire data. This data of representative which helps in describing the characteristics of entire data is called an average of the data. The individual value of the variable usually cluster around it. An average is also called a </a:t>
            </a:r>
            <a:r>
              <a:rPr lang="en-US" altLang="en-US" b="1">
                <a:latin typeface="Calibri" panose="020F0502020204030204" pitchFamily="34" charset="0"/>
              </a:rPr>
              <a:t>measure of central tendency</a:t>
            </a:r>
            <a:r>
              <a:rPr lang="en-US" altLang="en-US">
                <a:latin typeface="Calibri" panose="020F0502020204030204" pitchFamily="34" charset="0"/>
              </a:rPr>
              <a:t>, because it tends to lie centrally with the values of the variable arranged according to magnitude.</a:t>
            </a:r>
          </a:p>
          <a:p>
            <a:pPr algn="just"/>
            <a:endParaRPr lang="en-US" altLang="en-US">
              <a:latin typeface="Calibri" panose="020F0502020204030204" pitchFamily="34" charset="0"/>
            </a:endParaRPr>
          </a:p>
          <a:p>
            <a:pPr algn="just"/>
            <a:r>
              <a:rPr lang="en-US" altLang="en-US">
                <a:latin typeface="Calibri" panose="020F0502020204030204" pitchFamily="34" charset="0"/>
              </a:rPr>
              <a:t>Thus an average or measure of central tendency of the statistical data is that single value  of the variable which represent the entire data. </a:t>
            </a:r>
            <a:endParaRPr lang="en-IN" altLang="en-US">
              <a:latin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TextBox 3">
            <a:extLst>
              <a:ext uri="{FF2B5EF4-FFF2-40B4-BE49-F238E27FC236}">
                <a16:creationId xmlns:a16="http://schemas.microsoft.com/office/drawing/2014/main" id="{0DE87E19-CA0F-4626-992F-7A804B20A072}"/>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35875" name="TextBox 5">
            <a:extLst>
              <a:ext uri="{FF2B5EF4-FFF2-40B4-BE49-F238E27FC236}">
                <a16:creationId xmlns:a16="http://schemas.microsoft.com/office/drawing/2014/main" id="{4A9FB5D1-31D9-4171-8977-CB8429C213CB}"/>
              </a:ext>
            </a:extLst>
          </p:cNvPr>
          <p:cNvSpPr txBox="1">
            <a:spLocks noChangeArrowheads="1"/>
          </p:cNvSpPr>
          <p:nvPr/>
        </p:nvSpPr>
        <p:spPr bwMode="auto">
          <a:xfrm>
            <a:off x="15240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Types of Measures of Location</a:t>
            </a:r>
          </a:p>
        </p:txBody>
      </p:sp>
      <p:sp>
        <p:nvSpPr>
          <p:cNvPr id="335876" name="TextBox 6">
            <a:extLst>
              <a:ext uri="{FF2B5EF4-FFF2-40B4-BE49-F238E27FC236}">
                <a16:creationId xmlns:a16="http://schemas.microsoft.com/office/drawing/2014/main" id="{9B6A5FD8-2F72-4CF3-98D3-7ED22EAD9B1C}"/>
              </a:ext>
            </a:extLst>
          </p:cNvPr>
          <p:cNvSpPr txBox="1">
            <a:spLocks noChangeArrowheads="1"/>
          </p:cNvSpPr>
          <p:nvPr/>
        </p:nvSpPr>
        <p:spPr bwMode="auto">
          <a:xfrm>
            <a:off x="2286000" y="2133602"/>
            <a:ext cx="78486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There are number of method studying measure of location. But we shall be discussing measure of location namely arithmetic mean, geometric mean, harmonic mean, median and mode. </a:t>
            </a:r>
            <a:endParaRPr lang="en-US" altLang="en-US" b="1">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TextBox 3">
            <a:extLst>
              <a:ext uri="{FF2B5EF4-FFF2-40B4-BE49-F238E27FC236}">
                <a16:creationId xmlns:a16="http://schemas.microsoft.com/office/drawing/2014/main" id="{3CA04149-68B5-4B9A-8D88-9FA1AA49B2EF}"/>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36899" name="TextBox 5">
            <a:extLst>
              <a:ext uri="{FF2B5EF4-FFF2-40B4-BE49-F238E27FC236}">
                <a16:creationId xmlns:a16="http://schemas.microsoft.com/office/drawing/2014/main" id="{E844FB01-F38A-4E3F-ADEE-043ED6AFB410}"/>
              </a:ext>
            </a:extLst>
          </p:cNvPr>
          <p:cNvSpPr txBox="1">
            <a:spLocks noChangeArrowheads="1"/>
          </p:cNvSpPr>
          <p:nvPr/>
        </p:nvSpPr>
        <p:spPr bwMode="auto">
          <a:xfrm>
            <a:off x="14224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Arithmetic Mean</a:t>
            </a:r>
          </a:p>
        </p:txBody>
      </p:sp>
      <p:sp>
        <p:nvSpPr>
          <p:cNvPr id="336900" name="TextBox 6">
            <a:extLst>
              <a:ext uri="{FF2B5EF4-FFF2-40B4-BE49-F238E27FC236}">
                <a16:creationId xmlns:a16="http://schemas.microsoft.com/office/drawing/2014/main" id="{F7E990F0-9B4F-4E89-B13F-F832ACBB833D}"/>
              </a:ext>
            </a:extLst>
          </p:cNvPr>
          <p:cNvSpPr txBox="1">
            <a:spLocks noChangeArrowheads="1"/>
          </p:cNvSpPr>
          <p:nvPr/>
        </p:nvSpPr>
        <p:spPr bwMode="auto">
          <a:xfrm>
            <a:off x="2286000" y="2133602"/>
            <a:ext cx="7848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Arithmetic mean is the most important and widely used measure of central tendency. It is generally referred as mean alone. </a:t>
            </a:r>
          </a:p>
          <a:p>
            <a:pPr algn="just" eaLnBrk="1" hangingPunct="1"/>
            <a:endParaRPr lang="en-US" altLang="en-US">
              <a:latin typeface="Calibri" panose="020F0502020204030204" pitchFamily="34" charset="0"/>
            </a:endParaRPr>
          </a:p>
          <a:p>
            <a:pPr algn="just" eaLnBrk="1" hangingPunct="1"/>
            <a:r>
              <a:rPr lang="en-US" altLang="en-US">
                <a:latin typeface="Calibri" panose="020F0502020204030204" pitchFamily="34" charset="0"/>
              </a:rPr>
              <a:t>The arithmetic mean is the number which is obtained by adding the values of all the variables of a series and dividing the total by the number of item. </a:t>
            </a:r>
            <a:endParaRPr lang="en-US" altLang="en-US" b="1">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8" name="Rectangle 4">
            <a:extLst>
              <a:ext uri="{FF2B5EF4-FFF2-40B4-BE49-F238E27FC236}">
                <a16:creationId xmlns:a16="http://schemas.microsoft.com/office/drawing/2014/main" id="{FB8CE9A2-ED1B-4C9B-B23D-E1C8A87D808E}"/>
              </a:ext>
            </a:extLst>
          </p:cNvPr>
          <p:cNvSpPr>
            <a:spLocks noChangeArrowheads="1"/>
          </p:cNvSpPr>
          <p:nvPr/>
        </p:nvSpPr>
        <p:spPr bwMode="auto">
          <a:xfrm>
            <a:off x="2743200" y="894855"/>
            <a:ext cx="6324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en-US" altLang="en-US" dirty="0"/>
              <a:t>The arithmetic mean of a variable is often notated with a bar, for example      would be the mean of some set of data x.      would be read as "x bar".</a:t>
            </a:r>
          </a:p>
        </p:txBody>
      </p:sp>
      <p:pic>
        <p:nvPicPr>
          <p:cNvPr id="349189" name="Picture 5" descr="\bar{x}">
            <a:extLst>
              <a:ext uri="{FF2B5EF4-FFF2-40B4-BE49-F238E27FC236}">
                <a16:creationId xmlns:a16="http://schemas.microsoft.com/office/drawing/2014/main" id="{96014185-12AC-4BBC-B52A-D3E0E3C0CC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2575" y="1282279"/>
            <a:ext cx="174625" cy="190500"/>
          </a:xfrm>
          <a:prstGeom prst="rect">
            <a:avLst/>
          </a:prstGeom>
          <a:noFill/>
          <a:extLst>
            <a:ext uri="{909E8E84-426E-40DD-AFC4-6F175D3DCCD1}">
              <a14:hiddenFill xmlns:a14="http://schemas.microsoft.com/office/drawing/2010/main">
                <a:solidFill>
                  <a:srgbClr val="FFFFFF"/>
                </a:solidFill>
              </a14:hiddenFill>
            </a:ext>
          </a:extLst>
        </p:spPr>
      </p:pic>
      <p:pic>
        <p:nvPicPr>
          <p:cNvPr id="349190" name="Picture 6" descr="\bar{x}">
            <a:extLst>
              <a:ext uri="{FF2B5EF4-FFF2-40B4-BE49-F238E27FC236}">
                <a16:creationId xmlns:a16="http://schemas.microsoft.com/office/drawing/2014/main" id="{1FF6C68D-68BB-45C5-B159-CF9C318B6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1" y="1261267"/>
            <a:ext cx="174625" cy="190500"/>
          </a:xfrm>
          <a:prstGeom prst="rect">
            <a:avLst/>
          </a:prstGeom>
          <a:noFill/>
          <a:extLst>
            <a:ext uri="{909E8E84-426E-40DD-AFC4-6F175D3DCCD1}">
              <a14:hiddenFill xmlns:a14="http://schemas.microsoft.com/office/drawing/2010/main">
                <a:solidFill>
                  <a:srgbClr val="FFFFFF"/>
                </a:solidFill>
              </a14:hiddenFill>
            </a:ext>
          </a:extLst>
        </p:spPr>
      </p:pic>
      <p:sp>
        <p:nvSpPr>
          <p:cNvPr id="349191" name="Text Box 7">
            <a:extLst>
              <a:ext uri="{FF2B5EF4-FFF2-40B4-BE49-F238E27FC236}">
                <a16:creationId xmlns:a16="http://schemas.microsoft.com/office/drawing/2014/main" id="{87F1BE6F-4FEF-4553-A1D4-1509F5A93C88}"/>
              </a:ext>
            </a:extLst>
          </p:cNvPr>
          <p:cNvSpPr txBox="1">
            <a:spLocks noChangeArrowheads="1"/>
          </p:cNvSpPr>
          <p:nvPr/>
        </p:nvSpPr>
        <p:spPr bwMode="auto">
          <a:xfrm>
            <a:off x="3032125" y="2322513"/>
            <a:ext cx="560922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Suppose we have sample space                           . </a:t>
            </a:r>
          </a:p>
          <a:p>
            <a:r>
              <a:rPr lang="en-US" altLang="en-US"/>
              <a:t>Then the arithmetic mean  is defined via the equation</a:t>
            </a:r>
          </a:p>
          <a:p>
            <a:pPr lvl="1"/>
            <a:r>
              <a:rPr lang="en-US" altLang="en-US"/>
              <a:t> </a:t>
            </a:r>
          </a:p>
          <a:p>
            <a:pPr lvl="1"/>
            <a:r>
              <a:rPr lang="en-US" altLang="en-US"/>
              <a:t> </a:t>
            </a:r>
          </a:p>
          <a:p>
            <a:endParaRPr lang="en-US" altLang="en-US"/>
          </a:p>
        </p:txBody>
      </p:sp>
      <p:pic>
        <p:nvPicPr>
          <p:cNvPr id="349193" name="Picture 9" descr="\{a_1,\ldots,a_n\}">
            <a:extLst>
              <a:ext uri="{FF2B5EF4-FFF2-40B4-BE49-F238E27FC236}">
                <a16:creationId xmlns:a16="http://schemas.microsoft.com/office/drawing/2014/main" id="{D1316E20-2E39-406E-9DEA-341BBF069D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914" y="2362201"/>
            <a:ext cx="1309687" cy="265113"/>
          </a:xfrm>
          <a:prstGeom prst="rect">
            <a:avLst/>
          </a:prstGeom>
          <a:noFill/>
          <a:extLst>
            <a:ext uri="{909E8E84-426E-40DD-AFC4-6F175D3DCCD1}">
              <a14:hiddenFill xmlns:a14="http://schemas.microsoft.com/office/drawing/2010/main">
                <a:solidFill>
                  <a:srgbClr val="FFFFFF"/>
                </a:solidFill>
              </a14:hiddenFill>
            </a:ext>
          </a:extLst>
        </p:spPr>
      </p:pic>
      <p:pic>
        <p:nvPicPr>
          <p:cNvPr id="349195" name="Picture 11" descr="A:=\frac{1}{n}\sum_{i=1}^{n} a_i">
            <a:extLst>
              <a:ext uri="{FF2B5EF4-FFF2-40B4-BE49-F238E27FC236}">
                <a16:creationId xmlns:a16="http://schemas.microsoft.com/office/drawing/2014/main" id="{3920C33C-32AA-4645-B5BE-4CD91CE74C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1" y="3200400"/>
            <a:ext cx="1428751" cy="635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2" name="Text Box 4">
            <a:extLst>
              <a:ext uri="{FF2B5EF4-FFF2-40B4-BE49-F238E27FC236}">
                <a16:creationId xmlns:a16="http://schemas.microsoft.com/office/drawing/2014/main" id="{61A979A9-CA80-4D19-9FF8-09945844C0AB}"/>
              </a:ext>
            </a:extLst>
          </p:cNvPr>
          <p:cNvSpPr txBox="1">
            <a:spLocks noChangeArrowheads="1"/>
          </p:cNvSpPr>
          <p:nvPr/>
        </p:nvSpPr>
        <p:spPr bwMode="auto">
          <a:xfrm>
            <a:off x="2641601" y="990601"/>
            <a:ext cx="65566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If the variable x takes the values x</a:t>
            </a:r>
            <a:r>
              <a:rPr lang="en-US" altLang="en-US" baseline="-25000" dirty="0"/>
              <a:t>1</a:t>
            </a:r>
            <a:r>
              <a:rPr lang="en-US" altLang="en-US" dirty="0"/>
              <a:t>, x</a:t>
            </a:r>
            <a:r>
              <a:rPr lang="en-US" altLang="en-US" baseline="-25000" dirty="0"/>
              <a:t>2</a:t>
            </a:r>
            <a:r>
              <a:rPr lang="en-US" altLang="en-US" dirty="0"/>
              <a:t>, …., </a:t>
            </a:r>
            <a:r>
              <a:rPr lang="en-US" altLang="en-US" dirty="0" err="1"/>
              <a:t>x</a:t>
            </a:r>
            <a:r>
              <a:rPr lang="en-US" altLang="en-US" baseline="-25000" dirty="0" err="1"/>
              <a:t>n</a:t>
            </a:r>
            <a:r>
              <a:rPr lang="en-US" altLang="en-US" dirty="0"/>
              <a:t> with frequencies</a:t>
            </a:r>
          </a:p>
          <a:p>
            <a:r>
              <a:rPr lang="en-US" altLang="en-US" dirty="0"/>
              <a:t>f</a:t>
            </a:r>
            <a:r>
              <a:rPr lang="en-US" altLang="en-US" baseline="-25000" dirty="0"/>
              <a:t>1</a:t>
            </a:r>
            <a:r>
              <a:rPr lang="en-US" altLang="en-US" dirty="0"/>
              <a:t>, f</a:t>
            </a:r>
            <a:r>
              <a:rPr lang="en-US" altLang="en-US" baseline="-25000" dirty="0"/>
              <a:t>2</a:t>
            </a:r>
            <a:r>
              <a:rPr lang="en-US" altLang="en-US" dirty="0"/>
              <a:t>, …..</a:t>
            </a:r>
            <a:r>
              <a:rPr lang="en-US" altLang="en-US" dirty="0" err="1"/>
              <a:t>f</a:t>
            </a:r>
            <a:r>
              <a:rPr lang="en-US" altLang="en-US" baseline="-25000" dirty="0" err="1"/>
              <a:t>n</a:t>
            </a:r>
            <a:r>
              <a:rPr lang="en-US" altLang="en-US" dirty="0"/>
              <a:t> respectively, then</a:t>
            </a:r>
          </a:p>
        </p:txBody>
      </p:sp>
      <p:graphicFrame>
        <p:nvGraphicFramePr>
          <p:cNvPr id="350213" name="Object 5">
            <a:extLst>
              <a:ext uri="{FF2B5EF4-FFF2-40B4-BE49-F238E27FC236}">
                <a16:creationId xmlns:a16="http://schemas.microsoft.com/office/drawing/2014/main" id="{8FBE4849-FA4F-4990-8622-72741828F01D}"/>
              </a:ext>
            </a:extLst>
          </p:cNvPr>
          <p:cNvGraphicFramePr>
            <a:graphicFrameLocks noChangeAspect="1"/>
          </p:cNvGraphicFramePr>
          <p:nvPr/>
        </p:nvGraphicFramePr>
        <p:xfrm>
          <a:off x="3810001" y="1978026"/>
          <a:ext cx="3822700" cy="765175"/>
        </p:xfrm>
        <a:graphic>
          <a:graphicData uri="http://schemas.openxmlformats.org/presentationml/2006/ole">
            <mc:AlternateContent xmlns:mc="http://schemas.openxmlformats.org/markup-compatibility/2006">
              <mc:Choice xmlns:v="urn:schemas-microsoft-com:vml" Requires="v">
                <p:oleObj spid="_x0000_s6150" name="Equation" r:id="rId3" imgW="2158920" imgH="431640" progId="Equation.3">
                  <p:embed/>
                </p:oleObj>
              </mc:Choice>
              <mc:Fallback>
                <p:oleObj name="Equation" r:id="rId3" imgW="2158920" imgH="431640" progId="Equation.3">
                  <p:embed/>
                  <p:pic>
                    <p:nvPicPr>
                      <p:cNvPr id="350213" name="Object 5">
                        <a:extLst>
                          <a:ext uri="{FF2B5EF4-FFF2-40B4-BE49-F238E27FC236}">
                            <a16:creationId xmlns:a16="http://schemas.microsoft.com/office/drawing/2014/main" id="{8FBE4849-FA4F-4990-8622-72741828F0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1" y="1978026"/>
                        <a:ext cx="3822700" cy="765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0214" name="Text Box 6">
            <a:extLst>
              <a:ext uri="{FF2B5EF4-FFF2-40B4-BE49-F238E27FC236}">
                <a16:creationId xmlns:a16="http://schemas.microsoft.com/office/drawing/2014/main" id="{CCE5CD5F-5851-4F57-8A7F-4DD0E7C3B2EA}"/>
              </a:ext>
            </a:extLst>
          </p:cNvPr>
          <p:cNvSpPr txBox="1">
            <a:spLocks noChangeArrowheads="1"/>
          </p:cNvSpPr>
          <p:nvPr/>
        </p:nvSpPr>
        <p:spPr bwMode="auto">
          <a:xfrm>
            <a:off x="2498726" y="3160714"/>
            <a:ext cx="714811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Note: In a grouped frequency distribution, we consider the mid value</a:t>
            </a:r>
          </a:p>
          <a:p>
            <a:r>
              <a:rPr lang="en-US" altLang="en-US"/>
              <a:t>of class interval as the variate.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TextBox 3">
            <a:extLst>
              <a:ext uri="{FF2B5EF4-FFF2-40B4-BE49-F238E27FC236}">
                <a16:creationId xmlns:a16="http://schemas.microsoft.com/office/drawing/2014/main" id="{797BE3CB-979C-46BE-BBE1-1CE3073C2CB2}"/>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37923" name="TextBox 5">
            <a:extLst>
              <a:ext uri="{FF2B5EF4-FFF2-40B4-BE49-F238E27FC236}">
                <a16:creationId xmlns:a16="http://schemas.microsoft.com/office/drawing/2014/main" id="{327B5B5D-2E74-4FA9-9381-A54796EFE97D}"/>
              </a:ext>
            </a:extLst>
          </p:cNvPr>
          <p:cNvSpPr txBox="1">
            <a:spLocks noChangeArrowheads="1"/>
          </p:cNvSpPr>
          <p:nvPr/>
        </p:nvSpPr>
        <p:spPr bwMode="auto">
          <a:xfrm>
            <a:off x="1320800" y="42570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Weighted Arithmetic Mean</a:t>
            </a:r>
          </a:p>
        </p:txBody>
      </p:sp>
      <p:sp>
        <p:nvSpPr>
          <p:cNvPr id="337925" name="Text Box 5">
            <a:extLst>
              <a:ext uri="{FF2B5EF4-FFF2-40B4-BE49-F238E27FC236}">
                <a16:creationId xmlns:a16="http://schemas.microsoft.com/office/drawing/2014/main" id="{8D92473E-A68B-43F8-8400-92E7F170AD44}"/>
              </a:ext>
            </a:extLst>
          </p:cNvPr>
          <p:cNvSpPr txBox="1">
            <a:spLocks noChangeArrowheads="1"/>
          </p:cNvSpPr>
          <p:nvPr/>
        </p:nvSpPr>
        <p:spPr bwMode="auto">
          <a:xfrm>
            <a:off x="2727326" y="1492251"/>
            <a:ext cx="75055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If the variable x takes the values x</a:t>
            </a:r>
            <a:r>
              <a:rPr lang="en-US" altLang="en-US" baseline="-25000"/>
              <a:t>1</a:t>
            </a:r>
            <a:r>
              <a:rPr lang="en-US" altLang="en-US"/>
              <a:t>, x</a:t>
            </a:r>
            <a:r>
              <a:rPr lang="en-US" altLang="en-US" baseline="-25000"/>
              <a:t>2</a:t>
            </a:r>
            <a:r>
              <a:rPr lang="en-US" altLang="en-US"/>
              <a:t>, …., x</a:t>
            </a:r>
            <a:r>
              <a:rPr lang="en-US" altLang="en-US" baseline="-25000"/>
              <a:t>n</a:t>
            </a:r>
            <a:r>
              <a:rPr lang="en-US" altLang="en-US"/>
              <a:t> with weights (importance)</a:t>
            </a:r>
          </a:p>
          <a:p>
            <a:r>
              <a:rPr lang="en-US" altLang="en-US"/>
              <a:t>w</a:t>
            </a:r>
            <a:r>
              <a:rPr lang="en-US" altLang="en-US" baseline="-25000"/>
              <a:t>1</a:t>
            </a:r>
            <a:r>
              <a:rPr lang="en-US" altLang="en-US"/>
              <a:t>, w</a:t>
            </a:r>
            <a:r>
              <a:rPr lang="en-US" altLang="en-US" baseline="-25000"/>
              <a:t>2</a:t>
            </a:r>
            <a:r>
              <a:rPr lang="en-US" altLang="en-US"/>
              <a:t>, …..w</a:t>
            </a:r>
            <a:r>
              <a:rPr lang="en-US" altLang="en-US" baseline="-25000"/>
              <a:t>n</a:t>
            </a:r>
            <a:r>
              <a:rPr lang="en-US" altLang="en-US"/>
              <a:t> respectively, then</a:t>
            </a:r>
          </a:p>
        </p:txBody>
      </p:sp>
      <p:graphicFrame>
        <p:nvGraphicFramePr>
          <p:cNvPr id="337926" name="Object 6">
            <a:extLst>
              <a:ext uri="{FF2B5EF4-FFF2-40B4-BE49-F238E27FC236}">
                <a16:creationId xmlns:a16="http://schemas.microsoft.com/office/drawing/2014/main" id="{FB2C0B00-B729-4597-BB6E-1DDF37916C99}"/>
              </a:ext>
            </a:extLst>
          </p:cNvPr>
          <p:cNvGraphicFramePr>
            <a:graphicFrameLocks noChangeAspect="1"/>
          </p:cNvGraphicFramePr>
          <p:nvPr/>
        </p:nvGraphicFramePr>
        <p:xfrm>
          <a:off x="3743325" y="2501901"/>
          <a:ext cx="4791075" cy="927100"/>
        </p:xfrm>
        <a:graphic>
          <a:graphicData uri="http://schemas.openxmlformats.org/presentationml/2006/ole">
            <mc:AlternateContent xmlns:mc="http://schemas.openxmlformats.org/markup-compatibility/2006">
              <mc:Choice xmlns:v="urn:schemas-microsoft-com:vml" Requires="v">
                <p:oleObj spid="_x0000_s7174" name="Equation" r:id="rId3" imgW="2234880" imgH="431640" progId="Equation.3">
                  <p:embed/>
                </p:oleObj>
              </mc:Choice>
              <mc:Fallback>
                <p:oleObj name="Equation" r:id="rId3" imgW="2234880" imgH="431640" progId="Equation.3">
                  <p:embed/>
                  <p:pic>
                    <p:nvPicPr>
                      <p:cNvPr id="337926" name="Object 6">
                        <a:extLst>
                          <a:ext uri="{FF2B5EF4-FFF2-40B4-BE49-F238E27FC236}">
                            <a16:creationId xmlns:a16="http://schemas.microsoft.com/office/drawing/2014/main" id="{FB2C0B00-B729-4597-BB6E-1DDF37916C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3325" y="2501901"/>
                        <a:ext cx="4791075" cy="927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6" name="Text Box 4">
            <a:extLst>
              <a:ext uri="{FF2B5EF4-FFF2-40B4-BE49-F238E27FC236}">
                <a16:creationId xmlns:a16="http://schemas.microsoft.com/office/drawing/2014/main" id="{E1A15C78-9F57-4C96-A44B-50A4A652D77D}"/>
              </a:ext>
            </a:extLst>
          </p:cNvPr>
          <p:cNvSpPr txBox="1">
            <a:spLocks noChangeArrowheads="1"/>
          </p:cNvSpPr>
          <p:nvPr/>
        </p:nvSpPr>
        <p:spPr bwMode="auto">
          <a:xfrm>
            <a:off x="3101977" y="1092200"/>
            <a:ext cx="753283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Find the arithmetic mean of the marks obtained by 9 students </a:t>
            </a:r>
          </a:p>
          <a:p>
            <a:r>
              <a:rPr lang="en-US" altLang="en-US" dirty="0"/>
              <a:t>	of a class given below:</a:t>
            </a:r>
          </a:p>
          <a:p>
            <a:r>
              <a:rPr lang="en-US" altLang="en-US" dirty="0"/>
              <a:t>	52, 40, 70, 43, 75, 40, 48, 35, 65</a:t>
            </a:r>
          </a:p>
          <a:p>
            <a:endParaRPr lang="en-US" altLang="en-US" dirty="0"/>
          </a:p>
          <a:p>
            <a:r>
              <a:rPr lang="en-US" altLang="en-US" dirty="0"/>
              <a:t>Solution: Let             be the arithmetic mean, then</a:t>
            </a:r>
          </a:p>
        </p:txBody>
      </p:sp>
      <p:pic>
        <p:nvPicPr>
          <p:cNvPr id="351237" name="Picture 5" descr="\bar{x}">
            <a:extLst>
              <a:ext uri="{FF2B5EF4-FFF2-40B4-BE49-F238E27FC236}">
                <a16:creationId xmlns:a16="http://schemas.microsoft.com/office/drawing/2014/main" id="{852CEE7F-BF42-4B2A-B587-B86B91F2DD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4592287" y="2183486"/>
            <a:ext cx="287109" cy="313209"/>
          </a:xfrm>
          <a:prstGeom prst="rect">
            <a:avLst/>
          </a:prstGeom>
          <a:noFill/>
          <a:extLst>
            <a:ext uri="{909E8E84-426E-40DD-AFC4-6F175D3DCCD1}">
              <a14:hiddenFill xmlns:a14="http://schemas.microsoft.com/office/drawing/2010/main">
                <a:solidFill>
                  <a:srgbClr val="FFFFFF"/>
                </a:solidFill>
              </a14:hiddenFill>
            </a:ext>
          </a:extLst>
        </p:spPr>
      </p:pic>
      <p:pic>
        <p:nvPicPr>
          <p:cNvPr id="351238" name="Picture 6" descr="\bar{x}">
            <a:extLst>
              <a:ext uri="{FF2B5EF4-FFF2-40B4-BE49-F238E27FC236}">
                <a16:creationId xmlns:a16="http://schemas.microsoft.com/office/drawing/2014/main" id="{53D970EE-55B4-48BE-98A2-2ADCC6DDB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201" y="3954463"/>
            <a:ext cx="174625" cy="190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51239" name="Object 7">
            <a:extLst>
              <a:ext uri="{FF2B5EF4-FFF2-40B4-BE49-F238E27FC236}">
                <a16:creationId xmlns:a16="http://schemas.microsoft.com/office/drawing/2014/main" id="{DC882E10-1AE0-4AEC-A350-29D91E3BB8A3}"/>
              </a:ext>
            </a:extLst>
          </p:cNvPr>
          <p:cNvGraphicFramePr>
            <a:graphicFrameLocks noChangeAspect="1"/>
          </p:cNvGraphicFramePr>
          <p:nvPr/>
        </p:nvGraphicFramePr>
        <p:xfrm>
          <a:off x="4401911" y="3835400"/>
          <a:ext cx="5029200" cy="619125"/>
        </p:xfrm>
        <a:graphic>
          <a:graphicData uri="http://schemas.openxmlformats.org/presentationml/2006/ole">
            <mc:AlternateContent xmlns:mc="http://schemas.openxmlformats.org/markup-compatibility/2006">
              <mc:Choice xmlns:v="urn:schemas-microsoft-com:vml" Requires="v">
                <p:oleObj spid="_x0000_s8198" name="Equation" r:id="rId4" imgW="3200400" imgH="393480" progId="Equation.3">
                  <p:embed/>
                </p:oleObj>
              </mc:Choice>
              <mc:Fallback>
                <p:oleObj name="Equation" r:id="rId4" imgW="3200400" imgH="393480" progId="Equation.3">
                  <p:embed/>
                  <p:pic>
                    <p:nvPicPr>
                      <p:cNvPr id="351239" name="Object 7">
                        <a:extLst>
                          <a:ext uri="{FF2B5EF4-FFF2-40B4-BE49-F238E27FC236}">
                            <a16:creationId xmlns:a16="http://schemas.microsoft.com/office/drawing/2014/main" id="{DC882E10-1AE0-4AEC-A350-29D91E3BB8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1911" y="3835400"/>
                        <a:ext cx="50292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1240" name="Text Box 8">
            <a:extLst>
              <a:ext uri="{FF2B5EF4-FFF2-40B4-BE49-F238E27FC236}">
                <a16:creationId xmlns:a16="http://schemas.microsoft.com/office/drawing/2014/main" id="{A5479E66-6D31-44D3-947B-25FC7FA4DAB5}"/>
              </a:ext>
            </a:extLst>
          </p:cNvPr>
          <p:cNvSpPr txBox="1">
            <a:spLocks noChangeArrowheads="1"/>
          </p:cNvSpPr>
          <p:nvPr/>
        </p:nvSpPr>
        <p:spPr bwMode="auto">
          <a:xfrm>
            <a:off x="3723524" y="3954463"/>
            <a:ext cx="3193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60" name="Text Box 4">
            <a:extLst>
              <a:ext uri="{FF2B5EF4-FFF2-40B4-BE49-F238E27FC236}">
                <a16:creationId xmlns:a16="http://schemas.microsoft.com/office/drawing/2014/main" id="{172756C7-9430-4CCA-BFDF-9A9481D832B5}"/>
              </a:ext>
            </a:extLst>
          </p:cNvPr>
          <p:cNvSpPr txBox="1">
            <a:spLocks noChangeArrowheads="1"/>
          </p:cNvSpPr>
          <p:nvPr/>
        </p:nvSpPr>
        <p:spPr bwMode="auto">
          <a:xfrm>
            <a:off x="758856" y="889000"/>
            <a:ext cx="690445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Calculate the A. M. for the following data:</a:t>
            </a:r>
          </a:p>
          <a:p>
            <a:endParaRPr lang="en-US" altLang="en-US" dirty="0"/>
          </a:p>
          <a:p>
            <a:r>
              <a:rPr lang="en-US" altLang="en-US" dirty="0"/>
              <a:t>Marks obtained:	36	42	46	55	63	72</a:t>
            </a:r>
          </a:p>
          <a:p>
            <a:r>
              <a:rPr lang="en-US" altLang="en-US" dirty="0"/>
              <a:t>no. of students:	4	5	9	10	8	4</a:t>
            </a:r>
          </a:p>
          <a:p>
            <a:endParaRPr lang="en-US" altLang="en-US" dirty="0"/>
          </a:p>
        </p:txBody>
      </p:sp>
      <p:graphicFrame>
        <p:nvGraphicFramePr>
          <p:cNvPr id="352288" name="Group 32">
            <a:extLst>
              <a:ext uri="{FF2B5EF4-FFF2-40B4-BE49-F238E27FC236}">
                <a16:creationId xmlns:a16="http://schemas.microsoft.com/office/drawing/2014/main" id="{3D9B39F5-FD10-4547-AE9A-B087ACF7519C}"/>
              </a:ext>
            </a:extLst>
          </p:cNvPr>
          <p:cNvGraphicFramePr>
            <a:graphicFrameLocks noGrp="1"/>
          </p:cNvGraphicFramePr>
          <p:nvPr>
            <p:extLst>
              <p:ext uri="{D42A27DB-BD31-4B8C-83A1-F6EECF244321}">
                <p14:modId xmlns:p14="http://schemas.microsoft.com/office/powerpoint/2010/main" val="613892534"/>
              </p:ext>
            </p:extLst>
          </p:nvPr>
        </p:nvGraphicFramePr>
        <p:xfrm>
          <a:off x="3048000" y="2057401"/>
          <a:ext cx="6096000" cy="3649980"/>
        </p:xfrm>
        <a:graphic>
          <a:graphicData uri="http://schemas.openxmlformats.org/drawingml/2006/table">
            <a:tbl>
              <a:tblPr/>
              <a:tblGrid>
                <a:gridCol w="2032000">
                  <a:extLst>
                    <a:ext uri="{9D8B030D-6E8A-4147-A177-3AD203B41FA5}">
                      <a16:colId xmlns:a16="http://schemas.microsoft.com/office/drawing/2014/main" val="426386241"/>
                    </a:ext>
                  </a:extLst>
                </a:gridCol>
                <a:gridCol w="2032000">
                  <a:extLst>
                    <a:ext uri="{9D8B030D-6E8A-4147-A177-3AD203B41FA5}">
                      <a16:colId xmlns:a16="http://schemas.microsoft.com/office/drawing/2014/main" val="977533580"/>
                    </a:ext>
                  </a:extLst>
                </a:gridCol>
                <a:gridCol w="2032000">
                  <a:extLst>
                    <a:ext uri="{9D8B030D-6E8A-4147-A177-3AD203B41FA5}">
                      <a16:colId xmlns:a16="http://schemas.microsoft.com/office/drawing/2014/main" val="1893435926"/>
                    </a:ext>
                  </a:extLst>
                </a:gridCol>
              </a:tblGrid>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Marks (x)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No. of students (f)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f 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38579327"/>
                  </a:ext>
                </a:extLst>
              </a:tr>
              <a:tr h="2225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36</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42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46</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55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63</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72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9</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8</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144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414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550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504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288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8511473"/>
                  </a:ext>
                </a:extLst>
              </a:tr>
              <a:tr h="7239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 = 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fx</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2110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56529647"/>
                  </a:ext>
                </a:extLst>
              </a:tr>
            </a:tbl>
          </a:graphicData>
        </a:graphic>
      </p:graphicFrame>
      <p:sp>
        <p:nvSpPr>
          <p:cNvPr id="352289" name="Text Box 33">
            <a:extLst>
              <a:ext uri="{FF2B5EF4-FFF2-40B4-BE49-F238E27FC236}">
                <a16:creationId xmlns:a16="http://schemas.microsoft.com/office/drawing/2014/main" id="{247AE7D9-E626-4F87-9300-A3E6B209FC58}"/>
              </a:ext>
            </a:extLst>
          </p:cNvPr>
          <p:cNvSpPr txBox="1">
            <a:spLocks noChangeArrowheads="1"/>
          </p:cNvSpPr>
          <p:nvPr/>
        </p:nvSpPr>
        <p:spPr bwMode="auto">
          <a:xfrm>
            <a:off x="2955926" y="598011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IN" altLang="en-US"/>
          </a:p>
        </p:txBody>
      </p:sp>
      <p:pic>
        <p:nvPicPr>
          <p:cNvPr id="352290" name="Picture 34" descr="\bar{x}">
            <a:extLst>
              <a:ext uri="{FF2B5EF4-FFF2-40B4-BE49-F238E27FC236}">
                <a16:creationId xmlns:a16="http://schemas.microsoft.com/office/drawing/2014/main" id="{D94A752B-58E3-4788-9DC1-74722DE96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1977" y="6057901"/>
            <a:ext cx="174625" cy="190500"/>
          </a:xfrm>
          <a:prstGeom prst="rect">
            <a:avLst/>
          </a:prstGeom>
          <a:noFill/>
          <a:extLst>
            <a:ext uri="{909E8E84-426E-40DD-AFC4-6F175D3DCCD1}">
              <a14:hiddenFill xmlns:a14="http://schemas.microsoft.com/office/drawing/2010/main">
                <a:solidFill>
                  <a:srgbClr val="FFFFFF"/>
                </a:solidFill>
              </a14:hiddenFill>
            </a:ext>
          </a:extLst>
        </p:spPr>
      </p:pic>
      <p:sp>
        <p:nvSpPr>
          <p:cNvPr id="352291" name="Text Box 35">
            <a:extLst>
              <a:ext uri="{FF2B5EF4-FFF2-40B4-BE49-F238E27FC236}">
                <a16:creationId xmlns:a16="http://schemas.microsoft.com/office/drawing/2014/main" id="{13F22503-CEF1-4B63-B77B-502CA7C3EB17}"/>
              </a:ext>
            </a:extLst>
          </p:cNvPr>
          <p:cNvSpPr txBox="1">
            <a:spLocks noChangeArrowheads="1"/>
          </p:cNvSpPr>
          <p:nvPr/>
        </p:nvSpPr>
        <p:spPr bwMode="auto">
          <a:xfrm>
            <a:off x="3413125" y="5980113"/>
            <a:ext cx="3834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a:t>
            </a:r>
          </a:p>
        </p:txBody>
      </p:sp>
      <p:sp>
        <p:nvSpPr>
          <p:cNvPr id="352292" name="Rectangle 36">
            <a:extLst>
              <a:ext uri="{FF2B5EF4-FFF2-40B4-BE49-F238E27FC236}">
                <a16:creationId xmlns:a16="http://schemas.microsoft.com/office/drawing/2014/main" id="{3023E2BF-FBA3-4DFF-BC77-52967447A43B}"/>
              </a:ext>
            </a:extLst>
          </p:cNvPr>
          <p:cNvSpPr>
            <a:spLocks noChangeArrowheads="1"/>
          </p:cNvSpPr>
          <p:nvPr/>
        </p:nvSpPr>
        <p:spPr bwMode="auto">
          <a:xfrm>
            <a:off x="4038601" y="6034088"/>
            <a:ext cx="2679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∑fx/N = 2110/40 = 52.75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TextBox 3">
            <a:extLst>
              <a:ext uri="{FF2B5EF4-FFF2-40B4-BE49-F238E27FC236}">
                <a16:creationId xmlns:a16="http://schemas.microsoft.com/office/drawing/2014/main" id="{1800ADAB-EA4F-4F17-9B22-6EE399C1EFCA}"/>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38947" name="TextBox 5">
            <a:extLst>
              <a:ext uri="{FF2B5EF4-FFF2-40B4-BE49-F238E27FC236}">
                <a16:creationId xmlns:a16="http://schemas.microsoft.com/office/drawing/2014/main" id="{6F003303-D579-49B8-8706-71D7FE8F5382}"/>
              </a:ext>
            </a:extLst>
          </p:cNvPr>
          <p:cNvSpPr txBox="1">
            <a:spLocks noChangeArrowheads="1"/>
          </p:cNvSpPr>
          <p:nvPr/>
        </p:nvSpPr>
        <p:spPr bwMode="auto">
          <a:xfrm>
            <a:off x="13208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Step deviation method</a:t>
            </a:r>
          </a:p>
        </p:txBody>
      </p:sp>
      <p:sp>
        <p:nvSpPr>
          <p:cNvPr id="338948" name="TextBox 6">
            <a:extLst>
              <a:ext uri="{FF2B5EF4-FFF2-40B4-BE49-F238E27FC236}">
                <a16:creationId xmlns:a16="http://schemas.microsoft.com/office/drawing/2014/main" id="{6F9AA887-A4D5-46A6-B0F7-86080FC236FD}"/>
              </a:ext>
            </a:extLst>
          </p:cNvPr>
          <p:cNvSpPr txBox="1">
            <a:spLocks noChangeArrowheads="1"/>
          </p:cNvSpPr>
          <p:nvPr/>
        </p:nvSpPr>
        <p:spPr bwMode="auto">
          <a:xfrm>
            <a:off x="2286000" y="1371600"/>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We observed that in cases where the values of the variable (x)  and their respective frequencies (f) are large the calculation of arithmetic mean by the usual formulae becomes very cumbersome. Due reduce the calculation work the step deviation method is used in which step deviation of the values of the variable are taken. </a:t>
            </a:r>
          </a:p>
          <a:p>
            <a:pPr algn="just" eaLnBrk="1" hangingPunct="1"/>
            <a:endParaRPr lang="en-US" altLang="en-US">
              <a:latin typeface="Calibri" panose="020F0502020204030204" pitchFamily="34" charset="0"/>
            </a:endParaRPr>
          </a:p>
          <a:p>
            <a:pPr algn="just" eaLnBrk="1" hangingPunct="1"/>
            <a:r>
              <a:rPr lang="en-US" altLang="en-US">
                <a:latin typeface="Calibri" panose="020F0502020204030204" pitchFamily="34" charset="0"/>
              </a:rPr>
              <a:t>Let A be any assumed number (usually taken in the middle of the series), then</a:t>
            </a:r>
          </a:p>
          <a:p>
            <a:pPr algn="just" eaLnBrk="1" hangingPunct="1"/>
            <a:r>
              <a:rPr lang="en-US" altLang="en-US">
                <a:latin typeface="Calibri" panose="020F0502020204030204" pitchFamily="34" charset="0"/>
              </a:rPr>
              <a:t>d</a:t>
            </a:r>
            <a:r>
              <a:rPr lang="en-US" altLang="en-US" baseline="-25000">
                <a:latin typeface="Calibri" panose="020F0502020204030204" pitchFamily="34" charset="0"/>
              </a:rPr>
              <a:t>i </a:t>
            </a:r>
            <a:r>
              <a:rPr lang="en-US" altLang="en-US">
                <a:latin typeface="Calibri" panose="020F0502020204030204" pitchFamily="34" charset="0"/>
              </a:rPr>
              <a:t>= x</a:t>
            </a:r>
            <a:r>
              <a:rPr lang="en-US" altLang="en-US" baseline="-25000">
                <a:latin typeface="Calibri" panose="020F0502020204030204" pitchFamily="34" charset="0"/>
              </a:rPr>
              <a:t>i</a:t>
            </a:r>
            <a:r>
              <a:rPr lang="en-US" altLang="en-US">
                <a:latin typeface="Calibri" panose="020F0502020204030204" pitchFamily="34" charset="0"/>
              </a:rPr>
              <a:t> – A are the deviations of the values of x from A, then</a:t>
            </a:r>
          </a:p>
          <a:p>
            <a:pPr algn="just" eaLnBrk="1" hangingPunct="1"/>
            <a:endParaRPr lang="en-US" altLang="en-US">
              <a:latin typeface="Calibri" panose="020F0502020204030204" pitchFamily="34" charset="0"/>
            </a:endParaRPr>
          </a:p>
          <a:p>
            <a:pPr algn="just" eaLnBrk="1" hangingPunct="1"/>
            <a:endParaRPr lang="en-US" altLang="en-US" b="1">
              <a:latin typeface="Calibri" panose="020F0502020204030204" pitchFamily="34" charset="0"/>
            </a:endParaRPr>
          </a:p>
        </p:txBody>
      </p:sp>
      <p:graphicFrame>
        <p:nvGraphicFramePr>
          <p:cNvPr id="338949" name="Object 5">
            <a:extLst>
              <a:ext uri="{FF2B5EF4-FFF2-40B4-BE49-F238E27FC236}">
                <a16:creationId xmlns:a16="http://schemas.microsoft.com/office/drawing/2014/main" id="{9F618B23-A8A0-4D06-81E8-91F3000A823B}"/>
              </a:ext>
            </a:extLst>
          </p:cNvPr>
          <p:cNvGraphicFramePr>
            <a:graphicFrameLocks noChangeAspect="1"/>
          </p:cNvGraphicFramePr>
          <p:nvPr/>
        </p:nvGraphicFramePr>
        <p:xfrm>
          <a:off x="2895600" y="4064000"/>
          <a:ext cx="5791200" cy="908051"/>
        </p:xfrm>
        <a:graphic>
          <a:graphicData uri="http://schemas.openxmlformats.org/presentationml/2006/ole">
            <mc:AlternateContent xmlns:mc="http://schemas.openxmlformats.org/markup-compatibility/2006">
              <mc:Choice xmlns:v="urn:schemas-microsoft-com:vml" Requires="v">
                <p:oleObj spid="_x0000_s9222" name="Equation" r:id="rId3" imgW="2755800" imgH="431640" progId="Equation.3">
                  <p:embed/>
                </p:oleObj>
              </mc:Choice>
              <mc:Fallback>
                <p:oleObj name="Equation" r:id="rId3" imgW="2755800" imgH="431640" progId="Equation.3">
                  <p:embed/>
                  <p:pic>
                    <p:nvPicPr>
                      <p:cNvPr id="338949" name="Object 5">
                        <a:extLst>
                          <a:ext uri="{FF2B5EF4-FFF2-40B4-BE49-F238E27FC236}">
                            <a16:creationId xmlns:a16="http://schemas.microsoft.com/office/drawing/2014/main" id="{9F618B23-A8A0-4D06-81E8-91F3000A82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064000"/>
                        <a:ext cx="5791200" cy="908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950" name="Text Box 6">
            <a:extLst>
              <a:ext uri="{FF2B5EF4-FFF2-40B4-BE49-F238E27FC236}">
                <a16:creationId xmlns:a16="http://schemas.microsoft.com/office/drawing/2014/main" id="{45B98F6D-7480-40F6-A4CD-973A8B23259F}"/>
              </a:ext>
            </a:extLst>
          </p:cNvPr>
          <p:cNvSpPr txBox="1">
            <a:spLocks noChangeArrowheads="1"/>
          </p:cNvSpPr>
          <p:nvPr/>
        </p:nvSpPr>
        <p:spPr bwMode="auto">
          <a:xfrm>
            <a:off x="2498726" y="5370513"/>
            <a:ext cx="30572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is the width of class interval.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4" name="Rectangle 4">
            <a:extLst>
              <a:ext uri="{FF2B5EF4-FFF2-40B4-BE49-F238E27FC236}">
                <a16:creationId xmlns:a16="http://schemas.microsoft.com/office/drawing/2014/main" id="{B6ED0B4A-2490-473C-947B-1C2A1A386F05}"/>
              </a:ext>
            </a:extLst>
          </p:cNvPr>
          <p:cNvSpPr>
            <a:spLocks noChangeArrowheads="1"/>
          </p:cNvSpPr>
          <p:nvPr/>
        </p:nvSpPr>
        <p:spPr bwMode="auto">
          <a:xfrm>
            <a:off x="2390057" y="1362521"/>
            <a:ext cx="761041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en-US" altLang="en-US" dirty="0"/>
              <a:t>Example: The following data shows distance covered by   </a:t>
            </a:r>
            <a:r>
              <a:rPr lang="en-US" altLang="en-US" sz="1200" dirty="0"/>
              <a:t> </a:t>
            </a:r>
            <a:r>
              <a:rPr lang="en-US" altLang="en-US" dirty="0"/>
              <a:t>  100  persons</a:t>
            </a:r>
          </a:p>
          <a:p>
            <a:pPr eaLnBrk="0" hangingPunct="0"/>
            <a:r>
              <a:rPr lang="en-US" altLang="en-US" dirty="0"/>
              <a:t> to perform their routine jobs.</a:t>
            </a:r>
          </a:p>
          <a:p>
            <a:pPr eaLnBrk="0" hangingPunct="0"/>
            <a:endParaRPr lang="en-US" altLang="en-US" dirty="0"/>
          </a:p>
        </p:txBody>
      </p:sp>
      <p:graphicFrame>
        <p:nvGraphicFramePr>
          <p:cNvPr id="353358" name="Group 78">
            <a:extLst>
              <a:ext uri="{FF2B5EF4-FFF2-40B4-BE49-F238E27FC236}">
                <a16:creationId xmlns:a16="http://schemas.microsoft.com/office/drawing/2014/main" id="{C3195BAE-6566-4B03-B04B-682C4932BF9A}"/>
              </a:ext>
            </a:extLst>
          </p:cNvPr>
          <p:cNvGraphicFramePr>
            <a:graphicFrameLocks noGrp="1"/>
          </p:cNvGraphicFramePr>
          <p:nvPr/>
        </p:nvGraphicFramePr>
        <p:xfrm>
          <a:off x="3048001" y="2514600"/>
          <a:ext cx="5910265" cy="1630680"/>
        </p:xfrm>
        <a:graphic>
          <a:graphicData uri="http://schemas.openxmlformats.org/drawingml/2006/table">
            <a:tbl>
              <a:tblPr/>
              <a:tblGrid>
                <a:gridCol w="1749425">
                  <a:extLst>
                    <a:ext uri="{9D8B030D-6E8A-4147-A177-3AD203B41FA5}">
                      <a16:colId xmlns:a16="http://schemas.microsoft.com/office/drawing/2014/main" val="1021117183"/>
                    </a:ext>
                  </a:extLst>
                </a:gridCol>
                <a:gridCol w="925513">
                  <a:extLst>
                    <a:ext uri="{9D8B030D-6E8A-4147-A177-3AD203B41FA5}">
                      <a16:colId xmlns:a16="http://schemas.microsoft.com/office/drawing/2014/main" val="775393854"/>
                    </a:ext>
                  </a:extLst>
                </a:gridCol>
                <a:gridCol w="1063625">
                  <a:extLst>
                    <a:ext uri="{9D8B030D-6E8A-4147-A177-3AD203B41FA5}">
                      <a16:colId xmlns:a16="http://schemas.microsoft.com/office/drawing/2014/main" val="3194985630"/>
                    </a:ext>
                  </a:extLst>
                </a:gridCol>
                <a:gridCol w="1085851">
                  <a:extLst>
                    <a:ext uri="{9D8B030D-6E8A-4147-A177-3AD203B41FA5}">
                      <a16:colId xmlns:a16="http://schemas.microsoft.com/office/drawing/2014/main" val="623623386"/>
                    </a:ext>
                  </a:extLst>
                </a:gridCol>
                <a:gridCol w="1085851">
                  <a:extLst>
                    <a:ext uri="{9D8B030D-6E8A-4147-A177-3AD203B41FA5}">
                      <a16:colId xmlns:a16="http://schemas.microsoft.com/office/drawing/2014/main" val="2011373256"/>
                    </a:ext>
                  </a:extLst>
                </a:gridCol>
              </a:tblGrid>
              <a:tr h="94488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a:ln>
                            <a:noFill/>
                          </a:ln>
                          <a:solidFill>
                            <a:schemeClr val="tx1"/>
                          </a:solidFill>
                          <a:effectLst/>
                          <a:latin typeface="Arial" panose="020B0604020202020204" pitchFamily="34" charset="0"/>
                        </a:rPr>
                        <a:t>Distance (Km)</a:t>
                      </a:r>
                      <a:r>
                        <a:rPr kumimoji="0" lang="en-US" altLang="en-US" sz="1900" b="0" i="0" u="none" strike="noStrike" cap="none" normalizeH="0" baseline="0">
                          <a:ln>
                            <a:noFill/>
                          </a:ln>
                          <a:solidFill>
                            <a:schemeClr val="tx1"/>
                          </a:solidFill>
                          <a:effectLst/>
                          <a:latin typeface="Arial" panose="020B0604020202020204" pitchFamily="34" charset="0"/>
                        </a:rPr>
                        <a:t> </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Arial" panose="020B0604020202020204" pitchFamily="34" charset="0"/>
                        </a:rPr>
                        <a:t>  </a:t>
                      </a: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900" b="0" i="0" u="none" strike="noStrike" cap="none" normalizeH="0" baseline="0" dirty="0">
                          <a:ln>
                            <a:noFill/>
                          </a:ln>
                          <a:solidFill>
                            <a:schemeClr val="tx1"/>
                          </a:solidFill>
                          <a:effectLst/>
                          <a:latin typeface="Arial" panose="020B0604020202020204" pitchFamily="34" charset="0"/>
                        </a:rPr>
                        <a:t>         0-10    </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10-20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20-30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30-40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2385450"/>
                  </a:ext>
                </a:extLst>
              </a:tr>
              <a:tr h="6604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Arial" panose="020B0604020202020204" pitchFamily="34" charset="0"/>
                        </a:rPr>
                        <a:t>Number of Persons</a:t>
                      </a:r>
                      <a:endParaRPr kumimoji="0" lang="en-US" altLang="en-US" sz="1900" b="0" i="0" u="none" strike="noStrike" cap="none" normalizeH="0" baseline="0" dirty="0">
                        <a:ln>
                          <a:noFill/>
                        </a:ln>
                        <a:solidFill>
                          <a:schemeClr val="tx1"/>
                        </a:solidFill>
                        <a:effectLst/>
                        <a:latin typeface="Arial" panose="020B0604020202020204" pitchFamily="34" charset="0"/>
                      </a:endParaRP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10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20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a:ln>
                            <a:noFill/>
                          </a:ln>
                          <a:solidFill>
                            <a:schemeClr val="tx1"/>
                          </a:solidFill>
                          <a:effectLst/>
                          <a:latin typeface="Arial" panose="020B0604020202020204" pitchFamily="34" charset="0"/>
                        </a:rPr>
                        <a:t>40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900" b="0" i="0" u="none" strike="noStrike" cap="none" normalizeH="0" baseline="0" dirty="0">
                          <a:ln>
                            <a:noFill/>
                          </a:ln>
                          <a:solidFill>
                            <a:schemeClr val="tx1"/>
                          </a:solidFill>
                          <a:effectLst/>
                          <a:latin typeface="Arial" panose="020B0604020202020204" pitchFamily="34" charset="0"/>
                        </a:rPr>
                        <a:t>30</a:t>
                      </a:r>
                    </a:p>
                  </a:txBody>
                  <a:tcPr anchor="ctr" horzOverflow="overflow">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10760991"/>
                  </a:ext>
                </a:extLst>
              </a:tr>
            </a:tbl>
          </a:graphicData>
        </a:graphic>
      </p:graphicFrame>
      <p:sp>
        <p:nvSpPr>
          <p:cNvPr id="353359" name="Text Box 79">
            <a:extLst>
              <a:ext uri="{FF2B5EF4-FFF2-40B4-BE49-F238E27FC236}">
                <a16:creationId xmlns:a16="http://schemas.microsoft.com/office/drawing/2014/main" id="{B09EFFDF-3435-49F5-A5A5-77C9524DCA55}"/>
              </a:ext>
            </a:extLst>
          </p:cNvPr>
          <p:cNvSpPr txBox="1">
            <a:spLocks noChangeArrowheads="1"/>
          </p:cNvSpPr>
          <p:nvPr/>
        </p:nvSpPr>
        <p:spPr bwMode="auto">
          <a:xfrm>
            <a:off x="2413796" y="4546601"/>
            <a:ext cx="71786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Solution: The given distribution belongs to a grouped data and the variable involved is ages of “distance covered”. While the “number of persons” Represent frequencies.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8" name="Text Box 4">
            <a:extLst>
              <a:ext uri="{FF2B5EF4-FFF2-40B4-BE49-F238E27FC236}">
                <a16:creationId xmlns:a16="http://schemas.microsoft.com/office/drawing/2014/main" id="{5151E06C-79C9-43C2-BE1A-EEFAB7A1378F}"/>
              </a:ext>
            </a:extLst>
          </p:cNvPr>
          <p:cNvSpPr txBox="1">
            <a:spLocks noChangeArrowheads="1"/>
          </p:cNvSpPr>
          <p:nvPr/>
        </p:nvSpPr>
        <p:spPr bwMode="auto">
          <a:xfrm>
            <a:off x="2574926" y="798513"/>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IN" altLang="en-US"/>
          </a:p>
        </p:txBody>
      </p:sp>
      <p:graphicFrame>
        <p:nvGraphicFramePr>
          <p:cNvPr id="354353" name="Group 49">
            <a:extLst>
              <a:ext uri="{FF2B5EF4-FFF2-40B4-BE49-F238E27FC236}">
                <a16:creationId xmlns:a16="http://schemas.microsoft.com/office/drawing/2014/main" id="{036AA4BC-87E7-4E8E-BB2A-7B1D74C08D52}"/>
              </a:ext>
            </a:extLst>
          </p:cNvPr>
          <p:cNvGraphicFramePr>
            <a:graphicFrameLocks noGrp="1"/>
          </p:cNvGraphicFramePr>
          <p:nvPr>
            <p:extLst>
              <p:ext uri="{D42A27DB-BD31-4B8C-83A1-F6EECF244321}">
                <p14:modId xmlns:p14="http://schemas.microsoft.com/office/powerpoint/2010/main" val="1543007328"/>
              </p:ext>
            </p:extLst>
          </p:nvPr>
        </p:nvGraphicFramePr>
        <p:xfrm>
          <a:off x="3048000" y="1397000"/>
          <a:ext cx="6673515" cy="3870960"/>
        </p:xfrm>
        <a:graphic>
          <a:graphicData uri="http://schemas.openxmlformats.org/drawingml/2006/table">
            <a:tbl>
              <a:tblPr/>
              <a:tblGrid>
                <a:gridCol w="1418122">
                  <a:extLst>
                    <a:ext uri="{9D8B030D-6E8A-4147-A177-3AD203B41FA5}">
                      <a16:colId xmlns:a16="http://schemas.microsoft.com/office/drawing/2014/main" val="1474178621"/>
                    </a:ext>
                  </a:extLst>
                </a:gridCol>
                <a:gridCol w="1501541">
                  <a:extLst>
                    <a:ext uri="{9D8B030D-6E8A-4147-A177-3AD203B41FA5}">
                      <a16:colId xmlns:a16="http://schemas.microsoft.com/office/drawing/2014/main" val="974380357"/>
                    </a:ext>
                  </a:extLst>
                </a:gridCol>
                <a:gridCol w="1084446">
                  <a:extLst>
                    <a:ext uri="{9D8B030D-6E8A-4147-A177-3AD203B41FA5}">
                      <a16:colId xmlns:a16="http://schemas.microsoft.com/office/drawing/2014/main" val="299913850"/>
                    </a:ext>
                  </a:extLst>
                </a:gridCol>
                <a:gridCol w="1576179">
                  <a:extLst>
                    <a:ext uri="{9D8B030D-6E8A-4147-A177-3AD203B41FA5}">
                      <a16:colId xmlns:a16="http://schemas.microsoft.com/office/drawing/2014/main" val="1470593463"/>
                    </a:ext>
                  </a:extLst>
                </a:gridCol>
                <a:gridCol w="1093227">
                  <a:extLst>
                    <a:ext uri="{9D8B030D-6E8A-4147-A177-3AD203B41FA5}">
                      <a16:colId xmlns:a16="http://schemas.microsoft.com/office/drawing/2014/main" val="2722960806"/>
                    </a:ext>
                  </a:extLst>
                </a:gridCol>
              </a:tblGrid>
              <a:tr h="16764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rPr>
                        <a:t>Distance (Km)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rPr>
                        <a:t>Number of Persons (f)</a:t>
                      </a: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rPr>
                        <a:t>Mid Points</a:t>
                      </a:r>
                      <a:br>
                        <a:rPr kumimoji="0" lang="en-US" altLang="en-US" sz="2000" b="0" i="0" u="none" strike="noStrike" cap="none" normalizeH="0" baseline="0">
                          <a:ln>
                            <a:noFill/>
                          </a:ln>
                          <a:solidFill>
                            <a:schemeClr val="tx1"/>
                          </a:solidFill>
                          <a:effectLst/>
                          <a:latin typeface="Arial" panose="020B0604020202020204" pitchFamily="34" charset="0"/>
                        </a:rPr>
                      </a:br>
                      <a:r>
                        <a:rPr kumimoji="0" lang="en-US" altLang="en-US" sz="2000" b="0" i="0" u="none" strike="noStrike" cap="none" normalizeH="0" baseline="0">
                          <a:ln>
                            <a:noFill/>
                          </a:ln>
                          <a:solidFill>
                            <a:schemeClr val="tx1"/>
                          </a:solidFill>
                          <a:effectLst/>
                          <a:latin typeface="Arial" panose="020B0604020202020204" pitchFamily="34"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u = (x- 15)/10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fu</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0707268"/>
                  </a:ext>
                </a:extLst>
              </a:tr>
              <a:tr h="149352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0355012"/>
                  </a:ext>
                </a:extLst>
              </a:tr>
              <a:tr h="3962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∑f = 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∑fu = 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186899"/>
                  </a:ext>
                </a:extLst>
              </a:tr>
            </a:tbl>
          </a:graphicData>
        </a:graphic>
      </p:graphicFrame>
      <p:graphicFrame>
        <p:nvGraphicFramePr>
          <p:cNvPr id="354354" name="Object 50">
            <a:extLst>
              <a:ext uri="{FF2B5EF4-FFF2-40B4-BE49-F238E27FC236}">
                <a16:creationId xmlns:a16="http://schemas.microsoft.com/office/drawing/2014/main" id="{121865B8-B4D5-4F4A-B099-B09BFDDE41C8}"/>
              </a:ext>
            </a:extLst>
          </p:cNvPr>
          <p:cNvGraphicFramePr>
            <a:graphicFrameLocks noChangeAspect="1"/>
          </p:cNvGraphicFramePr>
          <p:nvPr/>
        </p:nvGraphicFramePr>
        <p:xfrm>
          <a:off x="3657601" y="5187949"/>
          <a:ext cx="2216151" cy="908051"/>
        </p:xfrm>
        <a:graphic>
          <a:graphicData uri="http://schemas.openxmlformats.org/presentationml/2006/ole">
            <mc:AlternateContent xmlns:mc="http://schemas.openxmlformats.org/markup-compatibility/2006">
              <mc:Choice xmlns:v="urn:schemas-microsoft-com:vml" Requires="v">
                <p:oleObj spid="_x0000_s10247" name="Equation" r:id="rId3" imgW="1054080" imgH="431640" progId="Equation.3">
                  <p:embed/>
                </p:oleObj>
              </mc:Choice>
              <mc:Fallback>
                <p:oleObj name="Equation" r:id="rId3" imgW="1054080" imgH="431640" progId="Equation.3">
                  <p:embed/>
                  <p:pic>
                    <p:nvPicPr>
                      <p:cNvPr id="354354" name="Object 50">
                        <a:extLst>
                          <a:ext uri="{FF2B5EF4-FFF2-40B4-BE49-F238E27FC236}">
                            <a16:creationId xmlns:a16="http://schemas.microsoft.com/office/drawing/2014/main" id="{121865B8-B4D5-4F4A-B099-B09BFDDE41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1" y="5187949"/>
                        <a:ext cx="2216151" cy="9080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4355" name="Text Box 51">
            <a:extLst>
              <a:ext uri="{FF2B5EF4-FFF2-40B4-BE49-F238E27FC236}">
                <a16:creationId xmlns:a16="http://schemas.microsoft.com/office/drawing/2014/main" id="{084BCC99-846F-43CA-A16D-8450638BBFD2}"/>
              </a:ext>
            </a:extLst>
          </p:cNvPr>
          <p:cNvSpPr txBox="1">
            <a:spLocks noChangeArrowheads="1"/>
          </p:cNvSpPr>
          <p:nvPr/>
        </p:nvSpPr>
        <p:spPr bwMode="auto">
          <a:xfrm>
            <a:off x="6308726" y="5446713"/>
            <a:ext cx="29738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15 + (90/100)10 = 24 km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TextBox 3">
            <a:extLst>
              <a:ext uri="{FF2B5EF4-FFF2-40B4-BE49-F238E27FC236}">
                <a16:creationId xmlns:a16="http://schemas.microsoft.com/office/drawing/2014/main" id="{A04F265E-7470-4BBF-9193-F9CFAF945216}"/>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39971" name="TextBox 5">
            <a:extLst>
              <a:ext uri="{FF2B5EF4-FFF2-40B4-BE49-F238E27FC236}">
                <a16:creationId xmlns:a16="http://schemas.microsoft.com/office/drawing/2014/main" id="{D4D3D1DB-A83E-42D2-998C-A572F6986AAF}"/>
              </a:ext>
            </a:extLst>
          </p:cNvPr>
          <p:cNvSpPr txBox="1">
            <a:spLocks noChangeArrowheads="1"/>
          </p:cNvSpPr>
          <p:nvPr/>
        </p:nvSpPr>
        <p:spPr bwMode="auto">
          <a:xfrm>
            <a:off x="1422400" y="26085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Arithmetic mean of combined group</a:t>
            </a:r>
          </a:p>
        </p:txBody>
      </p:sp>
      <p:sp>
        <p:nvSpPr>
          <p:cNvPr id="339972" name="TextBox 6">
            <a:extLst>
              <a:ext uri="{FF2B5EF4-FFF2-40B4-BE49-F238E27FC236}">
                <a16:creationId xmlns:a16="http://schemas.microsoft.com/office/drawing/2014/main" id="{8D11BA13-6373-4C73-864E-995BE5F688A3}"/>
              </a:ext>
            </a:extLst>
          </p:cNvPr>
          <p:cNvSpPr txBox="1">
            <a:spLocks noChangeArrowheads="1"/>
          </p:cNvSpPr>
          <p:nvPr/>
        </p:nvSpPr>
        <p:spPr bwMode="auto">
          <a:xfrm>
            <a:off x="22860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a:t>
            </a:r>
            <a:endParaRPr lang="en-US" altLang="en-US" b="1">
              <a:latin typeface="Calibri" panose="020F0502020204030204" pitchFamily="34" charset="0"/>
            </a:endParaRPr>
          </a:p>
        </p:txBody>
      </p:sp>
      <p:sp>
        <p:nvSpPr>
          <p:cNvPr id="339973" name="Text Box 5">
            <a:extLst>
              <a:ext uri="{FF2B5EF4-FFF2-40B4-BE49-F238E27FC236}">
                <a16:creationId xmlns:a16="http://schemas.microsoft.com/office/drawing/2014/main" id="{2117C970-D186-4284-9EBF-42D19A915A3E}"/>
              </a:ext>
            </a:extLst>
          </p:cNvPr>
          <p:cNvSpPr txBox="1">
            <a:spLocks noChangeArrowheads="1"/>
          </p:cNvSpPr>
          <p:nvPr/>
        </p:nvSpPr>
        <p:spPr bwMode="auto">
          <a:xfrm>
            <a:off x="2651126" y="1408114"/>
            <a:ext cx="757136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If         and            are the A.M. of two groups having n and m items, then</a:t>
            </a:r>
          </a:p>
          <a:p>
            <a:r>
              <a:rPr lang="en-US" altLang="en-US"/>
              <a:t>the A. M. of the combined group is given by:  </a:t>
            </a:r>
          </a:p>
        </p:txBody>
      </p:sp>
      <p:pic>
        <p:nvPicPr>
          <p:cNvPr id="339974" name="Picture 6" descr="\bar{x}">
            <a:extLst>
              <a:ext uri="{FF2B5EF4-FFF2-40B4-BE49-F238E27FC236}">
                <a16:creationId xmlns:a16="http://schemas.microsoft.com/office/drawing/2014/main" id="{71E15006-DDBE-4484-9A85-76238ABAA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1" y="1485901"/>
            <a:ext cx="174625" cy="1905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39975" name="Object 7">
            <a:extLst>
              <a:ext uri="{FF2B5EF4-FFF2-40B4-BE49-F238E27FC236}">
                <a16:creationId xmlns:a16="http://schemas.microsoft.com/office/drawing/2014/main" id="{AD8DFE4C-44AA-4C2F-8FAD-8CCA16A2D68A}"/>
              </a:ext>
            </a:extLst>
          </p:cNvPr>
          <p:cNvGraphicFramePr>
            <a:graphicFrameLocks noChangeAspect="1"/>
          </p:cNvGraphicFramePr>
          <p:nvPr/>
        </p:nvGraphicFramePr>
        <p:xfrm>
          <a:off x="3886200" y="1447800"/>
          <a:ext cx="238125" cy="323851"/>
        </p:xfrm>
        <a:graphic>
          <a:graphicData uri="http://schemas.openxmlformats.org/presentationml/2006/ole">
            <mc:AlternateContent xmlns:mc="http://schemas.openxmlformats.org/markup-compatibility/2006">
              <mc:Choice xmlns:v="urn:schemas-microsoft-com:vml" Requires="v">
                <p:oleObj spid="_x0000_s11274" name="Equation" r:id="rId4" imgW="139680" imgH="190440" progId="Equation.3">
                  <p:embed/>
                </p:oleObj>
              </mc:Choice>
              <mc:Fallback>
                <p:oleObj name="Equation" r:id="rId4" imgW="139680" imgH="190440" progId="Equation.3">
                  <p:embed/>
                  <p:pic>
                    <p:nvPicPr>
                      <p:cNvPr id="339975" name="Object 7">
                        <a:extLst>
                          <a:ext uri="{FF2B5EF4-FFF2-40B4-BE49-F238E27FC236}">
                            <a16:creationId xmlns:a16="http://schemas.microsoft.com/office/drawing/2014/main" id="{AD8DFE4C-44AA-4C2F-8FAD-8CCA16A2D6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1447800"/>
                        <a:ext cx="238125" cy="3238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9976" name="Object 8">
            <a:extLst>
              <a:ext uri="{FF2B5EF4-FFF2-40B4-BE49-F238E27FC236}">
                <a16:creationId xmlns:a16="http://schemas.microsoft.com/office/drawing/2014/main" id="{71BA8695-5030-492E-9D17-7EB7D48EB162}"/>
              </a:ext>
            </a:extLst>
          </p:cNvPr>
          <p:cNvGraphicFramePr>
            <a:graphicFrameLocks noChangeAspect="1"/>
          </p:cNvGraphicFramePr>
          <p:nvPr/>
        </p:nvGraphicFramePr>
        <p:xfrm>
          <a:off x="4953001" y="2784477"/>
          <a:ext cx="1790700" cy="841375"/>
        </p:xfrm>
        <a:graphic>
          <a:graphicData uri="http://schemas.openxmlformats.org/presentationml/2006/ole">
            <mc:AlternateContent xmlns:mc="http://schemas.openxmlformats.org/markup-compatibility/2006">
              <mc:Choice xmlns:v="urn:schemas-microsoft-com:vml" Requires="v">
                <p:oleObj spid="_x0000_s11275" name="Equation" r:id="rId6" imgW="838080" imgH="393480" progId="Equation.3">
                  <p:embed/>
                </p:oleObj>
              </mc:Choice>
              <mc:Fallback>
                <p:oleObj name="Equation" r:id="rId6" imgW="838080" imgH="393480" progId="Equation.3">
                  <p:embed/>
                  <p:pic>
                    <p:nvPicPr>
                      <p:cNvPr id="339976" name="Object 8">
                        <a:extLst>
                          <a:ext uri="{FF2B5EF4-FFF2-40B4-BE49-F238E27FC236}">
                            <a16:creationId xmlns:a16="http://schemas.microsoft.com/office/drawing/2014/main" id="{71BA8695-5030-492E-9D17-7EB7D48EB16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1" y="2784477"/>
                        <a:ext cx="1790700" cy="841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TextBox 3">
            <a:extLst>
              <a:ext uri="{FF2B5EF4-FFF2-40B4-BE49-F238E27FC236}">
                <a16:creationId xmlns:a16="http://schemas.microsoft.com/office/drawing/2014/main" id="{018430D8-FDE4-4BE2-A6E1-4C8FAF7D12BF}"/>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0995" name="TextBox 5">
            <a:extLst>
              <a:ext uri="{FF2B5EF4-FFF2-40B4-BE49-F238E27FC236}">
                <a16:creationId xmlns:a16="http://schemas.microsoft.com/office/drawing/2014/main" id="{091ADCC4-2556-4CB6-A9A6-8E62F87417CE}"/>
              </a:ext>
            </a:extLst>
          </p:cNvPr>
          <p:cNvSpPr txBox="1">
            <a:spLocks noChangeArrowheads="1"/>
          </p:cNvSpPr>
          <p:nvPr/>
        </p:nvSpPr>
        <p:spPr bwMode="auto">
          <a:xfrm>
            <a:off x="12192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Geometric mean </a:t>
            </a:r>
          </a:p>
        </p:txBody>
      </p:sp>
      <p:sp>
        <p:nvSpPr>
          <p:cNvPr id="340996" name="TextBox 6">
            <a:extLst>
              <a:ext uri="{FF2B5EF4-FFF2-40B4-BE49-F238E27FC236}">
                <a16:creationId xmlns:a16="http://schemas.microsoft.com/office/drawing/2014/main" id="{2FFEAF28-B8EB-417F-B786-B2A8621CADD4}"/>
              </a:ext>
            </a:extLst>
          </p:cNvPr>
          <p:cNvSpPr txBox="1">
            <a:spLocks noChangeArrowheads="1"/>
          </p:cNvSpPr>
          <p:nvPr/>
        </p:nvSpPr>
        <p:spPr bwMode="auto">
          <a:xfrm>
            <a:off x="2286000" y="1524002"/>
            <a:ext cx="7848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t>The geometric mean of any statistical data is define as the nth route of the product of all the n values of the variable.</a:t>
            </a:r>
          </a:p>
          <a:p>
            <a:pPr algn="just" eaLnBrk="1" hangingPunct="1"/>
            <a:endParaRPr lang="en-US" altLang="en-US"/>
          </a:p>
          <a:p>
            <a:pPr algn="just" eaLnBrk="1" hangingPunct="1"/>
            <a:r>
              <a:rPr lang="en-US" altLang="en-US"/>
              <a:t>For instance, the geometric mean of two numbers, say 2 and 8, is just the square root of their product; that is                         = 4  </a:t>
            </a:r>
          </a:p>
        </p:txBody>
      </p:sp>
      <p:graphicFrame>
        <p:nvGraphicFramePr>
          <p:cNvPr id="340998" name="Object 6">
            <a:extLst>
              <a:ext uri="{FF2B5EF4-FFF2-40B4-BE49-F238E27FC236}">
                <a16:creationId xmlns:a16="http://schemas.microsoft.com/office/drawing/2014/main" id="{0DA1DF2D-D183-478A-B947-C04190998B6E}"/>
              </a:ext>
            </a:extLst>
          </p:cNvPr>
          <p:cNvGraphicFramePr>
            <a:graphicFrameLocks noChangeAspect="1"/>
          </p:cNvGraphicFramePr>
          <p:nvPr/>
        </p:nvGraphicFramePr>
        <p:xfrm>
          <a:off x="6115050" y="2590801"/>
          <a:ext cx="895351" cy="487363"/>
        </p:xfrm>
        <a:graphic>
          <a:graphicData uri="http://schemas.openxmlformats.org/presentationml/2006/ole">
            <mc:AlternateContent xmlns:mc="http://schemas.openxmlformats.org/markup-compatibility/2006">
              <mc:Choice xmlns:v="urn:schemas-microsoft-com:vml" Requires="v">
                <p:oleObj spid="_x0000_s12298" name="Equation" r:id="rId3" imgW="419040" imgH="228600" progId="Equation.3">
                  <p:embed/>
                </p:oleObj>
              </mc:Choice>
              <mc:Fallback>
                <p:oleObj name="Equation" r:id="rId3" imgW="419040" imgH="228600" progId="Equation.3">
                  <p:embed/>
                  <p:pic>
                    <p:nvPicPr>
                      <p:cNvPr id="340998" name="Object 6">
                        <a:extLst>
                          <a:ext uri="{FF2B5EF4-FFF2-40B4-BE49-F238E27FC236}">
                            <a16:creationId xmlns:a16="http://schemas.microsoft.com/office/drawing/2014/main" id="{0DA1DF2D-D183-478A-B947-C04190998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050" y="2590801"/>
                        <a:ext cx="895351"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0999" name="Text Box 7">
            <a:extLst>
              <a:ext uri="{FF2B5EF4-FFF2-40B4-BE49-F238E27FC236}">
                <a16:creationId xmlns:a16="http://schemas.microsoft.com/office/drawing/2014/main" id="{B382684A-13D2-4D6F-A2F5-FDDF7636B927}"/>
              </a:ext>
            </a:extLst>
          </p:cNvPr>
          <p:cNvSpPr txBox="1">
            <a:spLocks noChangeArrowheads="1"/>
          </p:cNvSpPr>
          <p:nvPr/>
        </p:nvSpPr>
        <p:spPr bwMode="auto">
          <a:xfrm>
            <a:off x="2346326" y="3160714"/>
            <a:ext cx="742863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In general, the G. M. of n values of variables x</a:t>
            </a:r>
            <a:r>
              <a:rPr lang="en-US" altLang="en-US" baseline="-25000"/>
              <a:t>1</a:t>
            </a:r>
            <a:r>
              <a:rPr lang="en-US" altLang="en-US"/>
              <a:t>, x</a:t>
            </a:r>
            <a:r>
              <a:rPr lang="en-US" altLang="en-US" baseline="-25000"/>
              <a:t>2</a:t>
            </a:r>
            <a:r>
              <a:rPr lang="en-US" altLang="en-US"/>
              <a:t>,…., x</a:t>
            </a:r>
            <a:r>
              <a:rPr lang="en-US" altLang="en-US" baseline="-25000"/>
              <a:t>n</a:t>
            </a:r>
            <a:r>
              <a:rPr lang="en-US" altLang="en-US"/>
              <a:t> is denoted by</a:t>
            </a:r>
          </a:p>
          <a:p>
            <a:r>
              <a:rPr lang="en-US" altLang="en-US"/>
              <a:t>G and is defined by</a:t>
            </a:r>
          </a:p>
        </p:txBody>
      </p:sp>
      <p:graphicFrame>
        <p:nvGraphicFramePr>
          <p:cNvPr id="341000" name="Object 8">
            <a:extLst>
              <a:ext uri="{FF2B5EF4-FFF2-40B4-BE49-F238E27FC236}">
                <a16:creationId xmlns:a16="http://schemas.microsoft.com/office/drawing/2014/main" id="{F13A6F56-E585-42E3-96F9-9CA98DE13200}"/>
              </a:ext>
            </a:extLst>
          </p:cNvPr>
          <p:cNvGraphicFramePr>
            <a:graphicFrameLocks noChangeAspect="1"/>
          </p:cNvGraphicFramePr>
          <p:nvPr/>
        </p:nvGraphicFramePr>
        <p:xfrm>
          <a:off x="4800600" y="3924301"/>
          <a:ext cx="2895600" cy="757239"/>
        </p:xfrm>
        <a:graphic>
          <a:graphicData uri="http://schemas.openxmlformats.org/presentationml/2006/ole">
            <mc:AlternateContent xmlns:mc="http://schemas.openxmlformats.org/markup-compatibility/2006">
              <mc:Choice xmlns:v="urn:schemas-microsoft-com:vml" Requires="v">
                <p:oleObj spid="_x0000_s12299" name="Equation" r:id="rId5" imgW="1650960" imgH="431640" progId="Equation.3">
                  <p:embed/>
                </p:oleObj>
              </mc:Choice>
              <mc:Fallback>
                <p:oleObj name="Equation" r:id="rId5" imgW="1650960" imgH="431640" progId="Equation.3">
                  <p:embed/>
                  <p:pic>
                    <p:nvPicPr>
                      <p:cNvPr id="341000" name="Object 8">
                        <a:extLst>
                          <a:ext uri="{FF2B5EF4-FFF2-40B4-BE49-F238E27FC236}">
                            <a16:creationId xmlns:a16="http://schemas.microsoft.com/office/drawing/2014/main" id="{F13A6F56-E585-42E3-96F9-9CA98DE132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3924301"/>
                        <a:ext cx="2895600" cy="757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1001" name="Text Box 9">
            <a:extLst>
              <a:ext uri="{FF2B5EF4-FFF2-40B4-BE49-F238E27FC236}">
                <a16:creationId xmlns:a16="http://schemas.microsoft.com/office/drawing/2014/main" id="{38EC687F-86E7-4F6B-A116-0DEE5FD17578}"/>
              </a:ext>
            </a:extLst>
          </p:cNvPr>
          <p:cNvSpPr txBox="1">
            <a:spLocks noChangeArrowheads="1"/>
          </p:cNvSpPr>
          <p:nvPr/>
        </p:nvSpPr>
        <p:spPr bwMode="auto">
          <a:xfrm>
            <a:off x="4098926" y="4075113"/>
            <a:ext cx="6270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G =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TextBox 3">
            <a:extLst>
              <a:ext uri="{FF2B5EF4-FFF2-40B4-BE49-F238E27FC236}">
                <a16:creationId xmlns:a16="http://schemas.microsoft.com/office/drawing/2014/main" id="{97D1B1C0-1BCA-4779-96F4-FA31D986D1B7}"/>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2019" name="TextBox 5">
            <a:extLst>
              <a:ext uri="{FF2B5EF4-FFF2-40B4-BE49-F238E27FC236}">
                <a16:creationId xmlns:a16="http://schemas.microsoft.com/office/drawing/2014/main" id="{83204344-97F3-45F4-BA13-393D8F3A6AD6}"/>
              </a:ext>
            </a:extLst>
          </p:cNvPr>
          <p:cNvSpPr txBox="1">
            <a:spLocks noChangeArrowheads="1"/>
          </p:cNvSpPr>
          <p:nvPr/>
        </p:nvSpPr>
        <p:spPr bwMode="auto">
          <a:xfrm>
            <a:off x="1422400" y="30531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Geometric mean for frequency distribution</a:t>
            </a:r>
          </a:p>
        </p:txBody>
      </p:sp>
      <p:sp>
        <p:nvSpPr>
          <p:cNvPr id="342020" name="TextBox 6">
            <a:extLst>
              <a:ext uri="{FF2B5EF4-FFF2-40B4-BE49-F238E27FC236}">
                <a16:creationId xmlns:a16="http://schemas.microsoft.com/office/drawing/2014/main" id="{FF190306-2C64-4DF7-BB88-8FD4982685B4}"/>
              </a:ext>
            </a:extLst>
          </p:cNvPr>
          <p:cNvSpPr txBox="1">
            <a:spLocks noChangeArrowheads="1"/>
          </p:cNvSpPr>
          <p:nvPr/>
        </p:nvSpPr>
        <p:spPr bwMode="auto">
          <a:xfrm>
            <a:off x="22860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a:t>
            </a:r>
            <a:endParaRPr lang="en-US" altLang="en-US" b="1">
              <a:latin typeface="Calibri" panose="020F0502020204030204" pitchFamily="34" charset="0"/>
            </a:endParaRPr>
          </a:p>
        </p:txBody>
      </p:sp>
      <p:graphicFrame>
        <p:nvGraphicFramePr>
          <p:cNvPr id="342021" name="Object 5">
            <a:extLst>
              <a:ext uri="{FF2B5EF4-FFF2-40B4-BE49-F238E27FC236}">
                <a16:creationId xmlns:a16="http://schemas.microsoft.com/office/drawing/2014/main" id="{20AA1CAD-22ED-4D1B-B1FC-D272C3E9C35B}"/>
              </a:ext>
            </a:extLst>
          </p:cNvPr>
          <p:cNvGraphicFramePr>
            <a:graphicFrameLocks noChangeAspect="1"/>
          </p:cNvGraphicFramePr>
          <p:nvPr/>
        </p:nvGraphicFramePr>
        <p:xfrm>
          <a:off x="4800601" y="2514601"/>
          <a:ext cx="3140075" cy="757239"/>
        </p:xfrm>
        <a:graphic>
          <a:graphicData uri="http://schemas.openxmlformats.org/presentationml/2006/ole">
            <mc:AlternateContent xmlns:mc="http://schemas.openxmlformats.org/markup-compatibility/2006">
              <mc:Choice xmlns:v="urn:schemas-microsoft-com:vml" Requires="v">
                <p:oleObj spid="_x0000_s13318" name="Equation" r:id="rId3" imgW="1790640" imgH="431640" progId="Equation.3">
                  <p:embed/>
                </p:oleObj>
              </mc:Choice>
              <mc:Fallback>
                <p:oleObj name="Equation" r:id="rId3" imgW="1790640" imgH="431640" progId="Equation.3">
                  <p:embed/>
                  <p:pic>
                    <p:nvPicPr>
                      <p:cNvPr id="342021" name="Object 5">
                        <a:extLst>
                          <a:ext uri="{FF2B5EF4-FFF2-40B4-BE49-F238E27FC236}">
                            <a16:creationId xmlns:a16="http://schemas.microsoft.com/office/drawing/2014/main" id="{20AA1CAD-22ED-4D1B-B1FC-D272C3E9C3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1" y="2514601"/>
                        <a:ext cx="3140075" cy="757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2022" name="Text Box 6">
            <a:extLst>
              <a:ext uri="{FF2B5EF4-FFF2-40B4-BE49-F238E27FC236}">
                <a16:creationId xmlns:a16="http://schemas.microsoft.com/office/drawing/2014/main" id="{AFBFBEC3-E9F2-499F-A03B-B6E827CCF946}"/>
              </a:ext>
            </a:extLst>
          </p:cNvPr>
          <p:cNvSpPr txBox="1">
            <a:spLocks noChangeArrowheads="1"/>
          </p:cNvSpPr>
          <p:nvPr/>
        </p:nvSpPr>
        <p:spPr bwMode="auto">
          <a:xfrm>
            <a:off x="2727326" y="1416051"/>
            <a:ext cx="65566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If the variable x takes the values x</a:t>
            </a:r>
            <a:r>
              <a:rPr lang="en-US" altLang="en-US" baseline="-25000"/>
              <a:t>1</a:t>
            </a:r>
            <a:r>
              <a:rPr lang="en-US" altLang="en-US"/>
              <a:t>, x</a:t>
            </a:r>
            <a:r>
              <a:rPr lang="en-US" altLang="en-US" baseline="-25000"/>
              <a:t>2</a:t>
            </a:r>
            <a:r>
              <a:rPr lang="en-US" altLang="en-US"/>
              <a:t>, …., x</a:t>
            </a:r>
            <a:r>
              <a:rPr lang="en-US" altLang="en-US" baseline="-25000"/>
              <a:t>n</a:t>
            </a:r>
            <a:r>
              <a:rPr lang="en-US" altLang="en-US"/>
              <a:t> with frequencies</a:t>
            </a:r>
          </a:p>
          <a:p>
            <a:r>
              <a:rPr lang="en-US" altLang="en-US"/>
              <a:t>f</a:t>
            </a:r>
            <a:r>
              <a:rPr lang="en-US" altLang="en-US" baseline="-25000"/>
              <a:t>1</a:t>
            </a:r>
            <a:r>
              <a:rPr lang="en-US" altLang="en-US"/>
              <a:t>, f</a:t>
            </a:r>
            <a:r>
              <a:rPr lang="en-US" altLang="en-US" baseline="-25000"/>
              <a:t>2</a:t>
            </a:r>
            <a:r>
              <a:rPr lang="en-US" altLang="en-US"/>
              <a:t>, …..f</a:t>
            </a:r>
            <a:r>
              <a:rPr lang="en-US" altLang="en-US" baseline="-25000"/>
              <a:t>n</a:t>
            </a:r>
            <a:r>
              <a:rPr lang="en-US" altLang="en-US"/>
              <a:t> respectively, then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TextBox 3">
            <a:extLst>
              <a:ext uri="{FF2B5EF4-FFF2-40B4-BE49-F238E27FC236}">
                <a16:creationId xmlns:a16="http://schemas.microsoft.com/office/drawing/2014/main" id="{F70C8DA2-DA58-476B-B14C-D99045D20B7B}"/>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3043" name="TextBox 5">
            <a:extLst>
              <a:ext uri="{FF2B5EF4-FFF2-40B4-BE49-F238E27FC236}">
                <a16:creationId xmlns:a16="http://schemas.microsoft.com/office/drawing/2014/main" id="{81147157-D4FE-4937-9FFE-90158E95D286}"/>
              </a:ext>
            </a:extLst>
          </p:cNvPr>
          <p:cNvSpPr txBox="1">
            <a:spLocks noChangeArrowheads="1"/>
          </p:cNvSpPr>
          <p:nvPr/>
        </p:nvSpPr>
        <p:spPr bwMode="auto">
          <a:xfrm>
            <a:off x="12192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Weighted Geometric Mean</a:t>
            </a:r>
          </a:p>
        </p:txBody>
      </p:sp>
      <p:sp>
        <p:nvSpPr>
          <p:cNvPr id="343044" name="TextBox 6">
            <a:extLst>
              <a:ext uri="{FF2B5EF4-FFF2-40B4-BE49-F238E27FC236}">
                <a16:creationId xmlns:a16="http://schemas.microsoft.com/office/drawing/2014/main" id="{6166A0F0-3E42-4BC1-AD88-23209C2898BF}"/>
              </a:ext>
            </a:extLst>
          </p:cNvPr>
          <p:cNvSpPr txBox="1">
            <a:spLocks noChangeArrowheads="1"/>
          </p:cNvSpPr>
          <p:nvPr/>
        </p:nvSpPr>
        <p:spPr bwMode="auto">
          <a:xfrm>
            <a:off x="2286000" y="1600201"/>
            <a:ext cx="7848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t>If in any data the values of the variable are not of equal importance or are of varying significance then the weighted geometric mean is used.</a:t>
            </a:r>
            <a:r>
              <a:rPr lang="en-US" altLang="en-US">
                <a:latin typeface="Calibri" panose="020F0502020204030204" pitchFamily="34" charset="0"/>
              </a:rPr>
              <a:t> </a:t>
            </a:r>
            <a:endParaRPr lang="en-US" altLang="en-US" b="1">
              <a:latin typeface="Calibri" panose="020F0502020204030204" pitchFamily="34" charset="0"/>
            </a:endParaRPr>
          </a:p>
        </p:txBody>
      </p:sp>
      <p:graphicFrame>
        <p:nvGraphicFramePr>
          <p:cNvPr id="343045" name="Object 5">
            <a:extLst>
              <a:ext uri="{FF2B5EF4-FFF2-40B4-BE49-F238E27FC236}">
                <a16:creationId xmlns:a16="http://schemas.microsoft.com/office/drawing/2014/main" id="{424AA9C7-F017-4FAB-BFD8-D2EA62B97093}"/>
              </a:ext>
            </a:extLst>
          </p:cNvPr>
          <p:cNvGraphicFramePr>
            <a:graphicFrameLocks noChangeAspect="1"/>
          </p:cNvGraphicFramePr>
          <p:nvPr/>
        </p:nvGraphicFramePr>
        <p:xfrm>
          <a:off x="4572001" y="2743200"/>
          <a:ext cx="3206751" cy="846139"/>
        </p:xfrm>
        <a:graphic>
          <a:graphicData uri="http://schemas.openxmlformats.org/presentationml/2006/ole">
            <mc:AlternateContent xmlns:mc="http://schemas.openxmlformats.org/markup-compatibility/2006">
              <mc:Choice xmlns:v="urn:schemas-microsoft-com:vml" Requires="v">
                <p:oleObj spid="_x0000_s14342" name="Equation" r:id="rId3" imgW="1828800" imgH="482400" progId="Equation.3">
                  <p:embed/>
                </p:oleObj>
              </mc:Choice>
              <mc:Fallback>
                <p:oleObj name="Equation" r:id="rId3" imgW="1828800" imgH="482400" progId="Equation.3">
                  <p:embed/>
                  <p:pic>
                    <p:nvPicPr>
                      <p:cNvPr id="343045" name="Object 5">
                        <a:extLst>
                          <a:ext uri="{FF2B5EF4-FFF2-40B4-BE49-F238E27FC236}">
                            <a16:creationId xmlns:a16="http://schemas.microsoft.com/office/drawing/2014/main" id="{424AA9C7-F017-4FAB-BFD8-D2EA62B970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1" y="2743200"/>
                        <a:ext cx="3206751" cy="846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2" name="Text Box 4">
            <a:extLst>
              <a:ext uri="{FF2B5EF4-FFF2-40B4-BE49-F238E27FC236}">
                <a16:creationId xmlns:a16="http://schemas.microsoft.com/office/drawing/2014/main" id="{C1D8A1A0-5C53-4971-AF62-9A8C11F9972D}"/>
              </a:ext>
            </a:extLst>
          </p:cNvPr>
          <p:cNvSpPr txBox="1">
            <a:spLocks noChangeArrowheads="1"/>
          </p:cNvSpPr>
          <p:nvPr/>
        </p:nvSpPr>
        <p:spPr bwMode="auto">
          <a:xfrm>
            <a:off x="812801" y="1092200"/>
            <a:ext cx="631454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Find the G. M. for the following:</a:t>
            </a:r>
          </a:p>
          <a:p>
            <a:r>
              <a:rPr lang="en-US" altLang="en-US" dirty="0"/>
              <a:t>Marks:		0-10	10-20	20-30	30-40	40-50</a:t>
            </a:r>
          </a:p>
          <a:p>
            <a:r>
              <a:rPr lang="en-US" altLang="en-US" dirty="0"/>
              <a:t>no. of students:	 12	  27	  72	  92	 100</a:t>
            </a:r>
          </a:p>
          <a:p>
            <a:endParaRPr lang="en-US" altLang="en-US" dirty="0"/>
          </a:p>
          <a:p>
            <a:r>
              <a:rPr lang="en-US" altLang="en-US" dirty="0"/>
              <a:t>Solution:</a:t>
            </a:r>
          </a:p>
        </p:txBody>
      </p:sp>
      <p:graphicFrame>
        <p:nvGraphicFramePr>
          <p:cNvPr id="355384" name="Group 56">
            <a:extLst>
              <a:ext uri="{FF2B5EF4-FFF2-40B4-BE49-F238E27FC236}">
                <a16:creationId xmlns:a16="http://schemas.microsoft.com/office/drawing/2014/main" id="{95CD8D25-4D33-4278-A25B-27C6483E937B}"/>
              </a:ext>
            </a:extLst>
          </p:cNvPr>
          <p:cNvGraphicFramePr>
            <a:graphicFrameLocks noGrp="1"/>
          </p:cNvGraphicFramePr>
          <p:nvPr/>
        </p:nvGraphicFramePr>
        <p:xfrm>
          <a:off x="3048000" y="2286000"/>
          <a:ext cx="6096000" cy="3261360"/>
        </p:xfrm>
        <a:graphic>
          <a:graphicData uri="http://schemas.openxmlformats.org/drawingml/2006/table">
            <a:tbl>
              <a:tblPr/>
              <a:tblGrid>
                <a:gridCol w="914400">
                  <a:extLst>
                    <a:ext uri="{9D8B030D-6E8A-4147-A177-3AD203B41FA5}">
                      <a16:colId xmlns:a16="http://schemas.microsoft.com/office/drawing/2014/main" val="2802031050"/>
                    </a:ext>
                  </a:extLst>
                </a:gridCol>
                <a:gridCol w="1219200">
                  <a:extLst>
                    <a:ext uri="{9D8B030D-6E8A-4147-A177-3AD203B41FA5}">
                      <a16:colId xmlns:a16="http://schemas.microsoft.com/office/drawing/2014/main" val="293143722"/>
                    </a:ext>
                  </a:extLst>
                </a:gridCol>
                <a:gridCol w="1219200">
                  <a:extLst>
                    <a:ext uri="{9D8B030D-6E8A-4147-A177-3AD203B41FA5}">
                      <a16:colId xmlns:a16="http://schemas.microsoft.com/office/drawing/2014/main" val="2391987959"/>
                    </a:ext>
                  </a:extLst>
                </a:gridCol>
                <a:gridCol w="1066800">
                  <a:extLst>
                    <a:ext uri="{9D8B030D-6E8A-4147-A177-3AD203B41FA5}">
                      <a16:colId xmlns:a16="http://schemas.microsoft.com/office/drawing/2014/main" val="1115179654"/>
                    </a:ext>
                  </a:extLst>
                </a:gridCol>
                <a:gridCol w="1676400">
                  <a:extLst>
                    <a:ext uri="{9D8B030D-6E8A-4147-A177-3AD203B41FA5}">
                      <a16:colId xmlns:a16="http://schemas.microsoft.com/office/drawing/2014/main" val="107842688"/>
                    </a:ext>
                  </a:extLst>
                </a:gridCol>
              </a:tblGrid>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marks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No. of students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Mid value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Log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f. Log 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8129529"/>
                  </a:ext>
                </a:extLst>
              </a:tr>
              <a:tr h="185928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30-40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40-50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0.6990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1.1761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1.3979</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1.5441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1.6532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8.388</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17.6415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62.9055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30.882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13.2256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8023440"/>
                  </a:ext>
                </a:extLst>
              </a:tr>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8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 = 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∑f log x = 133.0426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6012816"/>
                  </a:ext>
                </a:extLst>
              </a:tr>
            </a:tbl>
          </a:graphicData>
        </a:graphic>
      </p:graphicFrame>
      <p:graphicFrame>
        <p:nvGraphicFramePr>
          <p:cNvPr id="355386" name="Object 58">
            <a:extLst>
              <a:ext uri="{FF2B5EF4-FFF2-40B4-BE49-F238E27FC236}">
                <a16:creationId xmlns:a16="http://schemas.microsoft.com/office/drawing/2014/main" id="{E902A400-8A80-4CD7-B4F8-8A557A420AD1}"/>
              </a:ext>
            </a:extLst>
          </p:cNvPr>
          <p:cNvGraphicFramePr>
            <a:graphicFrameLocks noChangeAspect="1"/>
          </p:cNvGraphicFramePr>
          <p:nvPr/>
        </p:nvGraphicFramePr>
        <p:xfrm>
          <a:off x="2819401" y="5567364"/>
          <a:ext cx="3140075" cy="757237"/>
        </p:xfrm>
        <a:graphic>
          <a:graphicData uri="http://schemas.openxmlformats.org/presentationml/2006/ole">
            <mc:AlternateContent xmlns:mc="http://schemas.openxmlformats.org/markup-compatibility/2006">
              <mc:Choice xmlns:v="urn:schemas-microsoft-com:vml" Requires="v">
                <p:oleObj spid="_x0000_s15366" name="Equation" r:id="rId3" imgW="1790640" imgH="431640" progId="Equation.3">
                  <p:embed/>
                </p:oleObj>
              </mc:Choice>
              <mc:Fallback>
                <p:oleObj name="Equation" r:id="rId3" imgW="1790640" imgH="431640" progId="Equation.3">
                  <p:embed/>
                  <p:pic>
                    <p:nvPicPr>
                      <p:cNvPr id="355386" name="Object 58">
                        <a:extLst>
                          <a:ext uri="{FF2B5EF4-FFF2-40B4-BE49-F238E27FC236}">
                            <a16:creationId xmlns:a16="http://schemas.microsoft.com/office/drawing/2014/main" id="{E902A400-8A80-4CD7-B4F8-8A557A420A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1" y="5567364"/>
                        <a:ext cx="3140075"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5387" name="Text Box 59">
            <a:extLst>
              <a:ext uri="{FF2B5EF4-FFF2-40B4-BE49-F238E27FC236}">
                <a16:creationId xmlns:a16="http://schemas.microsoft.com/office/drawing/2014/main" id="{A708B56F-3455-4200-B1F7-47700211DF1D}"/>
              </a:ext>
            </a:extLst>
          </p:cNvPr>
          <p:cNvSpPr txBox="1">
            <a:spLocks noChangeArrowheads="1"/>
          </p:cNvSpPr>
          <p:nvPr/>
        </p:nvSpPr>
        <p:spPr bwMode="auto">
          <a:xfrm>
            <a:off x="6080126" y="580548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IN" altLang="en-US"/>
          </a:p>
        </p:txBody>
      </p:sp>
      <p:sp>
        <p:nvSpPr>
          <p:cNvPr id="355388" name="Text Box 60">
            <a:extLst>
              <a:ext uri="{FF2B5EF4-FFF2-40B4-BE49-F238E27FC236}">
                <a16:creationId xmlns:a16="http://schemas.microsoft.com/office/drawing/2014/main" id="{08A77636-A17D-477E-A55D-226D8BE902C9}"/>
              </a:ext>
            </a:extLst>
          </p:cNvPr>
          <p:cNvSpPr txBox="1">
            <a:spLocks noChangeArrowheads="1"/>
          </p:cNvSpPr>
          <p:nvPr/>
        </p:nvSpPr>
        <p:spPr bwMode="auto">
          <a:xfrm>
            <a:off x="5927726" y="5751513"/>
            <a:ext cx="35446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Antilog (133.0426/100) = 21.40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Box 3">
            <a:extLst>
              <a:ext uri="{FF2B5EF4-FFF2-40B4-BE49-F238E27FC236}">
                <a16:creationId xmlns:a16="http://schemas.microsoft.com/office/drawing/2014/main" id="{C263FBA7-83F6-415E-9E16-A0F3E091314A}"/>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4067" name="TextBox 5">
            <a:extLst>
              <a:ext uri="{FF2B5EF4-FFF2-40B4-BE49-F238E27FC236}">
                <a16:creationId xmlns:a16="http://schemas.microsoft.com/office/drawing/2014/main" id="{2C133B4A-1406-41E7-8FF6-F14FA51777E6}"/>
              </a:ext>
            </a:extLst>
          </p:cNvPr>
          <p:cNvSpPr txBox="1">
            <a:spLocks noChangeArrowheads="1"/>
          </p:cNvSpPr>
          <p:nvPr/>
        </p:nvSpPr>
        <p:spPr bwMode="auto">
          <a:xfrm>
            <a:off x="1320800" y="39338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Geometric Mean of Combined Group</a:t>
            </a:r>
          </a:p>
        </p:txBody>
      </p:sp>
      <p:sp>
        <p:nvSpPr>
          <p:cNvPr id="344068" name="TextBox 6">
            <a:extLst>
              <a:ext uri="{FF2B5EF4-FFF2-40B4-BE49-F238E27FC236}">
                <a16:creationId xmlns:a16="http://schemas.microsoft.com/office/drawing/2014/main" id="{415DDBA5-792C-40C6-88D8-F3F74318A375}"/>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44069" name="Text Box 5">
            <a:extLst>
              <a:ext uri="{FF2B5EF4-FFF2-40B4-BE49-F238E27FC236}">
                <a16:creationId xmlns:a16="http://schemas.microsoft.com/office/drawing/2014/main" id="{C4248A54-3265-41EC-9CB5-A79B0AA980B5}"/>
              </a:ext>
            </a:extLst>
          </p:cNvPr>
          <p:cNvSpPr txBox="1">
            <a:spLocks noChangeArrowheads="1"/>
          </p:cNvSpPr>
          <p:nvPr/>
        </p:nvSpPr>
        <p:spPr bwMode="auto">
          <a:xfrm>
            <a:off x="2651126" y="1331914"/>
            <a:ext cx="65998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If G</a:t>
            </a:r>
            <a:r>
              <a:rPr lang="en-US" altLang="en-US" baseline="-25000"/>
              <a:t>1</a:t>
            </a:r>
            <a:r>
              <a:rPr lang="en-US" altLang="en-US"/>
              <a:t> and G</a:t>
            </a:r>
            <a:r>
              <a:rPr lang="en-US" altLang="en-US" baseline="-25000"/>
              <a:t>2</a:t>
            </a:r>
            <a:r>
              <a:rPr lang="en-US" altLang="en-US"/>
              <a:t> are G. M. of two groups having n and m items, the</a:t>
            </a:r>
          </a:p>
          <a:p>
            <a:r>
              <a:rPr lang="en-US" altLang="en-US"/>
              <a:t>the G. M. of the combined group is given by</a:t>
            </a:r>
          </a:p>
        </p:txBody>
      </p:sp>
      <p:graphicFrame>
        <p:nvGraphicFramePr>
          <p:cNvPr id="344070" name="Object 6">
            <a:extLst>
              <a:ext uri="{FF2B5EF4-FFF2-40B4-BE49-F238E27FC236}">
                <a16:creationId xmlns:a16="http://schemas.microsoft.com/office/drawing/2014/main" id="{E835F37E-336B-43A8-ACF1-3B456E503AF0}"/>
              </a:ext>
            </a:extLst>
          </p:cNvPr>
          <p:cNvGraphicFramePr>
            <a:graphicFrameLocks noChangeAspect="1"/>
          </p:cNvGraphicFramePr>
          <p:nvPr/>
        </p:nvGraphicFramePr>
        <p:xfrm>
          <a:off x="3657600" y="2438401"/>
          <a:ext cx="4184651" cy="850900"/>
        </p:xfrm>
        <a:graphic>
          <a:graphicData uri="http://schemas.openxmlformats.org/presentationml/2006/ole">
            <mc:AlternateContent xmlns:mc="http://schemas.openxmlformats.org/markup-compatibility/2006">
              <mc:Choice xmlns:v="urn:schemas-microsoft-com:vml" Requires="v">
                <p:oleObj spid="_x0000_s16390" name="Equation" r:id="rId3" imgW="2120760" imgH="431640" progId="Equation.3">
                  <p:embed/>
                </p:oleObj>
              </mc:Choice>
              <mc:Fallback>
                <p:oleObj name="Equation" r:id="rId3" imgW="2120760" imgH="431640" progId="Equation.3">
                  <p:embed/>
                  <p:pic>
                    <p:nvPicPr>
                      <p:cNvPr id="344070" name="Object 6">
                        <a:extLst>
                          <a:ext uri="{FF2B5EF4-FFF2-40B4-BE49-F238E27FC236}">
                            <a16:creationId xmlns:a16="http://schemas.microsoft.com/office/drawing/2014/main" id="{E835F37E-336B-43A8-ACF1-3B456E503A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438401"/>
                        <a:ext cx="4184651"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TextBox 3">
            <a:extLst>
              <a:ext uri="{FF2B5EF4-FFF2-40B4-BE49-F238E27FC236}">
                <a16:creationId xmlns:a16="http://schemas.microsoft.com/office/drawing/2014/main" id="{29F793AB-167F-4DBD-B1DC-2F8342C1D2D7}"/>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5091" name="TextBox 5">
            <a:extLst>
              <a:ext uri="{FF2B5EF4-FFF2-40B4-BE49-F238E27FC236}">
                <a16:creationId xmlns:a16="http://schemas.microsoft.com/office/drawing/2014/main" id="{6AE44DBA-DB83-4EC7-AC5A-F4ADD13F4D0F}"/>
              </a:ext>
            </a:extLst>
          </p:cNvPr>
          <p:cNvSpPr txBox="1">
            <a:spLocks noChangeArrowheads="1"/>
          </p:cNvSpPr>
          <p:nvPr/>
        </p:nvSpPr>
        <p:spPr bwMode="auto">
          <a:xfrm>
            <a:off x="1219200" y="30628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Harmonic Mean</a:t>
            </a:r>
          </a:p>
        </p:txBody>
      </p:sp>
      <p:sp>
        <p:nvSpPr>
          <p:cNvPr id="345092" name="TextBox 6">
            <a:extLst>
              <a:ext uri="{FF2B5EF4-FFF2-40B4-BE49-F238E27FC236}">
                <a16:creationId xmlns:a16="http://schemas.microsoft.com/office/drawing/2014/main" id="{00D47A12-5B32-4352-8F60-D26F81AAE8BC}"/>
              </a:ext>
            </a:extLst>
          </p:cNvPr>
          <p:cNvSpPr txBox="1">
            <a:spLocks noChangeArrowheads="1"/>
          </p:cNvSpPr>
          <p:nvPr/>
        </p:nvSpPr>
        <p:spPr bwMode="auto">
          <a:xfrm>
            <a:off x="2362200" y="1524002"/>
            <a:ext cx="7848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t>The harmonic mean of any statistical data is the quotient of the number of item divided by the sum of reciprocal  of all the values of the variable.</a:t>
            </a:r>
          </a:p>
          <a:p>
            <a:pPr algn="just" eaLnBrk="1" hangingPunct="1"/>
            <a:endParaRPr lang="en-US" altLang="en-US"/>
          </a:p>
          <a:p>
            <a:pPr eaLnBrk="1" hangingPunct="1"/>
            <a:r>
              <a:rPr lang="en-US" altLang="en-US"/>
              <a:t>The H. M. of n values of variables x</a:t>
            </a:r>
            <a:r>
              <a:rPr lang="en-US" altLang="en-US" baseline="-25000"/>
              <a:t>1</a:t>
            </a:r>
            <a:r>
              <a:rPr lang="en-US" altLang="en-US"/>
              <a:t>, x</a:t>
            </a:r>
            <a:r>
              <a:rPr lang="en-US" altLang="en-US" baseline="-25000"/>
              <a:t>2</a:t>
            </a:r>
            <a:r>
              <a:rPr lang="en-US" altLang="en-US"/>
              <a:t>,…., x</a:t>
            </a:r>
            <a:r>
              <a:rPr lang="en-US" altLang="en-US" baseline="-25000"/>
              <a:t>n</a:t>
            </a:r>
            <a:r>
              <a:rPr lang="en-US" altLang="en-US"/>
              <a:t> is denoted by</a:t>
            </a:r>
          </a:p>
          <a:p>
            <a:pPr eaLnBrk="1" hangingPunct="1"/>
            <a:r>
              <a:rPr lang="en-US" altLang="en-US"/>
              <a:t>H and is defined by</a:t>
            </a:r>
            <a:r>
              <a:rPr lang="en-US" altLang="en-US">
                <a:latin typeface="Calibri" panose="020F0502020204030204" pitchFamily="34" charset="0"/>
              </a:rPr>
              <a:t> </a:t>
            </a:r>
          </a:p>
        </p:txBody>
      </p:sp>
      <p:graphicFrame>
        <p:nvGraphicFramePr>
          <p:cNvPr id="345093" name="Object 5">
            <a:extLst>
              <a:ext uri="{FF2B5EF4-FFF2-40B4-BE49-F238E27FC236}">
                <a16:creationId xmlns:a16="http://schemas.microsoft.com/office/drawing/2014/main" id="{737A9E1E-DCA8-495C-BD8F-73D3990E5C97}"/>
              </a:ext>
            </a:extLst>
          </p:cNvPr>
          <p:cNvGraphicFramePr>
            <a:graphicFrameLocks noChangeAspect="1"/>
          </p:cNvGraphicFramePr>
          <p:nvPr/>
        </p:nvGraphicFramePr>
        <p:xfrm>
          <a:off x="4291014" y="3282949"/>
          <a:ext cx="3538537" cy="1212851"/>
        </p:xfrm>
        <a:graphic>
          <a:graphicData uri="http://schemas.openxmlformats.org/presentationml/2006/ole">
            <mc:AlternateContent xmlns:mc="http://schemas.openxmlformats.org/markup-compatibility/2006">
              <mc:Choice xmlns:v="urn:schemas-microsoft-com:vml" Requires="v">
                <p:oleObj spid="_x0000_s17414" name="Equation" r:id="rId3" imgW="1815840" imgH="622080" progId="Equation.3">
                  <p:embed/>
                </p:oleObj>
              </mc:Choice>
              <mc:Fallback>
                <p:oleObj name="Equation" r:id="rId3" imgW="1815840" imgH="622080" progId="Equation.3">
                  <p:embed/>
                  <p:pic>
                    <p:nvPicPr>
                      <p:cNvPr id="345093" name="Object 5">
                        <a:extLst>
                          <a:ext uri="{FF2B5EF4-FFF2-40B4-BE49-F238E27FC236}">
                            <a16:creationId xmlns:a16="http://schemas.microsoft.com/office/drawing/2014/main" id="{737A9E1E-DCA8-495C-BD8F-73D3990E5C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1014" y="3282949"/>
                        <a:ext cx="3538537" cy="12128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TextBox 3">
            <a:extLst>
              <a:ext uri="{FF2B5EF4-FFF2-40B4-BE49-F238E27FC236}">
                <a16:creationId xmlns:a16="http://schemas.microsoft.com/office/drawing/2014/main" id="{35ECF723-0BCD-4765-8252-7A7397038E60}"/>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6115" name="TextBox 5">
            <a:extLst>
              <a:ext uri="{FF2B5EF4-FFF2-40B4-BE49-F238E27FC236}">
                <a16:creationId xmlns:a16="http://schemas.microsoft.com/office/drawing/2014/main" id="{EE87DB61-218F-4807-843D-02E4EBBFE9DF}"/>
              </a:ext>
            </a:extLst>
          </p:cNvPr>
          <p:cNvSpPr txBox="1">
            <a:spLocks noChangeArrowheads="1"/>
          </p:cNvSpPr>
          <p:nvPr/>
        </p:nvSpPr>
        <p:spPr bwMode="auto">
          <a:xfrm>
            <a:off x="1320800" y="32553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Harmonic Mean for Frequency distribution</a:t>
            </a:r>
          </a:p>
        </p:txBody>
      </p:sp>
      <p:sp>
        <p:nvSpPr>
          <p:cNvPr id="346116" name="TextBox 6">
            <a:extLst>
              <a:ext uri="{FF2B5EF4-FFF2-40B4-BE49-F238E27FC236}">
                <a16:creationId xmlns:a16="http://schemas.microsoft.com/office/drawing/2014/main" id="{FB456EA4-F0EF-4808-AB17-964BAC5D4391}"/>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46117" name="Text Box 5">
            <a:extLst>
              <a:ext uri="{FF2B5EF4-FFF2-40B4-BE49-F238E27FC236}">
                <a16:creationId xmlns:a16="http://schemas.microsoft.com/office/drawing/2014/main" id="{E6B46D52-3479-4F33-9A5A-25412FDFCB87}"/>
              </a:ext>
            </a:extLst>
          </p:cNvPr>
          <p:cNvSpPr txBox="1">
            <a:spLocks noChangeArrowheads="1"/>
          </p:cNvSpPr>
          <p:nvPr/>
        </p:nvSpPr>
        <p:spPr bwMode="auto">
          <a:xfrm>
            <a:off x="2727326" y="1416051"/>
            <a:ext cx="65566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If the variable x takes the values x</a:t>
            </a:r>
            <a:r>
              <a:rPr lang="en-US" altLang="en-US" baseline="-25000"/>
              <a:t>1</a:t>
            </a:r>
            <a:r>
              <a:rPr lang="en-US" altLang="en-US"/>
              <a:t>, x</a:t>
            </a:r>
            <a:r>
              <a:rPr lang="en-US" altLang="en-US" baseline="-25000"/>
              <a:t>2</a:t>
            </a:r>
            <a:r>
              <a:rPr lang="en-US" altLang="en-US"/>
              <a:t>, …., x</a:t>
            </a:r>
            <a:r>
              <a:rPr lang="en-US" altLang="en-US" baseline="-25000"/>
              <a:t>n</a:t>
            </a:r>
            <a:r>
              <a:rPr lang="en-US" altLang="en-US"/>
              <a:t> with frequencies</a:t>
            </a:r>
          </a:p>
          <a:p>
            <a:r>
              <a:rPr lang="en-US" altLang="en-US"/>
              <a:t>f</a:t>
            </a:r>
            <a:r>
              <a:rPr lang="en-US" altLang="en-US" baseline="-25000"/>
              <a:t>1</a:t>
            </a:r>
            <a:r>
              <a:rPr lang="en-US" altLang="en-US"/>
              <a:t>, f</a:t>
            </a:r>
            <a:r>
              <a:rPr lang="en-US" altLang="en-US" baseline="-25000"/>
              <a:t>2</a:t>
            </a:r>
            <a:r>
              <a:rPr lang="en-US" altLang="en-US"/>
              <a:t>, …..f</a:t>
            </a:r>
            <a:r>
              <a:rPr lang="en-US" altLang="en-US" baseline="-25000"/>
              <a:t>n</a:t>
            </a:r>
            <a:r>
              <a:rPr lang="en-US" altLang="en-US"/>
              <a:t> respectively, then</a:t>
            </a:r>
          </a:p>
        </p:txBody>
      </p:sp>
      <p:graphicFrame>
        <p:nvGraphicFramePr>
          <p:cNvPr id="346118" name="Object 6">
            <a:extLst>
              <a:ext uri="{FF2B5EF4-FFF2-40B4-BE49-F238E27FC236}">
                <a16:creationId xmlns:a16="http://schemas.microsoft.com/office/drawing/2014/main" id="{72C69C71-AE79-4A4D-8B90-54F27ACFDBD2}"/>
              </a:ext>
            </a:extLst>
          </p:cNvPr>
          <p:cNvGraphicFramePr>
            <a:graphicFrameLocks noChangeAspect="1"/>
          </p:cNvGraphicFramePr>
          <p:nvPr/>
        </p:nvGraphicFramePr>
        <p:xfrm>
          <a:off x="3962400" y="2741613"/>
          <a:ext cx="3244851" cy="1144587"/>
        </p:xfrm>
        <a:graphic>
          <a:graphicData uri="http://schemas.openxmlformats.org/presentationml/2006/ole">
            <mc:AlternateContent xmlns:mc="http://schemas.openxmlformats.org/markup-compatibility/2006">
              <mc:Choice xmlns:v="urn:schemas-microsoft-com:vml" Requires="v">
                <p:oleObj spid="_x0000_s18438" name="Equation" r:id="rId3" imgW="1765080" imgH="622080" progId="Equation.3">
                  <p:embed/>
                </p:oleObj>
              </mc:Choice>
              <mc:Fallback>
                <p:oleObj name="Equation" r:id="rId3" imgW="1765080" imgH="622080" progId="Equation.3">
                  <p:embed/>
                  <p:pic>
                    <p:nvPicPr>
                      <p:cNvPr id="346118" name="Object 6">
                        <a:extLst>
                          <a:ext uri="{FF2B5EF4-FFF2-40B4-BE49-F238E27FC236}">
                            <a16:creationId xmlns:a16="http://schemas.microsoft.com/office/drawing/2014/main" id="{72C69C71-AE79-4A4D-8B90-54F27ACFD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2741613"/>
                        <a:ext cx="3244851" cy="1144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TextBox 3">
            <a:extLst>
              <a:ext uri="{FF2B5EF4-FFF2-40B4-BE49-F238E27FC236}">
                <a16:creationId xmlns:a16="http://schemas.microsoft.com/office/drawing/2014/main" id="{20368F8A-AD81-4C40-B364-8326B8C36533}"/>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7139" name="TextBox 5">
            <a:extLst>
              <a:ext uri="{FF2B5EF4-FFF2-40B4-BE49-F238E27FC236}">
                <a16:creationId xmlns:a16="http://schemas.microsoft.com/office/drawing/2014/main" id="{D82D4AAB-9522-4435-BBEB-E7DB5A0A839D}"/>
              </a:ext>
            </a:extLst>
          </p:cNvPr>
          <p:cNvSpPr txBox="1">
            <a:spLocks noChangeArrowheads="1"/>
          </p:cNvSpPr>
          <p:nvPr/>
        </p:nvSpPr>
        <p:spPr bwMode="auto">
          <a:xfrm>
            <a:off x="14224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Weighted Harmonic Mean</a:t>
            </a:r>
          </a:p>
        </p:txBody>
      </p:sp>
      <p:sp>
        <p:nvSpPr>
          <p:cNvPr id="347140" name="TextBox 6">
            <a:extLst>
              <a:ext uri="{FF2B5EF4-FFF2-40B4-BE49-F238E27FC236}">
                <a16:creationId xmlns:a16="http://schemas.microsoft.com/office/drawing/2014/main" id="{86F1C364-9C39-473B-B00E-6A1AE6619279}"/>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47141" name="Rectangle 5">
            <a:extLst>
              <a:ext uri="{FF2B5EF4-FFF2-40B4-BE49-F238E27FC236}">
                <a16:creationId xmlns:a16="http://schemas.microsoft.com/office/drawing/2014/main" id="{B668EE72-83FE-48E0-AAA5-E8AA68C6C1ED}"/>
              </a:ext>
            </a:extLst>
          </p:cNvPr>
          <p:cNvSpPr>
            <a:spLocks noChangeArrowheads="1"/>
          </p:cNvSpPr>
          <p:nvPr/>
        </p:nvSpPr>
        <p:spPr bwMode="auto">
          <a:xfrm>
            <a:off x="2133600" y="1644651"/>
            <a:ext cx="8001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If in any data the values of the variable are not of equal importance or are of varying significance then the weighted geometric mean is used.</a:t>
            </a:r>
          </a:p>
        </p:txBody>
      </p:sp>
      <p:graphicFrame>
        <p:nvGraphicFramePr>
          <p:cNvPr id="347142" name="Object 6">
            <a:extLst>
              <a:ext uri="{FF2B5EF4-FFF2-40B4-BE49-F238E27FC236}">
                <a16:creationId xmlns:a16="http://schemas.microsoft.com/office/drawing/2014/main" id="{8D2206D0-8656-46BF-8A11-84C2713E37B4}"/>
              </a:ext>
            </a:extLst>
          </p:cNvPr>
          <p:cNvGraphicFramePr>
            <a:graphicFrameLocks noChangeAspect="1"/>
          </p:cNvGraphicFramePr>
          <p:nvPr/>
        </p:nvGraphicFramePr>
        <p:xfrm>
          <a:off x="4978400" y="2741614"/>
          <a:ext cx="1574800" cy="1485900"/>
        </p:xfrm>
        <a:graphic>
          <a:graphicData uri="http://schemas.openxmlformats.org/presentationml/2006/ole">
            <mc:AlternateContent xmlns:mc="http://schemas.openxmlformats.org/markup-compatibility/2006">
              <mc:Choice xmlns:v="urn:schemas-microsoft-com:vml" Requires="v">
                <p:oleObj spid="_x0000_s19462" name="Equation" r:id="rId3" imgW="660240" imgH="622080" progId="Equation.3">
                  <p:embed/>
                </p:oleObj>
              </mc:Choice>
              <mc:Fallback>
                <p:oleObj name="Equation" r:id="rId3" imgW="660240" imgH="622080" progId="Equation.3">
                  <p:embed/>
                  <p:pic>
                    <p:nvPicPr>
                      <p:cNvPr id="347142" name="Object 6">
                        <a:extLst>
                          <a:ext uri="{FF2B5EF4-FFF2-40B4-BE49-F238E27FC236}">
                            <a16:creationId xmlns:a16="http://schemas.microsoft.com/office/drawing/2014/main" id="{8D2206D0-8656-46BF-8A11-84C2713E37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8400" y="2741614"/>
                        <a:ext cx="1574800" cy="148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6" name="Text Box 4">
            <a:extLst>
              <a:ext uri="{FF2B5EF4-FFF2-40B4-BE49-F238E27FC236}">
                <a16:creationId xmlns:a16="http://schemas.microsoft.com/office/drawing/2014/main" id="{6B6EF8F1-9362-41F5-BB75-878F28CA6D39}"/>
              </a:ext>
            </a:extLst>
          </p:cNvPr>
          <p:cNvSpPr txBox="1">
            <a:spLocks noChangeArrowheads="1"/>
          </p:cNvSpPr>
          <p:nvPr/>
        </p:nvSpPr>
        <p:spPr bwMode="auto">
          <a:xfrm>
            <a:off x="1016001" y="1092200"/>
            <a:ext cx="631454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Calculate the H. M. for the following:</a:t>
            </a:r>
          </a:p>
          <a:p>
            <a:r>
              <a:rPr lang="en-US" altLang="en-US" dirty="0"/>
              <a:t>marks:		0-10	10-20	20-30	30-40	40-50</a:t>
            </a:r>
          </a:p>
          <a:p>
            <a:r>
              <a:rPr lang="en-US" altLang="en-US" dirty="0"/>
              <a:t>no. of students:	4	7	  28	  12	  9</a:t>
            </a:r>
          </a:p>
          <a:p>
            <a:endParaRPr lang="en-US" altLang="en-US" dirty="0"/>
          </a:p>
          <a:p>
            <a:r>
              <a:rPr lang="en-US" altLang="en-US" dirty="0"/>
              <a:t>Solution:</a:t>
            </a:r>
          </a:p>
        </p:txBody>
      </p:sp>
      <p:graphicFrame>
        <p:nvGraphicFramePr>
          <p:cNvPr id="356391" name="Group 39">
            <a:extLst>
              <a:ext uri="{FF2B5EF4-FFF2-40B4-BE49-F238E27FC236}">
                <a16:creationId xmlns:a16="http://schemas.microsoft.com/office/drawing/2014/main" id="{8417BA18-810B-4E65-BD24-5388949A5F6E}"/>
              </a:ext>
            </a:extLst>
          </p:cNvPr>
          <p:cNvGraphicFramePr>
            <a:graphicFrameLocks noGrp="1"/>
          </p:cNvGraphicFramePr>
          <p:nvPr/>
        </p:nvGraphicFramePr>
        <p:xfrm>
          <a:off x="3048000" y="2209800"/>
          <a:ext cx="6096000" cy="3261360"/>
        </p:xfrm>
        <a:graphic>
          <a:graphicData uri="http://schemas.openxmlformats.org/drawingml/2006/table">
            <a:tbl>
              <a:tblPr/>
              <a:tblGrid>
                <a:gridCol w="1524000">
                  <a:extLst>
                    <a:ext uri="{9D8B030D-6E8A-4147-A177-3AD203B41FA5}">
                      <a16:colId xmlns:a16="http://schemas.microsoft.com/office/drawing/2014/main" val="969757152"/>
                    </a:ext>
                  </a:extLst>
                </a:gridCol>
                <a:gridCol w="1524000">
                  <a:extLst>
                    <a:ext uri="{9D8B030D-6E8A-4147-A177-3AD203B41FA5}">
                      <a16:colId xmlns:a16="http://schemas.microsoft.com/office/drawing/2014/main" val="3629357634"/>
                    </a:ext>
                  </a:extLst>
                </a:gridCol>
                <a:gridCol w="1524000">
                  <a:extLst>
                    <a:ext uri="{9D8B030D-6E8A-4147-A177-3AD203B41FA5}">
                      <a16:colId xmlns:a16="http://schemas.microsoft.com/office/drawing/2014/main" val="741714787"/>
                    </a:ext>
                  </a:extLst>
                </a:gridCol>
                <a:gridCol w="1524000">
                  <a:extLst>
                    <a:ext uri="{9D8B030D-6E8A-4147-A177-3AD203B41FA5}">
                      <a16:colId xmlns:a16="http://schemas.microsoft.com/office/drawing/2014/main" val="4268815356"/>
                    </a:ext>
                  </a:extLst>
                </a:gridCol>
              </a:tblGrid>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No. of students (f)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Mid value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f/x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3286484"/>
                  </a:ext>
                </a:extLst>
              </a:tr>
              <a:tr h="185928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30-40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40-50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28</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256</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0.8000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0.4667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1.1200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0.3429</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0.2000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32996655"/>
                  </a:ext>
                </a:extLst>
              </a:tr>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 = 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∑(f/x)= 2.9296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5201274"/>
                  </a:ext>
                </a:extLst>
              </a:tr>
            </a:tbl>
          </a:graphicData>
        </a:graphic>
      </p:graphicFrame>
      <p:graphicFrame>
        <p:nvGraphicFramePr>
          <p:cNvPr id="356392" name="Object 40">
            <a:extLst>
              <a:ext uri="{FF2B5EF4-FFF2-40B4-BE49-F238E27FC236}">
                <a16:creationId xmlns:a16="http://schemas.microsoft.com/office/drawing/2014/main" id="{316EFC0D-BD32-48FA-9D6F-CEA5F4353350}"/>
              </a:ext>
            </a:extLst>
          </p:cNvPr>
          <p:cNvGraphicFramePr>
            <a:graphicFrameLocks noChangeAspect="1"/>
          </p:cNvGraphicFramePr>
          <p:nvPr/>
        </p:nvGraphicFramePr>
        <p:xfrm>
          <a:off x="3886200" y="5562601"/>
          <a:ext cx="1166813" cy="1144588"/>
        </p:xfrm>
        <a:graphic>
          <a:graphicData uri="http://schemas.openxmlformats.org/presentationml/2006/ole">
            <mc:AlternateContent xmlns:mc="http://schemas.openxmlformats.org/markup-compatibility/2006">
              <mc:Choice xmlns:v="urn:schemas-microsoft-com:vml" Requires="v">
                <p:oleObj spid="_x0000_s20486" name="Equation" r:id="rId3" imgW="634680" imgH="622080" progId="Equation.3">
                  <p:embed/>
                </p:oleObj>
              </mc:Choice>
              <mc:Fallback>
                <p:oleObj name="Equation" r:id="rId3" imgW="634680" imgH="622080" progId="Equation.3">
                  <p:embed/>
                  <p:pic>
                    <p:nvPicPr>
                      <p:cNvPr id="356392" name="Object 40">
                        <a:extLst>
                          <a:ext uri="{FF2B5EF4-FFF2-40B4-BE49-F238E27FC236}">
                            <a16:creationId xmlns:a16="http://schemas.microsoft.com/office/drawing/2014/main" id="{316EFC0D-BD32-48FA-9D6F-CEA5F43533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5562601"/>
                        <a:ext cx="1166813" cy="1144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6393" name="Text Box 41">
            <a:extLst>
              <a:ext uri="{FF2B5EF4-FFF2-40B4-BE49-F238E27FC236}">
                <a16:creationId xmlns:a16="http://schemas.microsoft.com/office/drawing/2014/main" id="{22AE9020-BF7A-488A-93E2-CA090CFD4788}"/>
              </a:ext>
            </a:extLst>
          </p:cNvPr>
          <p:cNvSpPr txBox="1">
            <a:spLocks noChangeArrowheads="1"/>
          </p:cNvSpPr>
          <p:nvPr/>
        </p:nvSpPr>
        <p:spPr bwMode="auto">
          <a:xfrm>
            <a:off x="5241925" y="5791200"/>
            <a:ext cx="22493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60/2.9296 = 20.48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Box 3">
            <a:extLst>
              <a:ext uri="{FF2B5EF4-FFF2-40B4-BE49-F238E27FC236}">
                <a16:creationId xmlns:a16="http://schemas.microsoft.com/office/drawing/2014/main" id="{1E4A1EE2-4A77-4E67-9FA8-8474A8AD7185}"/>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48163" name="TextBox 5">
            <a:extLst>
              <a:ext uri="{FF2B5EF4-FFF2-40B4-BE49-F238E27FC236}">
                <a16:creationId xmlns:a16="http://schemas.microsoft.com/office/drawing/2014/main" id="{5CA1C622-8415-48AD-B531-3FD150D944CE}"/>
              </a:ext>
            </a:extLst>
          </p:cNvPr>
          <p:cNvSpPr txBox="1">
            <a:spLocks noChangeArrowheads="1"/>
          </p:cNvSpPr>
          <p:nvPr/>
        </p:nvSpPr>
        <p:spPr bwMode="auto">
          <a:xfrm>
            <a:off x="1320800" y="137854"/>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Harmonic Mean of Combined Group</a:t>
            </a:r>
          </a:p>
        </p:txBody>
      </p:sp>
      <p:sp>
        <p:nvSpPr>
          <p:cNvPr id="348164" name="TextBox 6">
            <a:extLst>
              <a:ext uri="{FF2B5EF4-FFF2-40B4-BE49-F238E27FC236}">
                <a16:creationId xmlns:a16="http://schemas.microsoft.com/office/drawing/2014/main" id="{7C0B7ED4-ADE2-4A5D-B65F-7D72ED9C0A4F}"/>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48166" name="Rectangle 6">
            <a:extLst>
              <a:ext uri="{FF2B5EF4-FFF2-40B4-BE49-F238E27FC236}">
                <a16:creationId xmlns:a16="http://schemas.microsoft.com/office/drawing/2014/main" id="{DED25EA7-B3B4-4F20-889C-7E75F6DC537E}"/>
              </a:ext>
            </a:extLst>
          </p:cNvPr>
          <p:cNvSpPr>
            <a:spLocks noChangeArrowheads="1"/>
          </p:cNvSpPr>
          <p:nvPr/>
        </p:nvSpPr>
        <p:spPr bwMode="auto">
          <a:xfrm>
            <a:off x="2895600" y="1600201"/>
            <a:ext cx="6248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If H</a:t>
            </a:r>
            <a:r>
              <a:rPr lang="en-US" altLang="en-US" baseline="-25000"/>
              <a:t>1</a:t>
            </a:r>
            <a:r>
              <a:rPr lang="en-US" altLang="en-US"/>
              <a:t> and H</a:t>
            </a:r>
            <a:r>
              <a:rPr lang="en-US" altLang="en-US" baseline="-25000"/>
              <a:t>2</a:t>
            </a:r>
            <a:r>
              <a:rPr lang="en-US" altLang="en-US"/>
              <a:t> are H. M. of two groups having n and m items, the H. M. of the combined group is given by</a:t>
            </a:r>
          </a:p>
        </p:txBody>
      </p:sp>
      <p:graphicFrame>
        <p:nvGraphicFramePr>
          <p:cNvPr id="348167" name="Object 7">
            <a:extLst>
              <a:ext uri="{FF2B5EF4-FFF2-40B4-BE49-F238E27FC236}">
                <a16:creationId xmlns:a16="http://schemas.microsoft.com/office/drawing/2014/main" id="{5E3F17FE-09CE-450B-B883-897BAD8D4AF6}"/>
              </a:ext>
            </a:extLst>
          </p:cNvPr>
          <p:cNvGraphicFramePr>
            <a:graphicFrameLocks noChangeAspect="1"/>
          </p:cNvGraphicFramePr>
          <p:nvPr/>
        </p:nvGraphicFramePr>
        <p:xfrm>
          <a:off x="4495800" y="2741613"/>
          <a:ext cx="1905000" cy="1296987"/>
        </p:xfrm>
        <a:graphic>
          <a:graphicData uri="http://schemas.openxmlformats.org/presentationml/2006/ole">
            <mc:AlternateContent xmlns:mc="http://schemas.openxmlformats.org/markup-compatibility/2006">
              <mc:Choice xmlns:v="urn:schemas-microsoft-com:vml" Requires="v">
                <p:oleObj spid="_x0000_s21510" name="Equation" r:id="rId3" imgW="914400" imgH="622080" progId="Equation.3">
                  <p:embed/>
                </p:oleObj>
              </mc:Choice>
              <mc:Fallback>
                <p:oleObj name="Equation" r:id="rId3" imgW="914400" imgH="622080" progId="Equation.3">
                  <p:embed/>
                  <p:pic>
                    <p:nvPicPr>
                      <p:cNvPr id="348167" name="Object 7">
                        <a:extLst>
                          <a:ext uri="{FF2B5EF4-FFF2-40B4-BE49-F238E27FC236}">
                            <a16:creationId xmlns:a16="http://schemas.microsoft.com/office/drawing/2014/main" id="{5E3F17FE-09CE-450B-B883-897BAD8D4A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741613"/>
                        <a:ext cx="1905000" cy="1296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285889" y="362700"/>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34163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Century Gothic" panose="020B0502020202020204" pitchFamily="34" charset="0"/>
                <a:cs typeface="Arial" panose="020B0604020202020204" pitchFamily="34" charset="0"/>
              </a:rPr>
              <a:t>In a frequency distribution, if a = assumed mean = 55,∑ fi = 100, h = 10 and ∑</a:t>
            </a:r>
            <a:r>
              <a:rPr lang="en-US" sz="2400" dirty="0" err="1">
                <a:latin typeface="Century Gothic" panose="020B0502020202020204" pitchFamily="34" charset="0"/>
                <a:cs typeface="Arial" panose="020B0604020202020204" pitchFamily="34" charset="0"/>
              </a:rPr>
              <a:t>ƒiμi</a:t>
            </a:r>
            <a:r>
              <a:rPr lang="en-US" sz="2400" dirty="0">
                <a:latin typeface="Century Gothic" panose="020B0502020202020204" pitchFamily="34" charset="0"/>
                <a:cs typeface="Arial" panose="020B0604020202020204" pitchFamily="34" charset="0"/>
              </a:rPr>
              <a:t> = -30, then find the mean of the distribution</a:t>
            </a:r>
          </a:p>
          <a:p>
            <a:endParaRPr lang="en-US" sz="2400" dirty="0">
              <a:latin typeface="Century Gothic" panose="020B0502020202020204" pitchFamily="34" charset="0"/>
              <a:cs typeface="Arial" panose="020B0604020202020204" pitchFamily="34" charset="0"/>
            </a:endParaRPr>
          </a:p>
          <a:p>
            <a:pPr marL="533387" indent="-533387">
              <a:buAutoNum type="romanLcParenR"/>
            </a:pPr>
            <a:r>
              <a:rPr lang="en-US" sz="2400" dirty="0">
                <a:latin typeface="Century Gothic" panose="020B0502020202020204" pitchFamily="34" charset="0"/>
                <a:cs typeface="Arial" panose="020B0604020202020204" pitchFamily="34" charset="0"/>
              </a:rPr>
              <a:t>52</a:t>
            </a:r>
          </a:p>
          <a:p>
            <a:pPr marL="533387" indent="-533387">
              <a:buAutoNum type="romanLcParenR"/>
            </a:pPr>
            <a:r>
              <a:rPr lang="en-US" sz="2400" dirty="0">
                <a:latin typeface="Century Gothic" panose="020B0502020202020204" pitchFamily="34" charset="0"/>
                <a:cs typeface="Arial" panose="020B0604020202020204" pitchFamily="34" charset="0"/>
              </a:rPr>
              <a:t>51</a:t>
            </a:r>
          </a:p>
          <a:p>
            <a:pPr marL="533387" indent="-533387">
              <a:buAutoNum type="romanLcParenR"/>
            </a:pPr>
            <a:r>
              <a:rPr lang="en-US" sz="2400" dirty="0">
                <a:latin typeface="Century Gothic" panose="020B0502020202020204" pitchFamily="34" charset="0"/>
                <a:cs typeface="Arial" panose="020B0604020202020204" pitchFamily="34" charset="0"/>
              </a:rPr>
              <a:t>50</a:t>
            </a:r>
          </a:p>
          <a:p>
            <a:pPr marL="533387" indent="-533387">
              <a:buAutoNum type="romanLcParenR"/>
            </a:pPr>
            <a:r>
              <a:rPr lang="en-US" sz="2400" dirty="0">
                <a:latin typeface="Century Gothic" panose="020B0502020202020204" pitchFamily="34" charset="0"/>
                <a:cs typeface="Arial" panose="020B0604020202020204" pitchFamily="34" charset="0"/>
              </a:rPr>
              <a:t>53</a:t>
            </a:r>
          </a:p>
          <a:p>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t>
            </a:r>
            <a:r>
              <a:rPr lang="en-US" sz="2400" dirty="0" err="1">
                <a:latin typeface="Century Gothic" panose="020B0502020202020204" pitchFamily="34" charset="0"/>
                <a:cs typeface="Arial" panose="020B0604020202020204" pitchFamily="34" charset="0"/>
              </a:rPr>
              <a:t>i</a:t>
            </a:r>
            <a:endParaRPr lang="en-US" sz="2400" dirty="0">
              <a:latin typeface="Century Gothic" panose="020B0502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37" name="Ink 36">
                <a:extLst>
                  <a:ext uri="{FF2B5EF4-FFF2-40B4-BE49-F238E27FC236}">
                    <a16:creationId xmlns:a16="http://schemas.microsoft.com/office/drawing/2014/main" id="{ADF56DC9-B624-4444-A4B6-D9245D9F7133}"/>
                  </a:ext>
                </a:extLst>
              </p14:cNvPr>
              <p14:cNvContentPartPr/>
              <p14:nvPr/>
            </p14:nvContentPartPr>
            <p14:xfrm>
              <a:off x="6303846" y="3608848"/>
              <a:ext cx="360" cy="360"/>
            </p14:xfrm>
          </p:contentPart>
        </mc:Choice>
        <mc:Fallback>
          <p:pic>
            <p:nvPicPr>
              <p:cNvPr id="37" name="Ink 36">
                <a:extLst>
                  <a:ext uri="{FF2B5EF4-FFF2-40B4-BE49-F238E27FC236}">
                    <a16:creationId xmlns:a16="http://schemas.microsoft.com/office/drawing/2014/main" id="{ADF56DC9-B624-4444-A4B6-D9245D9F7133}"/>
                  </a:ext>
                </a:extLst>
              </p:cNvPr>
              <p:cNvPicPr/>
              <p:nvPr/>
            </p:nvPicPr>
            <p:blipFill>
              <a:blip r:embed="rId3"/>
              <a:stretch>
                <a:fillRect/>
              </a:stretch>
            </p:blipFill>
            <p:spPr>
              <a:xfrm>
                <a:off x="6286206" y="3591208"/>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9" name="Ink 38">
                <a:extLst>
                  <a:ext uri="{FF2B5EF4-FFF2-40B4-BE49-F238E27FC236}">
                    <a16:creationId xmlns:a16="http://schemas.microsoft.com/office/drawing/2014/main" id="{176D251B-B807-47D4-984E-2CFE3FFD7661}"/>
                  </a:ext>
                </a:extLst>
              </p14:cNvPr>
              <p14:cNvContentPartPr/>
              <p14:nvPr/>
            </p14:nvContentPartPr>
            <p14:xfrm>
              <a:off x="2442126" y="1298728"/>
              <a:ext cx="360" cy="360"/>
            </p14:xfrm>
          </p:contentPart>
        </mc:Choice>
        <mc:Fallback>
          <p:pic>
            <p:nvPicPr>
              <p:cNvPr id="39" name="Ink 38">
                <a:extLst>
                  <a:ext uri="{FF2B5EF4-FFF2-40B4-BE49-F238E27FC236}">
                    <a16:creationId xmlns:a16="http://schemas.microsoft.com/office/drawing/2014/main" id="{176D251B-B807-47D4-984E-2CFE3FFD7661}"/>
                  </a:ext>
                </a:extLst>
              </p:cNvPr>
              <p:cNvPicPr/>
              <p:nvPr/>
            </p:nvPicPr>
            <p:blipFill>
              <a:blip r:embed="rId3"/>
              <a:stretch>
                <a:fillRect/>
              </a:stretch>
            </p:blipFill>
            <p:spPr>
              <a:xfrm>
                <a:off x="2424126" y="1281088"/>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0" name="Ink 39">
                <a:extLst>
                  <a:ext uri="{FF2B5EF4-FFF2-40B4-BE49-F238E27FC236}">
                    <a16:creationId xmlns:a16="http://schemas.microsoft.com/office/drawing/2014/main" id="{A9994B7A-DEC5-4075-810F-43E9E1E6706A}"/>
                  </a:ext>
                </a:extLst>
              </p14:cNvPr>
              <p14:cNvContentPartPr/>
              <p14:nvPr/>
            </p14:nvContentPartPr>
            <p14:xfrm>
              <a:off x="2285886" y="4847968"/>
              <a:ext cx="360" cy="360"/>
            </p14:xfrm>
          </p:contentPart>
        </mc:Choice>
        <mc:Fallback>
          <p:pic>
            <p:nvPicPr>
              <p:cNvPr id="40" name="Ink 39">
                <a:extLst>
                  <a:ext uri="{FF2B5EF4-FFF2-40B4-BE49-F238E27FC236}">
                    <a16:creationId xmlns:a16="http://schemas.microsoft.com/office/drawing/2014/main" id="{A9994B7A-DEC5-4075-810F-43E9E1E6706A}"/>
                  </a:ext>
                </a:extLst>
              </p:cNvPr>
              <p:cNvPicPr/>
              <p:nvPr/>
            </p:nvPicPr>
            <p:blipFill>
              <a:blip r:embed="rId3"/>
              <a:stretch>
                <a:fillRect/>
              </a:stretch>
            </p:blipFill>
            <p:spPr>
              <a:xfrm>
                <a:off x="2267886" y="4830328"/>
                <a:ext cx="36000" cy="36000"/>
              </a:xfrm>
              <a:prstGeom prst="rect">
                <a:avLst/>
              </a:prstGeom>
            </p:spPr>
          </p:pic>
        </mc:Fallback>
      </mc:AlternateContent>
    </p:spTree>
    <p:extLst>
      <p:ext uri="{BB962C8B-B14F-4D97-AF65-F5344CB8AC3E}">
        <p14:creationId xmlns:p14="http://schemas.microsoft.com/office/powerpoint/2010/main" val="11614146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wipe(left)">
                                      <p:cBhvr>
                                        <p:cTn id="7"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698449" y="427615"/>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69526" y="3991055"/>
            <a:ext cx="10652948" cy="267765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dirty="0">
                <a:latin typeface="Century Gothic" panose="020B0502020202020204" pitchFamily="34" charset="0"/>
                <a:cs typeface="Arial" panose="020B0604020202020204" pitchFamily="34" charset="0"/>
              </a:rPr>
              <a:t>a) 137.3</a:t>
            </a:r>
          </a:p>
          <a:p>
            <a:pPr algn="just"/>
            <a:r>
              <a:rPr lang="en-US" sz="2400" dirty="0">
                <a:latin typeface="Century Gothic" panose="020B0502020202020204" pitchFamily="34" charset="0"/>
                <a:cs typeface="Arial" panose="020B0604020202020204" pitchFamily="34" charset="0"/>
              </a:rPr>
              <a:t>b) 137</a:t>
            </a:r>
          </a:p>
          <a:p>
            <a:pPr algn="just"/>
            <a:r>
              <a:rPr lang="en-US" sz="2400" dirty="0">
                <a:latin typeface="Century Gothic" panose="020B0502020202020204" pitchFamily="34" charset="0"/>
                <a:cs typeface="Arial" panose="020B0604020202020204" pitchFamily="34" charset="0"/>
              </a:rPr>
              <a:t>c) 136.3</a:t>
            </a:r>
          </a:p>
          <a:p>
            <a:pPr algn="just"/>
            <a:r>
              <a:rPr lang="en-US" sz="2400" dirty="0">
                <a:latin typeface="Century Gothic" panose="020B0502020202020204" pitchFamily="34" charset="0"/>
                <a:cs typeface="Arial" panose="020B0604020202020204" pitchFamily="34" charset="0"/>
              </a:rPr>
              <a:t>d) 136</a:t>
            </a:r>
          </a:p>
          <a:p>
            <a:pPr algn="just"/>
            <a:endParaRPr lang="en-US" sz="2400" b="1"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t>
            </a:r>
          </a:p>
        </p:txBody>
      </p:sp>
      <p:sp>
        <p:nvSpPr>
          <p:cNvPr id="3" name="Rectangle 1">
            <a:extLst>
              <a:ext uri="{FF2B5EF4-FFF2-40B4-BE49-F238E27FC236}">
                <a16:creationId xmlns:a16="http://schemas.microsoft.com/office/drawing/2014/main" id="{792A3AA1-BEFF-4BA9-BA68-509420FC75A7}"/>
              </a:ext>
            </a:extLst>
          </p:cNvPr>
          <p:cNvSpPr>
            <a:spLocks noChangeArrowheads="1"/>
          </p:cNvSpPr>
          <p:nvPr/>
        </p:nvSpPr>
        <p:spPr bwMode="auto">
          <a:xfrm>
            <a:off x="406401" y="1069380"/>
            <a:ext cx="11970585"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2400" dirty="0">
                <a:latin typeface="Century Gothic" panose="020B0502020202020204" pitchFamily="34" charset="0"/>
                <a:cs typeface="Arial" panose="020B0604020202020204" pitchFamily="34" charset="0"/>
              </a:rPr>
              <a:t>The lengths of 50 leaves of a plant are measured correct to the</a:t>
            </a:r>
          </a:p>
          <a:p>
            <a:pPr defTabSz="1219170"/>
            <a:r>
              <a:rPr lang="en-US" altLang="en-US" sz="2400" dirty="0">
                <a:latin typeface="Century Gothic" panose="020B0502020202020204" pitchFamily="34" charset="0"/>
                <a:cs typeface="Arial" panose="020B0604020202020204" pitchFamily="34" charset="0"/>
              </a:rPr>
              <a:t> nearest </a:t>
            </a:r>
            <a:r>
              <a:rPr lang="en-US" altLang="en-US" sz="2400" dirty="0" err="1">
                <a:latin typeface="Century Gothic" panose="020B0502020202020204" pitchFamily="34" charset="0"/>
                <a:cs typeface="Arial" panose="020B0604020202020204" pitchFamily="34" charset="0"/>
              </a:rPr>
              <a:t>millimetre</a:t>
            </a:r>
            <a:r>
              <a:rPr lang="en-US" altLang="en-US" sz="2400" dirty="0">
                <a:latin typeface="Century Gothic" panose="020B0502020202020204" pitchFamily="34" charset="0"/>
                <a:cs typeface="Arial" panose="020B0604020202020204" pitchFamily="34" charset="0"/>
              </a:rPr>
              <a:t> and the data obtained  is represented in the following table</a:t>
            </a:r>
          </a:p>
        </p:txBody>
      </p:sp>
      <p:pic>
        <p:nvPicPr>
          <p:cNvPr id="22530" name="Picture 2" descr="Statistics Chapter Wise Important Questions Class 10 Mathematics 15">
            <a:extLst>
              <a:ext uri="{FF2B5EF4-FFF2-40B4-BE49-F238E27FC236}">
                <a16:creationId xmlns:a16="http://schemas.microsoft.com/office/drawing/2014/main" id="{7456E334-E4DA-470F-9A6F-9C4A75037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1905000"/>
            <a:ext cx="8305800" cy="1346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888ECE-091B-4907-8699-2680BCBB21ED}"/>
              </a:ext>
            </a:extLst>
          </p:cNvPr>
          <p:cNvSpPr/>
          <p:nvPr/>
        </p:nvSpPr>
        <p:spPr>
          <a:xfrm>
            <a:off x="1117601" y="3251201"/>
            <a:ext cx="5381601" cy="461665"/>
          </a:xfrm>
          <a:prstGeom prst="rect">
            <a:avLst/>
          </a:prstGeom>
        </p:spPr>
        <p:txBody>
          <a:bodyPr wrap="none">
            <a:spAutoFit/>
          </a:bodyPr>
          <a:lstStyle/>
          <a:p>
            <a:r>
              <a:rPr lang="en-US" sz="2400" dirty="0">
                <a:latin typeface="Century Gothic" panose="020B0502020202020204" pitchFamily="34" charset="0"/>
                <a:cs typeface="Arial" panose="020B0604020202020204" pitchFamily="34" charset="0"/>
              </a:rPr>
              <a:t>Find the mean length of the leaves</a:t>
            </a:r>
            <a:endParaRPr lang="en-IN" sz="2400" dirty="0">
              <a:latin typeface="Century Gothic" panose="020B0502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D629AED4-92AF-4C61-B57A-518739389307}"/>
              </a:ext>
            </a:extLst>
          </p:cNvPr>
          <p:cNvGrpSpPr/>
          <p:nvPr/>
        </p:nvGrpSpPr>
        <p:grpSpPr>
          <a:xfrm>
            <a:off x="1431587" y="432568"/>
            <a:ext cx="360" cy="360"/>
            <a:chOff x="1431587" y="432568"/>
            <a:chExt cx="360" cy="360"/>
          </a:xfrm>
        </p:grpSpPr>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DC403DA-7E2B-40FA-B636-6AC085D9271F}"/>
                    </a:ext>
                  </a:extLst>
                </p14:cNvPr>
                <p14:cNvContentPartPr/>
                <p14:nvPr/>
              </p14:nvContentPartPr>
              <p14:xfrm>
                <a:off x="1431587" y="432568"/>
                <a:ext cx="360" cy="360"/>
              </p14:xfrm>
            </p:contentPart>
          </mc:Choice>
          <mc:Fallback>
            <p:pic>
              <p:nvPicPr>
                <p:cNvPr id="4" name="Ink 3">
                  <a:extLst>
                    <a:ext uri="{FF2B5EF4-FFF2-40B4-BE49-F238E27FC236}">
                      <a16:creationId xmlns:a16="http://schemas.microsoft.com/office/drawing/2014/main" id="{5DC403DA-7E2B-40FA-B636-6AC085D9271F}"/>
                    </a:ext>
                  </a:extLst>
                </p:cNvPr>
                <p:cNvPicPr/>
                <p:nvPr/>
              </p:nvPicPr>
              <p:blipFill>
                <a:blip r:embed="rId4"/>
                <a:stretch>
                  <a:fillRect/>
                </a:stretch>
              </p:blipFill>
              <p:spPr>
                <a:xfrm>
                  <a:off x="1413587" y="414928"/>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533A0E0F-6191-4F7E-91BC-5000FA681600}"/>
                    </a:ext>
                  </a:extLst>
                </p14:cNvPr>
                <p14:cNvContentPartPr/>
                <p14:nvPr/>
              </p14:nvContentPartPr>
              <p14:xfrm>
                <a:off x="1431587" y="432568"/>
                <a:ext cx="360" cy="360"/>
              </p14:xfrm>
            </p:contentPart>
          </mc:Choice>
          <mc:Fallback>
            <p:pic>
              <p:nvPicPr>
                <p:cNvPr id="7" name="Ink 6">
                  <a:extLst>
                    <a:ext uri="{FF2B5EF4-FFF2-40B4-BE49-F238E27FC236}">
                      <a16:creationId xmlns:a16="http://schemas.microsoft.com/office/drawing/2014/main" id="{533A0E0F-6191-4F7E-91BC-5000FA681600}"/>
                    </a:ext>
                  </a:extLst>
                </p:cNvPr>
                <p:cNvPicPr/>
                <p:nvPr/>
              </p:nvPicPr>
              <p:blipFill>
                <a:blip r:embed="rId4"/>
                <a:stretch>
                  <a:fillRect/>
                </a:stretch>
              </p:blipFill>
              <p:spPr>
                <a:xfrm>
                  <a:off x="1413587" y="414928"/>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7EFCE9BD-80FD-42BE-BEEB-B186E3C4089A}"/>
                    </a:ext>
                  </a:extLst>
                </p14:cNvPr>
                <p14:cNvContentPartPr/>
                <p14:nvPr/>
              </p14:nvContentPartPr>
              <p14:xfrm>
                <a:off x="1431587" y="432568"/>
                <a:ext cx="360" cy="360"/>
              </p14:xfrm>
            </p:contentPart>
          </mc:Choice>
          <mc:Fallback>
            <p:pic>
              <p:nvPicPr>
                <p:cNvPr id="8" name="Ink 7">
                  <a:extLst>
                    <a:ext uri="{FF2B5EF4-FFF2-40B4-BE49-F238E27FC236}">
                      <a16:creationId xmlns:a16="http://schemas.microsoft.com/office/drawing/2014/main" id="{7EFCE9BD-80FD-42BE-BEEB-B186E3C4089A}"/>
                    </a:ext>
                  </a:extLst>
                </p:cNvPr>
                <p:cNvPicPr/>
                <p:nvPr/>
              </p:nvPicPr>
              <p:blipFill>
                <a:blip r:embed="rId4"/>
                <a:stretch>
                  <a:fillRect/>
                </a:stretch>
              </p:blipFill>
              <p:spPr>
                <a:xfrm>
                  <a:off x="1413587" y="414928"/>
                  <a:ext cx="3600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2A9DD194-C321-4DB1-8C02-EF52D638F373}"/>
                  </a:ext>
                </a:extLst>
              </p14:cNvPr>
              <p14:cNvContentPartPr/>
              <p14:nvPr/>
            </p14:nvContentPartPr>
            <p14:xfrm>
              <a:off x="1647947" y="360568"/>
              <a:ext cx="360" cy="360"/>
            </p14:xfrm>
          </p:contentPart>
        </mc:Choice>
        <mc:Fallback>
          <p:pic>
            <p:nvPicPr>
              <p:cNvPr id="10" name="Ink 9">
                <a:extLst>
                  <a:ext uri="{FF2B5EF4-FFF2-40B4-BE49-F238E27FC236}">
                    <a16:creationId xmlns:a16="http://schemas.microsoft.com/office/drawing/2014/main" id="{2A9DD194-C321-4DB1-8C02-EF52D638F373}"/>
                  </a:ext>
                </a:extLst>
              </p:cNvPr>
              <p:cNvPicPr/>
              <p:nvPr/>
            </p:nvPicPr>
            <p:blipFill>
              <a:blip r:embed="rId4"/>
              <a:stretch>
                <a:fillRect/>
              </a:stretch>
            </p:blipFill>
            <p:spPr>
              <a:xfrm>
                <a:off x="1630307" y="342568"/>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2540" name="Ink 22539">
                <a:extLst>
                  <a:ext uri="{FF2B5EF4-FFF2-40B4-BE49-F238E27FC236}">
                    <a16:creationId xmlns:a16="http://schemas.microsoft.com/office/drawing/2014/main" id="{2245044D-3B38-49DD-ACB2-B1D3599DF4B0}"/>
                  </a:ext>
                </a:extLst>
              </p14:cNvPr>
              <p14:cNvContentPartPr/>
              <p14:nvPr/>
            </p14:nvContentPartPr>
            <p14:xfrm>
              <a:off x="4451627" y="-722236"/>
              <a:ext cx="360" cy="360"/>
            </p14:xfrm>
          </p:contentPart>
        </mc:Choice>
        <mc:Fallback>
          <p:pic>
            <p:nvPicPr>
              <p:cNvPr id="22540" name="Ink 22539">
                <a:extLst>
                  <a:ext uri="{FF2B5EF4-FFF2-40B4-BE49-F238E27FC236}">
                    <a16:creationId xmlns:a16="http://schemas.microsoft.com/office/drawing/2014/main" id="{2245044D-3B38-49DD-ACB2-B1D3599DF4B0}"/>
                  </a:ext>
                </a:extLst>
              </p:cNvPr>
              <p:cNvPicPr/>
              <p:nvPr/>
            </p:nvPicPr>
            <p:blipFill>
              <a:blip r:embed="rId9"/>
              <a:stretch>
                <a:fillRect/>
              </a:stretch>
            </p:blipFill>
            <p:spPr>
              <a:xfrm>
                <a:off x="4442627" y="-730876"/>
                <a:ext cx="18000" cy="18000"/>
              </a:xfrm>
              <a:prstGeom prst="rect">
                <a:avLst/>
              </a:prstGeom>
            </p:spPr>
          </p:pic>
        </mc:Fallback>
      </mc:AlternateContent>
      <p:grpSp>
        <p:nvGrpSpPr>
          <p:cNvPr id="22543" name="Group 22542">
            <a:extLst>
              <a:ext uri="{FF2B5EF4-FFF2-40B4-BE49-F238E27FC236}">
                <a16:creationId xmlns:a16="http://schemas.microsoft.com/office/drawing/2014/main" id="{CF76E0C8-22FF-4675-913A-656E89773A53}"/>
              </a:ext>
            </a:extLst>
          </p:cNvPr>
          <p:cNvGrpSpPr/>
          <p:nvPr/>
        </p:nvGrpSpPr>
        <p:grpSpPr>
          <a:xfrm>
            <a:off x="5970827" y="5149004"/>
            <a:ext cx="184320" cy="4244"/>
            <a:chOff x="5970827" y="5149004"/>
            <a:chExt cx="184320" cy="4244"/>
          </a:xfrm>
        </p:grpSpPr>
        <mc:AlternateContent xmlns:mc="http://schemas.openxmlformats.org/markup-compatibility/2006">
          <mc:Choice xmlns:p14="http://schemas.microsoft.com/office/powerpoint/2010/main" Requires="p14">
            <p:contentPart p14:bwMode="auto" r:id="rId10">
              <p14:nvContentPartPr>
                <p14:cNvPr id="23" name="Ink 22">
                  <a:extLst>
                    <a:ext uri="{FF2B5EF4-FFF2-40B4-BE49-F238E27FC236}">
                      <a16:creationId xmlns:a16="http://schemas.microsoft.com/office/drawing/2014/main" id="{CC0BFE24-DA50-47E3-9BC5-52913BE7C833}"/>
                    </a:ext>
                  </a:extLst>
                </p14:cNvPr>
                <p14:cNvContentPartPr/>
                <p14:nvPr/>
              </p14:nvContentPartPr>
              <p14:xfrm>
                <a:off x="6154787" y="5152888"/>
                <a:ext cx="360" cy="360"/>
              </p14:xfrm>
            </p:contentPart>
          </mc:Choice>
          <mc:Fallback>
            <p:pic>
              <p:nvPicPr>
                <p:cNvPr id="23" name="Ink 22">
                  <a:extLst>
                    <a:ext uri="{FF2B5EF4-FFF2-40B4-BE49-F238E27FC236}">
                      <a16:creationId xmlns:a16="http://schemas.microsoft.com/office/drawing/2014/main" id="{CC0BFE24-DA50-47E3-9BC5-52913BE7C833}"/>
                    </a:ext>
                  </a:extLst>
                </p:cNvPr>
                <p:cNvPicPr/>
                <p:nvPr/>
              </p:nvPicPr>
              <p:blipFill>
                <a:blip r:embed="rId9"/>
                <a:stretch>
                  <a:fillRect/>
                </a:stretch>
              </p:blipFill>
              <p:spPr>
                <a:xfrm>
                  <a:off x="6146147" y="514424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2541" name="Ink 22540">
                  <a:extLst>
                    <a:ext uri="{FF2B5EF4-FFF2-40B4-BE49-F238E27FC236}">
                      <a16:creationId xmlns:a16="http://schemas.microsoft.com/office/drawing/2014/main" id="{4B24434E-E5C0-4089-92E6-58721C314345}"/>
                    </a:ext>
                  </a:extLst>
                </p14:cNvPr>
                <p14:cNvContentPartPr/>
                <p14:nvPr/>
              </p14:nvContentPartPr>
              <p14:xfrm>
                <a:off x="5970827" y="5149004"/>
                <a:ext cx="32760" cy="360"/>
              </p14:xfrm>
            </p:contentPart>
          </mc:Choice>
          <mc:Fallback>
            <p:pic>
              <p:nvPicPr>
                <p:cNvPr id="22541" name="Ink 22540">
                  <a:extLst>
                    <a:ext uri="{FF2B5EF4-FFF2-40B4-BE49-F238E27FC236}">
                      <a16:creationId xmlns:a16="http://schemas.microsoft.com/office/drawing/2014/main" id="{4B24434E-E5C0-4089-92E6-58721C314345}"/>
                    </a:ext>
                  </a:extLst>
                </p:cNvPr>
                <p:cNvPicPr/>
                <p:nvPr/>
              </p:nvPicPr>
              <p:blipFill>
                <a:blip r:embed="rId12"/>
                <a:stretch>
                  <a:fillRect/>
                </a:stretch>
              </p:blipFill>
              <p:spPr>
                <a:xfrm>
                  <a:off x="5961827" y="5140364"/>
                  <a:ext cx="5040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22544" name="Ink 22543">
                <a:extLst>
                  <a:ext uri="{FF2B5EF4-FFF2-40B4-BE49-F238E27FC236}">
                    <a16:creationId xmlns:a16="http://schemas.microsoft.com/office/drawing/2014/main" id="{F799AEEC-9B4F-4C28-96D8-C8429E73047E}"/>
                  </a:ext>
                </a:extLst>
              </p14:cNvPr>
              <p14:cNvContentPartPr/>
              <p14:nvPr/>
            </p14:nvContentPartPr>
            <p14:xfrm>
              <a:off x="2069147" y="-806552"/>
              <a:ext cx="360" cy="360"/>
            </p14:xfrm>
          </p:contentPart>
        </mc:Choice>
        <mc:Fallback>
          <p:pic>
            <p:nvPicPr>
              <p:cNvPr id="22544" name="Ink 22543">
                <a:extLst>
                  <a:ext uri="{FF2B5EF4-FFF2-40B4-BE49-F238E27FC236}">
                    <a16:creationId xmlns:a16="http://schemas.microsoft.com/office/drawing/2014/main" id="{F799AEEC-9B4F-4C28-96D8-C8429E73047E}"/>
                  </a:ext>
                </a:extLst>
              </p:cNvPr>
              <p:cNvPicPr/>
              <p:nvPr/>
            </p:nvPicPr>
            <p:blipFill>
              <a:blip r:embed="rId9"/>
              <a:stretch>
                <a:fillRect/>
              </a:stretch>
            </p:blipFill>
            <p:spPr>
              <a:xfrm>
                <a:off x="2060507" y="-81555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2590" name="Ink 22589">
                <a:extLst>
                  <a:ext uri="{FF2B5EF4-FFF2-40B4-BE49-F238E27FC236}">
                    <a16:creationId xmlns:a16="http://schemas.microsoft.com/office/drawing/2014/main" id="{C3F22158-CD5F-47FD-9861-6B25486B9849}"/>
                  </a:ext>
                </a:extLst>
              </p14:cNvPr>
              <p14:cNvContentPartPr/>
              <p14:nvPr/>
            </p14:nvContentPartPr>
            <p14:xfrm>
              <a:off x="10785107" y="5778208"/>
              <a:ext cx="360" cy="360"/>
            </p14:xfrm>
          </p:contentPart>
        </mc:Choice>
        <mc:Fallback>
          <p:pic>
            <p:nvPicPr>
              <p:cNvPr id="22590" name="Ink 22589">
                <a:extLst>
                  <a:ext uri="{FF2B5EF4-FFF2-40B4-BE49-F238E27FC236}">
                    <a16:creationId xmlns:a16="http://schemas.microsoft.com/office/drawing/2014/main" id="{C3F22158-CD5F-47FD-9861-6B25486B9849}"/>
                  </a:ext>
                </a:extLst>
              </p:cNvPr>
              <p:cNvPicPr/>
              <p:nvPr/>
            </p:nvPicPr>
            <p:blipFill>
              <a:blip r:embed="rId9"/>
              <a:stretch>
                <a:fillRect/>
              </a:stretch>
            </p:blipFill>
            <p:spPr>
              <a:xfrm>
                <a:off x="10776107" y="5769208"/>
                <a:ext cx="18000" cy="18000"/>
              </a:xfrm>
              <a:prstGeom prst="rect">
                <a:avLst/>
              </a:prstGeom>
            </p:spPr>
          </p:pic>
        </mc:Fallback>
      </mc:AlternateContent>
      <p:sp>
        <p:nvSpPr>
          <p:cNvPr id="22596" name="TextBox 22595">
            <a:extLst>
              <a:ext uri="{FF2B5EF4-FFF2-40B4-BE49-F238E27FC236}">
                <a16:creationId xmlns:a16="http://schemas.microsoft.com/office/drawing/2014/main" id="{92DBE181-DB18-4C2A-97F2-1AE6E0A5DEE3}"/>
              </a:ext>
            </a:extLst>
          </p:cNvPr>
          <p:cNvSpPr txBox="1"/>
          <p:nvPr/>
        </p:nvSpPr>
        <p:spPr>
          <a:xfrm>
            <a:off x="2213811" y="6285448"/>
            <a:ext cx="45719" cy="369332"/>
          </a:xfrm>
          <a:prstGeom prst="rect">
            <a:avLst/>
          </a:prstGeom>
          <a:noFill/>
        </p:spPr>
        <p:txBody>
          <a:bodyPr wrap="square" rtlCol="0">
            <a:spAutoFit/>
          </a:bodyPr>
          <a:lstStyle/>
          <a:p>
            <a:r>
              <a:rPr lang="en-IN" dirty="0" err="1"/>
              <a:t>i</a:t>
            </a:r>
            <a:endParaRPr lang="en-IN" dirty="0"/>
          </a:p>
        </p:txBody>
      </p:sp>
    </p:spTree>
    <p:extLst>
      <p:ext uri="{BB962C8B-B14F-4D97-AF65-F5344CB8AC3E}">
        <p14:creationId xmlns:p14="http://schemas.microsoft.com/office/powerpoint/2010/main" val="1010634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Effect transition="in" filter="wipe(left)">
                                      <p:cBhvr>
                                        <p:cTn id="7"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TextBox 3">
            <a:extLst>
              <a:ext uri="{FF2B5EF4-FFF2-40B4-BE49-F238E27FC236}">
                <a16:creationId xmlns:a16="http://schemas.microsoft.com/office/drawing/2014/main" id="{E359FFCB-4AD9-4269-9A15-550CFFF837FB}"/>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57379" name="TextBox 5">
            <a:extLst>
              <a:ext uri="{FF2B5EF4-FFF2-40B4-BE49-F238E27FC236}">
                <a16:creationId xmlns:a16="http://schemas.microsoft.com/office/drawing/2014/main" id="{FC6A538F-25A7-4D23-A520-81BB3E0F9327}"/>
              </a:ext>
            </a:extLst>
          </p:cNvPr>
          <p:cNvSpPr txBox="1">
            <a:spLocks noChangeArrowheads="1"/>
          </p:cNvSpPr>
          <p:nvPr/>
        </p:nvSpPr>
        <p:spPr bwMode="auto">
          <a:xfrm>
            <a:off x="13208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Median</a:t>
            </a:r>
          </a:p>
        </p:txBody>
      </p:sp>
      <p:sp>
        <p:nvSpPr>
          <p:cNvPr id="357380" name="TextBox 6">
            <a:extLst>
              <a:ext uri="{FF2B5EF4-FFF2-40B4-BE49-F238E27FC236}">
                <a16:creationId xmlns:a16="http://schemas.microsoft.com/office/drawing/2014/main" id="{70E9A679-A7BB-411F-8B7C-3E301DCE425A}"/>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57381" name="Rectangle 5">
            <a:extLst>
              <a:ext uri="{FF2B5EF4-FFF2-40B4-BE49-F238E27FC236}">
                <a16:creationId xmlns:a16="http://schemas.microsoft.com/office/drawing/2014/main" id="{43898362-C1F6-4623-A6FE-54BCCC0FBA2E}"/>
              </a:ext>
            </a:extLst>
          </p:cNvPr>
          <p:cNvSpPr>
            <a:spLocks noChangeArrowheads="1"/>
          </p:cNvSpPr>
          <p:nvPr/>
        </p:nvSpPr>
        <p:spPr bwMode="auto">
          <a:xfrm>
            <a:off x="3124200" y="1905000"/>
            <a:ext cx="6248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Median is that value of the variate which divides the total frequency into two equal parts, when the variates are arranged in ascending or descending order of their magnitude.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TextBox 3">
            <a:extLst>
              <a:ext uri="{FF2B5EF4-FFF2-40B4-BE49-F238E27FC236}">
                <a16:creationId xmlns:a16="http://schemas.microsoft.com/office/drawing/2014/main" id="{192D61ED-5C8E-46EE-B993-7672198D4DC5}"/>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58403" name="TextBox 5">
            <a:extLst>
              <a:ext uri="{FF2B5EF4-FFF2-40B4-BE49-F238E27FC236}">
                <a16:creationId xmlns:a16="http://schemas.microsoft.com/office/drawing/2014/main" id="{30568759-FCB3-4582-A84F-097BABA7408E}"/>
              </a:ext>
            </a:extLst>
          </p:cNvPr>
          <p:cNvSpPr txBox="1">
            <a:spLocks noChangeArrowheads="1"/>
          </p:cNvSpPr>
          <p:nvPr/>
        </p:nvSpPr>
        <p:spPr bwMode="auto">
          <a:xfrm>
            <a:off x="1320800" y="32813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When the data is ungrouped</a:t>
            </a:r>
          </a:p>
        </p:txBody>
      </p:sp>
      <p:sp>
        <p:nvSpPr>
          <p:cNvPr id="358404" name="TextBox 6">
            <a:extLst>
              <a:ext uri="{FF2B5EF4-FFF2-40B4-BE49-F238E27FC236}">
                <a16:creationId xmlns:a16="http://schemas.microsoft.com/office/drawing/2014/main" id="{02A1C725-6360-4075-B6E7-383EB3DE21B8}"/>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58405" name="Rectangle 5">
            <a:extLst>
              <a:ext uri="{FF2B5EF4-FFF2-40B4-BE49-F238E27FC236}">
                <a16:creationId xmlns:a16="http://schemas.microsoft.com/office/drawing/2014/main" id="{2A644199-3C30-4916-B6F2-F604D0BA6E16}"/>
              </a:ext>
            </a:extLst>
          </p:cNvPr>
          <p:cNvSpPr>
            <a:spLocks noChangeArrowheads="1"/>
          </p:cNvSpPr>
          <p:nvPr/>
        </p:nvSpPr>
        <p:spPr bwMode="auto">
          <a:xfrm>
            <a:off x="3124200" y="1905001"/>
            <a:ext cx="7239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Arrange the data in ascending or descending order of magnitude.</a:t>
            </a:r>
          </a:p>
          <a:p>
            <a:endParaRPr lang="en-US" altLang="en-US" dirty="0"/>
          </a:p>
          <a:p>
            <a:r>
              <a:rPr lang="en-US" altLang="en-US" dirty="0"/>
              <a:t>Case I.	When n is odd:</a:t>
            </a:r>
          </a:p>
          <a:p>
            <a:r>
              <a:rPr lang="en-US" altLang="en-US" dirty="0"/>
              <a:t>			In this case               </a:t>
            </a:r>
            <a:r>
              <a:rPr lang="en-US" altLang="en-US" dirty="0" err="1"/>
              <a:t>th</a:t>
            </a:r>
            <a:r>
              <a:rPr lang="en-US" altLang="en-US" dirty="0"/>
              <a:t> value is the median.</a:t>
            </a:r>
          </a:p>
          <a:p>
            <a:endParaRPr lang="en-US" altLang="en-US" dirty="0"/>
          </a:p>
          <a:p>
            <a:r>
              <a:rPr lang="en-US" altLang="en-US" dirty="0"/>
              <a:t>Case II.	When n is even:</a:t>
            </a:r>
          </a:p>
          <a:p>
            <a:r>
              <a:rPr lang="en-US" altLang="en-US" dirty="0"/>
              <a:t>			In this case            </a:t>
            </a:r>
            <a:r>
              <a:rPr lang="en-US" altLang="en-US" dirty="0" err="1"/>
              <a:t>th</a:t>
            </a:r>
            <a:r>
              <a:rPr lang="en-US" altLang="en-US" dirty="0"/>
              <a:t> and              </a:t>
            </a:r>
            <a:r>
              <a:rPr lang="en-US" altLang="en-US" dirty="0" err="1"/>
              <a:t>th</a:t>
            </a:r>
            <a:r>
              <a:rPr lang="en-US" altLang="en-US" dirty="0"/>
              <a:t> terms </a:t>
            </a:r>
          </a:p>
          <a:p>
            <a:endParaRPr lang="en-US" altLang="en-US" dirty="0"/>
          </a:p>
          <a:p>
            <a:r>
              <a:rPr lang="en-US" altLang="en-US" dirty="0"/>
              <a:t>are the middle terms. The median is the average of these middle terms.</a:t>
            </a:r>
          </a:p>
          <a:p>
            <a:endParaRPr lang="en-US" altLang="en-US" dirty="0"/>
          </a:p>
          <a:p>
            <a:r>
              <a:rPr lang="en-US" altLang="en-US" dirty="0"/>
              <a:t>Also in case of frequency distribution,                </a:t>
            </a:r>
            <a:r>
              <a:rPr lang="en-US" altLang="en-US" dirty="0" err="1"/>
              <a:t>th</a:t>
            </a:r>
            <a:r>
              <a:rPr lang="en-US" altLang="en-US" dirty="0"/>
              <a:t> term is the median.  </a:t>
            </a:r>
          </a:p>
        </p:txBody>
      </p:sp>
      <p:graphicFrame>
        <p:nvGraphicFramePr>
          <p:cNvPr id="358406" name="Object 6">
            <a:extLst>
              <a:ext uri="{FF2B5EF4-FFF2-40B4-BE49-F238E27FC236}">
                <a16:creationId xmlns:a16="http://schemas.microsoft.com/office/drawing/2014/main" id="{DFC5340E-5079-4F85-8499-284395A6FB6D}"/>
              </a:ext>
            </a:extLst>
          </p:cNvPr>
          <p:cNvGraphicFramePr>
            <a:graphicFrameLocks noChangeAspect="1"/>
          </p:cNvGraphicFramePr>
          <p:nvPr>
            <p:extLst>
              <p:ext uri="{D42A27DB-BD31-4B8C-83A1-F6EECF244321}">
                <p14:modId xmlns:p14="http://schemas.microsoft.com/office/powerpoint/2010/main" val="1102660014"/>
              </p:ext>
            </p:extLst>
          </p:nvPr>
        </p:nvGraphicFramePr>
        <p:xfrm>
          <a:off x="7303001" y="2812684"/>
          <a:ext cx="639763" cy="400111"/>
        </p:xfrm>
        <a:graphic>
          <a:graphicData uri="http://schemas.openxmlformats.org/presentationml/2006/ole">
            <mc:AlternateContent xmlns:mc="http://schemas.openxmlformats.org/markup-compatibility/2006">
              <mc:Choice xmlns:v="urn:schemas-microsoft-com:vml" Requires="v">
                <p:oleObj spid="_x0000_s22550" name="Equation" r:id="rId3" imgW="330120" imgH="393480" progId="Equation.3">
                  <p:embed/>
                </p:oleObj>
              </mc:Choice>
              <mc:Fallback>
                <p:oleObj name="Equation" r:id="rId3" imgW="330120" imgH="393480" progId="Equation.3">
                  <p:embed/>
                  <p:pic>
                    <p:nvPicPr>
                      <p:cNvPr id="358406" name="Object 6">
                        <a:extLst>
                          <a:ext uri="{FF2B5EF4-FFF2-40B4-BE49-F238E27FC236}">
                            <a16:creationId xmlns:a16="http://schemas.microsoft.com/office/drawing/2014/main" id="{DFC5340E-5079-4F85-8499-284395A6FB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3001" y="2812684"/>
                        <a:ext cx="639763" cy="400111"/>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358407" name="Object 7">
                <a:extLst>
                  <a:ext uri="{FF2B5EF4-FFF2-40B4-BE49-F238E27FC236}">
                    <a16:creationId xmlns:a16="http://schemas.microsoft.com/office/drawing/2014/main" id="{8A1581C7-6617-4F59-8A13-C2915E1CDE59}"/>
                  </a:ext>
                </a:extLst>
              </p:cNvPr>
              <p:cNvSpPr txBox="1"/>
              <p:nvPr/>
            </p:nvSpPr>
            <p:spPr bwMode="auto">
              <a:xfrm>
                <a:off x="8775700" y="3592513"/>
                <a:ext cx="639763" cy="762000"/>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xmlns:m="http://schemas.openxmlformats.org/officeDocument/2006/math">
                      <m:f>
                        <m:fPr>
                          <m:ctrlPr>
                            <a:rPr lang="en-IN" i="1" smtClean="0">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𝑛</m:t>
                          </m:r>
                        </m:num>
                        <m:den>
                          <m:r>
                            <a:rPr lang="en-IN" i="1">
                              <a:solidFill>
                                <a:srgbClr val="000000"/>
                              </a:solidFill>
                              <a:latin typeface="Cambria Math" panose="02040503050406030204" pitchFamily="18" charset="0"/>
                            </a:rPr>
                            <m:t>2</m:t>
                          </m:r>
                        </m:den>
                      </m:f>
                      <m:r>
                        <a:rPr lang="en-IN" b="0" i="1" smtClean="0">
                          <a:solidFill>
                            <a:srgbClr val="000000"/>
                          </a:solidFill>
                          <a:latin typeface="Cambria Math" panose="02040503050406030204" pitchFamily="18" charset="0"/>
                        </a:rPr>
                        <m:t>+1</m:t>
                      </m:r>
                    </m:oMath>
                  </m:oMathPara>
                </a14:m>
                <a:endParaRPr lang="en-IN" dirty="0"/>
              </a:p>
            </p:txBody>
          </p:sp>
        </mc:Choice>
        <mc:Fallback>
          <p:sp>
            <p:nvSpPr>
              <p:cNvPr id="358407" name="Object 7">
                <a:extLst>
                  <a:ext uri="{FF2B5EF4-FFF2-40B4-BE49-F238E27FC236}">
                    <a16:creationId xmlns:a16="http://schemas.microsoft.com/office/drawing/2014/main" id="{8A1581C7-6617-4F59-8A13-C2915E1CDE59}"/>
                  </a:ext>
                </a:extLst>
              </p:cNvPr>
              <p:cNvSpPr txBox="1">
                <a:spLocks noRot="1" noChangeAspect="1" noMove="1" noResize="1" noEditPoints="1" noAdjustHandles="1" noChangeArrowheads="1" noChangeShapeType="1" noTextEdit="1"/>
              </p:cNvSpPr>
              <p:nvPr/>
            </p:nvSpPr>
            <p:spPr bwMode="auto">
              <a:xfrm>
                <a:off x="8775700" y="3592513"/>
                <a:ext cx="639763" cy="762000"/>
              </a:xfrm>
              <a:prstGeom prst="rect">
                <a:avLst/>
              </a:prstGeom>
              <a:blipFill>
                <a:blip r:embed="rId5"/>
                <a:stretch>
                  <a:fillRect/>
                </a:stretch>
              </a:blipFill>
              <a:ln>
                <a:noFill/>
              </a:ln>
              <a:effectLst/>
            </p:spPr>
            <p:txBody>
              <a:bodyPr/>
              <a:lstStyle/>
              <a:p>
                <a:r>
                  <a:rPr lang="en-IN">
                    <a:noFill/>
                  </a:rPr>
                  <a:t> </a:t>
                </a:r>
              </a:p>
            </p:txBody>
          </p:sp>
        </mc:Fallback>
      </mc:AlternateContent>
      <p:graphicFrame>
        <p:nvGraphicFramePr>
          <p:cNvPr id="358408" name="Object 8">
            <a:extLst>
              <a:ext uri="{FF2B5EF4-FFF2-40B4-BE49-F238E27FC236}">
                <a16:creationId xmlns:a16="http://schemas.microsoft.com/office/drawing/2014/main" id="{7F70467F-9AF1-43B3-B52B-CD6CA2A3B2F8}"/>
              </a:ext>
            </a:extLst>
          </p:cNvPr>
          <p:cNvGraphicFramePr>
            <a:graphicFrameLocks noChangeAspect="1"/>
          </p:cNvGraphicFramePr>
          <p:nvPr>
            <p:extLst>
              <p:ext uri="{D42A27DB-BD31-4B8C-83A1-F6EECF244321}">
                <p14:modId xmlns:p14="http://schemas.microsoft.com/office/powerpoint/2010/main" val="900655366"/>
              </p:ext>
            </p:extLst>
          </p:nvPr>
        </p:nvGraphicFramePr>
        <p:xfrm>
          <a:off x="7327607" y="3645206"/>
          <a:ext cx="295275" cy="610851"/>
        </p:xfrm>
        <a:graphic>
          <a:graphicData uri="http://schemas.openxmlformats.org/presentationml/2006/ole">
            <mc:AlternateContent xmlns:mc="http://schemas.openxmlformats.org/markup-compatibility/2006">
              <mc:Choice xmlns:v="urn:schemas-microsoft-com:vml" Requires="v">
                <p:oleObj spid="_x0000_s22551" name="Equation" r:id="rId6" imgW="152280" imgH="393480" progId="Equation.3">
                  <p:embed/>
                </p:oleObj>
              </mc:Choice>
              <mc:Fallback>
                <p:oleObj name="Equation" r:id="rId6" imgW="152280" imgH="393480" progId="Equation.3">
                  <p:embed/>
                  <p:pic>
                    <p:nvPicPr>
                      <p:cNvPr id="358408" name="Object 8">
                        <a:extLst>
                          <a:ext uri="{FF2B5EF4-FFF2-40B4-BE49-F238E27FC236}">
                            <a16:creationId xmlns:a16="http://schemas.microsoft.com/office/drawing/2014/main" id="{7F70467F-9AF1-43B3-B52B-CD6CA2A3B2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27607" y="3645206"/>
                        <a:ext cx="295275" cy="610851"/>
                      </a:xfrm>
                      <a:prstGeom prst="rect">
                        <a:avLst/>
                      </a:prstGeom>
                      <a:noFill/>
                      <a:ln>
                        <a:noFill/>
                      </a:ln>
                      <a:effectLst/>
                    </p:spPr>
                  </p:pic>
                </p:oleObj>
              </mc:Fallback>
            </mc:AlternateContent>
          </a:graphicData>
        </a:graphic>
      </p:graphicFrame>
      <p:graphicFrame>
        <p:nvGraphicFramePr>
          <p:cNvPr id="358409" name="Object 9">
            <a:extLst>
              <a:ext uri="{FF2B5EF4-FFF2-40B4-BE49-F238E27FC236}">
                <a16:creationId xmlns:a16="http://schemas.microsoft.com/office/drawing/2014/main" id="{411A8D56-2B60-4C4C-BCE8-DDCB217EAF43}"/>
              </a:ext>
            </a:extLst>
          </p:cNvPr>
          <p:cNvGraphicFramePr>
            <a:graphicFrameLocks noChangeAspect="1"/>
          </p:cNvGraphicFramePr>
          <p:nvPr>
            <p:extLst>
              <p:ext uri="{D42A27DB-BD31-4B8C-83A1-F6EECF244321}">
                <p14:modId xmlns:p14="http://schemas.microsoft.com/office/powerpoint/2010/main" val="2234958041"/>
              </p:ext>
            </p:extLst>
          </p:nvPr>
        </p:nvGraphicFramePr>
        <p:xfrm>
          <a:off x="7155362" y="5000388"/>
          <a:ext cx="639763" cy="762000"/>
        </p:xfrm>
        <a:graphic>
          <a:graphicData uri="http://schemas.openxmlformats.org/presentationml/2006/ole">
            <mc:AlternateContent xmlns:mc="http://schemas.openxmlformats.org/markup-compatibility/2006">
              <mc:Choice xmlns:v="urn:schemas-microsoft-com:vml" Requires="v">
                <p:oleObj spid="_x0000_s22552" name="Equation" r:id="rId8" imgW="330120" imgH="393480" progId="Equation.3">
                  <p:embed/>
                </p:oleObj>
              </mc:Choice>
              <mc:Fallback>
                <p:oleObj name="Equation" r:id="rId8" imgW="330120" imgH="393480" progId="Equation.3">
                  <p:embed/>
                  <p:pic>
                    <p:nvPicPr>
                      <p:cNvPr id="358409" name="Object 9">
                        <a:extLst>
                          <a:ext uri="{FF2B5EF4-FFF2-40B4-BE49-F238E27FC236}">
                            <a16:creationId xmlns:a16="http://schemas.microsoft.com/office/drawing/2014/main" id="{411A8D56-2B60-4C4C-BCE8-DDCB217EAF4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5362" y="5000388"/>
                        <a:ext cx="639763"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8" name="TextBox 5">
            <a:extLst>
              <a:ext uri="{FF2B5EF4-FFF2-40B4-BE49-F238E27FC236}">
                <a16:creationId xmlns:a16="http://schemas.microsoft.com/office/drawing/2014/main" id="{BF93E591-6A74-4969-8E7D-2C2F83AFE84F}"/>
              </a:ext>
            </a:extLst>
          </p:cNvPr>
          <p:cNvSpPr txBox="1">
            <a:spLocks noChangeArrowheads="1"/>
          </p:cNvSpPr>
          <p:nvPr/>
        </p:nvSpPr>
        <p:spPr bwMode="auto">
          <a:xfrm>
            <a:off x="1438276"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When the data is grouped</a:t>
            </a:r>
          </a:p>
        </p:txBody>
      </p:sp>
      <p:sp>
        <p:nvSpPr>
          <p:cNvPr id="359429" name="Text Box 5">
            <a:extLst>
              <a:ext uri="{FF2B5EF4-FFF2-40B4-BE49-F238E27FC236}">
                <a16:creationId xmlns:a16="http://schemas.microsoft.com/office/drawing/2014/main" id="{6C9B3EE5-E73F-44C6-B8FF-015DF2BEA38C}"/>
              </a:ext>
            </a:extLst>
          </p:cNvPr>
          <p:cNvSpPr txBox="1">
            <a:spLocks noChangeArrowheads="1"/>
          </p:cNvSpPr>
          <p:nvPr/>
        </p:nvSpPr>
        <p:spPr bwMode="auto">
          <a:xfrm>
            <a:off x="2422526" y="1636713"/>
            <a:ext cx="72891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In case of continuous frequency distribution, first of all we find median</a:t>
            </a:r>
          </a:p>
          <a:p>
            <a:r>
              <a:rPr lang="en-US" altLang="en-US"/>
              <a:t>class (the class which contains         th item). the median is given by</a:t>
            </a:r>
          </a:p>
          <a:p>
            <a:r>
              <a:rPr lang="en-US" altLang="en-US"/>
              <a:t>the formula:</a:t>
            </a:r>
          </a:p>
          <a:p>
            <a:endParaRPr lang="en-US" altLang="en-US"/>
          </a:p>
          <a:p>
            <a:r>
              <a:rPr lang="en-US" altLang="en-US"/>
              <a:t>Median = </a:t>
            </a:r>
          </a:p>
        </p:txBody>
      </p:sp>
      <p:graphicFrame>
        <p:nvGraphicFramePr>
          <p:cNvPr id="359430" name="Object 6">
            <a:extLst>
              <a:ext uri="{FF2B5EF4-FFF2-40B4-BE49-F238E27FC236}">
                <a16:creationId xmlns:a16="http://schemas.microsoft.com/office/drawing/2014/main" id="{4BE2B9D5-583D-4076-9C97-13B02672A488}"/>
              </a:ext>
            </a:extLst>
          </p:cNvPr>
          <p:cNvGraphicFramePr>
            <a:graphicFrameLocks noChangeAspect="1"/>
          </p:cNvGraphicFramePr>
          <p:nvPr>
            <p:extLst>
              <p:ext uri="{D42A27DB-BD31-4B8C-83A1-F6EECF244321}">
                <p14:modId xmlns:p14="http://schemas.microsoft.com/office/powerpoint/2010/main" val="479123200"/>
              </p:ext>
            </p:extLst>
          </p:nvPr>
        </p:nvGraphicFramePr>
        <p:xfrm>
          <a:off x="5771838" y="1844676"/>
          <a:ext cx="295275" cy="762000"/>
        </p:xfrm>
        <a:graphic>
          <a:graphicData uri="http://schemas.openxmlformats.org/presentationml/2006/ole">
            <mc:AlternateContent xmlns:mc="http://schemas.openxmlformats.org/markup-compatibility/2006">
              <mc:Choice xmlns:v="urn:schemas-microsoft-com:vml" Requires="v">
                <p:oleObj spid="_x0000_s23564" name="Equation" r:id="rId3" imgW="152280" imgH="393480" progId="Equation.3">
                  <p:embed/>
                </p:oleObj>
              </mc:Choice>
              <mc:Fallback>
                <p:oleObj name="Equation" r:id="rId3" imgW="152280" imgH="393480" progId="Equation.3">
                  <p:embed/>
                  <p:pic>
                    <p:nvPicPr>
                      <p:cNvPr id="359430" name="Object 6">
                        <a:extLst>
                          <a:ext uri="{FF2B5EF4-FFF2-40B4-BE49-F238E27FC236}">
                            <a16:creationId xmlns:a16="http://schemas.microsoft.com/office/drawing/2014/main" id="{4BE2B9D5-583D-4076-9C97-13B02672A4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1838" y="1844676"/>
                        <a:ext cx="295275" cy="762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431" name="Object 7">
            <a:extLst>
              <a:ext uri="{FF2B5EF4-FFF2-40B4-BE49-F238E27FC236}">
                <a16:creationId xmlns:a16="http://schemas.microsoft.com/office/drawing/2014/main" id="{875091F0-BD5D-4375-93A4-49F1624836F5}"/>
              </a:ext>
            </a:extLst>
          </p:cNvPr>
          <p:cNvGraphicFramePr>
            <a:graphicFrameLocks noChangeAspect="1"/>
          </p:cNvGraphicFramePr>
          <p:nvPr/>
        </p:nvGraphicFramePr>
        <p:xfrm>
          <a:off x="3810000" y="2606676"/>
          <a:ext cx="1905000" cy="898525"/>
        </p:xfrm>
        <a:graphic>
          <a:graphicData uri="http://schemas.openxmlformats.org/presentationml/2006/ole">
            <mc:AlternateContent xmlns:mc="http://schemas.openxmlformats.org/markup-compatibility/2006">
              <mc:Choice xmlns:v="urn:schemas-microsoft-com:vml" Requires="v">
                <p:oleObj spid="_x0000_s23565" name="Equation" r:id="rId5" imgW="914400" imgH="431640" progId="Equation.3">
                  <p:embed/>
                </p:oleObj>
              </mc:Choice>
              <mc:Fallback>
                <p:oleObj name="Equation" r:id="rId5" imgW="914400" imgH="431640" progId="Equation.3">
                  <p:embed/>
                  <p:pic>
                    <p:nvPicPr>
                      <p:cNvPr id="359431" name="Object 7">
                        <a:extLst>
                          <a:ext uri="{FF2B5EF4-FFF2-40B4-BE49-F238E27FC236}">
                            <a16:creationId xmlns:a16="http://schemas.microsoft.com/office/drawing/2014/main" id="{875091F0-BD5D-4375-93A4-49F1624836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2606676"/>
                        <a:ext cx="1905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432" name="Text Box 8">
            <a:extLst>
              <a:ext uri="{FF2B5EF4-FFF2-40B4-BE49-F238E27FC236}">
                <a16:creationId xmlns:a16="http://schemas.microsoft.com/office/drawing/2014/main" id="{5C8B99DA-74B7-4DC2-A16B-9D43EDA743CD}"/>
              </a:ext>
            </a:extLst>
          </p:cNvPr>
          <p:cNvSpPr txBox="1">
            <a:spLocks noChangeArrowheads="1"/>
          </p:cNvSpPr>
          <p:nvPr/>
        </p:nvSpPr>
        <p:spPr bwMode="auto">
          <a:xfrm>
            <a:off x="2574926" y="3770314"/>
            <a:ext cx="708399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where l = lower limit of the median class</a:t>
            </a:r>
          </a:p>
          <a:p>
            <a:r>
              <a:rPr lang="en-US" altLang="en-US"/>
              <a:t>h = width of the median class</a:t>
            </a:r>
          </a:p>
          <a:p>
            <a:r>
              <a:rPr lang="en-US" altLang="en-US"/>
              <a:t>f = frequency of the median class</a:t>
            </a:r>
          </a:p>
          <a:p>
            <a:r>
              <a:rPr lang="en-US" altLang="en-US"/>
              <a:t>C = cumulative frequency of the class preceding the median class</a:t>
            </a:r>
          </a:p>
          <a:p>
            <a:endParaRPr lang="en-US" altLang="en-US"/>
          </a:p>
          <a:p>
            <a:r>
              <a:rPr lang="en-US" altLang="en-US"/>
              <a:t>Note: In case of inclusive series, first convert the series to exclusive</a:t>
            </a:r>
          </a:p>
          <a:p>
            <a:r>
              <a:rPr lang="en-US" altLang="en-US"/>
              <a:t>	series.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2" name="Text Box 4">
            <a:extLst>
              <a:ext uri="{FF2B5EF4-FFF2-40B4-BE49-F238E27FC236}">
                <a16:creationId xmlns:a16="http://schemas.microsoft.com/office/drawing/2014/main" id="{102ACCC7-0EF7-44D9-B1F7-2BDF9532D794}"/>
              </a:ext>
            </a:extLst>
          </p:cNvPr>
          <p:cNvSpPr txBox="1">
            <a:spLocks noChangeArrowheads="1"/>
          </p:cNvSpPr>
          <p:nvPr/>
        </p:nvSpPr>
        <p:spPr bwMode="auto">
          <a:xfrm>
            <a:off x="1016001" y="984884"/>
            <a:ext cx="81612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Find the median for the following:</a:t>
            </a:r>
          </a:p>
          <a:p>
            <a:r>
              <a:rPr lang="en-US" altLang="en-US" dirty="0"/>
              <a:t>marks;		0-7	7-14	14-21	21-28	28-35	35-42	42-49</a:t>
            </a:r>
          </a:p>
          <a:p>
            <a:r>
              <a:rPr lang="en-US" altLang="en-US" dirty="0"/>
              <a:t>no. of students:	3	  4	   7	   11	   0	   16	   9</a:t>
            </a:r>
          </a:p>
        </p:txBody>
      </p:sp>
      <p:graphicFrame>
        <p:nvGraphicFramePr>
          <p:cNvPr id="360489" name="Group 41">
            <a:extLst>
              <a:ext uri="{FF2B5EF4-FFF2-40B4-BE49-F238E27FC236}">
                <a16:creationId xmlns:a16="http://schemas.microsoft.com/office/drawing/2014/main" id="{D0377D34-C34F-41C2-980B-D052E43613C0}"/>
              </a:ext>
            </a:extLst>
          </p:cNvPr>
          <p:cNvGraphicFramePr>
            <a:graphicFrameLocks noGrp="1"/>
          </p:cNvGraphicFramePr>
          <p:nvPr/>
        </p:nvGraphicFramePr>
        <p:xfrm>
          <a:off x="3581400" y="2133601"/>
          <a:ext cx="6096000" cy="3739515"/>
        </p:xfrm>
        <a:graphic>
          <a:graphicData uri="http://schemas.openxmlformats.org/drawingml/2006/table">
            <a:tbl>
              <a:tblPr/>
              <a:tblGrid>
                <a:gridCol w="2032000">
                  <a:extLst>
                    <a:ext uri="{9D8B030D-6E8A-4147-A177-3AD203B41FA5}">
                      <a16:colId xmlns:a16="http://schemas.microsoft.com/office/drawing/2014/main" val="4238949240"/>
                    </a:ext>
                  </a:extLst>
                </a:gridCol>
                <a:gridCol w="2032000">
                  <a:extLst>
                    <a:ext uri="{9D8B030D-6E8A-4147-A177-3AD203B41FA5}">
                      <a16:colId xmlns:a16="http://schemas.microsoft.com/office/drawing/2014/main" val="1143791372"/>
                    </a:ext>
                  </a:extLst>
                </a:gridCol>
                <a:gridCol w="2032000">
                  <a:extLst>
                    <a:ext uri="{9D8B030D-6E8A-4147-A177-3AD203B41FA5}">
                      <a16:colId xmlns:a16="http://schemas.microsoft.com/office/drawing/2014/main" val="1177525543"/>
                    </a:ext>
                  </a:extLst>
                </a:gridCol>
              </a:tblGrid>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Marks (x)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No. of students (f)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Cumulative frequency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8124241"/>
                  </a:ext>
                </a:extLst>
              </a:tr>
              <a:tr h="259080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7-14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14-21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21-28</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28-35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35-42</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42-49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16</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41</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4087804"/>
                  </a:ext>
                </a:extLst>
              </a:tr>
              <a:tr h="447675">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N = 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190063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6" name="Text Box 4">
            <a:extLst>
              <a:ext uri="{FF2B5EF4-FFF2-40B4-BE49-F238E27FC236}">
                <a16:creationId xmlns:a16="http://schemas.microsoft.com/office/drawing/2014/main" id="{7FAF645C-C678-41B0-970B-CC08556D745C}"/>
              </a:ext>
            </a:extLst>
          </p:cNvPr>
          <p:cNvSpPr txBox="1">
            <a:spLocks noChangeArrowheads="1"/>
          </p:cNvSpPr>
          <p:nvPr/>
        </p:nvSpPr>
        <p:spPr bwMode="auto">
          <a:xfrm>
            <a:off x="3514524" y="1905001"/>
            <a:ext cx="47115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Therefore, Median = size of (N/2)</a:t>
            </a:r>
            <a:r>
              <a:rPr lang="en-US" altLang="en-US" dirty="0" err="1"/>
              <a:t>th</a:t>
            </a:r>
            <a:r>
              <a:rPr lang="en-US" altLang="en-US" dirty="0"/>
              <a:t> item</a:t>
            </a:r>
          </a:p>
          <a:p>
            <a:endParaRPr lang="en-US" altLang="en-US" dirty="0"/>
          </a:p>
          <a:p>
            <a:r>
              <a:rPr lang="en-US" altLang="en-US" dirty="0"/>
              <a:t>		= size of (50/2) = 25</a:t>
            </a:r>
            <a:r>
              <a:rPr lang="en-US" altLang="en-US" baseline="30000" dirty="0"/>
              <a:t>th</a:t>
            </a:r>
            <a:r>
              <a:rPr lang="en-US" altLang="en-US" dirty="0"/>
              <a:t> item</a:t>
            </a:r>
          </a:p>
          <a:p>
            <a:endParaRPr lang="en-US" altLang="en-US" dirty="0"/>
          </a:p>
          <a:p>
            <a:r>
              <a:rPr lang="en-US" altLang="en-US" dirty="0"/>
              <a:t>median class is 21-28</a:t>
            </a:r>
          </a:p>
          <a:p>
            <a:endParaRPr lang="en-US" altLang="en-US" dirty="0"/>
          </a:p>
          <a:p>
            <a:r>
              <a:rPr lang="en-US" altLang="en-US" dirty="0"/>
              <a:t>Here l = 21, h = 7, f = 11, C = 14</a:t>
            </a:r>
          </a:p>
          <a:p>
            <a:endParaRPr lang="en-US" altLang="en-US" dirty="0"/>
          </a:p>
          <a:p>
            <a:r>
              <a:rPr lang="en-US" altLang="en-US" dirty="0"/>
              <a:t>Median= </a:t>
            </a:r>
          </a:p>
        </p:txBody>
      </p:sp>
      <p:graphicFrame>
        <p:nvGraphicFramePr>
          <p:cNvPr id="361477" name="Object 5">
            <a:extLst>
              <a:ext uri="{FF2B5EF4-FFF2-40B4-BE49-F238E27FC236}">
                <a16:creationId xmlns:a16="http://schemas.microsoft.com/office/drawing/2014/main" id="{CE8CAD51-F887-4B41-B106-AFF00EA78F9B}"/>
              </a:ext>
            </a:extLst>
          </p:cNvPr>
          <p:cNvGraphicFramePr>
            <a:graphicFrameLocks noChangeAspect="1"/>
          </p:cNvGraphicFramePr>
          <p:nvPr/>
        </p:nvGraphicFramePr>
        <p:xfrm>
          <a:off x="5042101" y="3885308"/>
          <a:ext cx="1905000" cy="898525"/>
        </p:xfrm>
        <a:graphic>
          <a:graphicData uri="http://schemas.openxmlformats.org/presentationml/2006/ole">
            <mc:AlternateContent xmlns:mc="http://schemas.openxmlformats.org/markup-compatibility/2006">
              <mc:Choice xmlns:v="urn:schemas-microsoft-com:vml" Requires="v">
                <p:oleObj spid="_x0000_s24582" name="Microsoft Equation 3.0" r:id="rId3" imgW="914400" imgH="431640" progId="Equation.3">
                  <p:embed/>
                </p:oleObj>
              </mc:Choice>
              <mc:Fallback>
                <p:oleObj name="Microsoft Equation 3.0" r:id="rId3" imgW="914400" imgH="431640" progId="Equation.3">
                  <p:embed/>
                  <p:pic>
                    <p:nvPicPr>
                      <p:cNvPr id="361477" name="Object 5">
                        <a:extLst>
                          <a:ext uri="{FF2B5EF4-FFF2-40B4-BE49-F238E27FC236}">
                            <a16:creationId xmlns:a16="http://schemas.microsoft.com/office/drawing/2014/main" id="{CE8CAD51-F887-4B41-B106-AFF00EA78F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2101" y="3885308"/>
                        <a:ext cx="1905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1478" name="Text Box 6">
            <a:extLst>
              <a:ext uri="{FF2B5EF4-FFF2-40B4-BE49-F238E27FC236}">
                <a16:creationId xmlns:a16="http://schemas.microsoft.com/office/drawing/2014/main" id="{934465CE-EF70-48CD-89A4-C08A1EF91CA3}"/>
              </a:ext>
            </a:extLst>
          </p:cNvPr>
          <p:cNvSpPr txBox="1">
            <a:spLocks noChangeArrowheads="1"/>
          </p:cNvSpPr>
          <p:nvPr/>
        </p:nvSpPr>
        <p:spPr bwMode="auto">
          <a:xfrm>
            <a:off x="4283648" y="5362476"/>
            <a:ext cx="240104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 21 + (7/11)(25-14)</a:t>
            </a:r>
          </a:p>
          <a:p>
            <a:endParaRPr lang="en-US" altLang="en-US" dirty="0"/>
          </a:p>
          <a:p>
            <a:r>
              <a:rPr lang="en-US" altLang="en-US" dirty="0"/>
              <a:t>=21 + (7 * 11)/11 = 28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4" name="TextBox 5">
            <a:extLst>
              <a:ext uri="{FF2B5EF4-FFF2-40B4-BE49-F238E27FC236}">
                <a16:creationId xmlns:a16="http://schemas.microsoft.com/office/drawing/2014/main" id="{901BCE93-E404-46B7-A383-7E4348DF1299}"/>
              </a:ext>
            </a:extLst>
          </p:cNvPr>
          <p:cNvSpPr txBox="1">
            <a:spLocks noChangeArrowheads="1"/>
          </p:cNvSpPr>
          <p:nvPr/>
        </p:nvSpPr>
        <p:spPr bwMode="auto">
          <a:xfrm>
            <a:off x="14224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Quartiles</a:t>
            </a:r>
          </a:p>
        </p:txBody>
      </p:sp>
      <p:sp>
        <p:nvSpPr>
          <p:cNvPr id="404485" name="Text Box 5">
            <a:extLst>
              <a:ext uri="{FF2B5EF4-FFF2-40B4-BE49-F238E27FC236}">
                <a16:creationId xmlns:a16="http://schemas.microsoft.com/office/drawing/2014/main" id="{297FE055-ABFC-4400-96AC-8ABDED412C09}"/>
              </a:ext>
            </a:extLst>
          </p:cNvPr>
          <p:cNvSpPr txBox="1">
            <a:spLocks noChangeArrowheads="1"/>
          </p:cNvSpPr>
          <p:nvPr/>
        </p:nvSpPr>
        <p:spPr bwMode="auto">
          <a:xfrm>
            <a:off x="2498725" y="1946276"/>
            <a:ext cx="74072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Just as median divides the total frequency into two equal parts.</a:t>
            </a:r>
          </a:p>
          <a:p>
            <a:r>
              <a:rPr lang="en-US" altLang="en-US"/>
              <a:t>Similarly, quartiles divide the total frequency into four equal parts.</a:t>
            </a:r>
          </a:p>
          <a:p>
            <a:endParaRPr lang="en-US" altLang="en-US"/>
          </a:p>
          <a:p>
            <a:r>
              <a:rPr lang="en-US" altLang="en-US"/>
              <a:t>The value of the variate midway between the first variate and the median is first or lower Q</a:t>
            </a:r>
            <a:r>
              <a:rPr lang="en-US" altLang="en-US" baseline="-25000"/>
              <a:t>1</a:t>
            </a:r>
            <a:r>
              <a:rPr lang="en-US" altLang="en-US"/>
              <a:t>quartile.</a:t>
            </a:r>
          </a:p>
          <a:p>
            <a:endParaRPr lang="en-US" altLang="en-US"/>
          </a:p>
          <a:p>
            <a:r>
              <a:rPr lang="en-US" altLang="en-US"/>
              <a:t>The value of the variate midway between the last variate and the median is third or upper Q</a:t>
            </a:r>
            <a:r>
              <a:rPr lang="en-US" altLang="en-US" baseline="-25000"/>
              <a:t>3</a:t>
            </a:r>
            <a:r>
              <a:rPr lang="en-US" altLang="en-US"/>
              <a:t> quartile.</a:t>
            </a:r>
          </a:p>
          <a:p>
            <a:endParaRPr lang="en-US" altLang="en-US"/>
          </a:p>
          <a:p>
            <a:r>
              <a:rPr lang="en-US" altLang="en-US"/>
              <a:t>The median is the second or middle Q</a:t>
            </a:r>
            <a:r>
              <a:rPr lang="en-US" altLang="en-US" baseline="-25000"/>
              <a:t>2 </a:t>
            </a:r>
            <a:r>
              <a:rPr lang="en-US" altLang="en-US"/>
              <a:t>quartile.</a:t>
            </a:r>
          </a:p>
          <a:p>
            <a:endParaRPr lang="en-US" altLang="en-US"/>
          </a:p>
          <a:p>
            <a:endParaRPr lang="en-US" altLang="en-US"/>
          </a:p>
        </p:txBody>
      </p:sp>
      <mc:AlternateContent xmlns:mc="http://schemas.openxmlformats.org/markup-compatibility/2006">
        <mc:Choice xmlns:p14="http://schemas.microsoft.com/office/powerpoint/2010/main" Requires="p14">
          <p:contentPart p14:bwMode="auto" r:id="rId2">
            <p14:nvContentPartPr>
              <p14:cNvPr id="21" name="Ink 20">
                <a:extLst>
                  <a:ext uri="{FF2B5EF4-FFF2-40B4-BE49-F238E27FC236}">
                    <a16:creationId xmlns:a16="http://schemas.microsoft.com/office/drawing/2014/main" id="{5D4EA190-02C1-4CB8-A365-AC6E220F245B}"/>
                  </a:ext>
                </a:extLst>
              </p14:cNvPr>
              <p14:cNvContentPartPr/>
              <p14:nvPr/>
            </p14:nvContentPartPr>
            <p14:xfrm>
              <a:off x="11662806" y="1727488"/>
              <a:ext cx="360" cy="360"/>
            </p14:xfrm>
          </p:contentPart>
        </mc:Choice>
        <mc:Fallback>
          <p:pic>
            <p:nvPicPr>
              <p:cNvPr id="21" name="Ink 20">
                <a:extLst>
                  <a:ext uri="{FF2B5EF4-FFF2-40B4-BE49-F238E27FC236}">
                    <a16:creationId xmlns:a16="http://schemas.microsoft.com/office/drawing/2014/main" id="{5D4EA190-02C1-4CB8-A365-AC6E220F245B}"/>
                  </a:ext>
                </a:extLst>
              </p:cNvPr>
              <p:cNvPicPr/>
              <p:nvPr/>
            </p:nvPicPr>
            <p:blipFill>
              <a:blip r:embed="rId3"/>
              <a:stretch>
                <a:fillRect/>
              </a:stretch>
            </p:blipFill>
            <p:spPr>
              <a:xfrm>
                <a:off x="11653806" y="1718848"/>
                <a:ext cx="18000" cy="18000"/>
              </a:xfrm>
              <a:prstGeom prst="rect">
                <a:avLst/>
              </a:prstGeom>
            </p:spPr>
          </p:pic>
        </mc:Fallback>
      </mc:AlternateContent>
    </p:spTree>
    <p:extLst>
      <p:ext uri="{BB962C8B-B14F-4D97-AF65-F5344CB8AC3E}">
        <p14:creationId xmlns:p14="http://schemas.microsoft.com/office/powerpoint/2010/main" val="4241125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8" name="Text Box 4">
            <a:extLst>
              <a:ext uri="{FF2B5EF4-FFF2-40B4-BE49-F238E27FC236}">
                <a16:creationId xmlns:a16="http://schemas.microsoft.com/office/drawing/2014/main" id="{1D55C45F-A6BC-484E-B140-7A41C68E8C9D}"/>
              </a:ext>
            </a:extLst>
          </p:cNvPr>
          <p:cNvSpPr txBox="1">
            <a:spLocks noChangeArrowheads="1"/>
          </p:cNvSpPr>
          <p:nvPr/>
        </p:nvSpPr>
        <p:spPr bwMode="auto">
          <a:xfrm>
            <a:off x="2498726" y="798514"/>
            <a:ext cx="403187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a:p>
            <a:r>
              <a:rPr lang="en-US" altLang="en-US"/>
              <a:t>For ungrouped data:</a:t>
            </a:r>
            <a:endParaRPr lang="en-IN" altLang="en-US"/>
          </a:p>
          <a:p>
            <a:endParaRPr lang="en-US" altLang="en-US"/>
          </a:p>
          <a:p>
            <a:r>
              <a:rPr lang="en-US" altLang="en-US"/>
              <a:t>Q</a:t>
            </a:r>
            <a:r>
              <a:rPr lang="en-US" altLang="en-US" baseline="-25000"/>
              <a:t>1</a:t>
            </a:r>
            <a:r>
              <a:rPr lang="en-US" altLang="en-US"/>
              <a:t> = ((n+1)/4)th variate</a:t>
            </a:r>
          </a:p>
          <a:p>
            <a:r>
              <a:rPr lang="en-US" altLang="en-US"/>
              <a:t>Q</a:t>
            </a:r>
            <a:r>
              <a:rPr lang="en-US" altLang="en-US" baseline="-25000"/>
              <a:t>3</a:t>
            </a:r>
            <a:r>
              <a:rPr lang="en-US" altLang="en-US"/>
              <a:t> = ((3(n+1))/4)th variate</a:t>
            </a:r>
          </a:p>
          <a:p>
            <a:endParaRPr lang="en-US" altLang="en-US"/>
          </a:p>
          <a:p>
            <a:r>
              <a:rPr lang="en-US" altLang="en-US"/>
              <a:t>For continuous frequency distribution:</a:t>
            </a:r>
            <a:endParaRPr lang="en-IN" altLang="en-US"/>
          </a:p>
        </p:txBody>
      </p:sp>
      <p:graphicFrame>
        <p:nvGraphicFramePr>
          <p:cNvPr id="405509" name="Object 5">
            <a:extLst>
              <a:ext uri="{FF2B5EF4-FFF2-40B4-BE49-F238E27FC236}">
                <a16:creationId xmlns:a16="http://schemas.microsoft.com/office/drawing/2014/main" id="{8FC6B883-82B5-4792-A206-25EAA1C966BE}"/>
              </a:ext>
            </a:extLst>
          </p:cNvPr>
          <p:cNvGraphicFramePr>
            <a:graphicFrameLocks noChangeAspect="1"/>
          </p:cNvGraphicFramePr>
          <p:nvPr/>
        </p:nvGraphicFramePr>
        <p:xfrm>
          <a:off x="4876800" y="3048000"/>
          <a:ext cx="1905000" cy="898525"/>
        </p:xfrm>
        <a:graphic>
          <a:graphicData uri="http://schemas.openxmlformats.org/presentationml/2006/ole">
            <mc:AlternateContent xmlns:mc="http://schemas.openxmlformats.org/markup-compatibility/2006">
              <mc:Choice xmlns:v="urn:schemas-microsoft-com:vml" Requires="v">
                <p:oleObj spid="_x0000_s25610" name="Equation" r:id="rId3" imgW="914400" imgH="431640" progId="Equation.3">
                  <p:embed/>
                </p:oleObj>
              </mc:Choice>
              <mc:Fallback>
                <p:oleObj name="Equation" r:id="rId3" imgW="914400" imgH="431640" progId="Equation.3">
                  <p:embed/>
                  <p:pic>
                    <p:nvPicPr>
                      <p:cNvPr id="405509" name="Object 5">
                        <a:extLst>
                          <a:ext uri="{FF2B5EF4-FFF2-40B4-BE49-F238E27FC236}">
                            <a16:creationId xmlns:a16="http://schemas.microsoft.com/office/drawing/2014/main" id="{8FC6B883-82B5-4792-A206-25EAA1C966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3048000"/>
                        <a:ext cx="19050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5510" name="Text Box 6">
            <a:extLst>
              <a:ext uri="{FF2B5EF4-FFF2-40B4-BE49-F238E27FC236}">
                <a16:creationId xmlns:a16="http://schemas.microsoft.com/office/drawing/2014/main" id="{FE8B3EBF-5020-4892-958C-326EDFB5432F}"/>
              </a:ext>
            </a:extLst>
          </p:cNvPr>
          <p:cNvSpPr txBox="1">
            <a:spLocks noChangeArrowheads="1"/>
          </p:cNvSpPr>
          <p:nvPr/>
        </p:nvSpPr>
        <p:spPr bwMode="auto">
          <a:xfrm>
            <a:off x="3489326" y="3313113"/>
            <a:ext cx="7120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Q</a:t>
            </a:r>
            <a:r>
              <a:rPr lang="en-US" altLang="en-US" baseline="-25000"/>
              <a:t>1</a:t>
            </a:r>
            <a:r>
              <a:rPr lang="en-US" altLang="en-US"/>
              <a:t> = </a:t>
            </a:r>
            <a:endParaRPr lang="en-IN" altLang="en-US"/>
          </a:p>
        </p:txBody>
      </p:sp>
      <p:graphicFrame>
        <p:nvGraphicFramePr>
          <p:cNvPr id="405511" name="Object 7">
            <a:extLst>
              <a:ext uri="{FF2B5EF4-FFF2-40B4-BE49-F238E27FC236}">
                <a16:creationId xmlns:a16="http://schemas.microsoft.com/office/drawing/2014/main" id="{AA17E74B-0EC1-45DB-BFD4-728837623CB0}"/>
              </a:ext>
            </a:extLst>
          </p:cNvPr>
          <p:cNvGraphicFramePr>
            <a:graphicFrameLocks noChangeAspect="1"/>
          </p:cNvGraphicFramePr>
          <p:nvPr/>
        </p:nvGraphicFramePr>
        <p:xfrm>
          <a:off x="4949826" y="4283076"/>
          <a:ext cx="2063751" cy="898525"/>
        </p:xfrm>
        <a:graphic>
          <a:graphicData uri="http://schemas.openxmlformats.org/presentationml/2006/ole">
            <mc:AlternateContent xmlns:mc="http://schemas.openxmlformats.org/markup-compatibility/2006">
              <mc:Choice xmlns:v="urn:schemas-microsoft-com:vml" Requires="v">
                <p:oleObj spid="_x0000_s25611" name="Equation" r:id="rId5" imgW="990360" imgH="431640" progId="Equation.3">
                  <p:embed/>
                </p:oleObj>
              </mc:Choice>
              <mc:Fallback>
                <p:oleObj name="Equation" r:id="rId5" imgW="990360" imgH="431640" progId="Equation.3">
                  <p:embed/>
                  <p:pic>
                    <p:nvPicPr>
                      <p:cNvPr id="405511" name="Object 7">
                        <a:extLst>
                          <a:ext uri="{FF2B5EF4-FFF2-40B4-BE49-F238E27FC236}">
                            <a16:creationId xmlns:a16="http://schemas.microsoft.com/office/drawing/2014/main" id="{AA17E74B-0EC1-45DB-BFD4-728837623C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49826" y="4283076"/>
                        <a:ext cx="2063751"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5512" name="Text Box 8">
            <a:extLst>
              <a:ext uri="{FF2B5EF4-FFF2-40B4-BE49-F238E27FC236}">
                <a16:creationId xmlns:a16="http://schemas.microsoft.com/office/drawing/2014/main" id="{03B576B9-5C46-4C94-8CE5-9DEE16BA2C68}"/>
              </a:ext>
            </a:extLst>
          </p:cNvPr>
          <p:cNvSpPr txBox="1">
            <a:spLocks noChangeArrowheads="1"/>
          </p:cNvSpPr>
          <p:nvPr/>
        </p:nvSpPr>
        <p:spPr bwMode="auto">
          <a:xfrm>
            <a:off x="3489325" y="4532313"/>
            <a:ext cx="4491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Q</a:t>
            </a:r>
            <a:r>
              <a:rPr lang="en-US" altLang="en-US" baseline="-25000"/>
              <a:t>3</a:t>
            </a:r>
            <a:endParaRPr lang="en-IN" altLang="en-US" baseline="-25000"/>
          </a:p>
        </p:txBody>
      </p:sp>
    </p:spTree>
    <p:extLst>
      <p:ext uri="{BB962C8B-B14F-4D97-AF65-F5344CB8AC3E}">
        <p14:creationId xmlns:p14="http://schemas.microsoft.com/office/powerpoint/2010/main" val="2630282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2" name="Text Box 4">
            <a:extLst>
              <a:ext uri="{FF2B5EF4-FFF2-40B4-BE49-F238E27FC236}">
                <a16:creationId xmlns:a16="http://schemas.microsoft.com/office/drawing/2014/main" id="{4A2A7923-E708-427A-9F91-B830CC4C2692}"/>
              </a:ext>
            </a:extLst>
          </p:cNvPr>
          <p:cNvSpPr txBox="1">
            <a:spLocks noChangeArrowheads="1"/>
          </p:cNvSpPr>
          <p:nvPr/>
        </p:nvSpPr>
        <p:spPr bwMode="auto">
          <a:xfrm>
            <a:off x="2730501" y="1504951"/>
            <a:ext cx="609012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where</a:t>
            </a:r>
          </a:p>
          <a:p>
            <a:r>
              <a:rPr lang="en-US" altLang="en-US"/>
              <a:t>l = lower limit of the class in which a particular quartile lies</a:t>
            </a:r>
          </a:p>
          <a:p>
            <a:endParaRPr lang="en-US" altLang="en-US"/>
          </a:p>
          <a:p>
            <a:r>
              <a:rPr lang="en-US" altLang="en-US"/>
              <a:t>h = width of the class in which a particular quartile lies</a:t>
            </a:r>
            <a:endParaRPr lang="en-IN" altLang="en-US"/>
          </a:p>
          <a:p>
            <a:endParaRPr lang="en-US" altLang="en-US"/>
          </a:p>
          <a:p>
            <a:r>
              <a:rPr lang="en-US" altLang="en-US"/>
              <a:t>f = frequency of the class in which a particular quartile lies</a:t>
            </a:r>
            <a:endParaRPr lang="en-IN" altLang="en-US"/>
          </a:p>
          <a:p>
            <a:endParaRPr lang="en-US" altLang="en-US"/>
          </a:p>
          <a:p>
            <a:r>
              <a:rPr lang="en-US" altLang="en-US"/>
              <a:t>C = cumulative frequency of the class preceding the class</a:t>
            </a:r>
          </a:p>
          <a:p>
            <a:r>
              <a:rPr lang="en-US" altLang="en-US"/>
              <a:t>	 in which a particular quartile lies</a:t>
            </a:r>
            <a:endParaRPr lang="en-IN" altLang="en-US"/>
          </a:p>
          <a:p>
            <a:endParaRPr lang="en-IN" altLang="en-US"/>
          </a:p>
        </p:txBody>
      </p:sp>
    </p:spTree>
    <p:extLst>
      <p:ext uri="{BB962C8B-B14F-4D97-AF65-F5344CB8AC3E}">
        <p14:creationId xmlns:p14="http://schemas.microsoft.com/office/powerpoint/2010/main" val="922168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TextBox 3">
            <a:extLst>
              <a:ext uri="{FF2B5EF4-FFF2-40B4-BE49-F238E27FC236}">
                <a16:creationId xmlns:a16="http://schemas.microsoft.com/office/drawing/2014/main" id="{1C135D9E-C90C-412A-80F4-E188C88D741C}"/>
              </a:ext>
            </a:extLst>
          </p:cNvPr>
          <p:cNvSpPr txBox="1">
            <a:spLocks noChangeArrowheads="1"/>
          </p:cNvSpPr>
          <p:nvPr/>
        </p:nvSpPr>
        <p:spPr bwMode="auto">
          <a:xfrm>
            <a:off x="4800602" y="83820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a:latin typeface="Calibri" panose="020F0502020204030204" pitchFamily="34" charset="0"/>
            </a:endParaRPr>
          </a:p>
        </p:txBody>
      </p:sp>
      <p:sp>
        <p:nvSpPr>
          <p:cNvPr id="362499" name="TextBox 5">
            <a:extLst>
              <a:ext uri="{FF2B5EF4-FFF2-40B4-BE49-F238E27FC236}">
                <a16:creationId xmlns:a16="http://schemas.microsoft.com/office/drawing/2014/main" id="{878F8ABC-9286-4761-9390-8760BEA8CF10}"/>
              </a:ext>
            </a:extLst>
          </p:cNvPr>
          <p:cNvSpPr txBox="1">
            <a:spLocks noChangeArrowheads="1"/>
          </p:cNvSpPr>
          <p:nvPr/>
        </p:nvSpPr>
        <p:spPr bwMode="auto">
          <a:xfrm>
            <a:off x="1524000" y="34575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Mode</a:t>
            </a:r>
          </a:p>
        </p:txBody>
      </p:sp>
      <p:sp>
        <p:nvSpPr>
          <p:cNvPr id="362500" name="TextBox 6">
            <a:extLst>
              <a:ext uri="{FF2B5EF4-FFF2-40B4-BE49-F238E27FC236}">
                <a16:creationId xmlns:a16="http://schemas.microsoft.com/office/drawing/2014/main" id="{4FAE8C04-AA32-4ECB-8DB0-7CD62F5AB7DD}"/>
              </a:ext>
            </a:extLst>
          </p:cNvPr>
          <p:cNvSpPr txBox="1">
            <a:spLocks noChangeArrowheads="1"/>
          </p:cNvSpPr>
          <p:nvPr/>
        </p:nvSpPr>
        <p:spPr bwMode="auto">
          <a:xfrm>
            <a:off x="2362200" y="2133600"/>
            <a:ext cx="7848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877888" indent="-342900" eaLnBrk="0" hangingPunct="0">
              <a:defRPr>
                <a:solidFill>
                  <a:schemeClr val="tx1"/>
                </a:solidFill>
                <a:latin typeface="Arial" panose="020B0604020202020204" pitchFamily="34" charset="0"/>
              </a:defRPr>
            </a:lvl2pPr>
            <a:lvl3pPr marL="1400175" indent="-342900" eaLnBrk="0" hangingPunct="0">
              <a:defRPr>
                <a:solidFill>
                  <a:schemeClr val="tx1"/>
                </a:solidFill>
                <a:latin typeface="Arial" panose="020B0604020202020204" pitchFamily="34" charset="0"/>
              </a:defRPr>
            </a:lvl3pPr>
            <a:lvl4pPr marL="1922463" indent="-342900" eaLnBrk="0" hangingPunct="0">
              <a:defRPr>
                <a:solidFill>
                  <a:schemeClr val="tx1"/>
                </a:solidFill>
                <a:latin typeface="Arial" panose="020B0604020202020204" pitchFamily="34" charset="0"/>
              </a:defRPr>
            </a:lvl4pPr>
            <a:lvl5pPr marL="2444750" indent="-342900" eaLnBrk="0" hangingPunct="0">
              <a:defRPr>
                <a:solidFill>
                  <a:schemeClr val="tx1"/>
                </a:solidFill>
                <a:latin typeface="Arial" panose="020B0604020202020204" pitchFamily="34" charset="0"/>
              </a:defRPr>
            </a:lvl5pPr>
            <a:lvl6pPr marL="2901950" indent="-342900" eaLnBrk="0" fontAlgn="base" hangingPunct="0">
              <a:spcBef>
                <a:spcPct val="0"/>
              </a:spcBef>
              <a:spcAft>
                <a:spcPct val="0"/>
              </a:spcAft>
              <a:defRPr>
                <a:solidFill>
                  <a:schemeClr val="tx1"/>
                </a:solidFill>
                <a:latin typeface="Arial" panose="020B0604020202020204" pitchFamily="34" charset="0"/>
              </a:defRPr>
            </a:lvl6pPr>
            <a:lvl7pPr marL="3359150" indent="-342900" eaLnBrk="0" fontAlgn="base" hangingPunct="0">
              <a:spcBef>
                <a:spcPct val="0"/>
              </a:spcBef>
              <a:spcAft>
                <a:spcPct val="0"/>
              </a:spcAft>
              <a:defRPr>
                <a:solidFill>
                  <a:schemeClr val="tx1"/>
                </a:solidFill>
                <a:latin typeface="Arial" panose="020B0604020202020204" pitchFamily="34" charset="0"/>
              </a:defRPr>
            </a:lvl7pPr>
            <a:lvl8pPr marL="3816350" indent="-342900" eaLnBrk="0" fontAlgn="base" hangingPunct="0">
              <a:spcBef>
                <a:spcPct val="0"/>
              </a:spcBef>
              <a:spcAft>
                <a:spcPct val="0"/>
              </a:spcAft>
              <a:defRPr>
                <a:solidFill>
                  <a:schemeClr val="tx1"/>
                </a:solidFill>
                <a:latin typeface="Arial" panose="020B0604020202020204" pitchFamily="34" charset="0"/>
              </a:defRPr>
            </a:lvl8pPr>
            <a:lvl9pPr marL="4273550" indent="-3429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a:latin typeface="Calibri" panose="020F0502020204030204" pitchFamily="34" charset="0"/>
              </a:rPr>
              <a:t>. </a:t>
            </a:r>
            <a:endParaRPr lang="en-US" altLang="en-US" b="1">
              <a:latin typeface="Calibri" panose="020F0502020204030204" pitchFamily="34" charset="0"/>
            </a:endParaRPr>
          </a:p>
        </p:txBody>
      </p:sp>
      <p:sp>
        <p:nvSpPr>
          <p:cNvPr id="362501" name="Rectangle 5">
            <a:extLst>
              <a:ext uri="{FF2B5EF4-FFF2-40B4-BE49-F238E27FC236}">
                <a16:creationId xmlns:a16="http://schemas.microsoft.com/office/drawing/2014/main" id="{C5E5B5A1-5585-40EC-9D84-FF54A8E7A6FC}"/>
              </a:ext>
            </a:extLst>
          </p:cNvPr>
          <p:cNvSpPr>
            <a:spLocks noChangeArrowheads="1"/>
          </p:cNvSpPr>
          <p:nvPr/>
        </p:nvSpPr>
        <p:spPr bwMode="auto">
          <a:xfrm>
            <a:off x="3581400" y="2360614"/>
            <a:ext cx="6248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The mode or modal value is that value of the variate which occurs most frequently, i.e. mode is that value of the variate which has maximum frequency.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8" name="TextBox 5">
            <a:extLst>
              <a:ext uri="{FF2B5EF4-FFF2-40B4-BE49-F238E27FC236}">
                <a16:creationId xmlns:a16="http://schemas.microsoft.com/office/drawing/2014/main" id="{08AE41AF-EB8C-4466-852D-2E2C206B7EDF}"/>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Mode (For discrete series)</a:t>
            </a:r>
          </a:p>
        </p:txBody>
      </p:sp>
      <p:sp>
        <p:nvSpPr>
          <p:cNvPr id="364549" name="Text Box 5">
            <a:extLst>
              <a:ext uri="{FF2B5EF4-FFF2-40B4-BE49-F238E27FC236}">
                <a16:creationId xmlns:a16="http://schemas.microsoft.com/office/drawing/2014/main" id="{AC358C43-0D19-4023-8DF1-D81749C4D384}"/>
              </a:ext>
            </a:extLst>
          </p:cNvPr>
          <p:cNvSpPr txBox="1">
            <a:spLocks noChangeArrowheads="1"/>
          </p:cNvSpPr>
          <p:nvPr/>
        </p:nvSpPr>
        <p:spPr bwMode="auto">
          <a:xfrm>
            <a:off x="3108325" y="1765302"/>
            <a:ext cx="70262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71475" indent="-371475" eaLnBrk="0" hangingPunct="0">
              <a:defRPr>
                <a:solidFill>
                  <a:schemeClr val="tx1"/>
                </a:solidFill>
                <a:latin typeface="Arial" panose="020B0604020202020204" pitchFamily="34" charset="0"/>
              </a:defRPr>
            </a:lvl1pPr>
            <a:lvl2pPr marL="828675" indent="-371475" eaLnBrk="0" hangingPunct="0">
              <a:defRPr>
                <a:solidFill>
                  <a:schemeClr val="tx1"/>
                </a:solidFill>
                <a:latin typeface="Arial" panose="020B0604020202020204" pitchFamily="34" charset="0"/>
              </a:defRPr>
            </a:lvl2pPr>
            <a:lvl3pPr marL="1285875" indent="-371475" eaLnBrk="0" hangingPunct="0">
              <a:defRPr>
                <a:solidFill>
                  <a:schemeClr val="tx1"/>
                </a:solidFill>
                <a:latin typeface="Arial" panose="020B0604020202020204" pitchFamily="34" charset="0"/>
              </a:defRPr>
            </a:lvl3pPr>
            <a:lvl4pPr marL="1743075" indent="-371475" eaLnBrk="0" hangingPunct="0">
              <a:defRPr>
                <a:solidFill>
                  <a:schemeClr val="tx1"/>
                </a:solidFill>
                <a:latin typeface="Arial" panose="020B0604020202020204" pitchFamily="34" charset="0"/>
              </a:defRPr>
            </a:lvl4pPr>
            <a:lvl5pPr marL="2200275" indent="-371475" eaLnBrk="0" hangingPunct="0">
              <a:defRPr>
                <a:solidFill>
                  <a:schemeClr val="tx1"/>
                </a:solidFill>
                <a:latin typeface="Arial" panose="020B0604020202020204" pitchFamily="34" charset="0"/>
              </a:defRPr>
            </a:lvl5pPr>
            <a:lvl6pPr marL="2657475" indent="-371475" eaLnBrk="0" fontAlgn="base" hangingPunct="0">
              <a:spcBef>
                <a:spcPct val="0"/>
              </a:spcBef>
              <a:spcAft>
                <a:spcPct val="0"/>
              </a:spcAft>
              <a:defRPr>
                <a:solidFill>
                  <a:schemeClr val="tx1"/>
                </a:solidFill>
                <a:latin typeface="Arial" panose="020B0604020202020204" pitchFamily="34" charset="0"/>
              </a:defRPr>
            </a:lvl6pPr>
            <a:lvl7pPr marL="3114675" indent="-371475" eaLnBrk="0" fontAlgn="base" hangingPunct="0">
              <a:spcBef>
                <a:spcPct val="0"/>
              </a:spcBef>
              <a:spcAft>
                <a:spcPct val="0"/>
              </a:spcAft>
              <a:defRPr>
                <a:solidFill>
                  <a:schemeClr val="tx1"/>
                </a:solidFill>
                <a:latin typeface="Arial" panose="020B0604020202020204" pitchFamily="34" charset="0"/>
              </a:defRPr>
            </a:lvl7pPr>
            <a:lvl8pPr marL="3571875" indent="-371475" eaLnBrk="0" fontAlgn="base" hangingPunct="0">
              <a:spcBef>
                <a:spcPct val="0"/>
              </a:spcBef>
              <a:spcAft>
                <a:spcPct val="0"/>
              </a:spcAft>
              <a:defRPr>
                <a:solidFill>
                  <a:schemeClr val="tx1"/>
                </a:solidFill>
                <a:latin typeface="Arial" panose="020B0604020202020204" pitchFamily="34" charset="0"/>
              </a:defRPr>
            </a:lvl8pPr>
            <a:lvl9pPr marL="4029075" indent="-371475"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romanLcParenR"/>
            </a:pPr>
            <a:r>
              <a:rPr lang="en-US" altLang="en-US"/>
              <a:t>method of inspection:	First we arrange the data in the 	form of an array and see which variate has the maximum 	frequency.</a:t>
            </a:r>
          </a:p>
          <a:p>
            <a:pPr eaLnBrk="1" hangingPunct="1">
              <a:buFontTx/>
              <a:buAutoNum type="romanLcParenR"/>
            </a:pPr>
            <a:endParaRPr lang="en-US" altLang="en-US"/>
          </a:p>
          <a:p>
            <a:pPr eaLnBrk="1" hangingPunct="1">
              <a:buFontTx/>
              <a:buAutoNum type="romanLcParenR"/>
            </a:pPr>
            <a:r>
              <a:rPr lang="en-US" altLang="en-US"/>
              <a:t>Method of grouping:	This method is explained with the help of following example: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6" name="Text Box 4">
            <a:extLst>
              <a:ext uri="{FF2B5EF4-FFF2-40B4-BE49-F238E27FC236}">
                <a16:creationId xmlns:a16="http://schemas.microsoft.com/office/drawing/2014/main" id="{256D88AA-A233-489C-8109-C5204EB33482}"/>
              </a:ext>
            </a:extLst>
          </p:cNvPr>
          <p:cNvSpPr txBox="1">
            <a:spLocks noChangeArrowheads="1"/>
          </p:cNvSpPr>
          <p:nvPr/>
        </p:nvSpPr>
        <p:spPr bwMode="auto">
          <a:xfrm>
            <a:off x="1727201" y="1905001"/>
            <a:ext cx="818268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Example: Find the mode of the distribution:</a:t>
            </a:r>
          </a:p>
          <a:p>
            <a:r>
              <a:rPr lang="en-US" altLang="en-US" dirty="0"/>
              <a:t>x:	5	10	15	20	25	30	35	40</a:t>
            </a:r>
          </a:p>
          <a:p>
            <a:r>
              <a:rPr lang="en-US" altLang="en-US" dirty="0"/>
              <a:t>f:	4	15	25	20	17	26	10	3</a:t>
            </a:r>
          </a:p>
          <a:p>
            <a:endParaRPr lang="en-US" altLang="en-US" dirty="0"/>
          </a:p>
          <a:p>
            <a:r>
              <a:rPr lang="en-US" altLang="en-US" dirty="0"/>
              <a:t>Solution: The given distribution shows that mode should be 30, corresponding </a:t>
            </a:r>
          </a:p>
          <a:p>
            <a:r>
              <a:rPr lang="en-US" altLang="en-US" dirty="0"/>
              <a:t>	to the maximum frequency 26.</a:t>
            </a:r>
          </a:p>
          <a:p>
            <a:endParaRPr lang="en-US" altLang="en-US" dirty="0"/>
          </a:p>
          <a:p>
            <a:r>
              <a:rPr lang="en-US" altLang="en-US" dirty="0"/>
              <a:t>	But concentration of values also appears near 20 or 15.</a:t>
            </a:r>
          </a:p>
          <a:p>
            <a:endParaRPr lang="en-US" altLang="en-US" dirty="0"/>
          </a:p>
          <a:p>
            <a:r>
              <a:rPr lang="en-US" altLang="en-US" dirty="0"/>
              <a:t>	Therefore the method of grouping is applied:</a:t>
            </a:r>
          </a:p>
          <a:p>
            <a:endParaRPr lang="en-US"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7680" name="Group 64">
            <a:extLst>
              <a:ext uri="{FF2B5EF4-FFF2-40B4-BE49-F238E27FC236}">
                <a16:creationId xmlns:a16="http://schemas.microsoft.com/office/drawing/2014/main" id="{3417E30B-AC8C-41AA-9256-E9F544C3F937}"/>
              </a:ext>
            </a:extLst>
          </p:cNvPr>
          <p:cNvGraphicFramePr>
            <a:graphicFrameLocks noGrp="1"/>
          </p:cNvGraphicFramePr>
          <p:nvPr/>
        </p:nvGraphicFramePr>
        <p:xfrm>
          <a:off x="3047999" y="1210469"/>
          <a:ext cx="6096003" cy="4437063"/>
        </p:xfrm>
        <a:graphic>
          <a:graphicData uri="http://schemas.openxmlformats.org/drawingml/2006/table">
            <a:tbl>
              <a:tblPr/>
              <a:tblGrid>
                <a:gridCol w="871539">
                  <a:extLst>
                    <a:ext uri="{9D8B030D-6E8A-4147-A177-3AD203B41FA5}">
                      <a16:colId xmlns:a16="http://schemas.microsoft.com/office/drawing/2014/main" val="1873343127"/>
                    </a:ext>
                  </a:extLst>
                </a:gridCol>
                <a:gridCol w="1262063">
                  <a:extLst>
                    <a:ext uri="{9D8B030D-6E8A-4147-A177-3AD203B41FA5}">
                      <a16:colId xmlns:a16="http://schemas.microsoft.com/office/drawing/2014/main" val="1169196799"/>
                    </a:ext>
                  </a:extLst>
                </a:gridCol>
                <a:gridCol w="762000">
                  <a:extLst>
                    <a:ext uri="{9D8B030D-6E8A-4147-A177-3AD203B41FA5}">
                      <a16:colId xmlns:a16="http://schemas.microsoft.com/office/drawing/2014/main" val="1387517436"/>
                    </a:ext>
                  </a:extLst>
                </a:gridCol>
                <a:gridCol w="685800">
                  <a:extLst>
                    <a:ext uri="{9D8B030D-6E8A-4147-A177-3AD203B41FA5}">
                      <a16:colId xmlns:a16="http://schemas.microsoft.com/office/drawing/2014/main" val="2379548382"/>
                    </a:ext>
                  </a:extLst>
                </a:gridCol>
                <a:gridCol w="773113">
                  <a:extLst>
                    <a:ext uri="{9D8B030D-6E8A-4147-A177-3AD203B41FA5}">
                      <a16:colId xmlns:a16="http://schemas.microsoft.com/office/drawing/2014/main" val="1329689568"/>
                    </a:ext>
                  </a:extLst>
                </a:gridCol>
                <a:gridCol w="869951">
                  <a:extLst>
                    <a:ext uri="{9D8B030D-6E8A-4147-A177-3AD203B41FA5}">
                      <a16:colId xmlns:a16="http://schemas.microsoft.com/office/drawing/2014/main" val="3717768874"/>
                    </a:ext>
                  </a:extLst>
                </a:gridCol>
                <a:gridCol w="871537">
                  <a:extLst>
                    <a:ext uri="{9D8B030D-6E8A-4147-A177-3AD203B41FA5}">
                      <a16:colId xmlns:a16="http://schemas.microsoft.com/office/drawing/2014/main" val="2670945828"/>
                    </a:ext>
                  </a:extLst>
                </a:gridCol>
              </a:tblGrid>
              <a:tr h="10058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IN" altLang="en-US" sz="2000" b="0" i="0" u="none" strike="noStrike" cap="none" normalizeH="0" baseline="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Given frequency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5">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frequency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610576826"/>
                  </a:ext>
                </a:extLst>
              </a:tr>
              <a:tr h="474663">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III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VI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06310949"/>
                  </a:ext>
                </a:extLst>
              </a:tr>
              <a:tr h="295656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35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4</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17</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26</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19</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45</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43</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40</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37</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44</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60</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 53</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62</a:t>
                      </a: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 49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4646075"/>
                  </a:ext>
                </a:extLst>
              </a:tr>
            </a:tbl>
          </a:graphicData>
        </a:graphic>
      </p:graphicFrame>
      <p:sp>
        <p:nvSpPr>
          <p:cNvPr id="367681" name="AutoShape 65">
            <a:extLst>
              <a:ext uri="{FF2B5EF4-FFF2-40B4-BE49-F238E27FC236}">
                <a16:creationId xmlns:a16="http://schemas.microsoft.com/office/drawing/2014/main" id="{4953116E-D223-4A20-8D8B-9EC0C46249A3}"/>
              </a:ext>
            </a:extLst>
          </p:cNvPr>
          <p:cNvSpPr>
            <a:spLocks/>
          </p:cNvSpPr>
          <p:nvPr/>
        </p:nvSpPr>
        <p:spPr bwMode="auto">
          <a:xfrm>
            <a:off x="5257800" y="2819400"/>
            <a:ext cx="76200" cy="533400"/>
          </a:xfrm>
          <a:prstGeom prst="rightBrace">
            <a:avLst>
              <a:gd name="adj1" fmla="val 5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2" name="AutoShape 66">
            <a:extLst>
              <a:ext uri="{FF2B5EF4-FFF2-40B4-BE49-F238E27FC236}">
                <a16:creationId xmlns:a16="http://schemas.microsoft.com/office/drawing/2014/main" id="{C845BEEC-A0C6-4EBA-ADC0-87BD7F254C7A}"/>
              </a:ext>
            </a:extLst>
          </p:cNvPr>
          <p:cNvSpPr>
            <a:spLocks/>
          </p:cNvSpPr>
          <p:nvPr/>
        </p:nvSpPr>
        <p:spPr bwMode="auto">
          <a:xfrm>
            <a:off x="5257800" y="35052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3" name="AutoShape 67">
            <a:extLst>
              <a:ext uri="{FF2B5EF4-FFF2-40B4-BE49-F238E27FC236}">
                <a16:creationId xmlns:a16="http://schemas.microsoft.com/office/drawing/2014/main" id="{6B9E8DF0-4905-47B8-B9A9-499ED481E9D7}"/>
              </a:ext>
            </a:extLst>
          </p:cNvPr>
          <p:cNvSpPr>
            <a:spLocks/>
          </p:cNvSpPr>
          <p:nvPr/>
        </p:nvSpPr>
        <p:spPr bwMode="auto">
          <a:xfrm>
            <a:off x="5257800" y="41910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4" name="AutoShape 68">
            <a:extLst>
              <a:ext uri="{FF2B5EF4-FFF2-40B4-BE49-F238E27FC236}">
                <a16:creationId xmlns:a16="http://schemas.microsoft.com/office/drawing/2014/main" id="{C661AA57-E1C1-4FD5-927B-58D489C16DF3}"/>
              </a:ext>
            </a:extLst>
          </p:cNvPr>
          <p:cNvSpPr>
            <a:spLocks/>
          </p:cNvSpPr>
          <p:nvPr/>
        </p:nvSpPr>
        <p:spPr bwMode="auto">
          <a:xfrm>
            <a:off x="5257800" y="48768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5" name="AutoShape 69">
            <a:extLst>
              <a:ext uri="{FF2B5EF4-FFF2-40B4-BE49-F238E27FC236}">
                <a16:creationId xmlns:a16="http://schemas.microsoft.com/office/drawing/2014/main" id="{98767ACD-6E6E-4C68-89D7-0E830E5A796E}"/>
              </a:ext>
            </a:extLst>
          </p:cNvPr>
          <p:cNvSpPr>
            <a:spLocks/>
          </p:cNvSpPr>
          <p:nvPr/>
        </p:nvSpPr>
        <p:spPr bwMode="auto">
          <a:xfrm>
            <a:off x="6096000" y="45720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6" name="AutoShape 70">
            <a:extLst>
              <a:ext uri="{FF2B5EF4-FFF2-40B4-BE49-F238E27FC236}">
                <a16:creationId xmlns:a16="http://schemas.microsoft.com/office/drawing/2014/main" id="{4B5E3D20-9199-427A-962A-08611ABF5D8B}"/>
              </a:ext>
            </a:extLst>
          </p:cNvPr>
          <p:cNvSpPr>
            <a:spLocks/>
          </p:cNvSpPr>
          <p:nvPr/>
        </p:nvSpPr>
        <p:spPr bwMode="auto">
          <a:xfrm>
            <a:off x="6096000" y="38100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7" name="AutoShape 71">
            <a:extLst>
              <a:ext uri="{FF2B5EF4-FFF2-40B4-BE49-F238E27FC236}">
                <a16:creationId xmlns:a16="http://schemas.microsoft.com/office/drawing/2014/main" id="{71AC3410-8A66-4A13-986A-0A8CABABB1A9}"/>
              </a:ext>
            </a:extLst>
          </p:cNvPr>
          <p:cNvSpPr>
            <a:spLocks/>
          </p:cNvSpPr>
          <p:nvPr/>
        </p:nvSpPr>
        <p:spPr bwMode="auto">
          <a:xfrm>
            <a:off x="6019800" y="3124200"/>
            <a:ext cx="76200" cy="609600"/>
          </a:xfrm>
          <a:prstGeom prst="rightBrace">
            <a:avLst>
              <a:gd name="adj1" fmla="val 666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8" name="AutoShape 72">
            <a:extLst>
              <a:ext uri="{FF2B5EF4-FFF2-40B4-BE49-F238E27FC236}">
                <a16:creationId xmlns:a16="http://schemas.microsoft.com/office/drawing/2014/main" id="{2D336B6D-B099-48CE-BBA7-D7AD84C0BA94}"/>
              </a:ext>
            </a:extLst>
          </p:cNvPr>
          <p:cNvSpPr>
            <a:spLocks/>
          </p:cNvSpPr>
          <p:nvPr/>
        </p:nvSpPr>
        <p:spPr bwMode="auto">
          <a:xfrm>
            <a:off x="6705600" y="27432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89" name="AutoShape 73">
            <a:extLst>
              <a:ext uri="{FF2B5EF4-FFF2-40B4-BE49-F238E27FC236}">
                <a16:creationId xmlns:a16="http://schemas.microsoft.com/office/drawing/2014/main" id="{F0B0BB20-1651-4539-8265-B9C695AF306E}"/>
              </a:ext>
            </a:extLst>
          </p:cNvPr>
          <p:cNvSpPr>
            <a:spLocks/>
          </p:cNvSpPr>
          <p:nvPr/>
        </p:nvSpPr>
        <p:spPr bwMode="auto">
          <a:xfrm>
            <a:off x="8382000" y="44958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90" name="AutoShape 74">
            <a:extLst>
              <a:ext uri="{FF2B5EF4-FFF2-40B4-BE49-F238E27FC236}">
                <a16:creationId xmlns:a16="http://schemas.microsoft.com/office/drawing/2014/main" id="{3CA0675B-E691-40FF-8439-0466920DFEC2}"/>
              </a:ext>
            </a:extLst>
          </p:cNvPr>
          <p:cNvSpPr>
            <a:spLocks/>
          </p:cNvSpPr>
          <p:nvPr/>
        </p:nvSpPr>
        <p:spPr bwMode="auto">
          <a:xfrm>
            <a:off x="8382000" y="34290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91" name="AutoShape 75">
            <a:extLst>
              <a:ext uri="{FF2B5EF4-FFF2-40B4-BE49-F238E27FC236}">
                <a16:creationId xmlns:a16="http://schemas.microsoft.com/office/drawing/2014/main" id="{DCC80863-7DE7-4E8A-98E2-F6D9BF651652}"/>
              </a:ext>
            </a:extLst>
          </p:cNvPr>
          <p:cNvSpPr>
            <a:spLocks/>
          </p:cNvSpPr>
          <p:nvPr/>
        </p:nvSpPr>
        <p:spPr bwMode="auto">
          <a:xfrm>
            <a:off x="7543800" y="30480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92" name="AutoShape 76">
            <a:extLst>
              <a:ext uri="{FF2B5EF4-FFF2-40B4-BE49-F238E27FC236}">
                <a16:creationId xmlns:a16="http://schemas.microsoft.com/office/drawing/2014/main" id="{3CEF90D3-9027-4B14-AAA9-57B5634326B4}"/>
              </a:ext>
            </a:extLst>
          </p:cNvPr>
          <p:cNvSpPr>
            <a:spLocks/>
          </p:cNvSpPr>
          <p:nvPr/>
        </p:nvSpPr>
        <p:spPr bwMode="auto">
          <a:xfrm>
            <a:off x="7467600" y="41148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67693" name="AutoShape 77">
            <a:extLst>
              <a:ext uri="{FF2B5EF4-FFF2-40B4-BE49-F238E27FC236}">
                <a16:creationId xmlns:a16="http://schemas.microsoft.com/office/drawing/2014/main" id="{E9A41BB0-FDDD-43A8-9B0D-BED583F255C1}"/>
              </a:ext>
            </a:extLst>
          </p:cNvPr>
          <p:cNvSpPr>
            <a:spLocks/>
          </p:cNvSpPr>
          <p:nvPr/>
        </p:nvSpPr>
        <p:spPr bwMode="auto">
          <a:xfrm>
            <a:off x="6781800" y="3810000"/>
            <a:ext cx="76200" cy="990600"/>
          </a:xfrm>
          <a:prstGeom prst="rightBrace">
            <a:avLst>
              <a:gd name="adj1" fmla="val 108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4" name="Text Box 4">
            <a:extLst>
              <a:ext uri="{FF2B5EF4-FFF2-40B4-BE49-F238E27FC236}">
                <a16:creationId xmlns:a16="http://schemas.microsoft.com/office/drawing/2014/main" id="{0A1EE294-90E7-49E2-A189-7DBC06D7B5B2}"/>
              </a:ext>
            </a:extLst>
          </p:cNvPr>
          <p:cNvSpPr txBox="1">
            <a:spLocks noChangeArrowheads="1"/>
          </p:cNvSpPr>
          <p:nvPr/>
        </p:nvSpPr>
        <p:spPr bwMode="auto">
          <a:xfrm>
            <a:off x="4546943" y="381000"/>
            <a:ext cx="16553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Analysis Table</a:t>
            </a:r>
          </a:p>
        </p:txBody>
      </p:sp>
      <p:graphicFrame>
        <p:nvGraphicFramePr>
          <p:cNvPr id="368671" name="Group 31">
            <a:extLst>
              <a:ext uri="{FF2B5EF4-FFF2-40B4-BE49-F238E27FC236}">
                <a16:creationId xmlns:a16="http://schemas.microsoft.com/office/drawing/2014/main" id="{5546382E-961E-421B-B0B0-6A9021F26713}"/>
              </a:ext>
            </a:extLst>
          </p:cNvPr>
          <p:cNvGraphicFramePr>
            <a:graphicFrameLocks noGrp="1"/>
          </p:cNvGraphicFramePr>
          <p:nvPr>
            <p:extLst>
              <p:ext uri="{D42A27DB-BD31-4B8C-83A1-F6EECF244321}">
                <p14:modId xmlns:p14="http://schemas.microsoft.com/office/powerpoint/2010/main" val="2213922858"/>
              </p:ext>
            </p:extLst>
          </p:nvPr>
        </p:nvGraphicFramePr>
        <p:xfrm>
          <a:off x="3048000" y="1397000"/>
          <a:ext cx="6096000" cy="2926080"/>
        </p:xfrm>
        <a:graphic>
          <a:graphicData uri="http://schemas.openxmlformats.org/drawingml/2006/table">
            <a:tbl>
              <a:tblPr/>
              <a:tblGrid>
                <a:gridCol w="1524000">
                  <a:extLst>
                    <a:ext uri="{9D8B030D-6E8A-4147-A177-3AD203B41FA5}">
                      <a16:colId xmlns:a16="http://schemas.microsoft.com/office/drawing/2014/main" val="1693610410"/>
                    </a:ext>
                  </a:extLst>
                </a:gridCol>
                <a:gridCol w="1524000">
                  <a:extLst>
                    <a:ext uri="{9D8B030D-6E8A-4147-A177-3AD203B41FA5}">
                      <a16:colId xmlns:a16="http://schemas.microsoft.com/office/drawing/2014/main" val="664694319"/>
                    </a:ext>
                  </a:extLst>
                </a:gridCol>
                <a:gridCol w="1524000">
                  <a:extLst>
                    <a:ext uri="{9D8B030D-6E8A-4147-A177-3AD203B41FA5}">
                      <a16:colId xmlns:a16="http://schemas.microsoft.com/office/drawing/2014/main" val="478003689"/>
                    </a:ext>
                  </a:extLst>
                </a:gridCol>
                <a:gridCol w="1524000">
                  <a:extLst>
                    <a:ext uri="{9D8B030D-6E8A-4147-A177-3AD203B41FA5}">
                      <a16:colId xmlns:a16="http://schemas.microsoft.com/office/drawing/2014/main" val="956046036"/>
                    </a:ext>
                  </a:extLst>
                </a:gridCol>
              </a:tblGrid>
              <a:tr h="701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Column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Size of items having maximum frequency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814249240"/>
                  </a:ext>
                </a:extLst>
              </a:tr>
              <a:tr h="2225040">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II</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III</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IV</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V</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rPr>
                        <a:t>VI</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15</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20</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36894066"/>
                  </a:ext>
                </a:extLst>
              </a:tr>
            </a:tbl>
          </a:graphicData>
        </a:graphic>
      </p:graphicFrame>
      <p:sp>
        <p:nvSpPr>
          <p:cNvPr id="368672" name="Text Box 32">
            <a:extLst>
              <a:ext uri="{FF2B5EF4-FFF2-40B4-BE49-F238E27FC236}">
                <a16:creationId xmlns:a16="http://schemas.microsoft.com/office/drawing/2014/main" id="{E72D9352-D9E7-4730-8743-77DE9BDBCF58}"/>
              </a:ext>
            </a:extLst>
          </p:cNvPr>
          <p:cNvSpPr txBox="1">
            <a:spLocks noChangeArrowheads="1"/>
          </p:cNvSpPr>
          <p:nvPr/>
        </p:nvSpPr>
        <p:spPr bwMode="auto">
          <a:xfrm>
            <a:off x="3184526" y="4379914"/>
            <a:ext cx="622478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From the above analysis table, we observe that the item 15</a:t>
            </a:r>
          </a:p>
          <a:p>
            <a:r>
              <a:rPr lang="en-US" altLang="en-US"/>
              <a:t>occurs maximum number of times.</a:t>
            </a:r>
          </a:p>
          <a:p>
            <a:endParaRPr lang="en-US" altLang="en-US"/>
          </a:p>
          <a:p>
            <a:r>
              <a:rPr lang="en-US" altLang="en-US"/>
              <a:t>Hence mode = 15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2" name="TextBox 5">
            <a:extLst>
              <a:ext uri="{FF2B5EF4-FFF2-40B4-BE49-F238E27FC236}">
                <a16:creationId xmlns:a16="http://schemas.microsoft.com/office/drawing/2014/main" id="{C1FFF5BE-8246-4532-AEB9-55A113219090}"/>
              </a:ext>
            </a:extLst>
          </p:cNvPr>
          <p:cNvSpPr txBox="1">
            <a:spLocks noChangeArrowheads="1"/>
          </p:cNvSpPr>
          <p:nvPr/>
        </p:nvSpPr>
        <p:spPr bwMode="auto">
          <a:xfrm>
            <a:off x="1524000" y="35372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Mode (For continuous frequency distribution)</a:t>
            </a:r>
          </a:p>
        </p:txBody>
      </p:sp>
      <p:sp>
        <p:nvSpPr>
          <p:cNvPr id="370693" name="Text Box 5">
            <a:extLst>
              <a:ext uri="{FF2B5EF4-FFF2-40B4-BE49-F238E27FC236}">
                <a16:creationId xmlns:a16="http://schemas.microsoft.com/office/drawing/2014/main" id="{EC8D7F1A-FA34-4A4E-A191-EA031E9AFAF0}"/>
              </a:ext>
            </a:extLst>
          </p:cNvPr>
          <p:cNvSpPr txBox="1">
            <a:spLocks noChangeArrowheads="1"/>
          </p:cNvSpPr>
          <p:nvPr/>
        </p:nvSpPr>
        <p:spPr bwMode="auto">
          <a:xfrm>
            <a:off x="2041525" y="1560513"/>
            <a:ext cx="56092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Mode of continuous frequency distribution is given by</a:t>
            </a:r>
          </a:p>
        </p:txBody>
      </p:sp>
      <p:graphicFrame>
        <p:nvGraphicFramePr>
          <p:cNvPr id="370694" name="Object 6">
            <a:extLst>
              <a:ext uri="{FF2B5EF4-FFF2-40B4-BE49-F238E27FC236}">
                <a16:creationId xmlns:a16="http://schemas.microsoft.com/office/drawing/2014/main" id="{695CA4E6-126B-4263-A008-EF18984F5430}"/>
              </a:ext>
            </a:extLst>
          </p:cNvPr>
          <p:cNvGraphicFramePr>
            <a:graphicFrameLocks noChangeAspect="1"/>
          </p:cNvGraphicFramePr>
          <p:nvPr/>
        </p:nvGraphicFramePr>
        <p:xfrm>
          <a:off x="3048001" y="2209800"/>
          <a:ext cx="3536951" cy="877888"/>
        </p:xfrm>
        <a:graphic>
          <a:graphicData uri="http://schemas.openxmlformats.org/presentationml/2006/ole">
            <mc:AlternateContent xmlns:mc="http://schemas.openxmlformats.org/markup-compatibility/2006">
              <mc:Choice xmlns:v="urn:schemas-microsoft-com:vml" Requires="v">
                <p:oleObj spid="_x0000_s26630" name="Equation" r:id="rId3" imgW="1739880" imgH="431640" progId="Equation.3">
                  <p:embed/>
                </p:oleObj>
              </mc:Choice>
              <mc:Fallback>
                <p:oleObj name="Equation" r:id="rId3" imgW="1739880" imgH="431640" progId="Equation.3">
                  <p:embed/>
                  <p:pic>
                    <p:nvPicPr>
                      <p:cNvPr id="370694" name="Object 6">
                        <a:extLst>
                          <a:ext uri="{FF2B5EF4-FFF2-40B4-BE49-F238E27FC236}">
                            <a16:creationId xmlns:a16="http://schemas.microsoft.com/office/drawing/2014/main" id="{695CA4E6-126B-4263-A008-EF18984F54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1" y="2209800"/>
                        <a:ext cx="3536951"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0695" name="Text Box 7">
            <a:extLst>
              <a:ext uri="{FF2B5EF4-FFF2-40B4-BE49-F238E27FC236}">
                <a16:creationId xmlns:a16="http://schemas.microsoft.com/office/drawing/2014/main" id="{D8EECC67-588E-42EB-86A2-D59A8F090CF7}"/>
              </a:ext>
            </a:extLst>
          </p:cNvPr>
          <p:cNvSpPr txBox="1">
            <a:spLocks noChangeArrowheads="1"/>
          </p:cNvSpPr>
          <p:nvPr/>
        </p:nvSpPr>
        <p:spPr bwMode="auto">
          <a:xfrm>
            <a:off x="2270125" y="3389313"/>
            <a:ext cx="573907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where l = lower limit of the modal class</a:t>
            </a:r>
          </a:p>
          <a:p>
            <a:r>
              <a:rPr lang="en-US" altLang="en-US"/>
              <a:t>h = width of the modal class</a:t>
            </a:r>
          </a:p>
          <a:p>
            <a:r>
              <a:rPr lang="en-US" altLang="en-US"/>
              <a:t>f</a:t>
            </a:r>
            <a:r>
              <a:rPr lang="en-US" altLang="en-US" baseline="-25000"/>
              <a:t>m</a:t>
            </a:r>
            <a:r>
              <a:rPr lang="en-US" altLang="en-US"/>
              <a:t>= frequency of the modal class</a:t>
            </a:r>
          </a:p>
          <a:p>
            <a:r>
              <a:rPr lang="en-US" altLang="en-US"/>
              <a:t>f</a:t>
            </a:r>
            <a:r>
              <a:rPr lang="en-US" altLang="en-US" baseline="-25000"/>
              <a:t>1</a:t>
            </a:r>
            <a:r>
              <a:rPr lang="en-US" altLang="en-US"/>
              <a:t> = frequency of the class preceding the modal class</a:t>
            </a:r>
          </a:p>
          <a:p>
            <a:r>
              <a:rPr lang="en-US" altLang="en-US"/>
              <a:t>f</a:t>
            </a:r>
            <a:r>
              <a:rPr lang="en-US" altLang="en-US" baseline="-25000"/>
              <a:t>2</a:t>
            </a:r>
            <a:r>
              <a:rPr lang="en-US" altLang="en-US"/>
              <a:t> = frequency of the class succeeding the modal class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6" name="TextBox 5">
            <a:extLst>
              <a:ext uri="{FF2B5EF4-FFF2-40B4-BE49-F238E27FC236}">
                <a16:creationId xmlns:a16="http://schemas.microsoft.com/office/drawing/2014/main" id="{EDB2DFCF-95CC-4F8C-86E0-247CD4D35FA2}"/>
              </a:ext>
            </a:extLst>
          </p:cNvPr>
          <p:cNvSpPr txBox="1">
            <a:spLocks noChangeArrowheads="1"/>
          </p:cNvSpPr>
          <p:nvPr/>
        </p:nvSpPr>
        <p:spPr bwMode="auto">
          <a:xfrm>
            <a:off x="1422400" y="3810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solidFill>
                  <a:srgbClr val="C00000"/>
                </a:solidFill>
                <a:latin typeface="Calibri" panose="020F0502020204030204" pitchFamily="34" charset="0"/>
              </a:rPr>
              <a:t>Mode (From the mean and median)</a:t>
            </a:r>
          </a:p>
        </p:txBody>
      </p:sp>
      <p:sp>
        <p:nvSpPr>
          <p:cNvPr id="371717" name="Text Box 5">
            <a:extLst>
              <a:ext uri="{FF2B5EF4-FFF2-40B4-BE49-F238E27FC236}">
                <a16:creationId xmlns:a16="http://schemas.microsoft.com/office/drawing/2014/main" id="{55329793-AF2B-4FB0-A2EE-03022559351C}"/>
              </a:ext>
            </a:extLst>
          </p:cNvPr>
          <p:cNvSpPr txBox="1">
            <a:spLocks noChangeArrowheads="1"/>
          </p:cNvSpPr>
          <p:nvPr/>
        </p:nvSpPr>
        <p:spPr bwMode="auto">
          <a:xfrm>
            <a:off x="2574926" y="2093914"/>
            <a:ext cx="762580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71475" indent="-371475" eaLnBrk="0" hangingPunct="0">
              <a:defRPr>
                <a:solidFill>
                  <a:schemeClr val="tx1"/>
                </a:solidFill>
                <a:latin typeface="Arial" panose="020B0604020202020204" pitchFamily="34" charset="0"/>
              </a:defRPr>
            </a:lvl1pPr>
            <a:lvl2pPr marL="828675" indent="-371475" eaLnBrk="0" hangingPunct="0">
              <a:defRPr>
                <a:solidFill>
                  <a:schemeClr val="tx1"/>
                </a:solidFill>
                <a:latin typeface="Arial" panose="020B0604020202020204" pitchFamily="34" charset="0"/>
              </a:defRPr>
            </a:lvl2pPr>
            <a:lvl3pPr marL="1285875" indent="-371475" eaLnBrk="0" hangingPunct="0">
              <a:defRPr>
                <a:solidFill>
                  <a:schemeClr val="tx1"/>
                </a:solidFill>
                <a:latin typeface="Arial" panose="020B0604020202020204" pitchFamily="34" charset="0"/>
              </a:defRPr>
            </a:lvl3pPr>
            <a:lvl4pPr marL="1743075" indent="-371475" eaLnBrk="0" hangingPunct="0">
              <a:defRPr>
                <a:solidFill>
                  <a:schemeClr val="tx1"/>
                </a:solidFill>
                <a:latin typeface="Arial" panose="020B0604020202020204" pitchFamily="34" charset="0"/>
              </a:defRPr>
            </a:lvl4pPr>
            <a:lvl5pPr marL="2200275" indent="-371475" eaLnBrk="0" hangingPunct="0">
              <a:defRPr>
                <a:solidFill>
                  <a:schemeClr val="tx1"/>
                </a:solidFill>
                <a:latin typeface="Arial" panose="020B0604020202020204" pitchFamily="34" charset="0"/>
              </a:defRPr>
            </a:lvl5pPr>
            <a:lvl6pPr marL="2657475" indent="-371475" eaLnBrk="0" fontAlgn="base" hangingPunct="0">
              <a:spcBef>
                <a:spcPct val="0"/>
              </a:spcBef>
              <a:spcAft>
                <a:spcPct val="0"/>
              </a:spcAft>
              <a:defRPr>
                <a:solidFill>
                  <a:schemeClr val="tx1"/>
                </a:solidFill>
                <a:latin typeface="Arial" panose="020B0604020202020204" pitchFamily="34" charset="0"/>
              </a:defRPr>
            </a:lvl6pPr>
            <a:lvl7pPr marL="3114675" indent="-371475" eaLnBrk="0" fontAlgn="base" hangingPunct="0">
              <a:spcBef>
                <a:spcPct val="0"/>
              </a:spcBef>
              <a:spcAft>
                <a:spcPct val="0"/>
              </a:spcAft>
              <a:defRPr>
                <a:solidFill>
                  <a:schemeClr val="tx1"/>
                </a:solidFill>
                <a:latin typeface="Arial" panose="020B0604020202020204" pitchFamily="34" charset="0"/>
              </a:defRPr>
            </a:lvl7pPr>
            <a:lvl8pPr marL="3571875" indent="-371475" eaLnBrk="0" fontAlgn="base" hangingPunct="0">
              <a:spcBef>
                <a:spcPct val="0"/>
              </a:spcBef>
              <a:spcAft>
                <a:spcPct val="0"/>
              </a:spcAft>
              <a:defRPr>
                <a:solidFill>
                  <a:schemeClr val="tx1"/>
                </a:solidFill>
                <a:latin typeface="Arial" panose="020B0604020202020204" pitchFamily="34" charset="0"/>
              </a:defRPr>
            </a:lvl8pPr>
            <a:lvl9pPr marL="4029075" indent="-371475"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romanLcParenR"/>
            </a:pPr>
            <a:r>
              <a:rPr lang="en-US" altLang="en-US" dirty="0"/>
              <a:t>For a symmetrical distribution, mean, median and mode coincide.</a:t>
            </a:r>
          </a:p>
          <a:p>
            <a:pPr eaLnBrk="1" hangingPunct="1">
              <a:buFontTx/>
              <a:buAutoNum type="romanLcParenR"/>
            </a:pPr>
            <a:endParaRPr lang="en-US" altLang="en-US" dirty="0"/>
          </a:p>
          <a:p>
            <a:pPr eaLnBrk="1" hangingPunct="1">
              <a:buFontTx/>
              <a:buAutoNum type="romanLcParenR"/>
            </a:pPr>
            <a:r>
              <a:rPr lang="en-US" altLang="en-US" dirty="0"/>
              <a:t>For a moderately asymmetrical distribution, they are connected by an</a:t>
            </a:r>
          </a:p>
          <a:p>
            <a:pPr eaLnBrk="1" hangingPunct="1"/>
            <a:r>
              <a:rPr lang="en-US" altLang="en-US" dirty="0"/>
              <a:t>	empirical relation,</a:t>
            </a:r>
          </a:p>
          <a:p>
            <a:pPr eaLnBrk="1" hangingPunct="1"/>
            <a:endParaRPr lang="en-US" altLang="en-US" dirty="0"/>
          </a:p>
          <a:p>
            <a:pPr eaLnBrk="1" hangingPunct="1"/>
            <a:r>
              <a:rPr lang="en-US" altLang="en-US" dirty="0"/>
              <a:t>			MEAN – MODE = 3(MEAN – MEDIAN)</a:t>
            </a:r>
          </a:p>
          <a:p>
            <a:pPr eaLnBrk="1" hangingPunct="1"/>
            <a:endParaRPr lang="en-US" altLang="en-US" dirty="0"/>
          </a:p>
          <a:p>
            <a:pPr eaLnBrk="1" hangingPunct="1"/>
            <a:r>
              <a:rPr lang="en-US" altLang="en-US" dirty="0"/>
              <a:t>			MODE = 3 MEDIAN – 2 MEAN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95A2D14-718D-41DB-A130-07695DCCA7EC}"/>
                  </a:ext>
                </a:extLst>
              </p14:cNvPr>
              <p14:cNvContentPartPr/>
              <p14:nvPr/>
            </p14:nvContentPartPr>
            <p14:xfrm>
              <a:off x="7651686" y="4138768"/>
              <a:ext cx="360" cy="360"/>
            </p14:xfrm>
          </p:contentPart>
        </mc:Choice>
        <mc:Fallback>
          <p:pic>
            <p:nvPicPr>
              <p:cNvPr id="2" name="Ink 1">
                <a:extLst>
                  <a:ext uri="{FF2B5EF4-FFF2-40B4-BE49-F238E27FC236}">
                    <a16:creationId xmlns:a16="http://schemas.microsoft.com/office/drawing/2014/main" id="{095A2D14-718D-41DB-A130-07695DCCA7EC}"/>
                  </a:ext>
                </a:extLst>
              </p:cNvPr>
              <p:cNvPicPr/>
              <p:nvPr/>
            </p:nvPicPr>
            <p:blipFill>
              <a:blip r:embed="rId3"/>
              <a:stretch>
                <a:fillRect/>
              </a:stretch>
            </p:blipFill>
            <p:spPr>
              <a:xfrm>
                <a:off x="7642686" y="412976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038B2543-C101-41E8-A7A8-F4AB88C0E07D}"/>
                  </a:ext>
                </a:extLst>
              </p14:cNvPr>
              <p14:cNvContentPartPr/>
              <p14:nvPr/>
            </p14:nvContentPartPr>
            <p14:xfrm>
              <a:off x="7495446" y="4138768"/>
              <a:ext cx="360" cy="360"/>
            </p14:xfrm>
          </p:contentPart>
        </mc:Choice>
        <mc:Fallback>
          <p:pic>
            <p:nvPicPr>
              <p:cNvPr id="3" name="Ink 2">
                <a:extLst>
                  <a:ext uri="{FF2B5EF4-FFF2-40B4-BE49-F238E27FC236}">
                    <a16:creationId xmlns:a16="http://schemas.microsoft.com/office/drawing/2014/main" id="{038B2543-C101-41E8-A7A8-F4AB88C0E07D}"/>
                  </a:ext>
                </a:extLst>
              </p:cNvPr>
              <p:cNvPicPr/>
              <p:nvPr/>
            </p:nvPicPr>
            <p:blipFill>
              <a:blip r:embed="rId3"/>
              <a:stretch>
                <a:fillRect/>
              </a:stretch>
            </p:blipFill>
            <p:spPr>
              <a:xfrm>
                <a:off x="7486446" y="4129768"/>
                <a:ext cx="18000" cy="18000"/>
              </a:xfrm>
              <a:prstGeom prst="rect">
                <a:avLst/>
              </a:prstGeom>
            </p:spPr>
          </p:pic>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5632716" y="247289"/>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- 1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6253" y="1609436"/>
            <a:ext cx="10652948" cy="378565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latin typeface="Century Gothic" panose="020B0502020202020204" pitchFamily="34" charset="0"/>
                <a:cs typeface="Arial" panose="020B0604020202020204" pitchFamily="34" charset="0"/>
              </a:rPr>
              <a:t>Find mode, using an empirical relation, when it is given that mean and median are 10.5 and 9.6 respectively.</a:t>
            </a:r>
          </a:p>
          <a:p>
            <a:endParaRPr lang="en-US" sz="2400" dirty="0">
              <a:latin typeface="Century Gothic" panose="020B0502020202020204" pitchFamily="34" charset="0"/>
              <a:cs typeface="Arial" panose="020B0604020202020204" pitchFamily="34" charset="0"/>
            </a:endParaRPr>
          </a:p>
          <a:p>
            <a:endParaRPr lang="en-US" sz="2400" dirty="0">
              <a:latin typeface="Century Gothic" panose="020B0502020202020204" pitchFamily="34" charset="0"/>
              <a:cs typeface="Arial" panose="020B0604020202020204" pitchFamily="34" charset="0"/>
            </a:endParaRPr>
          </a:p>
          <a:p>
            <a:pPr marL="533387" indent="-533387">
              <a:buAutoNum type="romanLcParenR"/>
            </a:pPr>
            <a:r>
              <a:rPr lang="en-US" sz="2400" dirty="0">
                <a:latin typeface="Century Gothic" panose="020B0502020202020204" pitchFamily="34" charset="0"/>
                <a:cs typeface="Arial" panose="020B0604020202020204" pitchFamily="34" charset="0"/>
              </a:rPr>
              <a:t>7.8</a:t>
            </a:r>
          </a:p>
          <a:p>
            <a:pPr marL="533387" indent="-533387">
              <a:buAutoNum type="romanLcParenR"/>
            </a:pPr>
            <a:r>
              <a:rPr lang="en-US" sz="2400" dirty="0">
                <a:latin typeface="Century Gothic" panose="020B0502020202020204" pitchFamily="34" charset="0"/>
                <a:cs typeface="Arial" panose="020B0604020202020204" pitchFamily="34" charset="0"/>
              </a:rPr>
              <a:t>7.9</a:t>
            </a:r>
          </a:p>
          <a:p>
            <a:pPr marL="533387" indent="-533387">
              <a:buAutoNum type="romanLcParenR"/>
            </a:pPr>
            <a:r>
              <a:rPr lang="en-US" sz="2400" dirty="0">
                <a:latin typeface="Century Gothic" panose="020B0502020202020204" pitchFamily="34" charset="0"/>
                <a:cs typeface="Arial" panose="020B0604020202020204" pitchFamily="34" charset="0"/>
              </a:rPr>
              <a:t>8.0</a:t>
            </a:r>
          </a:p>
          <a:p>
            <a:pPr marL="533387" indent="-533387">
              <a:buAutoNum type="romanLcParenR"/>
            </a:pPr>
            <a:r>
              <a:rPr lang="en-US" sz="2400" dirty="0">
                <a:latin typeface="Century Gothic" panose="020B0502020202020204" pitchFamily="34" charset="0"/>
                <a:cs typeface="Arial" panose="020B0604020202020204" pitchFamily="34" charset="0"/>
              </a:rPr>
              <a:t>7.0</a:t>
            </a:r>
          </a:p>
          <a:p>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t>
            </a:r>
            <a:r>
              <a:rPr lang="en-US" sz="2400" dirty="0" err="1">
                <a:latin typeface="Century Gothic" panose="020B0502020202020204" pitchFamily="34" charset="0"/>
                <a:cs typeface="Arial" panose="020B0604020202020204" pitchFamily="34" charset="0"/>
              </a:rPr>
              <a:t>i</a:t>
            </a:r>
            <a:endParaRPr lang="en-US" sz="2400" dirty="0">
              <a:latin typeface="Century Gothic" panose="020B0502020202020204" pitchFamily="34" charset="0"/>
              <a:cs typeface="Arial" panose="020B0604020202020204"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9EF0188-142C-4F68-97D9-2619D959DE7A}"/>
                  </a:ext>
                </a:extLst>
              </p14:cNvPr>
              <p14:cNvContentPartPr/>
              <p14:nvPr/>
            </p14:nvContentPartPr>
            <p14:xfrm>
              <a:off x="1780446" y="-1035152"/>
              <a:ext cx="360" cy="360"/>
            </p14:xfrm>
          </p:contentPart>
        </mc:Choice>
        <mc:Fallback>
          <p:pic>
            <p:nvPicPr>
              <p:cNvPr id="3" name="Ink 2">
                <a:extLst>
                  <a:ext uri="{FF2B5EF4-FFF2-40B4-BE49-F238E27FC236}">
                    <a16:creationId xmlns:a16="http://schemas.microsoft.com/office/drawing/2014/main" id="{79EF0188-142C-4F68-97D9-2619D959DE7A}"/>
                  </a:ext>
                </a:extLst>
              </p:cNvPr>
              <p:cNvPicPr/>
              <p:nvPr/>
            </p:nvPicPr>
            <p:blipFill>
              <a:blip r:embed="rId3"/>
              <a:stretch>
                <a:fillRect/>
              </a:stretch>
            </p:blipFill>
            <p:spPr>
              <a:xfrm>
                <a:off x="1771446" y="-1043792"/>
                <a:ext cx="18000" cy="18000"/>
              </a:xfrm>
              <a:prstGeom prst="rect">
                <a:avLst/>
              </a:prstGeom>
            </p:spPr>
          </p:pic>
        </mc:Fallback>
      </mc:AlternateContent>
    </p:spTree>
    <p:extLst>
      <p:ext uri="{BB962C8B-B14F-4D97-AF65-F5344CB8AC3E}">
        <p14:creationId xmlns:p14="http://schemas.microsoft.com/office/powerpoint/2010/main" val="1629080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wipe(left)">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2ED1AF7-2E15-4F91-A46B-3C77A3032F4C}"/>
              </a:ext>
            </a:extLst>
          </p:cNvPr>
          <p:cNvSpPr txBox="1"/>
          <p:nvPr/>
        </p:nvSpPr>
        <p:spPr>
          <a:xfrm>
            <a:off x="4285889" y="380455"/>
            <a:ext cx="1810111"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- 2 </a:t>
            </a:r>
          </a:p>
        </p:txBody>
      </p:sp>
      <p:sp>
        <p:nvSpPr>
          <p:cNvPr id="2" name="TextBox 2">
            <a:extLst>
              <a:ext uri="{FF2B5EF4-FFF2-40B4-BE49-F238E27FC236}">
                <a16:creationId xmlns:a16="http://schemas.microsoft.com/office/drawing/2014/main" id="{7FC0A8A0-F297-4146-9D7D-E2940EEC9D83}"/>
              </a:ext>
            </a:extLst>
          </p:cNvPr>
          <p:cNvSpPr txBox="1"/>
          <p:nvPr/>
        </p:nvSpPr>
        <p:spPr>
          <a:xfrm>
            <a:off x="723363" y="1036399"/>
            <a:ext cx="10652948" cy="563231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2400" dirty="0">
                <a:latin typeface="Century Gothic" panose="020B0502020202020204" pitchFamily="34" charset="0"/>
                <a:cs typeface="Arial" panose="020B0604020202020204" pitchFamily="34" charset="0"/>
              </a:rPr>
              <a:t>In a hospital, during the month of October 2019, number of patients admitted for dengue and their ages are as follows</a:t>
            </a:r>
          </a:p>
          <a:p>
            <a:pPr algn="just"/>
            <a:endParaRPr lang="en-US" sz="2400"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Find the median</a:t>
            </a:r>
          </a:p>
          <a:p>
            <a:pPr algn="just"/>
            <a:r>
              <a:rPr lang="en-US" sz="2400" dirty="0">
                <a:latin typeface="Century Gothic" panose="020B0502020202020204" pitchFamily="34" charset="0"/>
                <a:cs typeface="Arial" panose="020B0604020202020204" pitchFamily="34" charset="0"/>
              </a:rPr>
              <a:t>a) 45.09</a:t>
            </a:r>
          </a:p>
          <a:p>
            <a:pPr algn="just"/>
            <a:r>
              <a:rPr lang="en-US" sz="2400" dirty="0">
                <a:latin typeface="Century Gothic" panose="020B0502020202020204" pitchFamily="34" charset="0"/>
                <a:cs typeface="Arial" panose="020B0604020202020204" pitchFamily="34" charset="0"/>
              </a:rPr>
              <a:t>b) 45.08</a:t>
            </a:r>
          </a:p>
          <a:p>
            <a:pPr algn="just"/>
            <a:r>
              <a:rPr lang="en-US" sz="2400" dirty="0">
                <a:latin typeface="Century Gothic" panose="020B0502020202020204" pitchFamily="34" charset="0"/>
                <a:cs typeface="Arial" panose="020B0604020202020204" pitchFamily="34" charset="0"/>
              </a:rPr>
              <a:t>c) 45.0</a:t>
            </a:r>
          </a:p>
          <a:p>
            <a:pPr algn="just"/>
            <a:r>
              <a:rPr lang="en-US" sz="2400" dirty="0">
                <a:latin typeface="Century Gothic" panose="020B0502020202020204" pitchFamily="34" charset="0"/>
                <a:cs typeface="Arial" panose="020B0604020202020204" pitchFamily="34" charset="0"/>
              </a:rPr>
              <a:t>d) 46.0</a:t>
            </a:r>
          </a:p>
          <a:p>
            <a:pPr algn="just"/>
            <a:endParaRPr lang="en-US" sz="2400" b="1" dirty="0">
              <a:latin typeface="Century Gothic" panose="020B0502020202020204" pitchFamily="34" charset="0"/>
              <a:cs typeface="Arial" panose="020B0604020202020204" pitchFamily="34" charset="0"/>
            </a:endParaRPr>
          </a:p>
          <a:p>
            <a:pPr algn="just"/>
            <a:endParaRPr lang="en-US" sz="2400" dirty="0">
              <a:latin typeface="Century Gothic" panose="020B0502020202020204" pitchFamily="34" charset="0"/>
              <a:cs typeface="Arial" panose="020B0604020202020204" pitchFamily="34" charset="0"/>
            </a:endParaRPr>
          </a:p>
          <a:p>
            <a:pPr algn="just"/>
            <a:r>
              <a:rPr lang="en-US" sz="2400" dirty="0">
                <a:latin typeface="Century Gothic" panose="020B0502020202020204" pitchFamily="34" charset="0"/>
                <a:cs typeface="Arial" panose="020B0604020202020204" pitchFamily="34" charset="0"/>
              </a:rPr>
              <a:t>Answer: </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a:t>
            </a:r>
          </a:p>
        </p:txBody>
      </p:sp>
      <p:pic>
        <p:nvPicPr>
          <p:cNvPr id="4" name="Picture 3">
            <a:extLst>
              <a:ext uri="{FF2B5EF4-FFF2-40B4-BE49-F238E27FC236}">
                <a16:creationId xmlns:a16="http://schemas.microsoft.com/office/drawing/2014/main" id="{4306C076-C185-4DC0-8CED-9DC2F6C1FCF1}"/>
              </a:ext>
            </a:extLst>
          </p:cNvPr>
          <p:cNvPicPr>
            <a:picLocks noChangeAspect="1"/>
          </p:cNvPicPr>
          <p:nvPr/>
        </p:nvPicPr>
        <p:blipFill>
          <a:blip r:embed="rId2"/>
          <a:stretch>
            <a:fillRect/>
          </a:stretch>
        </p:blipFill>
        <p:spPr>
          <a:xfrm>
            <a:off x="1422400" y="2038349"/>
            <a:ext cx="8331200" cy="1346200"/>
          </a:xfrm>
          <a:prstGeom prst="rect">
            <a:avLst/>
          </a:prstGeom>
        </p:spPr>
      </p:pic>
    </p:spTree>
    <p:extLst>
      <p:ext uri="{BB962C8B-B14F-4D97-AF65-F5344CB8AC3E}">
        <p14:creationId xmlns:p14="http://schemas.microsoft.com/office/powerpoint/2010/main" val="9115357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13" end="13"/>
                                            </p:txEl>
                                          </p:spTgt>
                                        </p:tgtEl>
                                        <p:attrNameLst>
                                          <p:attrName>style.visibility</p:attrName>
                                        </p:attrNameLst>
                                      </p:cBhvr>
                                      <p:to>
                                        <p:strVal val="visible"/>
                                      </p:to>
                                    </p:set>
                                    <p:animEffect transition="in" filter="wipe(left)">
                                      <p:cBhvr>
                                        <p:cTn id="7"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9301</TotalTime>
  <Words>2489</Words>
  <Application>Microsoft Office PowerPoint</Application>
  <PresentationFormat>Widescreen</PresentationFormat>
  <Paragraphs>481</Paragraphs>
  <Slides>44</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44</vt:i4>
      </vt:variant>
    </vt:vector>
  </HeadingPairs>
  <TitlesOfParts>
    <vt:vector size="52" baseType="lpstr">
      <vt:lpstr>Arial</vt:lpstr>
      <vt:lpstr>Calibri</vt:lpstr>
      <vt:lpstr>Cambria Math</vt:lpstr>
      <vt:lpstr>Century Gothic</vt:lpstr>
      <vt:lpstr>Times New Roman</vt:lpstr>
      <vt:lpstr>Default Design</vt:lpstr>
      <vt:lpstr>Equation</vt:lpstr>
      <vt:lpstr>Microsoft Equation 3.0</vt:lpstr>
      <vt:lpstr>Amity Institute of Information Technology BCA , Ist Semester  Basic Mathematics- Measure of central tendancy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Lalit Kumar</cp:lastModifiedBy>
  <cp:revision>32</cp:revision>
  <dcterms:created xsi:type="dcterms:W3CDTF">2020-09-10T06:54:54Z</dcterms:created>
  <dcterms:modified xsi:type="dcterms:W3CDTF">2020-11-05T08:47:10Z</dcterms:modified>
</cp:coreProperties>
</file>