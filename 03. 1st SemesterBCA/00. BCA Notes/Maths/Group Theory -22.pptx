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257" r:id="rId2"/>
    <p:sldId id="740" r:id="rId3"/>
    <p:sldId id="579" r:id="rId4"/>
    <p:sldId id="580" r:id="rId5"/>
    <p:sldId id="582" r:id="rId6"/>
    <p:sldId id="583" r:id="rId7"/>
    <p:sldId id="584" r:id="rId8"/>
    <p:sldId id="585" r:id="rId9"/>
    <p:sldId id="586" r:id="rId10"/>
    <p:sldId id="587" r:id="rId11"/>
    <p:sldId id="588" r:id="rId12"/>
    <p:sldId id="589" r:id="rId13"/>
    <p:sldId id="590" r:id="rId14"/>
    <p:sldId id="741" r:id="rId15"/>
    <p:sldId id="742" r:id="rId16"/>
    <p:sldId id="457" r:id="rId17"/>
    <p:sldId id="259" r:id="rId18"/>
    <p:sldId id="611" r:id="rId19"/>
    <p:sldId id="612" r:id="rId20"/>
    <p:sldId id="615" r:id="rId21"/>
    <p:sldId id="610" r:id="rId22"/>
    <p:sldId id="546" r:id="rId23"/>
    <p:sldId id="613" r:id="rId24"/>
    <p:sldId id="614" r:id="rId25"/>
    <p:sldId id="547" r:id="rId26"/>
    <p:sldId id="463" r:id="rId27"/>
    <p:sldId id="466" r:id="rId28"/>
    <p:sldId id="743" r:id="rId29"/>
    <p:sldId id="548" r:id="rId30"/>
    <p:sldId id="549" r:id="rId31"/>
    <p:sldId id="550" r:id="rId32"/>
    <p:sldId id="551" r:id="rId33"/>
    <p:sldId id="552" r:id="rId34"/>
    <p:sldId id="553" r:id="rId35"/>
    <p:sldId id="554" r:id="rId36"/>
    <p:sldId id="744" r:id="rId37"/>
    <p:sldId id="745" r:id="rId38"/>
    <p:sldId id="746" r:id="rId39"/>
    <p:sldId id="747" r:id="rId40"/>
    <p:sldId id="748" r:id="rId41"/>
    <p:sldId id="749" r:id="rId42"/>
    <p:sldId id="750" r:id="rId43"/>
    <p:sldId id="563" r:id="rId44"/>
    <p:sldId id="751" r:id="rId45"/>
    <p:sldId id="752" r:id="rId46"/>
    <p:sldId id="555" r:id="rId47"/>
    <p:sldId id="753" r:id="rId48"/>
    <p:sldId id="564" r:id="rId49"/>
    <p:sldId id="754" r:id="rId50"/>
    <p:sldId id="755" r:id="rId51"/>
    <p:sldId id="756" r:id="rId52"/>
    <p:sldId id="757" r:id="rId53"/>
    <p:sldId id="557" r:id="rId54"/>
    <p:sldId id="565" r:id="rId55"/>
    <p:sldId id="558" r:id="rId56"/>
    <p:sldId id="566" r:id="rId57"/>
    <p:sldId id="758" r:id="rId58"/>
    <p:sldId id="559" r:id="rId59"/>
    <p:sldId id="567" r:id="rId60"/>
    <p:sldId id="569" r:id="rId61"/>
    <p:sldId id="568" r:id="rId62"/>
    <p:sldId id="560" r:id="rId63"/>
    <p:sldId id="759" r:id="rId64"/>
    <p:sldId id="760" r:id="rId65"/>
    <p:sldId id="761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03T17:59:37.7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6D4FF-DEA4-4892-92B1-559585551894}" type="datetimeFigureOut">
              <a:rPr lang="en-IN" smtClean="0"/>
              <a:t>23-11-2020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A5FB5-0710-47CC-8F83-FD860005E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0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B8F9BCF-6C3B-4706-A57E-62DF77EB85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Amity Institute of Information Technology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A9643575-2427-488D-9ACC-8601D357A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B0C161-B90F-4386-A4C0-CF9C7E8033D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4B098021-E45A-46DC-8FB4-8B7C02CA0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5DDACB0A-87E8-404A-9A9D-CEBF51E82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294E0-43BA-4050-978A-B5F4E62A110E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25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294E0-43BA-4050-978A-B5F4E62A110E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25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294E0-43BA-4050-978A-B5F4E62A110E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25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294E0-43BA-4050-978A-B5F4E62A110E}" type="slidenum">
              <a:rPr lang="en-IN" smtClean="0"/>
              <a:pPr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25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F27BE94B-398D-4DFF-91C1-7E581BE777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508A25A0-33BA-434E-82D2-4BCB08AB18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D47DCB8-3BFE-4666-8EEE-818B639A9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4C12F57C-5A80-481A-A4A5-5BEEF3805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294E0-43BA-4050-978A-B5F4E62A110E}" type="slidenum">
              <a:rPr lang="en-IN" smtClean="0"/>
              <a:pPr/>
              <a:t>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25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48924A36-8578-4ED1-9911-AFC2BBBC19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E77448D-F726-452A-871D-C27FE0783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E48B698E-B98D-4F50-A085-3B781285F9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2A609D69-C91D-4260-9BF9-231ECFA8D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9A3D82F-D9CF-4B39-8C10-F8108CC7C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E0EAABD8-4652-4221-9DAF-E3DA6B966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1E590B41-9B8F-4416-BEF1-2AD9DB6EBE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600721-3BD4-4223-B836-1DD7D5C95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A92C26FF-094A-420D-B00F-CDE9B2D00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7356975E-C44D-4CE6-A13C-E0F5B0EC4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1C7A0FBA-B045-4B10-BA24-A5DEE9092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0A54763-A8A5-4159-9F51-452A664B7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right identity</a:t>
            </a:r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7815AB-70D8-49EB-A36D-D442E40DD67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B581B-2F53-4A21-A360-4A739774B4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78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DD6217-5E64-455F-8FDC-A22BBF22A3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F7A49-95A6-4D3E-8239-B64543B8D6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95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0E1339-A830-4559-98A3-35372A9481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C55A9-C5C2-4034-8C68-E5E00DA01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51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924A73-6C50-4AC3-9D70-9BF5CD77034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8B6BB-978E-4895-9FE3-804546364D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34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EA8121-B2D3-41F8-8E89-A3FE9A413E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00F77-6DD8-4988-B35E-0535D76BCE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60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A4A9970-884C-47F6-8626-E1D4CD9DE4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CD857-033F-41E3-AE3F-066F8AF172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26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EEFACFA-D5B0-4964-A16D-E8A4CBC711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E7F4D-6297-41C0-ACE0-955D72B832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77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B96FA9-73D7-4AB6-8917-C92D30A6B6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29622-9F7E-4FEE-927C-378CA5783F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768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7CD70D-4D46-46B4-BEE2-A008FF3640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27498-146B-4988-8324-4FDA45D96E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84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968565-86CB-4886-8DC6-AAC02891B8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355AD-7026-4A51-92AC-BDE138BCA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09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25B6C0-0E44-4A4E-819E-36CEE900B6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2FCC7-3B50-42FE-BACC-7717F049D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5484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BD7087-FF66-4DC3-89BC-F97889426A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1123F4C-6A31-4C1F-A6F6-826F5AEAF0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77800"/>
            <a:ext cx="2885445" cy="120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70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933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83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>
            <a:extLst>
              <a:ext uri="{FF2B5EF4-FFF2-40B4-BE49-F238E27FC236}">
                <a16:creationId xmlns:a16="http://schemas.microsoft.com/office/drawing/2014/main" id="{8449A887-5DE0-4487-B255-3AF567F9C7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0" y="76201"/>
            <a:ext cx="12183533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3725FC8C-A2FB-4E54-9109-26A80C5FA7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65684" y="64008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 smtClean="0"/>
            </a:lvl1pPr>
          </a:lstStyle>
          <a:p>
            <a:pPr>
              <a:defRPr/>
            </a:pPr>
            <a:fld id="{87D83082-6E93-47F3-BCEC-6D6F7AC7DA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F2006CED-6E1C-4C80-84FC-50B3EA341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667" y="611188"/>
            <a:ext cx="721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1600" b="1">
                <a:solidFill>
                  <a:schemeClr val="accent2"/>
                </a:solidFill>
              </a:rPr>
              <a:t>Amity Institute of Information Technology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85D5D199-E1F6-467A-A88F-299499A5AE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51200" y="6705600"/>
            <a:ext cx="8940800" cy="152400"/>
          </a:xfrm>
          <a:prstGeom prst="rect">
            <a:avLst/>
          </a:prstGeom>
          <a:solidFill>
            <a:srgbClr val="F1B4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 sz="1800"/>
          </a:p>
        </p:txBody>
      </p:sp>
    </p:spTree>
    <p:extLst>
      <p:ext uri="{BB962C8B-B14F-4D97-AF65-F5344CB8AC3E}">
        <p14:creationId xmlns:p14="http://schemas.microsoft.com/office/powerpoint/2010/main" val="69456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>
            <a:extLst>
              <a:ext uri="{FF2B5EF4-FFF2-40B4-BE49-F238E27FC236}">
                <a16:creationId xmlns:a16="http://schemas.microsoft.com/office/drawing/2014/main" id="{8469C9C1-BD22-4CF2-9C58-53B367FE92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AB5C7E-C987-4B17-8B6C-FB2215A95668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A377AE03-F191-4623-A034-86DA79FC71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09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  <a:t>Amity Institute of Information Technology</a:t>
            </a:r>
            <a:br>
              <a:rPr lang="en-US" altLang="en-US" sz="45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BCA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Ist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 Semester 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Basic Mathematics- Group Theory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Dr Sarika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04589-BD54-45D9-A84C-DE8A3A67047B}"/>
              </a:ext>
            </a:extLst>
          </p:cNvPr>
          <p:cNvSpPr txBox="1"/>
          <p:nvPr/>
        </p:nvSpPr>
        <p:spPr>
          <a:xfrm>
            <a:off x="4470400" y="2514600"/>
            <a:ext cx="33528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67" b="1" dirty="0">
                <a:solidFill>
                  <a:srgbClr val="92D050"/>
                </a:solidFill>
                <a:latin typeface="Century Gothic" panose="020B0502020202020204" pitchFamily="34" charset="0"/>
              </a:rPr>
              <a:t>Groups</a:t>
            </a:r>
          </a:p>
        </p:txBody>
      </p:sp>
    </p:spTree>
    <p:extLst>
      <p:ext uri="{BB962C8B-B14F-4D97-AF65-F5344CB8AC3E}">
        <p14:creationId xmlns:p14="http://schemas.microsoft.com/office/powerpoint/2010/main" val="26381911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Box 5">
            <a:extLst>
              <a:ext uri="{FF2B5EF4-FFF2-40B4-BE49-F238E27FC236}">
                <a16:creationId xmlns:a16="http://schemas.microsoft.com/office/drawing/2014/main" id="{A72E2ECC-E9DC-4BB8-8914-DD2C1C988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Group</a:t>
            </a:r>
          </a:p>
        </p:txBody>
      </p:sp>
      <p:sp>
        <p:nvSpPr>
          <p:cNvPr id="141315" name="Text Box 3">
            <a:extLst>
              <a:ext uri="{FF2B5EF4-FFF2-40B4-BE49-F238E27FC236}">
                <a16:creationId xmlns:a16="http://schemas.microsoft.com/office/drawing/2014/main" id="{C86C53A5-F364-4DCF-BA36-7C0C48C7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1752600"/>
            <a:ext cx="803296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Let (G, *) be an algebraic structure, where * is binary operation, then (G, *)</a:t>
            </a:r>
          </a:p>
          <a:p>
            <a:pPr eaLnBrk="1" hangingPunct="1"/>
            <a:r>
              <a:rPr lang="en-US" altLang="en-US" dirty="0"/>
              <a:t>is called a group under this operation, if the following conditions are satisfied: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Closure Law:	</a:t>
            </a:r>
          </a:p>
          <a:p>
            <a:pPr eaLnBrk="1" hangingPunct="1"/>
            <a:r>
              <a:rPr lang="en-US" altLang="en-US" dirty="0"/>
              <a:t>			The binary operation * is closed operation, i.e.,</a:t>
            </a:r>
          </a:p>
          <a:p>
            <a:pPr eaLnBrk="1" hangingPunct="1"/>
            <a:r>
              <a:rPr lang="en-US" altLang="en-US" dirty="0"/>
              <a:t>				a * b </a:t>
            </a:r>
            <a:r>
              <a:rPr lang="el-GR" altLang="en-US" dirty="0"/>
              <a:t>ϵ</a:t>
            </a:r>
            <a:r>
              <a:rPr lang="en-US" altLang="en-US" dirty="0"/>
              <a:t> G for all a, b </a:t>
            </a:r>
            <a:r>
              <a:rPr lang="el-GR" altLang="en-US" dirty="0"/>
              <a:t>ϵ</a:t>
            </a:r>
            <a:r>
              <a:rPr lang="en-US" altLang="en-US" dirty="0"/>
              <a:t> G.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rabicPeriod" startAt="2"/>
            </a:pPr>
            <a:r>
              <a:rPr lang="en-US" altLang="en-US" dirty="0"/>
              <a:t>Associative Law:</a:t>
            </a:r>
          </a:p>
          <a:p>
            <a:pPr eaLnBrk="1" hangingPunct="1"/>
            <a:r>
              <a:rPr lang="en-US" altLang="en-US" dirty="0"/>
              <a:t>			The binary operation *  is an associative operation, </a:t>
            </a:r>
            <a:r>
              <a:rPr lang="en-US" altLang="en-US" dirty="0" err="1"/>
              <a:t>i</a:t>
            </a:r>
            <a:r>
              <a:rPr lang="en-US" altLang="en-US" dirty="0"/>
              <a:t>. e.,</a:t>
            </a:r>
          </a:p>
          <a:p>
            <a:pPr eaLnBrk="1" hangingPunct="1"/>
            <a:r>
              <a:rPr lang="en-US" altLang="en-US" dirty="0"/>
              <a:t>				a * (b * c) = (a *b ) * c for all a, b, c </a:t>
            </a:r>
            <a:r>
              <a:rPr lang="el-GR" altLang="en-US" dirty="0"/>
              <a:t>ϵ</a:t>
            </a:r>
            <a:r>
              <a:rPr lang="en-US" altLang="en-US" dirty="0"/>
              <a:t> G.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rabicPeriod" startAt="3"/>
            </a:pPr>
            <a:r>
              <a:rPr lang="en-US" altLang="en-US" dirty="0"/>
              <a:t>Identity element:</a:t>
            </a:r>
          </a:p>
          <a:p>
            <a:pPr eaLnBrk="1" hangingPunct="1"/>
            <a:r>
              <a:rPr lang="en-US" altLang="en-US" dirty="0"/>
              <a:t>			There exists an identity element. i.e.,</a:t>
            </a:r>
          </a:p>
          <a:p>
            <a:pPr eaLnBrk="1" hangingPunct="1"/>
            <a:r>
              <a:rPr lang="en-US" altLang="en-US" dirty="0"/>
              <a:t>			for some e </a:t>
            </a:r>
            <a:r>
              <a:rPr lang="el-GR" altLang="en-US" dirty="0"/>
              <a:t>ϵ</a:t>
            </a:r>
            <a:r>
              <a:rPr lang="en-US" altLang="en-US" dirty="0"/>
              <a:t> G, e * a = a * e = a </a:t>
            </a:r>
            <a:r>
              <a:rPr lang="el-GR" altLang="en-US" dirty="0"/>
              <a:t>ϵ</a:t>
            </a:r>
            <a:r>
              <a:rPr lang="en-US" altLang="en-US" dirty="0"/>
              <a:t> 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Text Box 4">
            <a:extLst>
              <a:ext uri="{FF2B5EF4-FFF2-40B4-BE49-F238E27FC236}">
                <a16:creationId xmlns:a16="http://schemas.microsoft.com/office/drawing/2014/main" id="{A4F783AC-917A-4A38-B5DE-EA35CCBE8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63714"/>
            <a:ext cx="81654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 startAt="4"/>
            </a:pPr>
            <a:r>
              <a:rPr lang="en-US" altLang="en-US"/>
              <a:t>Inverse element:</a:t>
            </a:r>
          </a:p>
          <a:p>
            <a:pPr lvl="1" eaLnBrk="1" hangingPunct="1"/>
            <a:r>
              <a:rPr lang="en-US" altLang="en-US"/>
              <a:t>			For each a in G, there exists an element a’ (the inverse of a)</a:t>
            </a:r>
          </a:p>
          <a:p>
            <a:pPr lvl="1" eaLnBrk="1" hangingPunct="1"/>
            <a:r>
              <a:rPr lang="en-US" altLang="en-US"/>
              <a:t>			in G such that      a * a’ = a’ * a = e.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A group G is said to be abelian if the commutative law holds, i.e.,</a:t>
            </a:r>
          </a:p>
          <a:p>
            <a:pPr lvl="1" eaLnBrk="1" hangingPunct="1"/>
            <a:r>
              <a:rPr lang="en-US" altLang="en-US"/>
              <a:t>a * b = b * a for all a, b </a:t>
            </a:r>
            <a:r>
              <a:rPr lang="el-GR" altLang="en-US"/>
              <a:t>ϵ</a:t>
            </a:r>
            <a:r>
              <a:rPr lang="en-US" altLang="en-US"/>
              <a:t> G.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A group with addition binary operation is known as additive group and</a:t>
            </a:r>
          </a:p>
          <a:p>
            <a:pPr lvl="1" eaLnBrk="1" hangingPunct="1"/>
            <a:r>
              <a:rPr lang="en-US" altLang="en-US"/>
              <a:t>that with multiplication binary operation is known as multipliactive group.</a:t>
            </a:r>
            <a:endParaRPr lang="en-I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Box 4">
            <a:extLst>
              <a:ext uri="{FF2B5EF4-FFF2-40B4-BE49-F238E27FC236}">
                <a16:creationId xmlns:a16="http://schemas.microsoft.com/office/drawing/2014/main" id="{E53A1940-58FD-4A07-8E16-0F0792F88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439989"/>
            <a:ext cx="54864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rgbClr val="C00000"/>
                </a:solidFill>
                <a:latin typeface="Calibri" panose="020F0502020204030204" pitchFamily="34" charset="0"/>
              </a:rPr>
              <a:t>Solved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Box 5">
            <a:extLst>
              <a:ext uri="{FF2B5EF4-FFF2-40B4-BE49-F238E27FC236}">
                <a16:creationId xmlns:a16="http://schemas.microsoft.com/office/drawing/2014/main" id="{2B85EF5D-31B6-4941-8251-5E43242E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1778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Examples</a:t>
            </a:r>
          </a:p>
        </p:txBody>
      </p:sp>
      <p:sp>
        <p:nvSpPr>
          <p:cNvPr id="146435" name="Text Box 3">
            <a:extLst>
              <a:ext uri="{FF2B5EF4-FFF2-40B4-BE49-F238E27FC236}">
                <a16:creationId xmlns:a16="http://schemas.microsoft.com/office/drawing/2014/main" id="{CE9CB8BE-CB1C-4980-A8C2-041866BB6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6" y="1752601"/>
            <a:ext cx="830227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/>
              <a:t>The set R of real numbers, for the binary operation of addition, is a group</a:t>
            </a:r>
          </a:p>
          <a:p>
            <a:pPr eaLnBrk="1" hangingPunct="1"/>
            <a:r>
              <a:rPr lang="en-US" altLang="en-US"/>
              <a:t>	with 0 as identity element and (-a) as the inverse of a. The same is true </a:t>
            </a:r>
          </a:p>
          <a:p>
            <a:pPr eaLnBrk="1" hangingPunct="1"/>
            <a:r>
              <a:rPr lang="en-US" altLang="en-US"/>
              <a:t>	for the set Z of integers or the set Q of all the rational numbers or the set</a:t>
            </a:r>
          </a:p>
          <a:p>
            <a:pPr eaLnBrk="1" hangingPunct="1"/>
            <a:r>
              <a:rPr lang="en-US" altLang="en-US"/>
              <a:t>	C of complex numbers.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eriod" startAt="2"/>
            </a:pPr>
            <a:r>
              <a:rPr lang="en-US" altLang="en-US"/>
              <a:t>The set R</a:t>
            </a:r>
            <a:r>
              <a:rPr lang="en-US" altLang="en-US" baseline="30000"/>
              <a:t>* </a:t>
            </a:r>
            <a:r>
              <a:rPr lang="en-US" altLang="en-US"/>
              <a:t>of non-zero real numbers for the binary operation of multiplication</a:t>
            </a:r>
          </a:p>
          <a:p>
            <a:pPr eaLnBrk="1" hangingPunct="1"/>
            <a:r>
              <a:rPr lang="en-US" altLang="en-US"/>
              <a:t>	is group with 1 as identity element and 1/a as the inverse of a. The same</a:t>
            </a:r>
          </a:p>
          <a:p>
            <a:pPr eaLnBrk="1" hangingPunct="1"/>
            <a:r>
              <a:rPr lang="en-US" altLang="en-US"/>
              <a:t>	is true for the set Q* of non-zero rational numbers or the set C* of non-zero</a:t>
            </a:r>
          </a:p>
          <a:p>
            <a:pPr eaLnBrk="1" hangingPunct="1"/>
            <a:r>
              <a:rPr lang="en-US" altLang="en-US"/>
              <a:t>	complex numbers.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eriod" startAt="3"/>
            </a:pPr>
            <a:r>
              <a:rPr lang="en-US" altLang="en-US"/>
              <a:t>The set Z</a:t>
            </a:r>
            <a:r>
              <a:rPr lang="en-US" altLang="en-US" baseline="30000"/>
              <a:t>+</a:t>
            </a:r>
            <a:r>
              <a:rPr lang="en-US" altLang="en-US"/>
              <a:t> of positive integers with operation + is not a group. There is no</a:t>
            </a:r>
          </a:p>
          <a:p>
            <a:pPr eaLnBrk="1" hangingPunct="1"/>
            <a:r>
              <a:rPr lang="en-US" altLang="en-US"/>
              <a:t>	identity element for + in Z</a:t>
            </a:r>
            <a:r>
              <a:rPr lang="en-US" altLang="en-US" baseline="30000"/>
              <a:t>+</a:t>
            </a:r>
            <a:r>
              <a:rPr lang="en-US" altLang="en-US"/>
              <a:t>. The set Z</a:t>
            </a:r>
            <a:r>
              <a:rPr lang="en-US" altLang="en-US" baseline="30000"/>
              <a:t>+</a:t>
            </a:r>
            <a:r>
              <a:rPr lang="en-US" altLang="en-US"/>
              <a:t> with operation multiplication is not</a:t>
            </a:r>
          </a:p>
          <a:p>
            <a:pPr eaLnBrk="1" hangingPunct="1"/>
            <a:r>
              <a:rPr lang="en-US" altLang="en-US"/>
              <a:t>	 a group. There is an identity element 1, but no inverse of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4">
            <a:extLst>
              <a:ext uri="{FF2B5EF4-FFF2-40B4-BE49-F238E27FC236}">
                <a16:creationId xmlns:a16="http://schemas.microsoft.com/office/drawing/2014/main" id="{32422280-DBD3-428E-BB33-7999B9EA7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79851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IN" altLang="en-US"/>
          </a:p>
        </p:txBody>
      </p:sp>
      <p:sp>
        <p:nvSpPr>
          <p:cNvPr id="147461" name="Text Box 5">
            <a:extLst>
              <a:ext uri="{FF2B5EF4-FFF2-40B4-BE49-F238E27FC236}">
                <a16:creationId xmlns:a16="http://schemas.microsoft.com/office/drawing/2014/main" id="{0EB7136A-B71C-4976-89E0-9CCF300C7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235137"/>
            <a:ext cx="790472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 startAt="4"/>
            </a:pPr>
            <a:r>
              <a:rPr lang="en-US" altLang="en-US" dirty="0"/>
              <a:t>Show that the set of all positive rational numbers forms an abelian</a:t>
            </a:r>
          </a:p>
          <a:p>
            <a:pPr eaLnBrk="1" hangingPunct="1"/>
            <a:r>
              <a:rPr lang="en-US" altLang="en-US" dirty="0"/>
              <a:t>	group under the composition defined by  a * b = (ab)/2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Solution:</a:t>
            </a:r>
          </a:p>
          <a:p>
            <a:pPr eaLnBrk="1" hangingPunct="1"/>
            <a:r>
              <a:rPr lang="en-US" altLang="en-US" dirty="0"/>
              <a:t> 		Let Q</a:t>
            </a:r>
            <a:r>
              <a:rPr lang="en-US" altLang="en-US" baseline="30000" dirty="0"/>
              <a:t>+</a:t>
            </a:r>
            <a:r>
              <a:rPr lang="en-US" altLang="en-US" dirty="0"/>
              <a:t> denote the set of all positive rational numbers. We have </a:t>
            </a:r>
          </a:p>
          <a:p>
            <a:pPr eaLnBrk="1" hangingPunct="1"/>
            <a:r>
              <a:rPr lang="en-US" altLang="en-US" dirty="0"/>
              <a:t>		to shoe that (Q</a:t>
            </a:r>
            <a:r>
              <a:rPr lang="en-US" altLang="en-US" baseline="30000" dirty="0"/>
              <a:t>+</a:t>
            </a:r>
            <a:r>
              <a:rPr lang="en-US" altLang="en-US" dirty="0"/>
              <a:t>, *) is a group under the composition a * b = (ab)/2.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lphaLcParenR"/>
            </a:pPr>
            <a:r>
              <a:rPr lang="en-US" altLang="en-US" dirty="0"/>
              <a:t>Closure property:</a:t>
            </a:r>
          </a:p>
          <a:p>
            <a:pPr eaLnBrk="1" hangingPunct="1"/>
            <a:r>
              <a:rPr lang="en-US" altLang="en-US" dirty="0"/>
              <a:t>				Since for every element a, b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  <a:r>
              <a:rPr lang="en-US" altLang="en-US" dirty="0"/>
              <a:t>,   (ab)/2 is also</a:t>
            </a:r>
          </a:p>
          <a:p>
            <a:pPr eaLnBrk="1" hangingPunct="1"/>
            <a:r>
              <a:rPr lang="en-US" altLang="en-US" dirty="0"/>
              <a:t>		in Q</a:t>
            </a:r>
            <a:r>
              <a:rPr lang="en-US" altLang="en-US" baseline="30000" dirty="0"/>
              <a:t>+</a:t>
            </a:r>
            <a:r>
              <a:rPr lang="en-US" altLang="en-US" dirty="0"/>
              <a:t>. Therefore, Q+ is closed with respect to operation *.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lphaLcParenR" startAt="2"/>
            </a:pPr>
            <a:r>
              <a:rPr lang="en-US" altLang="en-US" dirty="0"/>
              <a:t>Associative Law:</a:t>
            </a:r>
          </a:p>
          <a:p>
            <a:pPr eaLnBrk="1" hangingPunct="1"/>
            <a:r>
              <a:rPr lang="en-US" altLang="en-US" dirty="0"/>
              <a:t>				For a, b </a:t>
            </a:r>
            <a:r>
              <a:rPr lang="el-GR" altLang="en-US" dirty="0"/>
              <a:t>ϵ</a:t>
            </a:r>
            <a:r>
              <a:rPr lang="en-US" altLang="en-US" dirty="0"/>
              <a:t> Q+, we have</a:t>
            </a:r>
          </a:p>
          <a:p>
            <a:pPr eaLnBrk="1" hangingPunct="1"/>
            <a:r>
              <a:rPr lang="en-US" altLang="en-US" dirty="0"/>
              <a:t>				(a * b) * c = (ab/2) * c</a:t>
            </a:r>
          </a:p>
          <a:p>
            <a:pPr eaLnBrk="1" hangingPunct="1"/>
            <a:r>
              <a:rPr lang="en-US" altLang="en-US" dirty="0"/>
              <a:t>					  = (ab/2)c/2</a:t>
            </a:r>
          </a:p>
          <a:p>
            <a:pPr eaLnBrk="1" hangingPunct="1"/>
            <a:r>
              <a:rPr lang="en-US" altLang="en-US" dirty="0"/>
              <a:t>					  = a/2(</a:t>
            </a:r>
            <a:r>
              <a:rPr lang="en-US" altLang="en-US" dirty="0" err="1"/>
              <a:t>bc</a:t>
            </a:r>
            <a:r>
              <a:rPr lang="en-US" altLang="en-US" dirty="0"/>
              <a:t>/2)</a:t>
            </a:r>
          </a:p>
          <a:p>
            <a:pPr eaLnBrk="1" hangingPunct="1"/>
            <a:r>
              <a:rPr lang="en-US" altLang="en-US" dirty="0"/>
              <a:t>					  = a * (</a:t>
            </a:r>
            <a:r>
              <a:rPr lang="en-US" altLang="en-US" dirty="0" err="1"/>
              <a:t>bc</a:t>
            </a:r>
            <a:r>
              <a:rPr lang="en-US" altLang="en-US" dirty="0"/>
              <a:t>/2)</a:t>
            </a:r>
          </a:p>
          <a:p>
            <a:pPr eaLnBrk="1" hangingPunct="1"/>
            <a:r>
              <a:rPr lang="en-US" altLang="en-US" dirty="0"/>
              <a:t>				 	  = a * ( b * c)</a:t>
            </a:r>
            <a:endParaRPr lang="en-I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>
            <a:extLst>
              <a:ext uri="{FF2B5EF4-FFF2-40B4-BE49-F238E27FC236}">
                <a16:creationId xmlns:a16="http://schemas.microsoft.com/office/drawing/2014/main" id="{9736C816-13DD-4A3D-9676-DE4BE96DD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1" y="1600200"/>
            <a:ext cx="749435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LcPeriod" startAt="3"/>
            </a:pPr>
            <a:r>
              <a:rPr lang="en-US" altLang="en-US" dirty="0"/>
              <a:t>Commutative Law:</a:t>
            </a:r>
          </a:p>
          <a:p>
            <a:pPr eaLnBrk="1" hangingPunct="1"/>
            <a:r>
              <a:rPr lang="en-US" altLang="en-US" dirty="0"/>
              <a:t>				For a, b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  <a:r>
              <a:rPr lang="en-US" altLang="en-US" dirty="0"/>
              <a:t>, we have</a:t>
            </a:r>
          </a:p>
          <a:p>
            <a:pPr eaLnBrk="1" hangingPunct="1"/>
            <a:r>
              <a:rPr lang="en-US" altLang="en-US" dirty="0"/>
              <a:t>				a * b = (ab)/2</a:t>
            </a:r>
          </a:p>
          <a:p>
            <a:pPr eaLnBrk="1" hangingPunct="1"/>
            <a:r>
              <a:rPr lang="en-US" altLang="en-US" dirty="0"/>
              <a:t>				         = (</a:t>
            </a:r>
            <a:r>
              <a:rPr lang="en-US" altLang="en-US" dirty="0" err="1"/>
              <a:t>ba</a:t>
            </a:r>
            <a:r>
              <a:rPr lang="en-US" altLang="en-US" dirty="0"/>
              <a:t>)/2</a:t>
            </a:r>
          </a:p>
          <a:p>
            <a:pPr eaLnBrk="1" hangingPunct="1"/>
            <a:r>
              <a:rPr lang="en-US" altLang="en-US" dirty="0"/>
              <a:t>				         = b * a</a:t>
            </a:r>
          </a:p>
          <a:p>
            <a:pPr eaLnBrk="1" hangingPunct="1"/>
            <a:endParaRPr lang="en-US" altLang="en-US" dirty="0"/>
          </a:p>
          <a:p>
            <a:pPr eaLnBrk="1" hangingPunct="1">
              <a:buFontTx/>
              <a:buAutoNum type="alphaLcPeriod" startAt="4"/>
            </a:pPr>
            <a:r>
              <a:rPr lang="en-US" altLang="en-US" dirty="0"/>
              <a:t>Identity element:</a:t>
            </a:r>
          </a:p>
          <a:p>
            <a:pPr eaLnBrk="1" hangingPunct="1"/>
            <a:r>
              <a:rPr lang="en-US" altLang="en-US" dirty="0"/>
              <a:t>				Let e be the identity element in Q</a:t>
            </a:r>
            <a:r>
              <a:rPr lang="en-US" altLang="en-US" baseline="30000" dirty="0"/>
              <a:t>+</a:t>
            </a:r>
            <a:r>
              <a:rPr lang="en-US" altLang="en-US" dirty="0"/>
              <a:t>, such that</a:t>
            </a:r>
          </a:p>
          <a:p>
            <a:pPr eaLnBrk="1" hangingPunct="1"/>
            <a:r>
              <a:rPr lang="en-US" altLang="en-US" dirty="0"/>
              <a:t>				e * a = a * e = a</a:t>
            </a:r>
          </a:p>
          <a:p>
            <a:pPr eaLnBrk="1" hangingPunct="1"/>
            <a:r>
              <a:rPr lang="en-US" altLang="en-US" dirty="0"/>
              <a:t>	Now,</a:t>
            </a:r>
          </a:p>
          <a:p>
            <a:pPr eaLnBrk="1" hangingPunct="1"/>
            <a:r>
              <a:rPr lang="en-US" altLang="en-US" dirty="0"/>
              <a:t>				e * a = a</a:t>
            </a:r>
          </a:p>
          <a:p>
            <a:pPr eaLnBrk="1" hangingPunct="1"/>
            <a:r>
              <a:rPr lang="en-US" altLang="en-US" dirty="0"/>
              <a:t>			</a:t>
            </a:r>
            <a:r>
              <a:rPr lang="en-US" altLang="en-US" dirty="0">
                <a:cs typeface="Arial" panose="020B0604020202020204" pitchFamily="34" charset="0"/>
              </a:rPr>
              <a:t>→	(</a:t>
            </a:r>
            <a:r>
              <a:rPr lang="en-US" altLang="en-US" dirty="0" err="1">
                <a:cs typeface="Arial" panose="020B0604020202020204" pitchFamily="34" charset="0"/>
              </a:rPr>
              <a:t>ea</a:t>
            </a:r>
            <a:r>
              <a:rPr lang="en-US" altLang="en-US" dirty="0">
                <a:cs typeface="Arial" panose="020B0604020202020204" pitchFamily="34" charset="0"/>
              </a:rPr>
              <a:t>)/2 = a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			 </a:t>
            </a:r>
            <a:r>
              <a:rPr lang="en-US" altLang="en-US" dirty="0"/>
              <a:t>→	(a/2)(e – 2) = 0</a:t>
            </a:r>
          </a:p>
          <a:p>
            <a:pPr eaLnBrk="1" hangingPunct="1"/>
            <a:r>
              <a:rPr lang="en-US" altLang="en-US" dirty="0"/>
              <a:t>			 →	e = 2, since a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  <a:r>
              <a:rPr lang="en-US" altLang="en-US" dirty="0"/>
              <a:t>, → a &gt; 0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	But 2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  <a:r>
              <a:rPr lang="en-US" altLang="en-US" dirty="0"/>
              <a:t> and we have</a:t>
            </a:r>
          </a:p>
          <a:p>
            <a:pPr eaLnBrk="1" hangingPunct="1"/>
            <a:r>
              <a:rPr lang="en-US" altLang="en-US" dirty="0"/>
              <a:t>				2 * a = (2a)/2 = a = a * 2 for all a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Text Box 4">
            <a:extLst>
              <a:ext uri="{FF2B5EF4-FFF2-40B4-BE49-F238E27FC236}">
                <a16:creationId xmlns:a16="http://schemas.microsoft.com/office/drawing/2014/main" id="{B47780B6-38CD-4A0C-B072-05FC5AEFA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0" y="1600201"/>
            <a:ext cx="79262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lphaLcPeriod" startAt="5"/>
            </a:pPr>
            <a:r>
              <a:rPr lang="en-US" altLang="en-US" dirty="0"/>
              <a:t>Inverses:</a:t>
            </a:r>
          </a:p>
          <a:p>
            <a:pPr lvl="1" eaLnBrk="1" hangingPunct="1"/>
            <a:r>
              <a:rPr lang="en-US" altLang="en-US" dirty="0"/>
              <a:t>			Let a be an element of Q</a:t>
            </a:r>
            <a:r>
              <a:rPr lang="en-US" altLang="en-US" baseline="30000" dirty="0"/>
              <a:t>+</a:t>
            </a:r>
            <a:r>
              <a:rPr lang="en-US" altLang="en-US" dirty="0"/>
              <a:t>. If the number b is to be the </a:t>
            </a:r>
          </a:p>
          <a:p>
            <a:pPr lvl="1" eaLnBrk="1" hangingPunct="1"/>
            <a:r>
              <a:rPr lang="en-US" altLang="en-US" dirty="0"/>
              <a:t>		inverse of a, then we must have</a:t>
            </a:r>
          </a:p>
          <a:p>
            <a:pPr lvl="1" eaLnBrk="1" hangingPunct="1"/>
            <a:r>
              <a:rPr lang="en-US" altLang="en-US" dirty="0"/>
              <a:t>			b * a = e = 2</a:t>
            </a:r>
          </a:p>
          <a:p>
            <a:pPr lvl="1" eaLnBrk="1" hangingPunct="1"/>
            <a:r>
              <a:rPr lang="en-US" altLang="en-US" dirty="0"/>
              <a:t>	 	 →	(</a:t>
            </a:r>
            <a:r>
              <a:rPr lang="en-US" altLang="en-US" dirty="0" err="1"/>
              <a:t>ba</a:t>
            </a:r>
            <a:r>
              <a:rPr lang="en-US" altLang="en-US" dirty="0"/>
              <a:t>)/2 = 2</a:t>
            </a:r>
          </a:p>
          <a:p>
            <a:pPr lvl="1" eaLnBrk="1" hangingPunct="1"/>
            <a:r>
              <a:rPr lang="en-US" altLang="en-US" dirty="0"/>
              <a:t>	 →	b = 4/a </a:t>
            </a:r>
            <a:r>
              <a:rPr lang="el-GR" altLang="en-US" dirty="0"/>
              <a:t>ϵ</a:t>
            </a:r>
            <a:r>
              <a:rPr lang="en-US" altLang="en-US" dirty="0"/>
              <a:t> Q</a:t>
            </a:r>
            <a:r>
              <a:rPr lang="en-US" altLang="en-US" baseline="30000" dirty="0"/>
              <a:t>+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We have</a:t>
            </a:r>
          </a:p>
          <a:p>
            <a:pPr lvl="1" eaLnBrk="1" hangingPunct="1"/>
            <a:r>
              <a:rPr lang="en-US" altLang="en-US" dirty="0"/>
              <a:t>			(4/a) * a = 4a/2a</a:t>
            </a:r>
          </a:p>
          <a:p>
            <a:pPr lvl="1" eaLnBrk="1" hangingPunct="1"/>
            <a:r>
              <a:rPr lang="en-US" altLang="en-US" dirty="0"/>
              <a:t>				= 2 = a * (4/a)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Therefore, 4/a is the inverse of a. Thus each element of Q</a:t>
            </a:r>
            <a:r>
              <a:rPr lang="en-US" altLang="en-US" baseline="30000" dirty="0"/>
              <a:t>+</a:t>
            </a:r>
            <a:r>
              <a:rPr lang="en-US" altLang="en-US" dirty="0"/>
              <a:t> is invertible.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Hence (Q</a:t>
            </a:r>
            <a:r>
              <a:rPr lang="en-US" altLang="en-US" baseline="30000" dirty="0"/>
              <a:t>+</a:t>
            </a:r>
            <a:r>
              <a:rPr lang="en-US" altLang="en-US" dirty="0"/>
              <a:t>, *) is an abelian group.</a:t>
            </a:r>
          </a:p>
          <a:p>
            <a:pPr lvl="1" eaLnBrk="1" hangingPunct="1"/>
            <a:r>
              <a:rPr lang="en-US" altLang="en-US" dirty="0"/>
              <a:t>	 </a:t>
            </a:r>
            <a:endParaRPr lang="en-I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Text Box 4">
            <a:extLst>
              <a:ext uri="{FF2B5EF4-FFF2-40B4-BE49-F238E27FC236}">
                <a16:creationId xmlns:a16="http://schemas.microsoft.com/office/drawing/2014/main" id="{DB46D048-466D-477C-8269-01E5ACCC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95" y="1092201"/>
            <a:ext cx="78685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 startAt="5"/>
            </a:pPr>
            <a:r>
              <a:rPr lang="en-US" altLang="en-US" dirty="0"/>
              <a:t>Show that the set {1, 2, 3, 4, 5} is not a group under addition</a:t>
            </a:r>
          </a:p>
          <a:p>
            <a:pPr eaLnBrk="1" hangingPunct="1"/>
            <a:r>
              <a:rPr lang="en-US" altLang="en-US" dirty="0"/>
              <a:t>	and multiplication modulo 6.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Solution:</a:t>
            </a:r>
          </a:p>
          <a:p>
            <a:pPr eaLnBrk="1" hangingPunct="1"/>
            <a:r>
              <a:rPr lang="en-US" altLang="en-US" dirty="0"/>
              <a:t>		Let G = {1, 2, 3, 4, 5}. The operation addition modulo 6 is denoted </a:t>
            </a:r>
          </a:p>
          <a:p>
            <a:pPr eaLnBrk="1" hangingPunct="1"/>
            <a:r>
              <a:rPr lang="en-US" altLang="en-US" dirty="0"/>
              <a:t>		by +</a:t>
            </a:r>
            <a:r>
              <a:rPr lang="en-US" altLang="en-US" baseline="-25000" dirty="0"/>
              <a:t>6</a:t>
            </a:r>
            <a:r>
              <a:rPr lang="en-US" altLang="en-US" dirty="0"/>
              <a:t>. We can operate +</a:t>
            </a:r>
            <a:r>
              <a:rPr lang="en-US" altLang="en-US" baseline="-25000" dirty="0"/>
              <a:t>6</a:t>
            </a:r>
            <a:r>
              <a:rPr lang="en-US" altLang="en-US" dirty="0"/>
              <a:t> on the elements of G as follows:</a:t>
            </a:r>
          </a:p>
          <a:p>
            <a:pPr eaLnBrk="1" hangingPunct="1"/>
            <a:r>
              <a:rPr lang="en-US" altLang="en-US" dirty="0"/>
              <a:t>		a +</a:t>
            </a:r>
            <a:r>
              <a:rPr lang="en-US" altLang="en-US" baseline="-25000" dirty="0"/>
              <a:t>6</a:t>
            </a:r>
            <a:r>
              <a:rPr lang="en-US" altLang="en-US" dirty="0"/>
              <a:t> b = Remainder of the (a + b)/6.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Composition table:</a:t>
            </a:r>
            <a:endParaRPr lang="en-IN" altLang="en-US" dirty="0"/>
          </a:p>
        </p:txBody>
      </p:sp>
      <p:graphicFrame>
        <p:nvGraphicFramePr>
          <p:cNvPr id="150593" name="Group 65">
            <a:extLst>
              <a:ext uri="{FF2B5EF4-FFF2-40B4-BE49-F238E27FC236}">
                <a16:creationId xmlns:a16="http://schemas.microsoft.com/office/drawing/2014/main" id="{4CECB0AE-1890-4CDC-85B8-8315CF9B4826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3530600"/>
          <a:ext cx="3124200" cy="310896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64961297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441859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74525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442773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60108022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58906936"/>
                    </a:ext>
                  </a:extLst>
                </a:gridCol>
              </a:tblGrid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I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14737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753400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429524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80251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534051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371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Text Box 4">
            <a:extLst>
              <a:ext uri="{FF2B5EF4-FFF2-40B4-BE49-F238E27FC236}">
                <a16:creationId xmlns:a16="http://schemas.microsoft.com/office/drawing/2014/main" id="{CE13A1A2-BD3A-442A-A029-0E59D784F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543177"/>
            <a:ext cx="67120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Since all the entries in the composition table do not belong to G.</a:t>
            </a:r>
          </a:p>
          <a:p>
            <a:endParaRPr lang="en-US" altLang="en-US"/>
          </a:p>
          <a:p>
            <a:r>
              <a:rPr lang="en-US" altLang="en-US"/>
              <a:t>In particular 0 does not belong to G.</a:t>
            </a:r>
          </a:p>
          <a:p>
            <a:endParaRPr lang="en-US" altLang="en-US"/>
          </a:p>
          <a:p>
            <a:r>
              <a:rPr lang="en-US" altLang="en-US"/>
              <a:t>Hence G is not closed with respect to +</a:t>
            </a:r>
            <a:r>
              <a:rPr lang="en-US" altLang="en-US" baseline="-25000"/>
              <a:t>6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Consequently (G, +</a:t>
            </a:r>
            <a:r>
              <a:rPr lang="en-US" altLang="en-US" baseline="-25000"/>
              <a:t>6</a:t>
            </a:r>
            <a:r>
              <a:rPr lang="en-US" altLang="en-US"/>
              <a:t>) is not a group.</a:t>
            </a:r>
            <a:endParaRPr lang="en-I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>
            <a:extLst>
              <a:ext uri="{FF2B5EF4-FFF2-40B4-BE49-F238E27FC236}">
                <a16:creationId xmlns:a16="http://schemas.microsoft.com/office/drawing/2014/main" id="{B4D258EC-CCA8-4C85-AEE7-30574492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6" y="798514"/>
            <a:ext cx="705738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		The operation multiplication  modulo 6 is denoted </a:t>
            </a:r>
          </a:p>
          <a:p>
            <a:pPr eaLnBrk="1" hangingPunct="1"/>
            <a:r>
              <a:rPr lang="en-US" altLang="en-US"/>
              <a:t>		by X</a:t>
            </a:r>
            <a:r>
              <a:rPr lang="en-US" altLang="en-US" baseline="-25000"/>
              <a:t>6</a:t>
            </a:r>
            <a:r>
              <a:rPr lang="en-US" altLang="en-US"/>
              <a:t>. We can operate X</a:t>
            </a:r>
            <a:r>
              <a:rPr lang="en-US" altLang="en-US" baseline="-25000"/>
              <a:t>6</a:t>
            </a:r>
            <a:r>
              <a:rPr lang="en-US" altLang="en-US"/>
              <a:t> on the elements of G as follows:</a:t>
            </a:r>
          </a:p>
          <a:p>
            <a:pPr eaLnBrk="1" hangingPunct="1"/>
            <a:r>
              <a:rPr lang="en-US" altLang="en-US"/>
              <a:t>		a X</a:t>
            </a:r>
            <a:r>
              <a:rPr lang="en-US" altLang="en-US" baseline="-25000"/>
              <a:t>6</a:t>
            </a:r>
            <a:r>
              <a:rPr lang="en-US" altLang="en-US"/>
              <a:t> b = Remainder of the (a . b)/6.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Composition table:</a:t>
            </a:r>
            <a:endParaRPr lang="en-IN" altLang="en-US"/>
          </a:p>
        </p:txBody>
      </p:sp>
      <p:graphicFrame>
        <p:nvGraphicFramePr>
          <p:cNvPr id="152579" name="Group 3">
            <a:extLst>
              <a:ext uri="{FF2B5EF4-FFF2-40B4-BE49-F238E27FC236}">
                <a16:creationId xmlns:a16="http://schemas.microsoft.com/office/drawing/2014/main" id="{C9725756-3C13-45A3-8FE4-1EF3D287C95A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2895600"/>
          <a:ext cx="3124200" cy="310896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5855863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747587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588528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2359553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65524929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96270520"/>
                    </a:ext>
                  </a:extLst>
                </a:gridCol>
              </a:tblGrid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I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897154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587841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24437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146087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026088"/>
                  </a:ext>
                </a:extLst>
              </a:tr>
              <a:tr h="5181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I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2735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>
            <a:extLst>
              <a:ext uri="{FF2B5EF4-FFF2-40B4-BE49-F238E27FC236}">
                <a16:creationId xmlns:a16="http://schemas.microsoft.com/office/drawing/2014/main" id="{E188808A-51A9-4F26-983C-DF9797582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543177"/>
            <a:ext cx="67120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Since all the entries in the composition table do not belong to G.</a:t>
            </a:r>
          </a:p>
          <a:p>
            <a:endParaRPr lang="en-US" altLang="en-US"/>
          </a:p>
          <a:p>
            <a:r>
              <a:rPr lang="en-US" altLang="en-US"/>
              <a:t>In particular 0 does not belong to G.</a:t>
            </a:r>
          </a:p>
          <a:p>
            <a:endParaRPr lang="en-US" altLang="en-US"/>
          </a:p>
          <a:p>
            <a:r>
              <a:rPr lang="en-US" altLang="en-US"/>
              <a:t>Hence G is not closed with respect to X</a:t>
            </a:r>
            <a:r>
              <a:rPr lang="en-US" altLang="en-US" baseline="-25000"/>
              <a:t>6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Consequently (G, X</a:t>
            </a:r>
            <a:r>
              <a:rPr lang="en-US" altLang="en-US" baseline="-25000"/>
              <a:t>6</a:t>
            </a:r>
            <a:r>
              <a:rPr lang="en-US" altLang="en-US"/>
              <a:t>) is not a group.</a:t>
            </a:r>
            <a:endParaRPr lang="en-I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493018" y="1803400"/>
            <a:ext cx="89286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In a group there must be only __________ identity  element.</a:t>
            </a:r>
            <a:br>
              <a:rPr lang="en-US" sz="2400" dirty="0"/>
            </a:br>
            <a:r>
              <a:rPr lang="en-US" sz="2400" dirty="0"/>
              <a:t>a) 1</a:t>
            </a:r>
            <a:br>
              <a:rPr lang="en-US" sz="2400" dirty="0"/>
            </a:br>
            <a:r>
              <a:rPr lang="en-US" sz="2400" dirty="0"/>
              <a:t>b) 2</a:t>
            </a:r>
            <a:br>
              <a:rPr lang="en-US" sz="2400" dirty="0"/>
            </a:br>
            <a:r>
              <a:rPr lang="en-US" sz="2400" dirty="0"/>
              <a:t>c) 3</a:t>
            </a:r>
            <a:br>
              <a:rPr lang="en-US" sz="2400" dirty="0"/>
            </a:br>
            <a:r>
              <a:rPr lang="en-US" sz="2400" dirty="0"/>
              <a:t>d) 5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IN" sz="2400" dirty="0"/>
              <a:t>a)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1</a:t>
            </a:r>
          </a:p>
        </p:txBody>
      </p:sp>
    </p:spTree>
    <p:extLst>
      <p:ext uri="{BB962C8B-B14F-4D97-AF65-F5344CB8AC3E}">
        <p14:creationId xmlns:p14="http://schemas.microsoft.com/office/powerpoint/2010/main" val="1437087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219200" y="1295400"/>
            <a:ext cx="89286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Let * be the binary operation on the rational number given by a*b=</a:t>
            </a:r>
            <a:r>
              <a:rPr lang="en-US" sz="2400" dirty="0" err="1"/>
              <a:t>a+b+ab</a:t>
            </a:r>
            <a:r>
              <a:rPr lang="en-US" sz="2400" dirty="0"/>
              <a:t>. Which of the following property does not exist for the group?</a:t>
            </a:r>
            <a:br>
              <a:rPr lang="en-US" sz="2400" dirty="0"/>
            </a:br>
            <a:r>
              <a:rPr lang="en-US" sz="2400" dirty="0"/>
              <a:t>a) closure property</a:t>
            </a:r>
            <a:br>
              <a:rPr lang="en-US" sz="2400" dirty="0"/>
            </a:br>
            <a:r>
              <a:rPr lang="en-US" sz="2400" dirty="0"/>
              <a:t>b) identity property</a:t>
            </a:r>
            <a:br>
              <a:rPr lang="en-US" sz="2400" dirty="0"/>
            </a:br>
            <a:r>
              <a:rPr lang="en-US" sz="2400" dirty="0"/>
              <a:t>c) symmetric property</a:t>
            </a:r>
            <a:br>
              <a:rPr lang="en-US" sz="2400" dirty="0"/>
            </a:br>
            <a:r>
              <a:rPr lang="en-US" sz="2400" dirty="0"/>
              <a:t>d) associative property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b) </a:t>
            </a:r>
          </a:p>
          <a:p>
            <a:endParaRPr lang="en-IN" sz="2400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2</a:t>
            </a:r>
          </a:p>
        </p:txBody>
      </p:sp>
    </p:spTree>
    <p:extLst>
      <p:ext uri="{BB962C8B-B14F-4D97-AF65-F5344CB8AC3E}">
        <p14:creationId xmlns:p14="http://schemas.microsoft.com/office/powerpoint/2010/main" val="3627179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04589-BD54-45D9-A84C-DE8A3A67047B}"/>
              </a:ext>
            </a:extLst>
          </p:cNvPr>
          <p:cNvSpPr txBox="1"/>
          <p:nvPr/>
        </p:nvSpPr>
        <p:spPr>
          <a:xfrm>
            <a:off x="4470400" y="2514601"/>
            <a:ext cx="33528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67" b="1" dirty="0">
                <a:solidFill>
                  <a:srgbClr val="92D050"/>
                </a:solidFill>
                <a:latin typeface="Century Gothic" panose="020B0502020202020204" pitchFamily="34" charset="0"/>
              </a:rPr>
              <a:t>Semi Group</a:t>
            </a:r>
          </a:p>
        </p:txBody>
      </p:sp>
    </p:spTree>
    <p:extLst>
      <p:ext uri="{BB962C8B-B14F-4D97-AF65-F5344CB8AC3E}">
        <p14:creationId xmlns:p14="http://schemas.microsoft.com/office/powerpoint/2010/main" val="25026220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3">
            <a:extLst>
              <a:ext uri="{FF2B5EF4-FFF2-40B4-BE49-F238E27FC236}">
                <a16:creationId xmlns:a16="http://schemas.microsoft.com/office/drawing/2014/main" id="{B64BEFB2-82DF-4BA6-A0A3-FF7586EBD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2" y="8382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8195" name="TextBox 5">
            <a:extLst>
              <a:ext uri="{FF2B5EF4-FFF2-40B4-BE49-F238E27FC236}">
                <a16:creationId xmlns:a16="http://schemas.microsoft.com/office/drawing/2014/main" id="{690100EB-5532-45AA-999B-3E6B53024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26180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Semi-group</a:t>
            </a:r>
          </a:p>
        </p:txBody>
      </p:sp>
      <p:sp>
        <p:nvSpPr>
          <p:cNvPr id="8196" name="TextBox 6">
            <a:extLst>
              <a:ext uri="{FF2B5EF4-FFF2-40B4-BE49-F238E27FC236}">
                <a16:creationId xmlns:a16="http://schemas.microsoft.com/office/drawing/2014/main" id="{10F952E0-99E7-4A01-A43F-A09953470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828802"/>
            <a:ext cx="78486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An algebraic structure (S, *) is called a semi-group if the following conditions are satisfied: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  <a:p>
            <a:pPr eaLnBrk="1" hangingPunct="1">
              <a:buFontTx/>
              <a:buAutoNum type="arabicParenR"/>
            </a:pPr>
            <a:r>
              <a:rPr lang="en-US" altLang="en-US">
                <a:latin typeface="Calibri" panose="020F0502020204030204" pitchFamily="34" charset="0"/>
              </a:rPr>
              <a:t>Closure property:</a:t>
            </a:r>
          </a:p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			</a:t>
            </a:r>
            <a:r>
              <a:rPr lang="en-IN" altLang="en-US">
                <a:latin typeface="Calibri" panose="020F0502020204030204" pitchFamily="34" charset="0"/>
              </a:rPr>
              <a:t>The binary operation * is closed operation, i.e.,</a:t>
            </a:r>
          </a:p>
          <a:p>
            <a:pPr eaLnBrk="1" hangingPunct="1"/>
            <a:r>
              <a:rPr lang="en-IN" altLang="en-US">
                <a:latin typeface="Calibri" panose="020F0502020204030204" pitchFamily="34" charset="0"/>
              </a:rPr>
              <a:t>				a * b ϵ S for all a, b ϵ S.</a:t>
            </a:r>
          </a:p>
          <a:p>
            <a:pPr eaLnBrk="1" hangingPunct="1"/>
            <a:endParaRPr lang="en-IN" altLang="en-US">
              <a:latin typeface="Calibri" panose="020F0502020204030204" pitchFamily="34" charset="0"/>
            </a:endParaRPr>
          </a:p>
          <a:p>
            <a:pPr eaLnBrk="1" hangingPunct="1"/>
            <a:r>
              <a:rPr lang="en-IN" altLang="en-US">
                <a:latin typeface="Calibri" panose="020F0502020204030204" pitchFamily="34" charset="0"/>
              </a:rPr>
              <a:t>2)	Associative Law:</a:t>
            </a:r>
          </a:p>
          <a:p>
            <a:pPr eaLnBrk="1" hangingPunct="1"/>
            <a:r>
              <a:rPr lang="en-IN" altLang="en-US">
                <a:latin typeface="Calibri" panose="020F0502020204030204" pitchFamily="34" charset="0"/>
              </a:rPr>
              <a:t>			The binary operation *  is an associative operation, i. e.,</a:t>
            </a:r>
          </a:p>
          <a:p>
            <a:pPr eaLnBrk="1" hangingPunct="1"/>
            <a:r>
              <a:rPr lang="en-IN" altLang="en-US">
                <a:latin typeface="Calibri" panose="020F0502020204030204" pitchFamily="34" charset="0"/>
              </a:rPr>
              <a:t>				a * (b * c) = (a *b ) * c for all a, b, c ϵ S.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  <a:p>
            <a:pPr eaLnBrk="1" hangingPunct="1"/>
            <a:endParaRPr lang="en-US" altLang="en-US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39452-9F05-4349-BF7F-920B4C843409}"/>
              </a:ext>
            </a:extLst>
          </p:cNvPr>
          <p:cNvSpPr/>
          <p:nvPr/>
        </p:nvSpPr>
        <p:spPr>
          <a:xfrm>
            <a:off x="508000" y="1295400"/>
            <a:ext cx="11176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an algebraic system (A, *), where A = {1, 3, 5, 7, 9....}, </a:t>
            </a:r>
          </a:p>
          <a:p>
            <a:r>
              <a:rPr lang="en-US" sz="2400" dirty="0"/>
              <a:t>the set of positive odd integers and * is a binary operation means multiplication. Determine whether (A, *) is a semi-group.</a:t>
            </a:r>
          </a:p>
          <a:p>
            <a:endParaRPr lang="en-US" sz="2400" dirty="0"/>
          </a:p>
          <a:p>
            <a:r>
              <a:rPr lang="en-US" sz="2400" dirty="0"/>
              <a:t>Solution: Closure Property: The operation * is a closed operation because multiplication of two +</a:t>
            </a:r>
            <a:r>
              <a:rPr lang="en-US" sz="2400" dirty="0" err="1"/>
              <a:t>ve</a:t>
            </a:r>
            <a:r>
              <a:rPr lang="en-US" sz="2400" dirty="0"/>
              <a:t> odd integers is a +</a:t>
            </a:r>
            <a:r>
              <a:rPr lang="en-US" sz="2400" dirty="0" err="1"/>
              <a:t>ve</a:t>
            </a:r>
            <a:r>
              <a:rPr lang="en-US" sz="2400" dirty="0"/>
              <a:t> odd number.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B43BA84-FBC6-4A7C-BBA6-EBE4C845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25082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08505-0AF9-4C07-B0C6-3D2A9DF6BF73}"/>
              </a:ext>
            </a:extLst>
          </p:cNvPr>
          <p:cNvSpPr/>
          <p:nvPr/>
        </p:nvSpPr>
        <p:spPr>
          <a:xfrm>
            <a:off x="609600" y="4038600"/>
            <a:ext cx="1066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Associative Property: The operation * is an associative operation on set A. Since every a, b, c ∈ A, we have</a:t>
            </a:r>
          </a:p>
          <a:p>
            <a:endParaRPr lang="en-US" sz="2400" dirty="0"/>
          </a:p>
          <a:p>
            <a:r>
              <a:rPr lang="en-US" sz="2400" dirty="0"/>
              <a:t>                (a * b) * c = a * (b * c)</a:t>
            </a:r>
          </a:p>
          <a:p>
            <a:endParaRPr lang="en-US" sz="2400" dirty="0"/>
          </a:p>
          <a:p>
            <a:r>
              <a:rPr lang="en-US" sz="2400" dirty="0"/>
              <a:t>Hence, the algebraic system (A, *), is a semigroup.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4894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FFFA80-D184-4E1C-BD19-6FE05D7C0FC0}"/>
              </a:ext>
            </a:extLst>
          </p:cNvPr>
          <p:cNvSpPr/>
          <p:nvPr/>
        </p:nvSpPr>
        <p:spPr>
          <a:xfrm>
            <a:off x="914400" y="1705452"/>
            <a:ext cx="1046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a semigroup (A, *) and let B ⊆ A. Then the system (B, *) is called a </a:t>
            </a:r>
            <a:r>
              <a:rPr lang="en-US" sz="2400" dirty="0" err="1"/>
              <a:t>subsemigroup</a:t>
            </a:r>
            <a:r>
              <a:rPr lang="en-US" sz="2400" dirty="0"/>
              <a:t> if the set B is closed under the operation *.</a:t>
            </a:r>
          </a:p>
          <a:p>
            <a:endParaRPr lang="en-US" sz="2400" dirty="0"/>
          </a:p>
          <a:p>
            <a:r>
              <a:rPr lang="en-US" sz="2400" dirty="0"/>
              <a:t>Example: Consider a semigroup (N, +), where N is the set of all natural numbers and + is an addition operation. The algebraic system (E, +) is a </a:t>
            </a:r>
            <a:r>
              <a:rPr lang="en-US" sz="2400" dirty="0" err="1"/>
              <a:t>subsemigroup</a:t>
            </a:r>
            <a:r>
              <a:rPr lang="en-US" sz="2400" dirty="0"/>
              <a:t> of (N, +), where E is a set of +</a:t>
            </a:r>
            <a:r>
              <a:rPr lang="en-US" sz="2400" dirty="0" err="1"/>
              <a:t>ve</a:t>
            </a:r>
            <a:r>
              <a:rPr lang="en-US" sz="2400" dirty="0"/>
              <a:t> even integers.</a:t>
            </a:r>
            <a:endParaRPr lang="en-IN" sz="24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0789070-D57B-4C16-86F0-6DE2AD8CB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26180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 err="1">
                <a:solidFill>
                  <a:srgbClr val="C00000"/>
                </a:solidFill>
                <a:latin typeface="Calibri" panose="020F0502020204030204" pitchFamily="34" charset="0"/>
              </a:rPr>
              <a:t>SubSemi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-group</a:t>
            </a:r>
          </a:p>
        </p:txBody>
      </p:sp>
    </p:spTree>
    <p:extLst>
      <p:ext uri="{BB962C8B-B14F-4D97-AF65-F5344CB8AC3E}">
        <p14:creationId xmlns:p14="http://schemas.microsoft.com/office/powerpoint/2010/main" val="2497368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C6876-2CCA-4DE6-8A0D-577C6AA7BDE1}"/>
              </a:ext>
            </a:extLst>
          </p:cNvPr>
          <p:cNvSpPr/>
          <p:nvPr/>
        </p:nvSpPr>
        <p:spPr>
          <a:xfrm>
            <a:off x="1117600" y="1498601"/>
            <a:ext cx="10566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a non empty set A = {a1,a2,.....an}.</a:t>
            </a:r>
          </a:p>
          <a:p>
            <a:endParaRPr lang="en-US" sz="2400" dirty="0"/>
          </a:p>
          <a:p>
            <a:r>
              <a:rPr lang="en-US" sz="2400" dirty="0"/>
              <a:t>Now, A* is the set of all finite sequences of elements of A, i.e., A* consist of all words that can be formed from the alphabet of A.</a:t>
            </a:r>
          </a:p>
          <a:p>
            <a:endParaRPr lang="en-US" sz="2400" dirty="0"/>
          </a:p>
          <a:p>
            <a:r>
              <a:rPr lang="en-US" sz="2400" dirty="0"/>
              <a:t>If α,β,</a:t>
            </a:r>
            <a:r>
              <a:rPr lang="en-US" sz="2400" dirty="0" err="1"/>
              <a:t>and,γ</a:t>
            </a:r>
            <a:r>
              <a:rPr lang="en-US" sz="2400" dirty="0"/>
              <a:t> are any elements of A*, then α,(β. γ)=( α.β).γ.</a:t>
            </a:r>
          </a:p>
          <a:p>
            <a:endParaRPr lang="en-US" sz="2400" dirty="0"/>
          </a:p>
          <a:p>
            <a:r>
              <a:rPr lang="en-US" sz="2400" dirty="0"/>
              <a:t>Here ° is a concatenation operation, which is an associative operation as shown above.</a:t>
            </a:r>
          </a:p>
          <a:p>
            <a:endParaRPr lang="en-US" sz="2400" dirty="0"/>
          </a:p>
          <a:p>
            <a:r>
              <a:rPr lang="en-US" sz="2400" dirty="0"/>
              <a:t>Thus (A*,°) is a semigroup. This semigroup (A*,°) is called the free semigroup generated by set A.</a:t>
            </a:r>
            <a:endParaRPr lang="en-IN" sz="24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4D0E6B6-E928-49F7-92C4-E4F79E1A0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26180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Free Semi-group</a:t>
            </a:r>
          </a:p>
        </p:txBody>
      </p:sp>
    </p:spTree>
    <p:extLst>
      <p:ext uri="{BB962C8B-B14F-4D97-AF65-F5344CB8AC3E}">
        <p14:creationId xmlns:p14="http://schemas.microsoft.com/office/powerpoint/2010/main" val="1029681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Box 3">
            <a:extLst>
              <a:ext uri="{FF2B5EF4-FFF2-40B4-BE49-F238E27FC236}">
                <a16:creationId xmlns:a16="http://schemas.microsoft.com/office/drawing/2014/main" id="{685177D3-01E7-4DC3-B535-D224C48A0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2" y="8382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175107" name="TextBox 5">
            <a:extLst>
              <a:ext uri="{FF2B5EF4-FFF2-40B4-BE49-F238E27FC236}">
                <a16:creationId xmlns:a16="http://schemas.microsoft.com/office/drawing/2014/main" id="{8E20670E-5E0D-4004-B302-659D2EBA7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6708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Monoid</a:t>
            </a:r>
          </a:p>
        </p:txBody>
      </p:sp>
      <p:sp>
        <p:nvSpPr>
          <p:cNvPr id="175108" name="TextBox 6">
            <a:extLst>
              <a:ext uri="{FF2B5EF4-FFF2-40B4-BE49-F238E27FC236}">
                <a16:creationId xmlns:a16="http://schemas.microsoft.com/office/drawing/2014/main" id="{2ECFF6F0-71A6-4CA2-A6F4-AB17D445E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447800"/>
            <a:ext cx="784860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An algebraic structure (S, *) is called a monoid if the following conditions are satisfied:</a:t>
            </a:r>
          </a:p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  <a:p>
            <a:pPr eaLnBrk="1" hangingPunct="1">
              <a:buFontTx/>
              <a:buAutoNum type="arabicParenR"/>
            </a:pPr>
            <a:r>
              <a:rPr lang="en-US" altLang="en-US" dirty="0">
                <a:latin typeface="Calibri" panose="020F0502020204030204" pitchFamily="34" charset="0"/>
              </a:rPr>
              <a:t>Closure property: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			</a:t>
            </a:r>
            <a:r>
              <a:rPr lang="en-IN" altLang="en-US" dirty="0">
                <a:latin typeface="Calibri" panose="020F0502020204030204" pitchFamily="34" charset="0"/>
              </a:rPr>
              <a:t>The binary operation * is closed operation, i.e.,</a:t>
            </a: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				a * b ϵ S for all a, b ϵ S.</a:t>
            </a:r>
          </a:p>
          <a:p>
            <a:pPr eaLnBrk="1" hangingPunct="1"/>
            <a:endParaRPr lang="en-IN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2)	Associative Law:</a:t>
            </a: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			The binary operation *  is an associative operation, </a:t>
            </a:r>
            <a:r>
              <a:rPr lang="en-IN" altLang="en-US" dirty="0" err="1">
                <a:latin typeface="Calibri" panose="020F0502020204030204" pitchFamily="34" charset="0"/>
              </a:rPr>
              <a:t>i</a:t>
            </a:r>
            <a:r>
              <a:rPr lang="en-IN" altLang="en-US" dirty="0">
                <a:latin typeface="Calibri" panose="020F0502020204030204" pitchFamily="34" charset="0"/>
              </a:rPr>
              <a:t>. e.,</a:t>
            </a: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				a * (b * c) = (a *b ) * c for all a, b, c ϵ S.</a:t>
            </a:r>
          </a:p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3)	Identity element:</a:t>
            </a: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			There exists an identity element. i.e.,</a:t>
            </a:r>
          </a:p>
          <a:p>
            <a:pPr eaLnBrk="1" hangingPunct="1"/>
            <a:r>
              <a:rPr lang="en-IN" altLang="en-US" dirty="0">
                <a:latin typeface="Calibri" panose="020F0502020204030204" pitchFamily="34" charset="0"/>
              </a:rPr>
              <a:t>			for some e ϵ S, e * a = a * e = a ϵ S</a:t>
            </a:r>
          </a:p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Thus a monoid is a semi-group which has an identity element.</a:t>
            </a:r>
          </a:p>
          <a:p>
            <a:pPr eaLnBrk="1" hangingPunct="1"/>
            <a:endParaRPr lang="en-US" altLang="en-US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Box 3">
            <a:extLst>
              <a:ext uri="{FF2B5EF4-FFF2-40B4-BE49-F238E27FC236}">
                <a16:creationId xmlns:a16="http://schemas.microsoft.com/office/drawing/2014/main" id="{6B6B8DFF-2123-4BFF-BFC2-32358DD4B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2" y="8382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94211" name="TextBox 5">
            <a:extLst>
              <a:ext uri="{FF2B5EF4-FFF2-40B4-BE49-F238E27FC236}">
                <a16:creationId xmlns:a16="http://schemas.microsoft.com/office/drawing/2014/main" id="{2FAE2072-8263-4375-BFCD-20E0BCCD1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45758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  <p:sp>
        <p:nvSpPr>
          <p:cNvPr id="94212" name="TextBox 6">
            <a:extLst>
              <a:ext uri="{FF2B5EF4-FFF2-40B4-BE49-F238E27FC236}">
                <a16:creationId xmlns:a16="http://schemas.microsoft.com/office/drawing/2014/main" id="{5361C84D-2A6F-42E4-A0BD-B4722B390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497140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	If  Z be the set of integers, then (Z, +) and (Z, .) are semi-groups</a:t>
            </a:r>
          </a:p>
          <a:p>
            <a:pPr eaLnBrk="1" hangingPunct="1"/>
            <a:r>
              <a:rPr lang="en-US" altLang="en-US"/>
              <a:t>	as these two operations are closed and associative in Z.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	The structure (Z, +) is a monoid with identity element 0 and (Z, .) is a monoid with 1 as identity element.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BA587F-BC37-4D31-A9C1-81A1D6900646}"/>
              </a:ext>
            </a:extLst>
          </p:cNvPr>
          <p:cNvSpPr/>
          <p:nvPr/>
        </p:nvSpPr>
        <p:spPr>
          <a:xfrm>
            <a:off x="457200" y="1498601"/>
            <a:ext cx="11277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an algebraic system (N, +), where the set N = {0, 1, 2, 3, 4...}.The set of natural numbers and + is an addition operation. Determine whether (N, +) is a monoid.</a:t>
            </a:r>
          </a:p>
          <a:p>
            <a:endParaRPr lang="en-US" sz="2400" dirty="0"/>
          </a:p>
          <a:p>
            <a:r>
              <a:rPr lang="en-US" sz="2400" dirty="0"/>
              <a:t>Solution: (a) Closure Property: The operation + is closed since the sum of two natural numbers.</a:t>
            </a:r>
          </a:p>
          <a:p>
            <a:endParaRPr lang="en-US" sz="2400" dirty="0"/>
          </a:p>
          <a:p>
            <a:r>
              <a:rPr lang="en-US" sz="2400" dirty="0"/>
              <a:t>(b)Associative Property: The operation + is an associative property since we have (</a:t>
            </a:r>
            <a:r>
              <a:rPr lang="en-US" sz="2400" dirty="0" err="1"/>
              <a:t>a+b</a:t>
            </a:r>
            <a:r>
              <a:rPr lang="en-US" sz="2400" dirty="0"/>
              <a:t>)+c=a+(</a:t>
            </a:r>
            <a:r>
              <a:rPr lang="en-US" sz="2400" dirty="0" err="1"/>
              <a:t>b+c</a:t>
            </a:r>
            <a:r>
              <a:rPr lang="en-US" sz="2400" dirty="0"/>
              <a:t>) ∀ a, b, c ∈ N.</a:t>
            </a:r>
          </a:p>
          <a:p>
            <a:endParaRPr lang="en-US" sz="2400" dirty="0"/>
          </a:p>
          <a:p>
            <a:r>
              <a:rPr lang="en-US" sz="2400" dirty="0"/>
              <a:t>(c)Identity: There exists an identity element in set N the operation +. The element 0 is an identity element, i.e., the operation +. Since the operation + is a closed, associative and there exists an identity. Hence, the algebraic system (N, +) is a monoid.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B7EE5D-0131-4684-8FDB-FFF93D7A4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25082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203522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00AFB4-04B3-48B7-8BC0-99421A031574}"/>
              </a:ext>
            </a:extLst>
          </p:cNvPr>
          <p:cNvSpPr/>
          <p:nvPr/>
        </p:nvSpPr>
        <p:spPr>
          <a:xfrm>
            <a:off x="1016000" y="2108200"/>
            <a:ext cx="1016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 us consider a monoid (M, o), also let S ⊆M. Then (S, o) is called a </a:t>
            </a:r>
            <a:r>
              <a:rPr lang="en-US" sz="2400" dirty="0" err="1"/>
              <a:t>submonoid</a:t>
            </a:r>
            <a:r>
              <a:rPr lang="en-US" sz="2400" dirty="0"/>
              <a:t> of (M, o), if and only if it satisfies the following properties:</a:t>
            </a:r>
          </a:p>
          <a:p>
            <a:endParaRPr lang="en-US" sz="2400" dirty="0"/>
          </a:p>
          <a:p>
            <a:r>
              <a:rPr lang="en-US" sz="2400" dirty="0"/>
              <a:t>S is closed under the operation o.</a:t>
            </a:r>
          </a:p>
          <a:p>
            <a:r>
              <a:rPr lang="en-US" sz="2400" dirty="0"/>
              <a:t>There exists an identity element e ∈ S.</a:t>
            </a:r>
          </a:p>
          <a:p>
            <a:r>
              <a:rPr lang="en-US" sz="2400" dirty="0"/>
              <a:t>Example: Let us consider, a monoid (M, *), where * is a binary operation and M is a set of all integers. Then (M1, *) is a </a:t>
            </a:r>
            <a:r>
              <a:rPr lang="en-US" sz="2400" dirty="0" err="1"/>
              <a:t>submonoid</a:t>
            </a:r>
            <a:r>
              <a:rPr lang="en-US" sz="2400" dirty="0"/>
              <a:t> of (M, *) where M1 is defined as M1={ai : </a:t>
            </a:r>
            <a:r>
              <a:rPr lang="en-US" sz="2400" dirty="0" err="1"/>
              <a:t>i</a:t>
            </a:r>
            <a:r>
              <a:rPr lang="en-US" sz="2400" dirty="0"/>
              <a:t> is from 0 to n, a positive integer, and </a:t>
            </a:r>
            <a:r>
              <a:rPr lang="en-US" sz="2400" dirty="0" err="1"/>
              <a:t>a∈M</a:t>
            </a:r>
            <a:r>
              <a:rPr lang="en-US" sz="2400" dirty="0"/>
              <a:t>}.</a:t>
            </a:r>
            <a:endParaRPr lang="en-IN" sz="24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1BBF08-C6A0-441E-AB50-6A251E769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6708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 err="1">
                <a:solidFill>
                  <a:srgbClr val="C00000"/>
                </a:solidFill>
                <a:latin typeface="Calibri" panose="020F0502020204030204" pitchFamily="34" charset="0"/>
              </a:rPr>
              <a:t>SubMonoid</a:t>
            </a:r>
            <a:endParaRPr lang="en-US" alt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1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Text Box 4">
            <a:extLst>
              <a:ext uri="{FF2B5EF4-FFF2-40B4-BE49-F238E27FC236}">
                <a16:creationId xmlns:a16="http://schemas.microsoft.com/office/drawing/2014/main" id="{0426A959-3800-4F7C-85DB-C4E0FD44A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2298702"/>
            <a:ext cx="76358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Note that every group (G, *) is a semi group. A semi group (s, *) is commutative if * is commutative i.e. a *b = b*a a for all a,b </a:t>
            </a:r>
            <a:r>
              <a:rPr lang="el-GR" altLang="en-US">
                <a:cs typeface="Arial" panose="020B0604020202020204" pitchFamily="34" charset="0"/>
              </a:rPr>
              <a:t>ϵ</a:t>
            </a:r>
            <a:r>
              <a:rPr lang="en-US" altLang="en-US">
                <a:cs typeface="Arial" panose="020B0604020202020204" pitchFamily="34" charset="0"/>
              </a:rPr>
              <a:t> S. A semi group (S, *) which is not commutative is called not-commutative. The set of integer (z, +) and (Z, .) are commutative semi groups, where the binary operation Z are usual addition and multiplication of integer. </a:t>
            </a:r>
            <a:endParaRPr lang="el-GR" altLang="en-US">
              <a:cs typeface="Arial" panose="020B0604020202020204" pitchFamily="34" charset="0"/>
            </a:endParaRPr>
          </a:p>
          <a:p>
            <a:endParaRPr lang="en-I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480318" y="1600200"/>
            <a:ext cx="89286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A monoid is called a group if _______</a:t>
            </a:r>
          </a:p>
          <a:p>
            <a:pPr fontAlgn="base"/>
            <a:r>
              <a:rPr lang="en-US" sz="2400" dirty="0"/>
              <a:t>a) (a*a)=a=(</a:t>
            </a:r>
            <a:r>
              <a:rPr lang="en-US" sz="2400" dirty="0" err="1"/>
              <a:t>a+c</a:t>
            </a:r>
            <a:r>
              <a:rPr lang="en-US" sz="2400" dirty="0"/>
              <a:t>)</a:t>
            </a:r>
          </a:p>
          <a:p>
            <a:pPr fontAlgn="base"/>
            <a:r>
              <a:rPr lang="en-US" sz="2400" dirty="0"/>
              <a:t>b) (a*c)=(</a:t>
            </a:r>
            <a:r>
              <a:rPr lang="en-US" sz="2400" dirty="0" err="1"/>
              <a:t>a+c</a:t>
            </a:r>
            <a:r>
              <a:rPr lang="en-US" sz="2400" dirty="0"/>
              <a:t>)</a:t>
            </a:r>
          </a:p>
          <a:p>
            <a:pPr fontAlgn="base"/>
            <a:r>
              <a:rPr lang="en-US" sz="2400" dirty="0"/>
              <a:t>c) (</a:t>
            </a:r>
            <a:r>
              <a:rPr lang="en-US" sz="2400" dirty="0" err="1"/>
              <a:t>a+c</a:t>
            </a:r>
            <a:r>
              <a:rPr lang="en-US" sz="2400" dirty="0"/>
              <a:t>)=a</a:t>
            </a:r>
          </a:p>
          <a:p>
            <a:pPr fontAlgn="base"/>
            <a:r>
              <a:rPr lang="en-US" sz="2400" dirty="0"/>
              <a:t>d) (a*c)=(c*a)=e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IN" sz="2400" dirty="0"/>
              <a:t>d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1</a:t>
            </a:r>
          </a:p>
        </p:txBody>
      </p:sp>
    </p:spTree>
    <p:extLst>
      <p:ext uri="{BB962C8B-B14F-4D97-AF65-F5344CB8AC3E}">
        <p14:creationId xmlns:p14="http://schemas.microsoft.com/office/powerpoint/2010/main" val="19448817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727200" y="1397000"/>
            <a:ext cx="89286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The set of odd and even positive integers closed under multiplication is ________</a:t>
            </a:r>
            <a:br>
              <a:rPr lang="en-US" sz="2400" dirty="0"/>
            </a:br>
            <a:r>
              <a:rPr lang="en-US" sz="2400" dirty="0"/>
              <a:t>a) a free semigroup of (M, ×)</a:t>
            </a:r>
            <a:br>
              <a:rPr lang="en-US" sz="2400" dirty="0"/>
            </a:br>
            <a:r>
              <a:rPr lang="en-US" sz="2400" dirty="0"/>
              <a:t>b) a </a:t>
            </a:r>
            <a:r>
              <a:rPr lang="en-US" sz="2400" dirty="0" err="1"/>
              <a:t>subsemigroup</a:t>
            </a:r>
            <a:r>
              <a:rPr lang="en-US" sz="2400" dirty="0"/>
              <a:t> of (M, ×)</a:t>
            </a:r>
            <a:br>
              <a:rPr lang="en-US" sz="2400" dirty="0"/>
            </a:br>
            <a:r>
              <a:rPr lang="en-US" sz="2400" dirty="0"/>
              <a:t>c) a semigroup of (M, ×)</a:t>
            </a:r>
            <a:br>
              <a:rPr lang="en-US" sz="2400" dirty="0"/>
            </a:br>
            <a:r>
              <a:rPr lang="en-US" sz="2400" dirty="0"/>
              <a:t>d) a subgroup of (M, ×)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b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2</a:t>
            </a:r>
          </a:p>
        </p:txBody>
      </p:sp>
    </p:spTree>
    <p:extLst>
      <p:ext uri="{BB962C8B-B14F-4D97-AF65-F5344CB8AC3E}">
        <p14:creationId xmlns:p14="http://schemas.microsoft.com/office/powerpoint/2010/main" val="656770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04589-BD54-45D9-A84C-DE8A3A67047B}"/>
              </a:ext>
            </a:extLst>
          </p:cNvPr>
          <p:cNvSpPr txBox="1"/>
          <p:nvPr/>
        </p:nvSpPr>
        <p:spPr>
          <a:xfrm>
            <a:off x="4470400" y="2514600"/>
            <a:ext cx="3352800" cy="140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67" b="1" dirty="0">
                <a:solidFill>
                  <a:srgbClr val="92D050"/>
                </a:solidFill>
                <a:latin typeface="Century Gothic" panose="020B0502020202020204" pitchFamily="34" charset="0"/>
              </a:rPr>
              <a:t>Properties of groups</a:t>
            </a:r>
          </a:p>
        </p:txBody>
      </p:sp>
    </p:spTree>
    <p:extLst>
      <p:ext uri="{BB962C8B-B14F-4D97-AF65-F5344CB8AC3E}">
        <p14:creationId xmlns:p14="http://schemas.microsoft.com/office/powerpoint/2010/main" val="45460897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EA183C-9E65-4EE1-96FC-DE3905C27F14}"/>
              </a:ext>
            </a:extLst>
          </p:cNvPr>
          <p:cNvSpPr/>
          <p:nvPr/>
        </p:nvSpPr>
        <p:spPr>
          <a:xfrm>
            <a:off x="1524000" y="1397001"/>
            <a:ext cx="9956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buAutoNum type="arabicPeriod"/>
            </a:pPr>
            <a:r>
              <a:rPr lang="en-US" sz="2400" dirty="0"/>
              <a:t>Statement: - In a Group G, there is only one identity element (uniqueness of identity)</a:t>
            </a:r>
          </a:p>
          <a:p>
            <a:endParaRPr lang="en-US" sz="2400" dirty="0"/>
          </a:p>
          <a:p>
            <a:r>
              <a:rPr lang="en-US" sz="2400" dirty="0"/>
              <a:t> Proof: - let e and e' are two identities in G and let a ∈ G</a:t>
            </a:r>
          </a:p>
          <a:p>
            <a:endParaRPr lang="en-US" sz="2400" dirty="0"/>
          </a:p>
          <a:p>
            <a:r>
              <a:rPr lang="en-US" sz="2400" dirty="0"/>
              <a:t>∴ ae = a ⟶(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</a:p>
          <a:p>
            <a:r>
              <a:rPr lang="en-US" sz="2400" dirty="0"/>
              <a:t>∴ ae' = a ⟶(ii)</a:t>
            </a:r>
          </a:p>
          <a:p>
            <a:endParaRPr lang="en-US" sz="2400" dirty="0"/>
          </a:p>
          <a:p>
            <a:r>
              <a:rPr lang="en-US" sz="2400" dirty="0"/>
              <a:t>R.H.S of (</a:t>
            </a:r>
            <a:r>
              <a:rPr lang="en-US" sz="2400" dirty="0" err="1"/>
              <a:t>i</a:t>
            </a:r>
            <a:r>
              <a:rPr lang="en-US" sz="2400" dirty="0"/>
              <a:t>) and (ii) are equal ⇒ae =ae'</a:t>
            </a:r>
          </a:p>
          <a:p>
            <a:endParaRPr lang="en-US" sz="2400" dirty="0"/>
          </a:p>
          <a:p>
            <a:r>
              <a:rPr lang="en-US" sz="2400" dirty="0"/>
              <a:t>Thus by the left cancellation law, we obtain e= e'</a:t>
            </a:r>
          </a:p>
          <a:p>
            <a:endParaRPr lang="en-US" sz="2400" dirty="0"/>
          </a:p>
          <a:p>
            <a:r>
              <a:rPr lang="en-US" sz="2400" dirty="0"/>
              <a:t>There is only one identity element in G for any a ∈ G. Hence the theorem is proved.</a:t>
            </a:r>
            <a:endParaRPr lang="en-IN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1932F1-374D-46B7-B014-4388FD4F7667}"/>
              </a:ext>
            </a:extLst>
          </p:cNvPr>
          <p:cNvSpPr/>
          <p:nvPr/>
        </p:nvSpPr>
        <p:spPr>
          <a:xfrm>
            <a:off x="1219200" y="1397001"/>
            <a:ext cx="10668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2. Statement: - For each element a in a group G, there is a unique element b in G such that ab= </a:t>
            </a:r>
            <a:r>
              <a:rPr lang="en-IN" sz="2400" dirty="0" err="1"/>
              <a:t>ba</a:t>
            </a:r>
            <a:r>
              <a:rPr lang="en-IN" sz="2400" dirty="0"/>
              <a:t>=e (uniqueness if inverses)</a:t>
            </a:r>
          </a:p>
          <a:p>
            <a:endParaRPr lang="en-IN" sz="2400" dirty="0"/>
          </a:p>
          <a:p>
            <a:r>
              <a:rPr lang="en-IN" sz="2400" dirty="0"/>
              <a:t>Proof: - let b and c are both inverses of a </a:t>
            </a:r>
            <a:r>
              <a:rPr lang="en-IN" sz="2400" dirty="0" err="1"/>
              <a:t>a</a:t>
            </a:r>
            <a:r>
              <a:rPr lang="en-IN" sz="2400" dirty="0"/>
              <a:t>∈ G</a:t>
            </a:r>
          </a:p>
          <a:p>
            <a:endParaRPr lang="en-IN" sz="2400" dirty="0"/>
          </a:p>
          <a:p>
            <a:r>
              <a:rPr lang="en-IN" sz="2400" dirty="0"/>
              <a:t>Then ab = e and ac = e</a:t>
            </a:r>
          </a:p>
          <a:p>
            <a:r>
              <a:rPr lang="en-IN" sz="2400" dirty="0"/>
              <a:t>∵ c = </a:t>
            </a:r>
            <a:r>
              <a:rPr lang="en-IN" sz="2400" dirty="0" err="1"/>
              <a:t>ce</a:t>
            </a:r>
            <a:r>
              <a:rPr lang="en-IN" sz="2400" dirty="0"/>
              <a:t> {existence of identity element}</a:t>
            </a:r>
          </a:p>
          <a:p>
            <a:r>
              <a:rPr lang="en-IN" sz="2400" dirty="0"/>
              <a:t>⟹ c = c (ab) {∵ ab = e}</a:t>
            </a:r>
          </a:p>
          <a:p>
            <a:r>
              <a:rPr lang="en-IN" sz="2400" dirty="0"/>
              <a:t>⟹ c = (c a) b</a:t>
            </a:r>
          </a:p>
          <a:p>
            <a:r>
              <a:rPr lang="en-IN" sz="2400" dirty="0"/>
              <a:t>⟹ c = (ac) b { ∵ ac = ca}</a:t>
            </a:r>
          </a:p>
          <a:p>
            <a:r>
              <a:rPr lang="en-IN" sz="2400" dirty="0"/>
              <a:t>⟹ c = eb</a:t>
            </a:r>
          </a:p>
          <a:p>
            <a:r>
              <a:rPr lang="en-IN" sz="2400" dirty="0"/>
              <a:t>⟹ c = b { ∵ b = eb}</a:t>
            </a:r>
          </a:p>
          <a:p>
            <a:endParaRPr lang="en-IN" sz="2400" dirty="0"/>
          </a:p>
          <a:p>
            <a:r>
              <a:rPr lang="en-IN" sz="2400" dirty="0"/>
              <a:t>Hence inverse of a G is unique.</a:t>
            </a:r>
          </a:p>
        </p:txBody>
      </p:sp>
    </p:spTree>
    <p:extLst>
      <p:ext uri="{BB962C8B-B14F-4D97-AF65-F5344CB8AC3E}">
        <p14:creationId xmlns:p14="http://schemas.microsoft.com/office/powerpoint/2010/main" val="4078058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6A674-CFF4-4EA9-81B9-D346C271F224}"/>
              </a:ext>
            </a:extLst>
          </p:cNvPr>
          <p:cNvSpPr/>
          <p:nvPr/>
        </p:nvSpPr>
        <p:spPr>
          <a:xfrm>
            <a:off x="3048000" y="1705452"/>
            <a:ext cx="711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3. Statement: - In a Group G,(a</a:t>
            </a:r>
            <a:r>
              <a:rPr lang="en-US" sz="2400" baseline="30000" dirty="0"/>
              <a:t>-1</a:t>
            </a:r>
            <a:r>
              <a:rPr lang="en-US" sz="2400" dirty="0"/>
              <a:t>)</a:t>
            </a:r>
            <a:r>
              <a:rPr lang="en-US" sz="2400" baseline="30000" dirty="0"/>
              <a:t>-1</a:t>
            </a:r>
            <a:r>
              <a:rPr lang="en-US" sz="2400" dirty="0"/>
              <a:t>=a,∀ a∈ G</a:t>
            </a:r>
          </a:p>
          <a:p>
            <a:endParaRPr lang="en-US" sz="2400" dirty="0"/>
          </a:p>
          <a:p>
            <a:r>
              <a:rPr lang="en-US" sz="2400" dirty="0"/>
              <a:t>Proof: We have a a</a:t>
            </a:r>
            <a:r>
              <a:rPr lang="en-US" sz="2400" baseline="30000" dirty="0"/>
              <a:t>-1</a:t>
            </a:r>
            <a:r>
              <a:rPr lang="en-US" sz="2400" dirty="0"/>
              <a:t>=a</a:t>
            </a:r>
            <a:r>
              <a:rPr lang="en-US" sz="2400" baseline="30000" dirty="0"/>
              <a:t>-1</a:t>
            </a:r>
            <a:r>
              <a:rPr lang="en-US" sz="2400" dirty="0"/>
              <a:t> a=e</a:t>
            </a:r>
          </a:p>
          <a:p>
            <a:endParaRPr lang="en-US" sz="2400" dirty="0"/>
          </a:p>
          <a:p>
            <a:r>
              <a:rPr lang="en-US" sz="2400" dirty="0"/>
              <a:t>Where e is the identity element of G</a:t>
            </a:r>
          </a:p>
          <a:p>
            <a:endParaRPr lang="en-US" sz="2400" dirty="0"/>
          </a:p>
          <a:p>
            <a:r>
              <a:rPr lang="en-US" sz="2400" dirty="0"/>
              <a:t>Thus a is inverse of a</a:t>
            </a:r>
            <a:r>
              <a:rPr lang="en-US" sz="2400" baseline="30000" dirty="0"/>
              <a:t>-1</a:t>
            </a:r>
            <a:r>
              <a:rPr lang="en-US" sz="2400" dirty="0"/>
              <a:t>∈ G</a:t>
            </a:r>
          </a:p>
          <a:p>
            <a:endParaRPr lang="en-US" sz="2400" dirty="0"/>
          </a:p>
          <a:p>
            <a:r>
              <a:rPr lang="en-US" sz="2400" dirty="0"/>
              <a:t>i.e., (a</a:t>
            </a:r>
            <a:r>
              <a:rPr lang="en-US" sz="2400" baseline="30000" dirty="0"/>
              <a:t>-1</a:t>
            </a:r>
            <a:r>
              <a:rPr lang="en-US" sz="2400" dirty="0"/>
              <a:t>)</a:t>
            </a:r>
            <a:r>
              <a:rPr lang="en-US" sz="2400" baseline="30000" dirty="0"/>
              <a:t>-1</a:t>
            </a:r>
            <a:r>
              <a:rPr lang="en-US" sz="2400" dirty="0"/>
              <a:t>=a,∀ a∈ 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5707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383701-6453-4F7A-9BF1-523696681E9C}"/>
              </a:ext>
            </a:extLst>
          </p:cNvPr>
          <p:cNvSpPr/>
          <p:nvPr/>
        </p:nvSpPr>
        <p:spPr>
          <a:xfrm>
            <a:off x="1422400" y="1193801"/>
            <a:ext cx="9753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verdana" panose="020B0604030504040204" pitchFamily="34" charset="0"/>
              </a:rPr>
              <a:t>4. Statement: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In a Group G,(a b)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,∀ 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a,b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∈ G</a:t>
            </a:r>
          </a:p>
          <a:p>
            <a:r>
              <a:rPr lang="en-IN" sz="2400" b="1" dirty="0">
                <a:solidFill>
                  <a:srgbClr val="000000"/>
                </a:solidFill>
                <a:latin typeface="verdana" panose="020B0604030504040204" pitchFamily="34" charset="0"/>
              </a:rPr>
              <a:t>Proof: -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By associatively we have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-1)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ab=b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(a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a)b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)ab=b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(e)b         {∵a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a=e}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)ab=b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b         {∵eb=b}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)ab=e,         {∵b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b=e}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Similarly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(ab) 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)=a(b 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⟹(ab) 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)=a (e)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⟹(ab) 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)=a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⟹(ab) 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)=e         {∵aa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=e}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Thus ( 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)ab=(ab)(b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)=e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∴ 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is the inverse of ab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i.e., b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 (a b)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endParaRPr lang="en-IN" sz="24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351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D15A3-7993-4EAF-BCA7-DCD87D344C13}"/>
              </a:ext>
            </a:extLst>
          </p:cNvPr>
          <p:cNvSpPr/>
          <p:nvPr/>
        </p:nvSpPr>
        <p:spPr>
          <a:xfrm>
            <a:off x="863600" y="990601"/>
            <a:ext cx="10464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In a group G, the left and right cancellation laws hold i.e.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 ab = ac implies         b=c (ii) 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ba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=ca implies         b=c</a:t>
            </a:r>
          </a:p>
          <a:p>
            <a:r>
              <a:rPr lang="en-IN" sz="2400" b="1" dirty="0">
                <a:solidFill>
                  <a:srgbClr val="000000"/>
                </a:solidFill>
                <a:latin typeface="verdana" panose="020B0604030504040204" pitchFamily="34" charset="0"/>
              </a:rPr>
              <a:t>Proof</a:t>
            </a:r>
            <a:endParaRPr lang="en-IN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 Let ab=ac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Premultiplying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on both sides we get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(ab)=a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(ac)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 (a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a) b=(a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a)c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⟹eb=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ec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⟹b=c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Hence Proved.</a:t>
            </a:r>
          </a:p>
          <a:p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(ii) Let 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ba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=ca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Post-multiplying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on both sides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⟹(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ba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)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=(ca) 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⟹b(aa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)=c(aa</a:t>
            </a:r>
            <a:r>
              <a:rPr lang="en-IN" sz="2400" baseline="30000" dirty="0">
                <a:solidFill>
                  <a:srgbClr val="000000"/>
                </a:solidFill>
                <a:latin typeface="verdana" panose="020B0604030504040204" pitchFamily="34" charset="0"/>
              </a:rPr>
              <a:t>-1</a:t>
            </a: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)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⟹be=</a:t>
            </a:r>
            <a:r>
              <a:rPr lang="en-IN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ce</a:t>
            </a:r>
            <a:b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IN" sz="2400" dirty="0">
                <a:solidFill>
                  <a:srgbClr val="000000"/>
                </a:solidFill>
                <a:latin typeface="verdana" panose="020B0604030504040204" pitchFamily="34" charset="0"/>
              </a:rPr>
              <a:t>        ⟹b=c</a:t>
            </a:r>
          </a:p>
        </p:txBody>
      </p:sp>
    </p:spTree>
    <p:extLst>
      <p:ext uri="{BB962C8B-B14F-4D97-AF65-F5344CB8AC3E}">
        <p14:creationId xmlns:p14="http://schemas.microsoft.com/office/powerpoint/2010/main" val="2023813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79223F-E926-4CA8-AFC5-1B4F7171D22F}"/>
              </a:ext>
            </a:extLst>
          </p:cNvPr>
          <p:cNvSpPr/>
          <p:nvPr/>
        </p:nvSpPr>
        <p:spPr>
          <a:xfrm>
            <a:off x="1524000" y="1905001"/>
            <a:ext cx="965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group (G, *) is called a finite group if G is a finite set.</a:t>
            </a:r>
          </a:p>
          <a:p>
            <a:endParaRPr lang="en-US" sz="2400" dirty="0"/>
          </a:p>
          <a:p>
            <a:r>
              <a:rPr lang="en-US" sz="2400" dirty="0"/>
              <a:t>A group (G, *) is called a infinite group if G is an infinite set.</a:t>
            </a:r>
          </a:p>
          <a:p>
            <a:endParaRPr lang="en-US" sz="2400" dirty="0"/>
          </a:p>
          <a:p>
            <a:r>
              <a:rPr lang="en-US" sz="2400" dirty="0"/>
              <a:t>Example1: The group (I, +) is an infinite group as the set I of integers is an infinite set.</a:t>
            </a:r>
          </a:p>
          <a:p>
            <a:endParaRPr lang="en-US" sz="2400" dirty="0"/>
          </a:p>
          <a:p>
            <a:r>
              <a:rPr lang="en-US" sz="2400" dirty="0"/>
              <a:t>Example2: The group G = {1, 2, 3, 4, 5, 6, 7} under multiplication modulo 8 is a finite group as the set G is a finite set.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6F859-2419-47BF-8BFC-E68BC39D3609}"/>
              </a:ext>
            </a:extLst>
          </p:cNvPr>
          <p:cNvSpPr/>
          <p:nvPr/>
        </p:nvSpPr>
        <p:spPr>
          <a:xfrm>
            <a:off x="3860800" y="279401"/>
            <a:ext cx="35557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Finite and Infinite Group:</a:t>
            </a:r>
          </a:p>
        </p:txBody>
      </p:sp>
    </p:spTree>
    <p:extLst>
      <p:ext uri="{BB962C8B-B14F-4D97-AF65-F5344CB8AC3E}">
        <p14:creationId xmlns:p14="http://schemas.microsoft.com/office/powerpoint/2010/main" val="374191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4F6C05-FE59-4961-ACEA-CFAEDA6AAC34}"/>
              </a:ext>
            </a:extLst>
          </p:cNvPr>
          <p:cNvSpPr/>
          <p:nvPr/>
        </p:nvSpPr>
        <p:spPr>
          <a:xfrm>
            <a:off x="914400" y="1336120"/>
            <a:ext cx="10363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order of the group G is the number of elements in the group G. It is denoted by |G|. A group of order 1 has only the identity element, i.e., ({e} *).</a:t>
            </a:r>
          </a:p>
          <a:p>
            <a:endParaRPr lang="en-US" sz="2400" dirty="0"/>
          </a:p>
          <a:p>
            <a:r>
              <a:rPr lang="en-US" sz="2400" dirty="0"/>
              <a:t>A group of order 2 has two elements, i.e., one identity element and one some other element.</a:t>
            </a:r>
          </a:p>
          <a:p>
            <a:endParaRPr lang="en-US" sz="2400" dirty="0"/>
          </a:p>
          <a:p>
            <a:r>
              <a:rPr lang="en-US" sz="2400" dirty="0"/>
              <a:t>Example1: Let ({e, x}, *) be a group of order 2. The table of operation is shown in fig:</a:t>
            </a:r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BF6BCD-D74C-47EC-9119-0F03B3ED02FC}"/>
              </a:ext>
            </a:extLst>
          </p:cNvPr>
          <p:cNvSpPr/>
          <p:nvPr/>
        </p:nvSpPr>
        <p:spPr>
          <a:xfrm>
            <a:off x="4673600" y="27940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Order of Group: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D8F780-B133-4062-92D5-41E9C69A3F3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366260"/>
          <a:ext cx="9973056" cy="1584960"/>
        </p:xfrm>
        <a:graphic>
          <a:graphicData uri="http://schemas.openxmlformats.org/drawingml/2006/table">
            <a:tbl>
              <a:tblPr/>
              <a:tblGrid>
                <a:gridCol w="3324352">
                  <a:extLst>
                    <a:ext uri="{9D8B030D-6E8A-4147-A177-3AD203B41FA5}">
                      <a16:colId xmlns:a16="http://schemas.microsoft.com/office/drawing/2014/main" val="4215901383"/>
                    </a:ext>
                  </a:extLst>
                </a:gridCol>
                <a:gridCol w="3324352">
                  <a:extLst>
                    <a:ext uri="{9D8B030D-6E8A-4147-A177-3AD203B41FA5}">
                      <a16:colId xmlns:a16="http://schemas.microsoft.com/office/drawing/2014/main" val="1790293013"/>
                    </a:ext>
                  </a:extLst>
                </a:gridCol>
                <a:gridCol w="3324352">
                  <a:extLst>
                    <a:ext uri="{9D8B030D-6E8A-4147-A177-3AD203B41FA5}">
                      <a16:colId xmlns:a16="http://schemas.microsoft.com/office/drawing/2014/main" val="2563800136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*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x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87077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x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8133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x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x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</a:t>
                      </a:r>
                    </a:p>
                  </a:txBody>
                  <a:tcPr marL="81280" marR="81280" marT="81280" marB="8128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45645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1D197E9-FEB3-4C93-AF5E-8D261617E7B1}"/>
              </a:ext>
            </a:extLst>
          </p:cNvPr>
          <p:cNvSpPr/>
          <p:nvPr/>
        </p:nvSpPr>
        <p:spPr>
          <a:xfrm>
            <a:off x="6349" y="6008926"/>
            <a:ext cx="12801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group of order 3 has three elements i.e., one identity element and two other elements.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6602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320800" y="1600201"/>
            <a:ext cx="89286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__________ is not necessarily a property of a Group.</a:t>
            </a:r>
          </a:p>
          <a:p>
            <a:pPr fontAlgn="base"/>
            <a:r>
              <a:rPr lang="en-US" sz="2400" dirty="0"/>
              <a:t>a) Commutativity</a:t>
            </a:r>
          </a:p>
          <a:p>
            <a:pPr fontAlgn="base"/>
            <a:r>
              <a:rPr lang="en-US" sz="2400" dirty="0"/>
              <a:t>b) Existence of inverse for every element</a:t>
            </a:r>
          </a:p>
          <a:p>
            <a:pPr fontAlgn="base"/>
            <a:r>
              <a:rPr lang="en-US" sz="2400" dirty="0"/>
              <a:t>c) Existence of Identity</a:t>
            </a:r>
          </a:p>
          <a:p>
            <a:pPr fontAlgn="base"/>
            <a:r>
              <a:rPr lang="en-US" sz="2400" dirty="0"/>
              <a:t>d) Associativity</a:t>
            </a:r>
          </a:p>
          <a:p>
            <a:pPr fontAlgn="base"/>
            <a:endParaRPr lang="en-US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IN" sz="2400" dirty="0"/>
              <a:t>a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1</a:t>
            </a:r>
          </a:p>
        </p:txBody>
      </p:sp>
    </p:spTree>
    <p:extLst>
      <p:ext uri="{BB962C8B-B14F-4D97-AF65-F5344CB8AC3E}">
        <p14:creationId xmlns:p14="http://schemas.microsoft.com/office/powerpoint/2010/main" val="12352440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1320800" y="1336119"/>
            <a:ext cx="89286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A relation (34 × 78) × 57 = 57 × (78 × 34) can have __________ property.</a:t>
            </a:r>
            <a:br>
              <a:rPr lang="en-US" sz="2400" dirty="0"/>
            </a:br>
            <a:r>
              <a:rPr lang="en-US" sz="2400" dirty="0"/>
              <a:t>a) distributive</a:t>
            </a:r>
            <a:br>
              <a:rPr lang="en-US" sz="2400" dirty="0"/>
            </a:br>
            <a:r>
              <a:rPr lang="en-US" sz="2400" dirty="0"/>
              <a:t>b) associative</a:t>
            </a:r>
            <a:br>
              <a:rPr lang="en-US" sz="2400" dirty="0"/>
            </a:br>
            <a:r>
              <a:rPr lang="en-US" sz="2400" dirty="0"/>
              <a:t>c) commutative</a:t>
            </a:r>
            <a:br>
              <a:rPr lang="en-US" sz="2400" dirty="0"/>
            </a:br>
            <a:r>
              <a:rPr lang="en-US" sz="2400" dirty="0"/>
              <a:t>d) closure</a:t>
            </a:r>
          </a:p>
          <a:p>
            <a:pPr fontAlgn="base"/>
            <a:endParaRPr lang="en-US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b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2</a:t>
            </a:r>
          </a:p>
        </p:txBody>
      </p:sp>
    </p:spTree>
    <p:extLst>
      <p:ext uri="{BB962C8B-B14F-4D97-AF65-F5344CB8AC3E}">
        <p14:creationId xmlns:p14="http://schemas.microsoft.com/office/powerpoint/2010/main" val="11803340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04589-BD54-45D9-A84C-DE8A3A67047B}"/>
              </a:ext>
            </a:extLst>
          </p:cNvPr>
          <p:cNvSpPr txBox="1"/>
          <p:nvPr/>
        </p:nvSpPr>
        <p:spPr>
          <a:xfrm>
            <a:off x="4470400" y="2514601"/>
            <a:ext cx="33528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67" b="1" dirty="0">
                <a:solidFill>
                  <a:srgbClr val="92D050"/>
                </a:solidFill>
                <a:latin typeface="Century Gothic" panose="020B0502020202020204" pitchFamily="34" charset="0"/>
              </a:rPr>
              <a:t>Sub group</a:t>
            </a:r>
          </a:p>
        </p:txBody>
      </p:sp>
    </p:spTree>
    <p:extLst>
      <p:ext uri="{BB962C8B-B14F-4D97-AF65-F5344CB8AC3E}">
        <p14:creationId xmlns:p14="http://schemas.microsoft.com/office/powerpoint/2010/main" val="122692277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Text Box 4">
            <a:extLst>
              <a:ext uri="{FF2B5EF4-FFF2-40B4-BE49-F238E27FC236}">
                <a16:creationId xmlns:a16="http://schemas.microsoft.com/office/drawing/2014/main" id="{BA7191A0-4565-45EE-A601-0CC7558E4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50" y="1855788"/>
            <a:ext cx="765175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Let (G, *) be a group and H is a subset of G. (H, *) is said to be sub group of G if ( H,*) is also group of itself.</a:t>
            </a:r>
          </a:p>
          <a:p>
            <a:endParaRPr lang="en-US" altLang="en-US" dirty="0"/>
          </a:p>
          <a:p>
            <a:r>
              <a:rPr lang="en-US" altLang="en-US" dirty="0"/>
              <a:t>Now every set is a subset of itself. Therefore, if G is a group, then G itself is a subgroup of G. Also if e is the identity element of G. Then the sub set of G containing only identity element is also a sub group of G. </a:t>
            </a:r>
          </a:p>
          <a:p>
            <a:endParaRPr lang="en-US" altLang="en-US" dirty="0"/>
          </a:p>
          <a:p>
            <a:r>
              <a:rPr lang="en-US" altLang="en-US" dirty="0"/>
              <a:t>These two sub groups (G, *) and ({e}, *) of the group (G,*) are called improper or trivial subgroups , others are called proper or non trivial sub groups.</a:t>
            </a:r>
          </a:p>
          <a:p>
            <a:endParaRPr lang="en-IN" altLang="en-US" dirty="0"/>
          </a:p>
        </p:txBody>
      </p:sp>
      <p:sp>
        <p:nvSpPr>
          <p:cNvPr id="96261" name="TextBox 5">
            <a:extLst>
              <a:ext uri="{FF2B5EF4-FFF2-40B4-BE49-F238E27FC236}">
                <a16:creationId xmlns:a16="http://schemas.microsoft.com/office/drawing/2014/main" id="{D578BE87-66D6-4EFA-9BF1-AC4B58D58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Sub Groups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5E4D00-513D-4687-AB7C-013C98EE0223}"/>
              </a:ext>
            </a:extLst>
          </p:cNvPr>
          <p:cNvSpPr/>
          <p:nvPr/>
        </p:nvSpPr>
        <p:spPr>
          <a:xfrm>
            <a:off x="1930401" y="5054601"/>
            <a:ext cx="8839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subgroup H of a group G that does not include the whole group G is called a proper subgroup (Denoted by H&lt;G). A subgroup of a cyclic group is cyclic and an abelian subgroup is also abelian.</a:t>
            </a: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Text Box 4">
            <a:extLst>
              <a:ext uri="{FF2B5EF4-FFF2-40B4-BE49-F238E27FC236}">
                <a16:creationId xmlns:a16="http://schemas.microsoft.com/office/drawing/2014/main" id="{649F7C81-7849-44DC-8F0D-681F1DFAE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282826"/>
            <a:ext cx="79406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/>
              <a:t>The multi[licative group {1,-1} is a sub group of multiplicative group </a:t>
            </a:r>
          </a:p>
          <a:p>
            <a:pPr eaLnBrk="1" hangingPunct="1"/>
            <a:r>
              <a:rPr lang="en-US" altLang="en-US"/>
              <a:t>	{1,-1,I, -i}.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eriod" startAt="2"/>
            </a:pPr>
            <a:r>
              <a:rPr lang="en-US" altLang="en-US"/>
              <a:t>The additive group of even integer is a subgroup of additive group of all</a:t>
            </a:r>
          </a:p>
          <a:p>
            <a:pPr eaLnBrk="1" hangingPunct="1"/>
            <a:r>
              <a:rPr lang="en-US" altLang="en-US"/>
              <a:t>	integers.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eriod" startAt="3"/>
            </a:pPr>
            <a:r>
              <a:rPr lang="en-US" altLang="en-US"/>
              <a:t>The set Q</a:t>
            </a:r>
            <a:r>
              <a:rPr lang="en-US" altLang="en-US" baseline="30000"/>
              <a:t>+ </a:t>
            </a:r>
            <a:r>
              <a:rPr lang="en-US" altLang="en-US"/>
              <a:t>of all non-zero positive rational numbers is a sub-group of</a:t>
            </a:r>
          </a:p>
          <a:p>
            <a:pPr eaLnBrk="1" hangingPunct="1"/>
            <a:r>
              <a:rPr lang="en-US" altLang="en-US"/>
              <a:t>	the multiplicative group of Q* of all non-zero rational numbers.</a:t>
            </a:r>
            <a:endParaRPr lang="en-IN" altLang="en-US"/>
          </a:p>
        </p:txBody>
      </p:sp>
      <p:sp>
        <p:nvSpPr>
          <p:cNvPr id="97285" name="TextBox 5">
            <a:extLst>
              <a:ext uri="{FF2B5EF4-FFF2-40B4-BE49-F238E27FC236}">
                <a16:creationId xmlns:a16="http://schemas.microsoft.com/office/drawing/2014/main" id="{9C6972CC-3675-41BE-B276-3A1B5AE33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66FA07-30D0-43D7-A2FC-AF9FB4CE72A6}"/>
              </a:ext>
            </a:extLst>
          </p:cNvPr>
          <p:cNvSpPr/>
          <p:nvPr/>
        </p:nvSpPr>
        <p:spPr>
          <a:xfrm>
            <a:off x="3048000" y="2259449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400" dirty="0"/>
          </a:p>
          <a:p>
            <a:r>
              <a:rPr lang="en-US" sz="2400" dirty="0"/>
              <a:t>Let a group G={1,i,−1,−i}</a:t>
            </a:r>
          </a:p>
          <a:p>
            <a:endParaRPr lang="en-US" sz="2400" dirty="0"/>
          </a:p>
          <a:p>
            <a:r>
              <a:rPr lang="en-US" sz="2400" dirty="0"/>
              <a:t>Then some subgroups are H1={1},H2={1,−1},</a:t>
            </a:r>
          </a:p>
          <a:p>
            <a:endParaRPr lang="en-US" sz="2400" dirty="0"/>
          </a:p>
          <a:p>
            <a:r>
              <a:rPr lang="en-US" sz="2400" dirty="0"/>
              <a:t>This is not a subgroup −</a:t>
            </a:r>
          </a:p>
          <a:p>
            <a:endParaRPr lang="en-US" sz="2400" dirty="0"/>
          </a:p>
          <a:p>
            <a:r>
              <a:rPr lang="en-US" sz="2400" dirty="0"/>
              <a:t> H3={1,i} because that</a:t>
            </a:r>
          </a:p>
          <a:p>
            <a:endParaRPr lang="en-US" sz="2400" dirty="0"/>
          </a:p>
          <a:p>
            <a:r>
              <a:rPr lang="en-US" sz="2400" dirty="0"/>
              <a:t> (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  <a:r>
              <a:rPr lang="en-US" sz="2400" baseline="30000" dirty="0"/>
              <a:t>−1</a:t>
            </a:r>
            <a:r>
              <a:rPr lang="en-US" sz="2400" dirty="0"/>
              <a:t>=−</a:t>
            </a:r>
            <a:r>
              <a:rPr lang="en-US" sz="2400" dirty="0" err="1"/>
              <a:t>i</a:t>
            </a:r>
            <a:r>
              <a:rPr lang="en-US" sz="2400" dirty="0"/>
              <a:t> is not in H3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9F9F5-136D-4156-9893-02143898C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87DE78-5E9D-4205-9BA0-36508846F174}"/>
                  </a:ext>
                </a:extLst>
              </p14:cNvPr>
              <p14:cNvContentPartPr/>
              <p14:nvPr/>
            </p14:nvContentPartPr>
            <p14:xfrm>
              <a:off x="2399625" y="1209435"/>
              <a:ext cx="480" cy="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87DE78-5E9D-4205-9BA0-36508846F1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7625" y="1197435"/>
                <a:ext cx="24000" cy="2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0511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TextBox 5">
            <a:extLst>
              <a:ext uri="{FF2B5EF4-FFF2-40B4-BE49-F238E27FC236}">
                <a16:creationId xmlns:a16="http://schemas.microsoft.com/office/drawing/2014/main" id="{90704566-6541-4015-81DD-C3A5B2719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C00000"/>
                </a:solidFill>
                <a:latin typeface="Calibri" panose="020F0502020204030204" pitchFamily="34" charset="0"/>
              </a:rPr>
              <a:t>Two step subgroup test</a:t>
            </a: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E936D0F9-A110-4F4E-A3CD-951B7B2A2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619376"/>
            <a:ext cx="79406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 non-empty subset H of a group G is a subgroup of G if and only if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arenR"/>
            </a:pPr>
            <a:r>
              <a:rPr lang="en-US" altLang="en-US"/>
              <a:t>a </a:t>
            </a:r>
            <a:r>
              <a:rPr lang="el-GR" altLang="en-US"/>
              <a:t>ϵ</a:t>
            </a:r>
            <a:r>
              <a:rPr lang="en-US" altLang="en-US"/>
              <a:t> H, b </a:t>
            </a:r>
            <a:r>
              <a:rPr lang="el-GR" altLang="en-US"/>
              <a:t>ϵ</a:t>
            </a:r>
            <a:r>
              <a:rPr lang="en-US" altLang="en-US"/>
              <a:t> H </a:t>
            </a:r>
            <a:r>
              <a:rPr lang="en-US" altLang="en-US">
                <a:cs typeface="Arial" panose="020B0604020202020204" pitchFamily="34" charset="0"/>
              </a:rPr>
              <a:t>→  a * b </a:t>
            </a:r>
            <a:r>
              <a:rPr lang="el-GR" altLang="en-US"/>
              <a:t>ϵ</a:t>
            </a:r>
            <a:r>
              <a:rPr lang="en-US" altLang="en-US"/>
              <a:t> H</a:t>
            </a:r>
          </a:p>
          <a:p>
            <a:pPr eaLnBrk="1" hangingPunct="1">
              <a:buFontTx/>
              <a:buAutoNum type="arabicParenR"/>
            </a:pPr>
            <a:endParaRPr lang="en-US" altLang="en-US"/>
          </a:p>
          <a:p>
            <a:pPr eaLnBrk="1" hangingPunct="1">
              <a:buFontTx/>
              <a:buAutoNum type="arabicParenR"/>
            </a:pPr>
            <a:r>
              <a:rPr lang="en-US" altLang="en-US"/>
              <a:t>a </a:t>
            </a:r>
            <a:r>
              <a:rPr lang="el-GR" altLang="en-US"/>
              <a:t>ϵ</a:t>
            </a:r>
            <a:r>
              <a:rPr lang="en-US" altLang="en-US"/>
              <a:t> H </a:t>
            </a:r>
            <a:r>
              <a:rPr lang="en-US" altLang="en-US">
                <a:cs typeface="Arial" panose="020B0604020202020204" pitchFamily="34" charset="0"/>
              </a:rPr>
              <a:t>→ a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l-GR" altLang="en-US"/>
              <a:t>ϵ</a:t>
            </a:r>
            <a:r>
              <a:rPr lang="en-US" altLang="en-US"/>
              <a:t> H, where a</a:t>
            </a:r>
            <a:r>
              <a:rPr lang="en-US" altLang="en-US" baseline="30000"/>
              <a:t>-1</a:t>
            </a:r>
            <a:r>
              <a:rPr lang="en-US" altLang="en-US"/>
              <a:t> is the inverse of a in 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Text Box 4">
            <a:extLst>
              <a:ext uri="{FF2B5EF4-FFF2-40B4-BE49-F238E27FC236}">
                <a16:creationId xmlns:a16="http://schemas.microsoft.com/office/drawing/2014/main" id="{33E70077-3E6B-4209-98A0-126489ECF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2209800"/>
            <a:ext cx="7940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Theorem – the necessary and sufficient condition for a non empty subset H of a group (G, *) to be a subgroup is </a:t>
            </a:r>
          </a:p>
          <a:p>
            <a:endParaRPr lang="en-US" altLang="en-US"/>
          </a:p>
          <a:p>
            <a:r>
              <a:rPr lang="en-US" altLang="en-US"/>
              <a:t>a </a:t>
            </a:r>
            <a:r>
              <a:rPr lang="el-GR" altLang="en-US"/>
              <a:t>ϵ</a:t>
            </a:r>
            <a:r>
              <a:rPr lang="en-US" altLang="en-US"/>
              <a:t> H , b </a:t>
            </a:r>
            <a:r>
              <a:rPr lang="el-GR" altLang="en-US"/>
              <a:t>ϵ</a:t>
            </a:r>
            <a:r>
              <a:rPr lang="en-US" altLang="en-US"/>
              <a:t> H </a:t>
            </a:r>
            <a:r>
              <a:rPr lang="en-US" altLang="en-US">
                <a:cs typeface="Arial" panose="020B0604020202020204" pitchFamily="34" charset="0"/>
              </a:rPr>
              <a:t>→ a* b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l-GR" altLang="en-US"/>
              <a:t>ϵ</a:t>
            </a:r>
            <a:r>
              <a:rPr lang="en-US" altLang="en-US"/>
              <a:t> H, where b</a:t>
            </a:r>
            <a:r>
              <a:rPr lang="en-US" altLang="en-US" baseline="30000"/>
              <a:t>-1</a:t>
            </a:r>
            <a:r>
              <a:rPr lang="en-US" altLang="en-US"/>
              <a:t> is the inverse of b in 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Box 5">
            <a:extLst>
              <a:ext uri="{FF2B5EF4-FFF2-40B4-BE49-F238E27FC236}">
                <a16:creationId xmlns:a16="http://schemas.microsoft.com/office/drawing/2014/main" id="{17BB74E8-6C63-41ED-901B-D1456817E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1778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C00000"/>
                </a:solidFill>
                <a:latin typeface="Calibri" panose="020F0502020204030204" pitchFamily="34" charset="0"/>
              </a:rPr>
              <a:t>Example 1</a:t>
            </a: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E997D2E0-CB44-4451-AA1A-4FD5FA212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314576"/>
            <a:ext cx="7940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Let G be the additive group of all integer and H be the subset of G consisting of all positve integer. Then H is closed with respect to addition, i.e. the composition in G. but H is not a subgroup of G since the identity 0 does not belongs to 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Box 5">
            <a:extLst>
              <a:ext uri="{FF2B5EF4-FFF2-40B4-BE49-F238E27FC236}">
                <a16:creationId xmlns:a16="http://schemas.microsoft.com/office/drawing/2014/main" id="{096C62D9-A322-46EE-AD2F-79390AC8A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78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 2</a:t>
            </a:r>
          </a:p>
        </p:txBody>
      </p:sp>
      <p:sp>
        <p:nvSpPr>
          <p:cNvPr id="102403" name="Text Box 3">
            <a:extLst>
              <a:ext uri="{FF2B5EF4-FFF2-40B4-BE49-F238E27FC236}">
                <a16:creationId xmlns:a16="http://schemas.microsoft.com/office/drawing/2014/main" id="{92525A40-B104-4C2B-8721-6CB710D4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314576"/>
            <a:ext cx="79406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Let G= {…3</a:t>
            </a:r>
            <a:r>
              <a:rPr lang="en-US" altLang="en-US" baseline="30000"/>
              <a:t>-2</a:t>
            </a:r>
            <a:r>
              <a:rPr lang="en-US" altLang="en-US"/>
              <a:t>, 3</a:t>
            </a:r>
            <a:r>
              <a:rPr lang="en-US" altLang="en-US" baseline="30000"/>
              <a:t>-1</a:t>
            </a:r>
            <a:r>
              <a:rPr lang="en-US" altLang="en-US"/>
              <a:t>, 1, 3, 3</a:t>
            </a:r>
            <a:r>
              <a:rPr lang="en-US" altLang="en-US" baseline="30000"/>
              <a:t>2</a:t>
            </a:r>
            <a:r>
              <a:rPr lang="en-US" altLang="en-US"/>
              <a:t>,…} be the multiplicative group consisting of all integral powers of 3. </a:t>
            </a:r>
            <a:endParaRPr lang="en-US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Let H = {1,3,3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,…}. Then H is contained in G and H is closed with respect to multiplication.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But H is not a sub group of G since the inverse of 3 does not belongs to H. </a:t>
            </a:r>
          </a:p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Text Box 3">
            <a:extLst>
              <a:ext uri="{FF2B5EF4-FFF2-40B4-BE49-F238E27FC236}">
                <a16:creationId xmlns:a16="http://schemas.microsoft.com/office/drawing/2014/main" id="{104F647C-B21A-4C4C-AAB7-5FEDAE13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016250"/>
            <a:ext cx="79406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Theorem – the intersection of any two sub group of a group (G, *) is again a subgroup of (G,*)  </a:t>
            </a:r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Box 5">
            <a:extLst>
              <a:ext uri="{FF2B5EF4-FFF2-40B4-BE49-F238E27FC236}">
                <a16:creationId xmlns:a16="http://schemas.microsoft.com/office/drawing/2014/main" id="{A9B55745-71F6-4C21-9569-BD6CAB839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  <p:sp>
        <p:nvSpPr>
          <p:cNvPr id="179203" name="Text Box 3">
            <a:extLst>
              <a:ext uri="{FF2B5EF4-FFF2-40B4-BE49-F238E27FC236}">
                <a16:creationId xmlns:a16="http://schemas.microsoft.com/office/drawing/2014/main" id="{2EDCEB3D-FDC7-4850-975B-82332F471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057401"/>
            <a:ext cx="794067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If G be an abelian group with identity e, then prove that all elements x of G satisfying the equation x</a:t>
            </a:r>
            <a:r>
              <a:rPr lang="en-US" altLang="en-US" baseline="30000"/>
              <a:t>2</a:t>
            </a:r>
            <a:r>
              <a:rPr lang="en-US" altLang="en-US"/>
              <a:t> = e form a sub-group H of G. </a:t>
            </a:r>
          </a:p>
          <a:p>
            <a:endParaRPr lang="en-US" altLang="en-US"/>
          </a:p>
          <a:p>
            <a:r>
              <a:rPr lang="en-US" altLang="en-US"/>
              <a:t>Solution : </a:t>
            </a:r>
          </a:p>
          <a:p>
            <a:endParaRPr lang="en-US" altLang="en-US"/>
          </a:p>
          <a:p>
            <a:r>
              <a:rPr lang="en-US" altLang="en-US"/>
              <a:t>Let H = {x: x</a:t>
            </a:r>
            <a:r>
              <a:rPr lang="en-US" altLang="en-US" baseline="30000"/>
              <a:t>2</a:t>
            </a:r>
            <a:r>
              <a:rPr lang="en-US" altLang="en-US"/>
              <a:t> = e}</a:t>
            </a:r>
          </a:p>
          <a:p>
            <a:endParaRPr lang="en-US" altLang="en-US"/>
          </a:p>
          <a:p>
            <a:r>
              <a:rPr lang="en-US" altLang="en-US"/>
              <a:t>Now x</a:t>
            </a:r>
            <a:r>
              <a:rPr lang="en-US" altLang="en-US" baseline="30000"/>
              <a:t>2</a:t>
            </a:r>
            <a:r>
              <a:rPr lang="en-US" altLang="en-US"/>
              <a:t> = e </a:t>
            </a:r>
            <a:r>
              <a:rPr lang="en-US" altLang="en-US">
                <a:cs typeface="Arial" panose="020B0604020202020204" pitchFamily="34" charset="0"/>
              </a:rPr>
              <a:t>→ x = x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</a:p>
          <a:p>
            <a:endParaRPr lang="en-US" altLang="en-US" baseline="30000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Therefore, if x </a:t>
            </a:r>
            <a:r>
              <a:rPr lang="el-GR" altLang="en-US">
                <a:cs typeface="Arial" panose="020B0604020202020204" pitchFamily="34" charset="0"/>
              </a:rPr>
              <a:t>ϵ</a:t>
            </a:r>
            <a:r>
              <a:rPr lang="en-US" altLang="en-US">
                <a:cs typeface="Arial" panose="020B0604020202020204" pitchFamily="34" charset="0"/>
              </a:rPr>
              <a:t> H, then x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also belongs to H.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Furthermore e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= e.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Hence the identity element of G also belongs to H. </a:t>
            </a:r>
            <a:endParaRPr lang="el-GR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Text Box 3">
            <a:extLst>
              <a:ext uri="{FF2B5EF4-FFF2-40B4-BE49-F238E27FC236}">
                <a16:creationId xmlns:a16="http://schemas.microsoft.com/office/drawing/2014/main" id="{5DF54960-389B-45CD-B76C-487EE3767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916114"/>
            <a:ext cx="79406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Lets x,y </a:t>
            </a:r>
            <a:r>
              <a:rPr lang="el-GR" altLang="en-US"/>
              <a:t>ϵ</a:t>
            </a:r>
            <a:r>
              <a:rPr lang="en-US" altLang="en-US"/>
              <a:t> H.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Then, since G is abelian, we have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		</a:t>
            </a:r>
            <a:r>
              <a:rPr lang="en-US" altLang="en-US" i="1">
                <a:cs typeface="Arial" panose="020B0604020202020204" pitchFamily="34" charset="0"/>
              </a:rPr>
              <a:t>xy = yx</a:t>
            </a:r>
          </a:p>
          <a:p>
            <a:r>
              <a:rPr lang="en-US" altLang="en-US">
                <a:cs typeface="Arial" panose="020B0604020202020204" pitchFamily="34" charset="0"/>
              </a:rPr>
              <a:t>		    = y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x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, as x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x and y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y</a:t>
            </a:r>
          </a:p>
          <a:p>
            <a:r>
              <a:rPr lang="en-US" altLang="en-US">
                <a:cs typeface="Arial" panose="020B0604020202020204" pitchFamily="34" charset="0"/>
              </a:rPr>
              <a:t>		    = (xy)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Therefore, 	(xy)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= e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Hence xy </a:t>
            </a:r>
            <a:r>
              <a:rPr lang="el-GR" altLang="en-US">
                <a:cs typeface="Arial" panose="020B0604020202020204" pitchFamily="34" charset="0"/>
              </a:rPr>
              <a:t>ϵ</a:t>
            </a:r>
            <a:r>
              <a:rPr lang="en-US" altLang="en-US">
                <a:cs typeface="Arial" panose="020B0604020202020204" pitchFamily="34" charset="0"/>
              </a:rPr>
              <a:t> H and H is a sub-group of G. </a:t>
            </a:r>
            <a:endParaRPr lang="el-GR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406400" y="1405731"/>
            <a:ext cx="10972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Let (A</a:t>
            </a:r>
            <a:r>
              <a:rPr lang="en-US" sz="2400" baseline="-25000" dirty="0"/>
              <a:t>7</a:t>
            </a:r>
            <a:r>
              <a:rPr lang="en-US" sz="2400" dirty="0"/>
              <a:t>, ⊗</a:t>
            </a:r>
            <a:r>
              <a:rPr lang="en-US" sz="2400" baseline="-25000" dirty="0"/>
              <a:t>7</a:t>
            </a:r>
            <a:r>
              <a:rPr lang="en-US" sz="2400" dirty="0"/>
              <a:t>)=({1, 2, 3, 4, 5, 6}, ⊗</a:t>
            </a:r>
            <a:r>
              <a:rPr lang="en-US" sz="2400" baseline="-25000" dirty="0"/>
              <a:t>7</a:t>
            </a:r>
            <a:r>
              <a:rPr lang="en-US" sz="2400" dirty="0"/>
              <a:t>) is a group. It has two sub groups X and Y. X={1, 3, 6}, Y={2, 3, 5}. What is the order of union of subgroups?</a:t>
            </a:r>
            <a:br>
              <a:rPr lang="en-US" sz="2400" dirty="0"/>
            </a:br>
            <a:r>
              <a:rPr lang="en-US" sz="2400" dirty="0"/>
              <a:t>a) 65</a:t>
            </a:r>
            <a:br>
              <a:rPr lang="en-US" sz="2400" dirty="0"/>
            </a:br>
            <a:r>
              <a:rPr lang="en-US" sz="2400" dirty="0"/>
              <a:t>b) 5</a:t>
            </a:r>
            <a:br>
              <a:rPr lang="en-US" sz="2400" dirty="0"/>
            </a:br>
            <a:r>
              <a:rPr lang="en-US" sz="2400" dirty="0"/>
              <a:t>c) 32</a:t>
            </a:r>
            <a:br>
              <a:rPr lang="en-US" sz="2400" dirty="0"/>
            </a:br>
            <a:r>
              <a:rPr lang="en-US" sz="2400" dirty="0"/>
              <a:t>d) 18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b</a:t>
            </a:r>
            <a:br>
              <a:rPr lang="en-US" sz="2400" dirty="0"/>
            </a:br>
            <a:r>
              <a:rPr lang="en-US" sz="2400" dirty="0"/>
              <a:t>Explanation: Given, (A</a:t>
            </a:r>
            <a:r>
              <a:rPr lang="en-US" sz="2400" baseline="-25000" dirty="0"/>
              <a:t>7</a:t>
            </a:r>
            <a:r>
              <a:rPr lang="en-US" sz="2400" dirty="0"/>
              <a:t>, ⊗</a:t>
            </a:r>
            <a:r>
              <a:rPr lang="en-US" sz="2400" baseline="-25000" dirty="0"/>
              <a:t>7</a:t>
            </a:r>
            <a:r>
              <a:rPr lang="en-US" sz="2400" dirty="0"/>
              <a:t>)=({1, 2, 3, 4, 5, 6}, ⊗</a:t>
            </a:r>
            <a:r>
              <a:rPr lang="en-US" sz="2400" baseline="-25000" dirty="0"/>
              <a:t>7</a:t>
            </a:r>
            <a:r>
              <a:rPr lang="en-US" sz="2400" dirty="0"/>
              <a:t>) and the union of two sub groups X and Y, X={1, 3, 6} Y={2, 3, 5} is X∪Y={1, 2, 3, 5, 6} i.e., 5. Here, the order of the union can not be divided by order of the group.</a:t>
            </a:r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1</a:t>
            </a:r>
          </a:p>
        </p:txBody>
      </p:sp>
    </p:spTree>
    <p:extLst>
      <p:ext uri="{BB962C8B-B14F-4D97-AF65-F5344CB8AC3E}">
        <p14:creationId xmlns:p14="http://schemas.microsoft.com/office/powerpoint/2010/main" val="2172714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723363" y="1498600"/>
            <a:ext cx="89286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A subgroup has the properties of ________</a:t>
            </a:r>
            <a:br>
              <a:rPr lang="en-US" sz="2400" dirty="0"/>
            </a:br>
            <a:r>
              <a:rPr lang="en-US" sz="2400" dirty="0"/>
              <a:t>a) Closure, associative</a:t>
            </a:r>
            <a:br>
              <a:rPr lang="en-US" sz="2400" dirty="0"/>
            </a:br>
            <a:r>
              <a:rPr lang="en-US" sz="2400" dirty="0"/>
              <a:t>b) Commutative, associative, closure</a:t>
            </a:r>
            <a:br>
              <a:rPr lang="en-US" sz="2400" dirty="0"/>
            </a:br>
            <a:r>
              <a:rPr lang="en-US" sz="2400" dirty="0"/>
              <a:t>c) Inverse, identity, associative</a:t>
            </a:r>
            <a:br>
              <a:rPr lang="en-US" sz="2400" dirty="0"/>
            </a:br>
            <a:r>
              <a:rPr lang="en-US" sz="2400" dirty="0"/>
              <a:t>d) Closure, associative, Identity, Inverse</a:t>
            </a:r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d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2</a:t>
            </a:r>
          </a:p>
        </p:txBody>
      </p:sp>
    </p:spTree>
    <p:extLst>
      <p:ext uri="{BB962C8B-B14F-4D97-AF65-F5344CB8AC3E}">
        <p14:creationId xmlns:p14="http://schemas.microsoft.com/office/powerpoint/2010/main" val="40978797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304589-BD54-45D9-A84C-DE8A3A67047B}"/>
              </a:ext>
            </a:extLst>
          </p:cNvPr>
          <p:cNvSpPr txBox="1"/>
          <p:nvPr/>
        </p:nvSpPr>
        <p:spPr>
          <a:xfrm>
            <a:off x="4470400" y="2514601"/>
            <a:ext cx="3352800" cy="206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67" b="1" dirty="0">
                <a:solidFill>
                  <a:srgbClr val="92D050"/>
                </a:solidFill>
                <a:latin typeface="Century Gothic" panose="020B0502020202020204" pitchFamily="34" charset="0"/>
              </a:rPr>
              <a:t>Some important groups</a:t>
            </a:r>
          </a:p>
        </p:txBody>
      </p:sp>
    </p:spTree>
    <p:extLst>
      <p:ext uri="{BB962C8B-B14F-4D97-AF65-F5344CB8AC3E}">
        <p14:creationId xmlns:p14="http://schemas.microsoft.com/office/powerpoint/2010/main" val="362766453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15F54B-D484-47F1-9FAC-DCCDE8B520C6}"/>
              </a:ext>
            </a:extLst>
          </p:cNvPr>
          <p:cNvSpPr/>
          <p:nvPr/>
        </p:nvSpPr>
        <p:spPr>
          <a:xfrm>
            <a:off x="1524000" y="2074784"/>
            <a:ext cx="965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cyclic group is a group that can be generated by a single element. Every element of a cyclic group is a power of some specific element which is called a generator. A cyclic group can be generated by a generator ‘g’, such that every other element of the group can be written as a power of the generator ‘g’.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4A2F2-0171-4E0C-BCCB-3F354DDD7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5242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Cyclic Groups</a:t>
            </a:r>
          </a:p>
        </p:txBody>
      </p:sp>
    </p:spTree>
    <p:extLst>
      <p:ext uri="{BB962C8B-B14F-4D97-AF65-F5344CB8AC3E}">
        <p14:creationId xmlns:p14="http://schemas.microsoft.com/office/powerpoint/2010/main" val="2341939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>
            <a:extLst>
              <a:ext uri="{FF2B5EF4-FFF2-40B4-BE49-F238E27FC236}">
                <a16:creationId xmlns:a16="http://schemas.microsoft.com/office/drawing/2014/main" id="{A642D361-8980-429F-97CB-5AEA0480A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054226"/>
            <a:ext cx="79406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 group G is called a cyclic group if, for some a </a:t>
            </a:r>
            <a:r>
              <a:rPr lang="el-GR" altLang="en-US">
                <a:cs typeface="Arial" panose="020B0604020202020204" pitchFamily="34" charset="0"/>
              </a:rPr>
              <a:t>ϵ</a:t>
            </a:r>
            <a:r>
              <a:rPr lang="en-US" altLang="en-US">
                <a:cs typeface="Arial" panose="020B0604020202020204" pitchFamily="34" charset="0"/>
              </a:rPr>
              <a:t> G, every element of G is of the form a</a:t>
            </a:r>
            <a:r>
              <a:rPr lang="en-US" altLang="en-US" baseline="30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, where n is some integer. The element a is then called a generator of G.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If G is a cyclic group generated by a, it is denoted by G = &lt;a&gt;, the elements of G are in the form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………a</a:t>
            </a:r>
            <a:r>
              <a:rPr lang="en-US" altLang="en-US" baseline="30000">
                <a:cs typeface="Arial" panose="020B0604020202020204" pitchFamily="34" charset="0"/>
              </a:rPr>
              <a:t>-2</a:t>
            </a:r>
            <a:r>
              <a:rPr lang="en-US" altLang="en-US">
                <a:cs typeface="Arial" panose="020B0604020202020204" pitchFamily="34" charset="0"/>
              </a:rPr>
              <a:t>,a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,a</a:t>
            </a:r>
            <a:r>
              <a:rPr lang="en-US" altLang="en-US" baseline="30000">
                <a:cs typeface="Arial" panose="020B0604020202020204" pitchFamily="34" charset="0"/>
              </a:rPr>
              <a:t>0</a:t>
            </a:r>
            <a:r>
              <a:rPr lang="en-US" altLang="en-US">
                <a:cs typeface="Arial" panose="020B0604020202020204" pitchFamily="34" charset="0"/>
              </a:rPr>
              <a:t>,0,a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,a</a:t>
            </a:r>
            <a:r>
              <a:rPr lang="en-US" altLang="en-US" baseline="30000">
                <a:cs typeface="Arial" panose="020B0604020202020204" pitchFamily="34" charset="0"/>
              </a:rPr>
              <a:t>3</a:t>
            </a:r>
            <a:r>
              <a:rPr lang="en-US" altLang="en-US">
                <a:cs typeface="Arial" panose="020B0604020202020204" pitchFamily="34" charset="0"/>
              </a:rPr>
              <a:t>,……………….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There may be more then one generator of a cyclic group. </a:t>
            </a:r>
            <a:endParaRPr lang="el-GR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07524" name="TextBox 5">
            <a:extLst>
              <a:ext uri="{FF2B5EF4-FFF2-40B4-BE49-F238E27FC236}">
                <a16:creationId xmlns:a16="http://schemas.microsoft.com/office/drawing/2014/main" id="{DE6891E0-678D-4FD4-92F8-003348BF6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Cyclic Group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Box 5">
            <a:extLst>
              <a:ext uri="{FF2B5EF4-FFF2-40B4-BE49-F238E27FC236}">
                <a16:creationId xmlns:a16="http://schemas.microsoft.com/office/drawing/2014/main" id="{39289E21-F251-4736-BCC4-FAC45D7F4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3810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 1</a:t>
            </a:r>
          </a:p>
        </p:txBody>
      </p:sp>
      <p:sp>
        <p:nvSpPr>
          <p:cNvPr id="121859" name="Text Box 3">
            <a:extLst>
              <a:ext uri="{FF2B5EF4-FFF2-40B4-BE49-F238E27FC236}">
                <a16:creationId xmlns:a16="http://schemas.microsoft.com/office/drawing/2014/main" id="{C6B7EC69-D046-4F79-B0A6-80668E8C2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905002"/>
            <a:ext cx="794067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cs typeface="Arial" panose="020B0604020202020204" pitchFamily="34" charset="0"/>
              </a:rPr>
              <a:t>The set of integers with respect to + i.e., (Z,+) is a cyclic group, a generator being 1.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Solution : We have 1</a:t>
            </a:r>
            <a:r>
              <a:rPr lang="en-US" altLang="en-US" baseline="30000">
                <a:cs typeface="Arial" panose="020B0604020202020204" pitchFamily="34" charset="0"/>
              </a:rPr>
              <a:t>0</a:t>
            </a:r>
            <a:r>
              <a:rPr lang="en-US" altLang="en-US">
                <a:cs typeface="Arial" panose="020B0604020202020204" pitchFamily="34" charset="0"/>
              </a:rPr>
              <a:t>=1, 1</a:t>
            </a:r>
            <a:r>
              <a:rPr lang="en-US" altLang="en-US" baseline="30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=1 , 1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=1+1 =2 , 1</a:t>
            </a:r>
            <a:r>
              <a:rPr lang="en-US" altLang="en-US" baseline="30000">
                <a:cs typeface="Arial" panose="020B0604020202020204" pitchFamily="34" charset="0"/>
              </a:rPr>
              <a:t>3</a:t>
            </a:r>
            <a:r>
              <a:rPr lang="en-US" altLang="en-US">
                <a:cs typeface="Arial" panose="020B0604020202020204" pitchFamily="34" charset="0"/>
              </a:rPr>
              <a:t> = 1+1+1 = 3 and so on.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Similarly 1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inverse of 1 = -1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1</a:t>
            </a:r>
            <a:r>
              <a:rPr lang="en-US" altLang="en-US" baseline="30000">
                <a:cs typeface="Arial" panose="020B0604020202020204" pitchFamily="34" charset="0"/>
              </a:rPr>
              <a:t>-2</a:t>
            </a:r>
            <a:r>
              <a:rPr lang="en-US" altLang="en-US">
                <a:cs typeface="Arial" panose="020B0604020202020204" pitchFamily="34" charset="0"/>
              </a:rPr>
              <a:t> = (1</a:t>
            </a:r>
            <a:r>
              <a:rPr lang="en-US" altLang="en-US" baseline="30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)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-2, 1</a:t>
            </a:r>
            <a:r>
              <a:rPr lang="en-US" altLang="en-US" baseline="30000">
                <a:cs typeface="Arial" panose="020B0604020202020204" pitchFamily="34" charset="0"/>
              </a:rPr>
              <a:t>-3</a:t>
            </a:r>
            <a:r>
              <a:rPr lang="en-US" altLang="en-US">
                <a:cs typeface="Arial" panose="020B0604020202020204" pitchFamily="34" charset="0"/>
              </a:rPr>
              <a:t> = (1</a:t>
            </a:r>
            <a:r>
              <a:rPr lang="en-US" altLang="en-US" baseline="30000">
                <a:cs typeface="Arial" panose="020B0604020202020204" pitchFamily="34" charset="0"/>
              </a:rPr>
              <a:t>3</a:t>
            </a:r>
            <a:r>
              <a:rPr lang="en-US" altLang="en-US">
                <a:cs typeface="Arial" panose="020B0604020202020204" pitchFamily="34" charset="0"/>
              </a:rPr>
              <a:t>) 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(3)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= -3 and so on.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Thus each element of G can be expressed as some integer power 1. 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Similarly we can show that -1 is also a generator.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Box 5">
            <a:extLst>
              <a:ext uri="{FF2B5EF4-FFF2-40B4-BE49-F238E27FC236}">
                <a16:creationId xmlns:a16="http://schemas.microsoft.com/office/drawing/2014/main" id="{4FACB469-C601-4E50-8716-BCA4D1A6A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 2 </a:t>
            </a:r>
          </a:p>
        </p:txBody>
      </p:sp>
      <p:sp>
        <p:nvSpPr>
          <p:cNvPr id="109571" name="Text Box 3">
            <a:extLst>
              <a:ext uri="{FF2B5EF4-FFF2-40B4-BE49-F238E27FC236}">
                <a16:creationId xmlns:a16="http://schemas.microsoft.com/office/drawing/2014/main" id="{6DE49FA9-0A48-4DB5-A958-753115C07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905000"/>
            <a:ext cx="794067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multiplicatively group {1,w,w</a:t>
            </a:r>
            <a:r>
              <a:rPr lang="en-US" altLang="en-US" baseline="30000" dirty="0"/>
              <a:t>2</a:t>
            </a:r>
            <a:r>
              <a:rPr lang="en-US" altLang="en-US" dirty="0"/>
              <a:t>} is a cyclic group. </a:t>
            </a:r>
            <a:endParaRPr lang="en-US" altLang="en-US" dirty="0">
              <a:cs typeface="Arial" panose="020B0604020202020204" pitchFamily="34" charset="0"/>
            </a:endParaRPr>
          </a:p>
          <a:p>
            <a:endParaRPr lang="en-US" altLang="en-US" dirty="0">
              <a:cs typeface="Arial" panose="020B0604020202020204" pitchFamily="34" charset="0"/>
            </a:endParaRPr>
          </a:p>
          <a:p>
            <a:r>
              <a:rPr lang="en-US" altLang="en-US" dirty="0">
                <a:cs typeface="Arial" panose="020B0604020202020204" pitchFamily="34" charset="0"/>
              </a:rPr>
              <a:t>Solution : </a:t>
            </a:r>
          </a:p>
          <a:p>
            <a:endParaRPr lang="en-US" altLang="en-US" dirty="0">
              <a:cs typeface="Arial" panose="020B0604020202020204" pitchFamily="34" charset="0"/>
            </a:endParaRPr>
          </a:p>
          <a:p>
            <a:r>
              <a:rPr lang="en-US" altLang="en-US" dirty="0">
                <a:cs typeface="Arial" panose="020B0604020202020204" pitchFamily="34" charset="0"/>
              </a:rPr>
              <a:t>We have w</a:t>
            </a:r>
            <a:r>
              <a:rPr lang="en-US" altLang="en-US" baseline="30000" dirty="0">
                <a:cs typeface="Arial" panose="020B0604020202020204" pitchFamily="34" charset="0"/>
              </a:rPr>
              <a:t>0</a:t>
            </a:r>
            <a:r>
              <a:rPr lang="en-US" altLang="en-US" dirty="0">
                <a:cs typeface="Arial" panose="020B0604020202020204" pitchFamily="34" charset="0"/>
              </a:rPr>
              <a:t> = 1, w</a:t>
            </a:r>
            <a:r>
              <a:rPr lang="en-US" altLang="en-US" baseline="30000" dirty="0">
                <a:cs typeface="Arial" panose="020B0604020202020204" pitchFamily="34" charset="0"/>
              </a:rPr>
              <a:t>1</a:t>
            </a:r>
            <a:r>
              <a:rPr lang="en-US" altLang="en-US" dirty="0">
                <a:cs typeface="Arial" panose="020B0604020202020204" pitchFamily="34" charset="0"/>
              </a:rPr>
              <a:t> = w, 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=w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, w</a:t>
            </a:r>
            <a:r>
              <a:rPr lang="en-US" altLang="en-US" baseline="30000" dirty="0">
                <a:cs typeface="Arial" panose="020B0604020202020204" pitchFamily="34" charset="0"/>
              </a:rPr>
              <a:t>3</a:t>
            </a:r>
            <a:r>
              <a:rPr lang="en-US" altLang="en-US" dirty="0">
                <a:cs typeface="Arial" panose="020B0604020202020204" pitchFamily="34" charset="0"/>
              </a:rPr>
              <a:t>= 1</a:t>
            </a:r>
          </a:p>
          <a:p>
            <a:endParaRPr lang="en-US" altLang="en-US" dirty="0">
              <a:cs typeface="Arial" panose="020B0604020202020204" pitchFamily="34" charset="0"/>
            </a:endParaRPr>
          </a:p>
          <a:p>
            <a:r>
              <a:rPr lang="en-US" altLang="en-US" dirty="0">
                <a:cs typeface="Arial" panose="020B0604020202020204" pitchFamily="34" charset="0"/>
              </a:rPr>
              <a:t>And (w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) </a:t>
            </a:r>
            <a:r>
              <a:rPr lang="en-US" altLang="en-US" baseline="30000" dirty="0">
                <a:cs typeface="Arial" panose="020B0604020202020204" pitchFamily="34" charset="0"/>
              </a:rPr>
              <a:t>0</a:t>
            </a:r>
            <a:r>
              <a:rPr lang="en-US" altLang="en-US" dirty="0">
                <a:cs typeface="Arial" panose="020B0604020202020204" pitchFamily="34" charset="0"/>
              </a:rPr>
              <a:t> = 1, (w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) </a:t>
            </a:r>
            <a:r>
              <a:rPr lang="en-US" altLang="en-US" baseline="30000" dirty="0">
                <a:cs typeface="Arial" panose="020B0604020202020204" pitchFamily="34" charset="0"/>
              </a:rPr>
              <a:t>1</a:t>
            </a:r>
            <a:r>
              <a:rPr lang="en-US" altLang="en-US" dirty="0">
                <a:cs typeface="Arial" panose="020B0604020202020204" pitchFamily="34" charset="0"/>
              </a:rPr>
              <a:t> = 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, (w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) 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 = w</a:t>
            </a:r>
            <a:r>
              <a:rPr lang="en-US" altLang="en-US" baseline="30000" dirty="0">
                <a:cs typeface="Arial" panose="020B0604020202020204" pitchFamily="34" charset="0"/>
              </a:rPr>
              <a:t>4</a:t>
            </a:r>
            <a:r>
              <a:rPr lang="en-US" altLang="en-US" dirty="0">
                <a:cs typeface="Arial" panose="020B0604020202020204" pitchFamily="34" charset="0"/>
              </a:rPr>
              <a:t> = w</a:t>
            </a:r>
          </a:p>
          <a:p>
            <a:endParaRPr lang="en-US" altLang="en-US" dirty="0">
              <a:cs typeface="Arial" panose="020B0604020202020204" pitchFamily="34" charset="0"/>
            </a:endParaRPr>
          </a:p>
          <a:p>
            <a:r>
              <a:rPr lang="en-US" altLang="en-US" dirty="0">
                <a:cs typeface="Arial" panose="020B0604020202020204" pitchFamily="34" charset="0"/>
              </a:rPr>
              <a:t>Thus each element of the group can be expressed as some integral powers of w and w</a:t>
            </a:r>
            <a:r>
              <a:rPr lang="en-US" altLang="en-US" baseline="30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. Hence the group is a cyclic group with generators w and w</a:t>
            </a:r>
            <a:r>
              <a:rPr lang="en-US" altLang="en-US" baseline="30000" dirty="0">
                <a:cs typeface="Arial" panose="020B0604020202020204" pitchFamily="34" charset="0"/>
              </a:rPr>
              <a:t>2.</a:t>
            </a:r>
          </a:p>
          <a:p>
            <a:endParaRPr lang="en-US" altLang="en-US" baseline="30000" dirty="0">
              <a:cs typeface="Arial" panose="020B0604020202020204" pitchFamily="34" charset="0"/>
            </a:endParaRPr>
          </a:p>
          <a:p>
            <a:pPr algn="ctr"/>
            <a:endParaRPr lang="el-GR" alt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Text Box 4">
            <a:extLst>
              <a:ext uri="{FF2B5EF4-FFF2-40B4-BE49-F238E27FC236}">
                <a16:creationId xmlns:a16="http://schemas.microsoft.com/office/drawing/2014/main" id="{0A230ADE-1E1C-4EFC-9340-EE1465002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17701"/>
            <a:ext cx="7086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The group (G,+</a:t>
            </a:r>
            <a:r>
              <a:rPr lang="en-US" altLang="en-US" baseline="-25000"/>
              <a:t>6</a:t>
            </a:r>
            <a:r>
              <a:rPr lang="en-US" altLang="en-US"/>
              <a:t>) is a cyclic group where G = {0,1,2,3,4,5}.</a:t>
            </a:r>
          </a:p>
          <a:p>
            <a:endParaRPr lang="en-US" altLang="en-US"/>
          </a:p>
          <a:p>
            <a:r>
              <a:rPr lang="en-US" altLang="en-US"/>
              <a:t>Solution : we see that </a:t>
            </a:r>
          </a:p>
          <a:p>
            <a:endParaRPr lang="en-US" altLang="en-US"/>
          </a:p>
          <a:p>
            <a:r>
              <a:rPr lang="en-US" altLang="en-US"/>
              <a:t>1</a:t>
            </a:r>
            <a:r>
              <a:rPr lang="en-US" altLang="en-US" baseline="30000"/>
              <a:t>1</a:t>
            </a:r>
            <a:r>
              <a:rPr lang="en-US" altLang="en-US"/>
              <a:t> =1 , 1</a:t>
            </a:r>
            <a:r>
              <a:rPr lang="en-US" altLang="en-US" baseline="30000"/>
              <a:t>2</a:t>
            </a:r>
            <a:r>
              <a:rPr lang="en-US" altLang="en-US"/>
              <a:t>= 1+</a:t>
            </a:r>
            <a:r>
              <a:rPr lang="en-US" altLang="en-US" baseline="-25000"/>
              <a:t>6</a:t>
            </a:r>
            <a:r>
              <a:rPr lang="en-US" altLang="en-US"/>
              <a:t> 1 = 2, 1</a:t>
            </a:r>
            <a:r>
              <a:rPr lang="en-US" altLang="en-US" baseline="30000"/>
              <a:t>3</a:t>
            </a:r>
            <a:r>
              <a:rPr lang="en-US" altLang="en-US"/>
              <a:t> = 1 +</a:t>
            </a:r>
            <a:r>
              <a:rPr lang="en-US" altLang="en-US" baseline="-25000"/>
              <a:t>6</a:t>
            </a:r>
            <a:r>
              <a:rPr lang="en-US" altLang="en-US"/>
              <a:t> 1</a:t>
            </a:r>
            <a:r>
              <a:rPr lang="en-US" altLang="en-US" baseline="30000"/>
              <a:t>2</a:t>
            </a:r>
            <a:r>
              <a:rPr lang="en-US" altLang="en-US"/>
              <a:t> = 3, 1</a:t>
            </a:r>
            <a:r>
              <a:rPr lang="en-US" altLang="en-US" baseline="30000"/>
              <a:t>4 </a:t>
            </a:r>
            <a:r>
              <a:rPr lang="en-US" altLang="en-US"/>
              <a:t>= 1 +</a:t>
            </a:r>
            <a:r>
              <a:rPr lang="en-US" altLang="en-US" baseline="-25000"/>
              <a:t>6</a:t>
            </a:r>
            <a:r>
              <a:rPr lang="en-US" altLang="en-US"/>
              <a:t> 1</a:t>
            </a:r>
            <a:r>
              <a:rPr lang="en-US" altLang="en-US" baseline="30000"/>
              <a:t>3</a:t>
            </a:r>
            <a:r>
              <a:rPr lang="en-US" altLang="en-US"/>
              <a:t> = 1 +</a:t>
            </a:r>
            <a:r>
              <a:rPr lang="en-US" altLang="en-US" baseline="-25000"/>
              <a:t>6</a:t>
            </a:r>
            <a:r>
              <a:rPr lang="en-US" altLang="en-US"/>
              <a:t> 3= 4, </a:t>
            </a:r>
          </a:p>
          <a:p>
            <a:endParaRPr lang="en-US" altLang="en-US"/>
          </a:p>
          <a:p>
            <a:r>
              <a:rPr lang="en-US" altLang="en-US"/>
              <a:t>I</a:t>
            </a:r>
            <a:r>
              <a:rPr lang="en-US" altLang="en-US" baseline="30000"/>
              <a:t>5</a:t>
            </a:r>
            <a:r>
              <a:rPr lang="en-US" altLang="en-US"/>
              <a:t>= 1 +</a:t>
            </a:r>
            <a:r>
              <a:rPr lang="en-US" altLang="en-US" baseline="-25000"/>
              <a:t>6</a:t>
            </a:r>
            <a:r>
              <a:rPr lang="en-US" altLang="en-US"/>
              <a:t> 1</a:t>
            </a:r>
            <a:r>
              <a:rPr lang="en-US" altLang="en-US" baseline="30000"/>
              <a:t>4</a:t>
            </a:r>
            <a:r>
              <a:rPr lang="en-US" altLang="en-US"/>
              <a:t> = 1+</a:t>
            </a:r>
            <a:r>
              <a:rPr lang="en-US" altLang="en-US" baseline="-25000"/>
              <a:t>6</a:t>
            </a:r>
            <a:r>
              <a:rPr lang="en-US" altLang="en-US"/>
              <a:t> 4 = 5, 1</a:t>
            </a:r>
            <a:r>
              <a:rPr lang="en-US" altLang="en-US" baseline="30000"/>
              <a:t>6</a:t>
            </a:r>
            <a:r>
              <a:rPr lang="en-US" altLang="en-US"/>
              <a:t> = 0</a:t>
            </a:r>
          </a:p>
          <a:p>
            <a:endParaRPr lang="en-US" altLang="en-US"/>
          </a:p>
          <a:p>
            <a:r>
              <a:rPr lang="en-US" altLang="en-US"/>
              <a:t>Thus G = {1</a:t>
            </a:r>
            <a:r>
              <a:rPr lang="en-US" altLang="en-US" baseline="30000"/>
              <a:t>0</a:t>
            </a:r>
            <a:r>
              <a:rPr lang="en-US" altLang="en-US"/>
              <a:t>,1</a:t>
            </a:r>
            <a:r>
              <a:rPr lang="en-US" altLang="en-US" baseline="30000"/>
              <a:t>2</a:t>
            </a:r>
            <a:r>
              <a:rPr lang="en-US" altLang="en-US"/>
              <a:t>,1</a:t>
            </a:r>
            <a:r>
              <a:rPr lang="en-US" altLang="en-US" baseline="30000"/>
              <a:t>3</a:t>
            </a:r>
            <a:r>
              <a:rPr lang="en-US" altLang="en-US"/>
              <a:t>,1</a:t>
            </a:r>
            <a:r>
              <a:rPr lang="en-US" altLang="en-US" baseline="30000"/>
              <a:t>4</a:t>
            </a:r>
            <a:r>
              <a:rPr lang="en-US" altLang="en-US"/>
              <a:t>,1</a:t>
            </a:r>
            <a:r>
              <a:rPr lang="en-US" altLang="en-US" baseline="30000"/>
              <a:t>5</a:t>
            </a:r>
            <a:r>
              <a:rPr lang="en-US" altLang="en-US"/>
              <a:t>,1</a:t>
            </a:r>
            <a:r>
              <a:rPr lang="en-US" altLang="en-US" baseline="30000"/>
              <a:t>6</a:t>
            </a:r>
            <a:r>
              <a:rPr lang="en-US" altLang="en-US"/>
              <a:t> = 0 }</a:t>
            </a:r>
          </a:p>
          <a:p>
            <a:endParaRPr lang="en-US" altLang="en-US"/>
          </a:p>
          <a:p>
            <a:r>
              <a:rPr lang="en-US" altLang="en-US"/>
              <a:t>Hence G is the cyclic group and 1 is a generator. </a:t>
            </a:r>
          </a:p>
          <a:p>
            <a:r>
              <a:rPr lang="en-US" altLang="en-US"/>
              <a:t>Similarly it can be shown that 5 is another generator. </a:t>
            </a:r>
          </a:p>
          <a:p>
            <a:endParaRPr lang="en-IN" altLang="en-US"/>
          </a:p>
        </p:txBody>
      </p:sp>
      <p:sp>
        <p:nvSpPr>
          <p:cNvPr id="123909" name="TextBox 5">
            <a:extLst>
              <a:ext uri="{FF2B5EF4-FFF2-40B4-BE49-F238E27FC236}">
                <a16:creationId xmlns:a16="http://schemas.microsoft.com/office/drawing/2014/main" id="{B1281D08-3DC9-43DF-94C6-C4F5B57F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826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 3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6F56-1B07-4257-8CBF-E3AB7153015E}"/>
              </a:ext>
            </a:extLst>
          </p:cNvPr>
          <p:cNvSpPr/>
          <p:nvPr/>
        </p:nvSpPr>
        <p:spPr>
          <a:xfrm>
            <a:off x="1219200" y="1905001"/>
            <a:ext cx="9753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set of complex numbers {1,−1,i,−i} under multiplication operation is a cyclic group.</a:t>
            </a:r>
          </a:p>
          <a:p>
            <a:endParaRPr lang="en-US" sz="2400" dirty="0"/>
          </a:p>
          <a:p>
            <a:r>
              <a:rPr lang="en-US" sz="2400" dirty="0"/>
              <a:t>There are two generators: </a:t>
            </a:r>
            <a:r>
              <a:rPr lang="en-US" sz="2400" dirty="0" err="1"/>
              <a:t>i</a:t>
            </a:r>
            <a:r>
              <a:rPr lang="en-US" sz="2400" dirty="0"/>
              <a:t> and –</a:t>
            </a:r>
            <a:r>
              <a:rPr lang="en-US" sz="2400" dirty="0" err="1"/>
              <a:t>i</a:t>
            </a:r>
            <a:r>
              <a:rPr lang="en-US" sz="2400" dirty="0"/>
              <a:t> as </a:t>
            </a:r>
          </a:p>
          <a:p>
            <a:r>
              <a:rPr lang="en-US" sz="2400" dirty="0"/>
              <a:t>i</a:t>
            </a:r>
            <a:r>
              <a:rPr lang="en-US" sz="2400" baseline="30000" dirty="0"/>
              <a:t>1</a:t>
            </a:r>
            <a:r>
              <a:rPr lang="en-US" sz="2400" dirty="0"/>
              <a:t>=</a:t>
            </a:r>
            <a:r>
              <a:rPr lang="en-US" sz="2400" dirty="0" err="1"/>
              <a:t>i</a:t>
            </a:r>
            <a:r>
              <a:rPr lang="en-US" sz="2400" dirty="0"/>
              <a:t>, i</a:t>
            </a:r>
            <a:r>
              <a:rPr lang="en-US" sz="2400" baseline="30000" dirty="0"/>
              <a:t>2</a:t>
            </a:r>
            <a:r>
              <a:rPr lang="en-US" sz="2400" dirty="0"/>
              <a:t>=−1, i</a:t>
            </a:r>
            <a:r>
              <a:rPr lang="en-US" sz="2400" baseline="30000" dirty="0"/>
              <a:t>3</a:t>
            </a:r>
            <a:r>
              <a:rPr lang="en-US" sz="2400" dirty="0"/>
              <a:t>=−</a:t>
            </a:r>
            <a:r>
              <a:rPr lang="en-US" sz="2400" dirty="0" err="1"/>
              <a:t>i</a:t>
            </a:r>
            <a:r>
              <a:rPr lang="en-US" sz="2400" dirty="0"/>
              <a:t>, i</a:t>
            </a:r>
            <a:r>
              <a:rPr lang="en-US" sz="2400" baseline="30000" dirty="0"/>
              <a:t>4</a:t>
            </a:r>
            <a:r>
              <a:rPr lang="en-US" sz="2400" dirty="0"/>
              <a:t>=1 and also (–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  <a:r>
              <a:rPr lang="en-US" sz="2400" baseline="30000" dirty="0"/>
              <a:t>1</a:t>
            </a:r>
            <a:r>
              <a:rPr lang="en-US" sz="2400" dirty="0"/>
              <a:t>=−</a:t>
            </a:r>
            <a:r>
              <a:rPr lang="en-US" sz="2400" dirty="0" err="1"/>
              <a:t>i</a:t>
            </a:r>
            <a:r>
              <a:rPr lang="en-US" sz="2400" dirty="0"/>
              <a:t>, (–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  <a:r>
              <a:rPr lang="en-US" sz="2400" baseline="30000" dirty="0"/>
              <a:t>2</a:t>
            </a:r>
            <a:r>
              <a:rPr lang="en-US" sz="2400" dirty="0"/>
              <a:t>=−1,(–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  <a:r>
              <a:rPr lang="en-US" sz="2400" baseline="30000" dirty="0"/>
              <a:t>3</a:t>
            </a:r>
            <a:r>
              <a:rPr lang="en-US" sz="2400" dirty="0"/>
              <a:t>=</a:t>
            </a:r>
            <a:r>
              <a:rPr lang="en-US" sz="2400" dirty="0" err="1"/>
              <a:t>i</a:t>
            </a:r>
            <a:r>
              <a:rPr lang="en-US" sz="2400" dirty="0"/>
              <a:t>,(–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  <a:r>
              <a:rPr lang="en-US" sz="2400" baseline="30000" dirty="0"/>
              <a:t>4</a:t>
            </a:r>
            <a:r>
              <a:rPr lang="en-US" sz="2400" dirty="0"/>
              <a:t>=1 which covers all the elements of the group. Hence, it is a cyclic group.</a:t>
            </a:r>
          </a:p>
          <a:p>
            <a:endParaRPr lang="en-US" sz="2400" dirty="0"/>
          </a:p>
          <a:p>
            <a:r>
              <a:rPr lang="en-US" sz="2400" dirty="0"/>
              <a:t>Note : A cyclic group is always an abelian group but not every abelian group is a cyclic group. The rational numbers under addition is not cyclic but is abelian.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0B186-2EE6-40D6-8498-AC8776BE2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5242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0394911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Text Box 3">
            <a:extLst>
              <a:ext uri="{FF2B5EF4-FFF2-40B4-BE49-F238E27FC236}">
                <a16:creationId xmlns:a16="http://schemas.microsoft.com/office/drawing/2014/main" id="{D1EBCAED-C2F5-4FF2-B455-EC5E5B9D9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954337"/>
            <a:ext cx="79406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cs typeface="Arial" panose="020B0604020202020204" pitchFamily="34" charset="0"/>
              </a:rPr>
              <a:t>Theorem – every cyclic group is an abelian group</a:t>
            </a:r>
          </a:p>
          <a:p>
            <a:endParaRPr lang="en-US" altLang="en-US">
              <a:cs typeface="Arial" panose="020B0604020202020204" pitchFamily="34" charset="0"/>
            </a:endParaRPr>
          </a:p>
          <a:p>
            <a:r>
              <a:rPr lang="en-US" altLang="en-US">
                <a:cs typeface="Arial" panose="020B0604020202020204" pitchFamily="34" charset="0"/>
              </a:rPr>
              <a:t>Theorem- if a is a generator of a cyclic group G then a</a:t>
            </a:r>
            <a:r>
              <a:rPr lang="en-US" altLang="en-US" baseline="30000">
                <a:cs typeface="Arial" panose="020B0604020202020204" pitchFamily="34" charset="0"/>
              </a:rPr>
              <a:t>-1</a:t>
            </a:r>
            <a:r>
              <a:rPr lang="en-US" altLang="en-US">
                <a:cs typeface="Arial" panose="020B0604020202020204" pitchFamily="34" charset="0"/>
              </a:rPr>
              <a:t> is also a generator of G. </a:t>
            </a:r>
          </a:p>
          <a:p>
            <a:endParaRPr lang="el-GR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Box 5">
            <a:extLst>
              <a:ext uri="{FF2B5EF4-FFF2-40B4-BE49-F238E27FC236}">
                <a16:creationId xmlns:a16="http://schemas.microsoft.com/office/drawing/2014/main" id="{E1E552DA-B340-4055-B3B1-AF9DD61EE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C00000"/>
                </a:solidFill>
                <a:latin typeface="Calibri" panose="020F0502020204030204" pitchFamily="34" charset="0"/>
              </a:rPr>
              <a:t>Permutation Group</a:t>
            </a:r>
          </a:p>
        </p:txBody>
      </p:sp>
      <p:sp>
        <p:nvSpPr>
          <p:cNvPr id="124931" name="Text Box 3">
            <a:extLst>
              <a:ext uri="{FF2B5EF4-FFF2-40B4-BE49-F238E27FC236}">
                <a16:creationId xmlns:a16="http://schemas.microsoft.com/office/drawing/2014/main" id="{FF022221-3D93-46EA-8226-C4AF6AAD0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905001"/>
            <a:ext cx="79406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77888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00175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22463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44475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901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59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16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73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Let A be a finite set then a function f:A </a:t>
            </a:r>
            <a:r>
              <a:rPr lang="en-US" altLang="en-US">
                <a:cs typeface="Arial" panose="020B0604020202020204" pitchFamily="34" charset="0"/>
              </a:rPr>
              <a:t>→ A is set to be a permutation of A if 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</a:rPr>
              <a:t>f is one to one </a:t>
            </a:r>
          </a:p>
          <a:p>
            <a:pPr eaLnBrk="1" hangingPunct="1">
              <a:buFontTx/>
              <a:buAutoNum type="arabicPeriod"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</a:rPr>
              <a:t>f is on to</a:t>
            </a:r>
          </a:p>
          <a:p>
            <a:pPr eaLnBrk="1" hangingPunct="1">
              <a:buFontTx/>
              <a:buAutoNum type="arabicPeriod"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number of distinct element in a finite set A is called the degree of permutation . </a:t>
            </a:r>
            <a:endParaRPr lang="el-GR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>
            <a:extLst>
              <a:ext uri="{FF2B5EF4-FFF2-40B4-BE49-F238E27FC236}">
                <a16:creationId xmlns:a16="http://schemas.microsoft.com/office/drawing/2014/main" id="{D6BF2A84-EA7F-456E-9A1D-CB10BC8CE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81201"/>
            <a:ext cx="7620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 permutation which replaces n objects cyclically is called a cyclic permutation of degree n. </a:t>
            </a:r>
            <a:endParaRPr lang="en-IN" altLang="en-US"/>
          </a:p>
        </p:txBody>
      </p:sp>
      <p:sp>
        <p:nvSpPr>
          <p:cNvPr id="128005" name="TextBox 5">
            <a:extLst>
              <a:ext uri="{FF2B5EF4-FFF2-40B4-BE49-F238E27FC236}">
                <a16:creationId xmlns:a16="http://schemas.microsoft.com/office/drawing/2014/main" id="{00DA2A2F-A45C-48F9-ABA2-27B769EC3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Cyclic Permutation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Text Box 4">
            <a:extLst>
              <a:ext uri="{FF2B5EF4-FFF2-40B4-BE49-F238E27FC236}">
                <a16:creationId xmlns:a16="http://schemas.microsoft.com/office/drawing/2014/main" id="{3150E7B9-0425-4937-8A8F-22ADA0871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1447800"/>
            <a:ext cx="710247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A cyclic permutation such as (a,b) which interchanges the symbols leaving all other unchanged is called a transposition.  </a:t>
            </a:r>
          </a:p>
          <a:p>
            <a:endParaRPr lang="en-US" altLang="en-US"/>
          </a:p>
          <a:p>
            <a:r>
              <a:rPr lang="en-US" altLang="en-US"/>
              <a:t>In other words transposition is a cycle of length 2 of the form (a,b) </a:t>
            </a:r>
          </a:p>
          <a:p>
            <a:endParaRPr lang="en-US" altLang="en-US"/>
          </a:p>
          <a:p>
            <a:r>
              <a:rPr lang="en-US" altLang="en-US"/>
              <a:t>Every permutation can be resolved as a product of finite number of transposition but the decomposition is not unique. However for a give permutation the number of transposition is always odd or always even.</a:t>
            </a:r>
            <a:endParaRPr lang="en-IN" altLang="en-US"/>
          </a:p>
        </p:txBody>
      </p:sp>
      <p:sp>
        <p:nvSpPr>
          <p:cNvPr id="126981" name="TextBox 5">
            <a:extLst>
              <a:ext uri="{FF2B5EF4-FFF2-40B4-BE49-F238E27FC236}">
                <a16:creationId xmlns:a16="http://schemas.microsoft.com/office/drawing/2014/main" id="{4EEA5762-61CA-48DB-A120-A950D8C19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9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Transposition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3">
            <a:extLst>
              <a:ext uri="{FF2B5EF4-FFF2-40B4-BE49-F238E27FC236}">
                <a16:creationId xmlns:a16="http://schemas.microsoft.com/office/drawing/2014/main" id="{8FD42C86-F97B-48F2-9AB6-0E83723D3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371601"/>
            <a:ext cx="79406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The process consist of two steps 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</a:rPr>
              <a:t>Express the permutation as a product of disjoint cycles </a:t>
            </a:r>
          </a:p>
          <a:p>
            <a:pPr eaLnBrk="1" hangingPunct="1">
              <a:buFontTx/>
              <a:buAutoNum type="arabicPeriod"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</a:rPr>
              <a:t>Express each cycle as a product of transposition. </a:t>
            </a:r>
          </a:p>
          <a:p>
            <a:pPr algn="ctr" eaLnBrk="1" hangingPunct="1"/>
            <a:endParaRPr lang="el-GR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>
            <a:extLst>
              <a:ext uri="{FF2B5EF4-FFF2-40B4-BE49-F238E27FC236}">
                <a16:creationId xmlns:a16="http://schemas.microsoft.com/office/drawing/2014/main" id="{67CEB34A-F3DB-43EF-A9E6-B4EFA791E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1949451"/>
            <a:ext cx="71024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A permutation is set to be even or odd according as it can be expressed as product of even or odd number of transposition. </a:t>
            </a:r>
            <a:endParaRPr lang="en-IN" altLang="en-US"/>
          </a:p>
        </p:txBody>
      </p:sp>
      <p:sp>
        <p:nvSpPr>
          <p:cNvPr id="183299" name="TextBox 5">
            <a:extLst>
              <a:ext uri="{FF2B5EF4-FFF2-40B4-BE49-F238E27FC236}">
                <a16:creationId xmlns:a16="http://schemas.microsoft.com/office/drawing/2014/main" id="{94598BC9-C114-48E5-98B0-37218690D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9" y="2794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Even and off permutation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406400" y="1036399"/>
            <a:ext cx="10972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A finite group G of order 219 is __________</a:t>
            </a:r>
          </a:p>
          <a:p>
            <a:pPr fontAlgn="base"/>
            <a:r>
              <a:rPr lang="en-US" sz="2400" dirty="0"/>
              <a:t>a) a semigroup</a:t>
            </a:r>
          </a:p>
          <a:p>
            <a:pPr fontAlgn="base"/>
            <a:r>
              <a:rPr lang="en-US" sz="2400" dirty="0"/>
              <a:t>b) a subgroup</a:t>
            </a:r>
          </a:p>
          <a:p>
            <a:pPr fontAlgn="base"/>
            <a:r>
              <a:rPr lang="en-US" sz="2400" dirty="0"/>
              <a:t>c) a commutative inverse</a:t>
            </a:r>
          </a:p>
          <a:p>
            <a:pPr fontAlgn="base"/>
            <a:r>
              <a:rPr lang="en-US" sz="2400" dirty="0"/>
              <a:t>d) a cyclic group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d</a:t>
            </a:r>
            <a:br>
              <a:rPr lang="en-US" sz="2400" dirty="0"/>
            </a:br>
            <a:r>
              <a:rPr lang="en-US" sz="2400" dirty="0"/>
              <a:t>Explanation: The prime factorization 219=3⋅73. By the definition of </a:t>
            </a:r>
            <a:r>
              <a:rPr lang="en-US" sz="2400" dirty="0" err="1"/>
              <a:t>Sylow’s</a:t>
            </a:r>
            <a:r>
              <a:rPr lang="en-US" sz="2400" dirty="0"/>
              <a:t> theorem, determine the number np of </a:t>
            </a:r>
            <a:r>
              <a:rPr lang="en-US" sz="2400" dirty="0" err="1"/>
              <a:t>Sylow</a:t>
            </a:r>
            <a:r>
              <a:rPr lang="en-US" sz="2400" dirty="0"/>
              <a:t> p-group for p=3,73. np≡1(mod p) and np divides n/p. Thus, n3 could be 1, 4, 7, 10, 13,… and n3 needs to divide 219/3=73. Hence the only possible value for n3 is n3=1. So there is a unique </a:t>
            </a:r>
            <a:r>
              <a:rPr lang="en-US" sz="2400" dirty="0" err="1"/>
              <a:t>Sylow</a:t>
            </a:r>
            <a:r>
              <a:rPr lang="en-US" sz="2400" dirty="0"/>
              <a:t> 3-subgroup P3 of G. By </a:t>
            </a:r>
            <a:r>
              <a:rPr lang="en-US" sz="2400" dirty="0" err="1"/>
              <a:t>Sylow’s</a:t>
            </a:r>
            <a:r>
              <a:rPr lang="en-US" sz="2400" dirty="0"/>
              <a:t> theorem, the unique </a:t>
            </a:r>
            <a:r>
              <a:rPr lang="en-US" sz="2400" dirty="0" err="1"/>
              <a:t>Sylow</a:t>
            </a:r>
            <a:r>
              <a:rPr lang="en-US" sz="2400" dirty="0"/>
              <a:t> 3-subgroup must be a normal subgroup of G. Similarly, n73=1, 74,… and n73 must divide 219/73=3 and hence we must have n73=1. Thus, G has a unique normal </a:t>
            </a:r>
            <a:r>
              <a:rPr lang="en-US" sz="2400" dirty="0" err="1"/>
              <a:t>Sylow</a:t>
            </a:r>
            <a:r>
              <a:rPr lang="en-US" sz="2400" dirty="0"/>
              <a:t> 73-subgroup P73.</a:t>
            </a:r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1</a:t>
            </a:r>
          </a:p>
        </p:txBody>
      </p:sp>
    </p:spTree>
    <p:extLst>
      <p:ext uri="{BB962C8B-B14F-4D97-AF65-F5344CB8AC3E}">
        <p14:creationId xmlns:p14="http://schemas.microsoft.com/office/powerpoint/2010/main" val="890876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38FC2-38AE-4A98-82A1-B418EF9FE74F}"/>
              </a:ext>
            </a:extLst>
          </p:cNvPr>
          <p:cNvSpPr txBox="1"/>
          <p:nvPr/>
        </p:nvSpPr>
        <p:spPr>
          <a:xfrm>
            <a:off x="723363" y="1498601"/>
            <a:ext cx="89286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Suppose (2, 5, 8, 4) and (3, 6) are the two permutation groups that form cycles. What type of permutation is this?</a:t>
            </a:r>
            <a:br>
              <a:rPr lang="en-US" sz="2400" dirty="0"/>
            </a:br>
            <a:r>
              <a:rPr lang="en-US" sz="2400" dirty="0"/>
              <a:t>a) odd</a:t>
            </a:r>
            <a:br>
              <a:rPr lang="en-US" sz="2400" dirty="0"/>
            </a:br>
            <a:r>
              <a:rPr lang="en-US" sz="2400" dirty="0"/>
              <a:t>b) even</a:t>
            </a:r>
            <a:br>
              <a:rPr lang="en-US" sz="2400" dirty="0"/>
            </a:br>
            <a:r>
              <a:rPr lang="en-US" sz="2400" dirty="0"/>
              <a:t>c) acyclic</a:t>
            </a:r>
            <a:br>
              <a:rPr lang="en-US" sz="2400" dirty="0"/>
            </a:br>
            <a:r>
              <a:rPr lang="en-US" sz="2400" dirty="0"/>
              <a:t>d) prime</a:t>
            </a:r>
          </a:p>
          <a:p>
            <a:pPr fontAlgn="base"/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Century Gothic" panose="020B0502020202020204" pitchFamily="34" charset="0"/>
                <a:cs typeface="Arial" panose="020B0604020202020204" pitchFamily="34" charset="0"/>
              </a:rPr>
              <a:t>Answer:</a:t>
            </a:r>
          </a:p>
          <a:p>
            <a:pPr fontAlgn="base"/>
            <a:r>
              <a:rPr lang="en-US" sz="2400" dirty="0"/>
              <a:t>B</a:t>
            </a:r>
          </a:p>
          <a:p>
            <a:pPr fontAlgn="base"/>
            <a:r>
              <a:rPr lang="en-US" sz="2400" dirty="0"/>
              <a:t>Explanation: There are four permutations (2, 5), (2, 8), (2, 4) and (3, 6) and so it is an even permutation.</a:t>
            </a:r>
          </a:p>
          <a:p>
            <a:endParaRPr lang="en-IN" sz="2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D1AF7-2E15-4F91-A46B-3C77A3032F4C}"/>
              </a:ext>
            </a:extLst>
          </p:cNvPr>
          <p:cNvSpPr txBox="1"/>
          <p:nvPr/>
        </p:nvSpPr>
        <p:spPr>
          <a:xfrm>
            <a:off x="723363" y="158513"/>
            <a:ext cx="1476686" cy="543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33" dirty="0">
                <a:solidFill>
                  <a:schemeClr val="tx1">
                    <a:lumMod val="95000"/>
                    <a:lumOff val="5000"/>
                  </a:schemeClr>
                </a:solidFill>
                <a:latin typeface="Century Gothic" panose="020B0502020202020204" pitchFamily="34" charset="0"/>
                <a:cs typeface="Arial" pitchFamily="34" charset="0"/>
              </a:rPr>
              <a:t>MCQ 2</a:t>
            </a:r>
          </a:p>
        </p:txBody>
      </p:sp>
    </p:spTree>
    <p:extLst>
      <p:ext uri="{BB962C8B-B14F-4D97-AF65-F5344CB8AC3E}">
        <p14:creationId xmlns:p14="http://schemas.microsoft.com/office/powerpoint/2010/main" val="30202384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10477</TotalTime>
  <Words>5513</Words>
  <Application>Microsoft Office PowerPoint</Application>
  <PresentationFormat>Widescreen</PresentationFormat>
  <Paragraphs>568</Paragraphs>
  <Slides>65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Calibri</vt:lpstr>
      <vt:lpstr>Century Gothic</vt:lpstr>
      <vt:lpstr>Times New Roman</vt:lpstr>
      <vt:lpstr>verdana</vt:lpstr>
      <vt:lpstr>Default Design</vt:lpstr>
      <vt:lpstr>Amity Institute of Information Technology BCA , Ist Semester  Basic Mathematics- Group Theory Dr Sarika Jain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Amity Institute of Information Technology MCA , Ist Semester  Graph Theory  Dr Sarika Jain</dc:title>
  <dc:creator>Lalit Kumar</dc:creator>
  <cp:lastModifiedBy>Lalit Kumar</cp:lastModifiedBy>
  <cp:revision>46</cp:revision>
  <dcterms:created xsi:type="dcterms:W3CDTF">2020-09-10T06:54:54Z</dcterms:created>
  <dcterms:modified xsi:type="dcterms:W3CDTF">2020-11-23T18:27:23Z</dcterms:modified>
</cp:coreProperties>
</file>