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7" r:id="rId2"/>
    <p:sldId id="457" r:id="rId3"/>
    <p:sldId id="731" r:id="rId4"/>
    <p:sldId id="732" r:id="rId5"/>
    <p:sldId id="571" r:id="rId6"/>
    <p:sldId id="572" r:id="rId7"/>
    <p:sldId id="573" r:id="rId8"/>
    <p:sldId id="733" r:id="rId9"/>
    <p:sldId id="574" r:id="rId10"/>
    <p:sldId id="575" r:id="rId11"/>
    <p:sldId id="576" r:id="rId12"/>
    <p:sldId id="482" r:id="rId13"/>
    <p:sldId id="73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8" autoAdjust="0"/>
    <p:restoredTop sz="94660"/>
  </p:normalViewPr>
  <p:slideViewPr>
    <p:cSldViewPr snapToGrid="0">
      <p:cViewPr varScale="1">
        <p:scale>
          <a:sx n="86" d="100"/>
          <a:sy n="86" d="100"/>
        </p:scale>
        <p:origin x="42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D42899-61AD-4613-9B61-B96957FA3117}" type="doc">
      <dgm:prSet loTypeId="urn:microsoft.com/office/officeart/2005/8/layout/hProcess9" loCatId="process" qsTypeId="urn:microsoft.com/office/officeart/2005/8/quickstyle/simple4" qsCatId="simple" csTypeId="urn:microsoft.com/office/officeart/2005/8/colors/accent1_2" csCatId="accent1" phldr="1"/>
      <dgm:spPr/>
    </dgm:pt>
    <dgm:pt modelId="{156D3AE0-7D7D-4710-A846-BED8F3ECF95A}">
      <dgm:prSet phldrT="[Text]" custT="1"/>
      <dgm:spPr>
        <a:solidFill>
          <a:schemeClr val="bg1"/>
        </a:solidFill>
        <a:ln>
          <a:solidFill>
            <a:srgbClr val="FFCC01"/>
          </a:solidFill>
        </a:ln>
      </dgm:spPr>
      <dgm:t>
        <a:bodyPr/>
        <a:lstStyle/>
        <a:p>
          <a:pPr algn="just"/>
          <a:r>
            <a:rPr lang="en-US" altLang="en-US" sz="1500" dirty="0">
              <a:solidFill>
                <a:sysClr val="windowText" lastClr="000000"/>
              </a:solidFill>
              <a:latin typeface="Century Gothic" panose="020B0502020202020204" pitchFamily="34" charset="0"/>
              <a:cs typeface="Times New Roman" panose="02020603050405020304" pitchFamily="18" charset="0"/>
            </a:rPr>
            <a:t>In statistics, skewness and kurtosis are the measures which tell about the shape of the data distribution or simply,  both are numerical methods to analyze the shape of data set unlike, plotting graphs and histograms  which are graphical methods. These are normality tests to check the irregularity and asymmetry of the distribution.</a:t>
          </a:r>
          <a:endParaRPr lang="en-IN" altLang="en-US" sz="1500" dirty="0">
            <a:solidFill>
              <a:sysClr val="windowText" lastClr="000000"/>
            </a:solidFill>
            <a:latin typeface="Century Gothic" panose="020B0502020202020204" pitchFamily="34" charset="0"/>
            <a:cs typeface="Times New Roman" panose="02020603050405020304" pitchFamily="18" charset="0"/>
          </a:endParaRPr>
        </a:p>
      </dgm:t>
    </dgm:pt>
    <dgm:pt modelId="{C2083F45-B3D7-4F20-AD37-70FBDEAA9ECE}" type="parTrans" cxnId="{EF8AD9BA-599E-45E0-B15B-AD92003589D1}">
      <dgm:prSet/>
      <dgm:spPr/>
      <dgm:t>
        <a:bodyPr/>
        <a:lstStyle/>
        <a:p>
          <a:endParaRPr lang="en-IN"/>
        </a:p>
      </dgm:t>
    </dgm:pt>
    <dgm:pt modelId="{485EC088-2F1C-4DEA-BF92-FAF18FF873E2}" type="sibTrans" cxnId="{EF8AD9BA-599E-45E0-B15B-AD92003589D1}">
      <dgm:prSet/>
      <dgm:spPr/>
      <dgm:t>
        <a:bodyPr/>
        <a:lstStyle/>
        <a:p>
          <a:endParaRPr lang="en-IN"/>
        </a:p>
      </dgm:t>
    </dgm:pt>
    <dgm:pt modelId="{49660859-6A0A-4E14-A701-38A54A4F8512}" type="pres">
      <dgm:prSet presAssocID="{7ED42899-61AD-4613-9B61-B96957FA3117}" presName="CompostProcess" presStyleCnt="0">
        <dgm:presLayoutVars>
          <dgm:dir/>
          <dgm:resizeHandles val="exact"/>
        </dgm:presLayoutVars>
      </dgm:prSet>
      <dgm:spPr/>
    </dgm:pt>
    <dgm:pt modelId="{3265F3B2-4DF8-4E68-9DB8-8C6D0B8F8E17}" type="pres">
      <dgm:prSet presAssocID="{7ED42899-61AD-4613-9B61-B96957FA3117}" presName="arrow" presStyleLbl="bgShp" presStyleIdx="0" presStyleCnt="1" custScaleX="117647" custScaleY="62093"/>
      <dgm:spPr>
        <a:solidFill>
          <a:srgbClr val="2C2C2C"/>
        </a:solidFill>
      </dgm:spPr>
    </dgm:pt>
    <dgm:pt modelId="{6451A6A6-42FD-47AB-9599-ED9CFA50F085}" type="pres">
      <dgm:prSet presAssocID="{7ED42899-61AD-4613-9B61-B96957FA3117}" presName="linearProcess" presStyleCnt="0"/>
      <dgm:spPr/>
    </dgm:pt>
    <dgm:pt modelId="{73092868-ADD3-43C1-8835-2880A771ECD8}" type="pres">
      <dgm:prSet presAssocID="{156D3AE0-7D7D-4710-A846-BED8F3ECF95A}" presName="textNode" presStyleLbl="node1" presStyleIdx="0" presStyleCnt="1" custScaleX="201455" custScaleY="75132" custLinFactNeighborY="-156">
        <dgm:presLayoutVars>
          <dgm:bulletEnabled val="1"/>
        </dgm:presLayoutVars>
      </dgm:prSet>
      <dgm:spPr/>
    </dgm:pt>
  </dgm:ptLst>
  <dgm:cxnLst>
    <dgm:cxn modelId="{ACE495B5-C76D-4A2E-9EB9-2031D700105D}" type="presOf" srcId="{7ED42899-61AD-4613-9B61-B96957FA3117}" destId="{49660859-6A0A-4E14-A701-38A54A4F8512}" srcOrd="0" destOrd="0" presId="urn:microsoft.com/office/officeart/2005/8/layout/hProcess9"/>
    <dgm:cxn modelId="{C94994B7-5352-4A7F-98D7-FC9EF25AA8E0}" type="presOf" srcId="{156D3AE0-7D7D-4710-A846-BED8F3ECF95A}" destId="{73092868-ADD3-43C1-8835-2880A771ECD8}" srcOrd="0" destOrd="0" presId="urn:microsoft.com/office/officeart/2005/8/layout/hProcess9"/>
    <dgm:cxn modelId="{EF8AD9BA-599E-45E0-B15B-AD92003589D1}" srcId="{7ED42899-61AD-4613-9B61-B96957FA3117}" destId="{156D3AE0-7D7D-4710-A846-BED8F3ECF95A}" srcOrd="0" destOrd="0" parTransId="{C2083F45-B3D7-4F20-AD37-70FBDEAA9ECE}" sibTransId="{485EC088-2F1C-4DEA-BF92-FAF18FF873E2}"/>
    <dgm:cxn modelId="{50876CB8-A4C0-4E9C-9227-524C67B6E0BF}" type="presParOf" srcId="{49660859-6A0A-4E14-A701-38A54A4F8512}" destId="{3265F3B2-4DF8-4E68-9DB8-8C6D0B8F8E17}" srcOrd="0" destOrd="0" presId="urn:microsoft.com/office/officeart/2005/8/layout/hProcess9"/>
    <dgm:cxn modelId="{B2753B1B-B6FD-4D61-A9B1-33A36C5AAB43}" type="presParOf" srcId="{49660859-6A0A-4E14-A701-38A54A4F8512}" destId="{6451A6A6-42FD-47AB-9599-ED9CFA50F085}" srcOrd="1" destOrd="0" presId="urn:microsoft.com/office/officeart/2005/8/layout/hProcess9"/>
    <dgm:cxn modelId="{0AE4F5DA-B47F-4BAE-B799-3053B21E761A}" type="presParOf" srcId="{6451A6A6-42FD-47AB-9599-ED9CFA50F085}" destId="{73092868-ADD3-43C1-8835-2880A771ECD8}"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EC65C5-0C54-4A50-809E-5E7DA8E7BB1A}" type="doc">
      <dgm:prSet loTypeId="urn:microsoft.com/office/officeart/2011/layout/CircleProcess" loCatId="process" qsTypeId="urn:microsoft.com/office/officeart/2005/8/quickstyle/simple4" qsCatId="simple" csTypeId="urn:microsoft.com/office/officeart/2005/8/colors/accent1_2" csCatId="accent1" phldr="1"/>
      <dgm:spPr/>
      <dgm:t>
        <a:bodyPr/>
        <a:lstStyle/>
        <a:p>
          <a:endParaRPr lang="en-IN"/>
        </a:p>
      </dgm:t>
    </dgm:pt>
    <dgm:pt modelId="{EE943D78-9624-454B-92AE-838A2171E7DE}">
      <dgm:prSet phldrT="[Text]" custT="1"/>
      <dgm:spPr>
        <a:ln>
          <a:solidFill>
            <a:srgbClr val="FFCC01"/>
          </a:solidFill>
        </a:ln>
      </dgm:spPr>
      <dgm:t>
        <a:bodyPr/>
        <a:lstStyle/>
        <a:p>
          <a:r>
            <a:rPr lang="en-US" altLang="en-US" sz="1500" dirty="0">
              <a:latin typeface="Century Gothic" panose="020B0502020202020204" pitchFamily="34" charset="0"/>
              <a:cs typeface="Times New Roman" panose="02020603050405020304" pitchFamily="18" charset="0"/>
            </a:rPr>
            <a:t>Karl Pearson’s Method</a:t>
          </a:r>
          <a:endParaRPr lang="en-IN" sz="1500" dirty="0"/>
        </a:p>
      </dgm:t>
    </dgm:pt>
    <dgm:pt modelId="{BA7B81CE-DECF-40E3-932A-C6B21E8E3000}" type="parTrans" cxnId="{22B8CC9B-C863-4F6E-851D-A733673E460E}">
      <dgm:prSet/>
      <dgm:spPr/>
      <dgm:t>
        <a:bodyPr/>
        <a:lstStyle/>
        <a:p>
          <a:endParaRPr lang="en-IN"/>
        </a:p>
      </dgm:t>
    </dgm:pt>
    <dgm:pt modelId="{E7C2ECD6-338E-4ADA-80E4-B2D21B7201DF}" type="sibTrans" cxnId="{22B8CC9B-C863-4F6E-851D-A733673E460E}">
      <dgm:prSet/>
      <dgm:spPr/>
      <dgm:t>
        <a:bodyPr/>
        <a:lstStyle/>
        <a:p>
          <a:endParaRPr lang="en-IN"/>
        </a:p>
      </dgm:t>
    </dgm:pt>
    <dgm:pt modelId="{AD174A17-6472-4132-A95C-2CEED27FDD62}">
      <dgm:prSet custT="1"/>
      <dgm:spPr>
        <a:ln>
          <a:solidFill>
            <a:srgbClr val="FFCC01"/>
          </a:solidFill>
        </a:ln>
      </dgm:spPr>
      <dgm:t>
        <a:bodyPr/>
        <a:lstStyle/>
        <a:p>
          <a:r>
            <a:rPr lang="en-US" altLang="en-US" sz="1500" dirty="0">
              <a:latin typeface="Century Gothic" panose="020B0502020202020204" pitchFamily="34" charset="0"/>
              <a:cs typeface="Times New Roman" panose="02020603050405020304" pitchFamily="18" charset="0"/>
            </a:rPr>
            <a:t>Bowley’s Method</a:t>
          </a:r>
        </a:p>
      </dgm:t>
    </dgm:pt>
    <dgm:pt modelId="{C21AEE1E-325D-40F7-99A3-8CE1C7E76B08}" type="parTrans" cxnId="{71C61934-4BC2-4C0E-BC29-ABD7D7B243A5}">
      <dgm:prSet/>
      <dgm:spPr/>
      <dgm:t>
        <a:bodyPr/>
        <a:lstStyle/>
        <a:p>
          <a:endParaRPr lang="en-IN"/>
        </a:p>
      </dgm:t>
    </dgm:pt>
    <dgm:pt modelId="{B72ED4FB-7CF0-4228-B954-A1206BF58C2C}" type="sibTrans" cxnId="{71C61934-4BC2-4C0E-BC29-ABD7D7B243A5}">
      <dgm:prSet/>
      <dgm:spPr/>
      <dgm:t>
        <a:bodyPr/>
        <a:lstStyle/>
        <a:p>
          <a:endParaRPr lang="en-IN"/>
        </a:p>
      </dgm:t>
    </dgm:pt>
    <dgm:pt modelId="{EE0EA527-3F50-4E97-A18F-E9E1B5C1CFFF}">
      <dgm:prSet custT="1"/>
      <dgm:spPr>
        <a:ln>
          <a:solidFill>
            <a:srgbClr val="FFCC01"/>
          </a:solidFill>
        </a:ln>
      </dgm:spPr>
      <dgm:t>
        <a:bodyPr/>
        <a:lstStyle/>
        <a:p>
          <a:r>
            <a:rPr lang="en-US" altLang="en-US" sz="1500" dirty="0">
              <a:latin typeface="Century Gothic" panose="020B0502020202020204" pitchFamily="34" charset="0"/>
              <a:cs typeface="Times New Roman" panose="02020603050405020304" pitchFamily="18" charset="0"/>
            </a:rPr>
            <a:t>Kelly’s Method</a:t>
          </a:r>
        </a:p>
      </dgm:t>
    </dgm:pt>
    <dgm:pt modelId="{5884F320-318D-4069-A8FE-3731732DB4BA}" type="parTrans" cxnId="{08584F91-40B2-4A49-AFE9-6D8F9DD2E05A}">
      <dgm:prSet/>
      <dgm:spPr/>
      <dgm:t>
        <a:bodyPr/>
        <a:lstStyle/>
        <a:p>
          <a:endParaRPr lang="en-IN"/>
        </a:p>
      </dgm:t>
    </dgm:pt>
    <dgm:pt modelId="{12FDEA02-6C18-4311-97C4-C7343986CD2D}" type="sibTrans" cxnId="{08584F91-40B2-4A49-AFE9-6D8F9DD2E05A}">
      <dgm:prSet/>
      <dgm:spPr/>
      <dgm:t>
        <a:bodyPr/>
        <a:lstStyle/>
        <a:p>
          <a:endParaRPr lang="en-IN"/>
        </a:p>
      </dgm:t>
    </dgm:pt>
    <dgm:pt modelId="{7E30451A-BB65-4EBC-B8BA-0052646081DF}">
      <dgm:prSet custT="1"/>
      <dgm:spPr>
        <a:ln>
          <a:solidFill>
            <a:srgbClr val="FFCC01"/>
          </a:solidFill>
        </a:ln>
      </dgm:spPr>
      <dgm:t>
        <a:bodyPr/>
        <a:lstStyle/>
        <a:p>
          <a:r>
            <a:rPr lang="en-US" altLang="en-US" sz="1500" dirty="0">
              <a:latin typeface="Century Gothic" panose="020B0502020202020204" pitchFamily="34" charset="0"/>
              <a:cs typeface="Times New Roman" panose="02020603050405020304" pitchFamily="18" charset="0"/>
            </a:rPr>
            <a:t>Method of moments</a:t>
          </a:r>
        </a:p>
      </dgm:t>
    </dgm:pt>
    <dgm:pt modelId="{5513F73C-4689-48D2-8A94-A793FF0B2031}" type="parTrans" cxnId="{5517FC8E-0585-4574-9676-EA3E2EA2B701}">
      <dgm:prSet/>
      <dgm:spPr/>
      <dgm:t>
        <a:bodyPr/>
        <a:lstStyle/>
        <a:p>
          <a:endParaRPr lang="en-IN"/>
        </a:p>
      </dgm:t>
    </dgm:pt>
    <dgm:pt modelId="{DD8339B2-1109-4023-8186-3AB742303025}" type="sibTrans" cxnId="{5517FC8E-0585-4574-9676-EA3E2EA2B701}">
      <dgm:prSet/>
      <dgm:spPr/>
      <dgm:t>
        <a:bodyPr/>
        <a:lstStyle/>
        <a:p>
          <a:endParaRPr lang="en-IN"/>
        </a:p>
      </dgm:t>
    </dgm:pt>
    <dgm:pt modelId="{EABF385E-597A-4E17-89A3-90015EDF5338}" type="pres">
      <dgm:prSet presAssocID="{6AEC65C5-0C54-4A50-809E-5E7DA8E7BB1A}" presName="Name0" presStyleCnt="0">
        <dgm:presLayoutVars>
          <dgm:chMax val="11"/>
          <dgm:chPref val="11"/>
          <dgm:dir/>
          <dgm:resizeHandles/>
        </dgm:presLayoutVars>
      </dgm:prSet>
      <dgm:spPr/>
    </dgm:pt>
    <dgm:pt modelId="{9D6BBDBC-5DB1-4BAB-AD49-B365C0EF3C40}" type="pres">
      <dgm:prSet presAssocID="{7E30451A-BB65-4EBC-B8BA-0052646081DF}" presName="Accent4" presStyleCnt="0"/>
      <dgm:spPr/>
    </dgm:pt>
    <dgm:pt modelId="{D5263875-9807-49CD-A1DA-80B46B90B4CE}" type="pres">
      <dgm:prSet presAssocID="{7E30451A-BB65-4EBC-B8BA-0052646081DF}" presName="Accent" presStyleLbl="node1" presStyleIdx="0" presStyleCnt="4"/>
      <dgm:spPr>
        <a:solidFill>
          <a:srgbClr val="2C2C2C"/>
        </a:solidFill>
      </dgm:spPr>
    </dgm:pt>
    <dgm:pt modelId="{4051169E-C9E7-4D06-9869-F25D6B1C2303}" type="pres">
      <dgm:prSet presAssocID="{7E30451A-BB65-4EBC-B8BA-0052646081DF}" presName="ParentBackground4" presStyleCnt="0"/>
      <dgm:spPr/>
    </dgm:pt>
    <dgm:pt modelId="{5771303A-DB9C-462F-9150-0D092A19FD73}" type="pres">
      <dgm:prSet presAssocID="{7E30451A-BB65-4EBC-B8BA-0052646081DF}" presName="ParentBackground" presStyleLbl="fgAcc1" presStyleIdx="0" presStyleCnt="4"/>
      <dgm:spPr/>
    </dgm:pt>
    <dgm:pt modelId="{8A5AB066-F9F1-4F12-8DC4-38BD364F4011}" type="pres">
      <dgm:prSet presAssocID="{7E30451A-BB65-4EBC-B8BA-0052646081DF}" presName="Parent4" presStyleLbl="revTx" presStyleIdx="0" presStyleCnt="0">
        <dgm:presLayoutVars>
          <dgm:chMax val="1"/>
          <dgm:chPref val="1"/>
          <dgm:bulletEnabled val="1"/>
        </dgm:presLayoutVars>
      </dgm:prSet>
      <dgm:spPr/>
    </dgm:pt>
    <dgm:pt modelId="{5838FD44-819A-4DF8-B804-668EC6D7672D}" type="pres">
      <dgm:prSet presAssocID="{EE0EA527-3F50-4E97-A18F-E9E1B5C1CFFF}" presName="Accent3" presStyleCnt="0"/>
      <dgm:spPr/>
    </dgm:pt>
    <dgm:pt modelId="{2060DE58-1840-40B0-B24F-8AB969B6402C}" type="pres">
      <dgm:prSet presAssocID="{EE0EA527-3F50-4E97-A18F-E9E1B5C1CFFF}" presName="Accent" presStyleLbl="node1" presStyleIdx="1" presStyleCnt="4"/>
      <dgm:spPr>
        <a:solidFill>
          <a:srgbClr val="2C2C2C"/>
        </a:solidFill>
      </dgm:spPr>
    </dgm:pt>
    <dgm:pt modelId="{38F80A4A-66EB-402A-9166-E36ABD64BCAB}" type="pres">
      <dgm:prSet presAssocID="{EE0EA527-3F50-4E97-A18F-E9E1B5C1CFFF}" presName="ParentBackground3" presStyleCnt="0"/>
      <dgm:spPr/>
    </dgm:pt>
    <dgm:pt modelId="{D80B7DC6-9301-4887-967F-96773528CE88}" type="pres">
      <dgm:prSet presAssocID="{EE0EA527-3F50-4E97-A18F-E9E1B5C1CFFF}" presName="ParentBackground" presStyleLbl="fgAcc1" presStyleIdx="1" presStyleCnt="4"/>
      <dgm:spPr/>
    </dgm:pt>
    <dgm:pt modelId="{7D33E95D-3342-4929-8142-7A192245C7E6}" type="pres">
      <dgm:prSet presAssocID="{EE0EA527-3F50-4E97-A18F-E9E1B5C1CFFF}" presName="Parent3" presStyleLbl="revTx" presStyleIdx="0" presStyleCnt="0">
        <dgm:presLayoutVars>
          <dgm:chMax val="1"/>
          <dgm:chPref val="1"/>
          <dgm:bulletEnabled val="1"/>
        </dgm:presLayoutVars>
      </dgm:prSet>
      <dgm:spPr/>
    </dgm:pt>
    <dgm:pt modelId="{4EE01ECA-CF54-4479-92FD-5ED110909094}" type="pres">
      <dgm:prSet presAssocID="{AD174A17-6472-4132-A95C-2CEED27FDD62}" presName="Accent2" presStyleCnt="0"/>
      <dgm:spPr/>
    </dgm:pt>
    <dgm:pt modelId="{E06F9E6C-08EA-4B04-9650-B5A85B76AEFA}" type="pres">
      <dgm:prSet presAssocID="{AD174A17-6472-4132-A95C-2CEED27FDD62}" presName="Accent" presStyleLbl="node1" presStyleIdx="2" presStyleCnt="4"/>
      <dgm:spPr>
        <a:solidFill>
          <a:srgbClr val="2C2C2C"/>
        </a:solidFill>
      </dgm:spPr>
    </dgm:pt>
    <dgm:pt modelId="{D0972609-BD0C-4CC3-8BB7-927ED82C89BF}" type="pres">
      <dgm:prSet presAssocID="{AD174A17-6472-4132-A95C-2CEED27FDD62}" presName="ParentBackground2" presStyleCnt="0"/>
      <dgm:spPr/>
    </dgm:pt>
    <dgm:pt modelId="{168058D6-3A0B-4FFA-8BF4-6569A7C7C036}" type="pres">
      <dgm:prSet presAssocID="{AD174A17-6472-4132-A95C-2CEED27FDD62}" presName="ParentBackground" presStyleLbl="fgAcc1" presStyleIdx="2" presStyleCnt="4"/>
      <dgm:spPr/>
    </dgm:pt>
    <dgm:pt modelId="{4E0103BC-7059-4262-9A21-1671EED7EE22}" type="pres">
      <dgm:prSet presAssocID="{AD174A17-6472-4132-A95C-2CEED27FDD62}" presName="Parent2" presStyleLbl="revTx" presStyleIdx="0" presStyleCnt="0">
        <dgm:presLayoutVars>
          <dgm:chMax val="1"/>
          <dgm:chPref val="1"/>
          <dgm:bulletEnabled val="1"/>
        </dgm:presLayoutVars>
      </dgm:prSet>
      <dgm:spPr/>
    </dgm:pt>
    <dgm:pt modelId="{7A5F1695-3508-447A-A348-582CA496F133}" type="pres">
      <dgm:prSet presAssocID="{EE943D78-9624-454B-92AE-838A2171E7DE}" presName="Accent1" presStyleCnt="0"/>
      <dgm:spPr/>
    </dgm:pt>
    <dgm:pt modelId="{BDF4ECA1-85BA-4B9D-AB33-8251E207CA6F}" type="pres">
      <dgm:prSet presAssocID="{EE943D78-9624-454B-92AE-838A2171E7DE}" presName="Accent" presStyleLbl="node1" presStyleIdx="3" presStyleCnt="4"/>
      <dgm:spPr>
        <a:solidFill>
          <a:srgbClr val="2C2C2C"/>
        </a:solidFill>
      </dgm:spPr>
    </dgm:pt>
    <dgm:pt modelId="{814D2F6C-B377-4DD4-9ECD-D0E0902EEC02}" type="pres">
      <dgm:prSet presAssocID="{EE943D78-9624-454B-92AE-838A2171E7DE}" presName="ParentBackground1" presStyleCnt="0"/>
      <dgm:spPr/>
    </dgm:pt>
    <dgm:pt modelId="{C3AFFB18-4175-4216-A3CF-D7A7EF1B2B7C}" type="pres">
      <dgm:prSet presAssocID="{EE943D78-9624-454B-92AE-838A2171E7DE}" presName="ParentBackground" presStyleLbl="fgAcc1" presStyleIdx="3" presStyleCnt="4"/>
      <dgm:spPr/>
    </dgm:pt>
    <dgm:pt modelId="{3F4EF137-1F5F-417F-97A7-623A51B6201A}" type="pres">
      <dgm:prSet presAssocID="{EE943D78-9624-454B-92AE-838A2171E7DE}" presName="Parent1" presStyleLbl="revTx" presStyleIdx="0" presStyleCnt="0">
        <dgm:presLayoutVars>
          <dgm:chMax val="1"/>
          <dgm:chPref val="1"/>
          <dgm:bulletEnabled val="1"/>
        </dgm:presLayoutVars>
      </dgm:prSet>
      <dgm:spPr/>
    </dgm:pt>
  </dgm:ptLst>
  <dgm:cxnLst>
    <dgm:cxn modelId="{4B2D7907-4E97-4E8A-9B50-120FACFA9F0B}" type="presOf" srcId="{EE943D78-9624-454B-92AE-838A2171E7DE}" destId="{3F4EF137-1F5F-417F-97A7-623A51B6201A}" srcOrd="1" destOrd="0" presId="urn:microsoft.com/office/officeart/2011/layout/CircleProcess"/>
    <dgm:cxn modelId="{E7780614-A042-4313-8427-686D51BC17AD}" type="presOf" srcId="{AD174A17-6472-4132-A95C-2CEED27FDD62}" destId="{4E0103BC-7059-4262-9A21-1671EED7EE22}" srcOrd="1" destOrd="0" presId="urn:microsoft.com/office/officeart/2011/layout/CircleProcess"/>
    <dgm:cxn modelId="{4C575833-CEDD-41A8-B3E5-742C8E9DCCC5}" type="presOf" srcId="{7E30451A-BB65-4EBC-B8BA-0052646081DF}" destId="{8A5AB066-F9F1-4F12-8DC4-38BD364F4011}" srcOrd="1" destOrd="0" presId="urn:microsoft.com/office/officeart/2011/layout/CircleProcess"/>
    <dgm:cxn modelId="{71C61934-4BC2-4C0E-BC29-ABD7D7B243A5}" srcId="{6AEC65C5-0C54-4A50-809E-5E7DA8E7BB1A}" destId="{AD174A17-6472-4132-A95C-2CEED27FDD62}" srcOrd="1" destOrd="0" parTransId="{C21AEE1E-325D-40F7-99A3-8CE1C7E76B08}" sibTransId="{B72ED4FB-7CF0-4228-B954-A1206BF58C2C}"/>
    <dgm:cxn modelId="{20B4D264-F50A-4F06-931C-D73873841B42}" type="presOf" srcId="{EE0EA527-3F50-4E97-A18F-E9E1B5C1CFFF}" destId="{7D33E95D-3342-4929-8142-7A192245C7E6}" srcOrd="1" destOrd="0" presId="urn:microsoft.com/office/officeart/2011/layout/CircleProcess"/>
    <dgm:cxn modelId="{29804F6A-C68E-4DC2-8C71-2ACE4154B85C}" type="presOf" srcId="{6AEC65C5-0C54-4A50-809E-5E7DA8E7BB1A}" destId="{EABF385E-597A-4E17-89A3-90015EDF5338}" srcOrd="0" destOrd="0" presId="urn:microsoft.com/office/officeart/2011/layout/CircleProcess"/>
    <dgm:cxn modelId="{D1C4374E-92A2-4831-96CF-856D3F6AD787}" type="presOf" srcId="{EE943D78-9624-454B-92AE-838A2171E7DE}" destId="{C3AFFB18-4175-4216-A3CF-D7A7EF1B2B7C}" srcOrd="0" destOrd="0" presId="urn:microsoft.com/office/officeart/2011/layout/CircleProcess"/>
    <dgm:cxn modelId="{8CE53577-D5D0-4166-8E0C-732FF46FDABF}" type="presOf" srcId="{7E30451A-BB65-4EBC-B8BA-0052646081DF}" destId="{5771303A-DB9C-462F-9150-0D092A19FD73}" srcOrd="0" destOrd="0" presId="urn:microsoft.com/office/officeart/2011/layout/CircleProcess"/>
    <dgm:cxn modelId="{4E9F928D-13DC-4399-95DD-D683CA8D84D1}" type="presOf" srcId="{AD174A17-6472-4132-A95C-2CEED27FDD62}" destId="{168058D6-3A0B-4FFA-8BF4-6569A7C7C036}" srcOrd="0" destOrd="0" presId="urn:microsoft.com/office/officeart/2011/layout/CircleProcess"/>
    <dgm:cxn modelId="{5517FC8E-0585-4574-9676-EA3E2EA2B701}" srcId="{6AEC65C5-0C54-4A50-809E-5E7DA8E7BB1A}" destId="{7E30451A-BB65-4EBC-B8BA-0052646081DF}" srcOrd="3" destOrd="0" parTransId="{5513F73C-4689-48D2-8A94-A793FF0B2031}" sibTransId="{DD8339B2-1109-4023-8186-3AB742303025}"/>
    <dgm:cxn modelId="{08584F91-40B2-4A49-AFE9-6D8F9DD2E05A}" srcId="{6AEC65C5-0C54-4A50-809E-5E7DA8E7BB1A}" destId="{EE0EA527-3F50-4E97-A18F-E9E1B5C1CFFF}" srcOrd="2" destOrd="0" parTransId="{5884F320-318D-4069-A8FE-3731732DB4BA}" sibTransId="{12FDEA02-6C18-4311-97C4-C7343986CD2D}"/>
    <dgm:cxn modelId="{22B8CC9B-C863-4F6E-851D-A733673E460E}" srcId="{6AEC65C5-0C54-4A50-809E-5E7DA8E7BB1A}" destId="{EE943D78-9624-454B-92AE-838A2171E7DE}" srcOrd="0" destOrd="0" parTransId="{BA7B81CE-DECF-40E3-932A-C6B21E8E3000}" sibTransId="{E7C2ECD6-338E-4ADA-80E4-B2D21B7201DF}"/>
    <dgm:cxn modelId="{8257BCD8-2FA9-423B-BC17-C5AD61671046}" type="presOf" srcId="{EE0EA527-3F50-4E97-A18F-E9E1B5C1CFFF}" destId="{D80B7DC6-9301-4887-967F-96773528CE88}" srcOrd="0" destOrd="0" presId="urn:microsoft.com/office/officeart/2011/layout/CircleProcess"/>
    <dgm:cxn modelId="{BEB039C6-D454-473A-932B-22126CD491FD}" type="presParOf" srcId="{EABF385E-597A-4E17-89A3-90015EDF5338}" destId="{9D6BBDBC-5DB1-4BAB-AD49-B365C0EF3C40}" srcOrd="0" destOrd="0" presId="urn:microsoft.com/office/officeart/2011/layout/CircleProcess"/>
    <dgm:cxn modelId="{60845CED-AA34-4421-A57C-5D727B5A34A8}" type="presParOf" srcId="{9D6BBDBC-5DB1-4BAB-AD49-B365C0EF3C40}" destId="{D5263875-9807-49CD-A1DA-80B46B90B4CE}" srcOrd="0" destOrd="0" presId="urn:microsoft.com/office/officeart/2011/layout/CircleProcess"/>
    <dgm:cxn modelId="{32B227DE-51DC-483F-ABB2-D1DE27B5DDC5}" type="presParOf" srcId="{EABF385E-597A-4E17-89A3-90015EDF5338}" destId="{4051169E-C9E7-4D06-9869-F25D6B1C2303}" srcOrd="1" destOrd="0" presId="urn:microsoft.com/office/officeart/2011/layout/CircleProcess"/>
    <dgm:cxn modelId="{CC837299-EAA1-404D-BAD5-9A82D2BFE6D3}" type="presParOf" srcId="{4051169E-C9E7-4D06-9869-F25D6B1C2303}" destId="{5771303A-DB9C-462F-9150-0D092A19FD73}" srcOrd="0" destOrd="0" presId="urn:microsoft.com/office/officeart/2011/layout/CircleProcess"/>
    <dgm:cxn modelId="{102099D1-B9D8-484D-A8B8-723845B33D30}" type="presParOf" srcId="{EABF385E-597A-4E17-89A3-90015EDF5338}" destId="{8A5AB066-F9F1-4F12-8DC4-38BD364F4011}" srcOrd="2" destOrd="0" presId="urn:microsoft.com/office/officeart/2011/layout/CircleProcess"/>
    <dgm:cxn modelId="{2714058D-5543-421A-B044-AFE1DC19F6C5}" type="presParOf" srcId="{EABF385E-597A-4E17-89A3-90015EDF5338}" destId="{5838FD44-819A-4DF8-B804-668EC6D7672D}" srcOrd="3" destOrd="0" presId="urn:microsoft.com/office/officeart/2011/layout/CircleProcess"/>
    <dgm:cxn modelId="{6F2A7766-482F-4B83-93C3-C60326E2C367}" type="presParOf" srcId="{5838FD44-819A-4DF8-B804-668EC6D7672D}" destId="{2060DE58-1840-40B0-B24F-8AB969B6402C}" srcOrd="0" destOrd="0" presId="urn:microsoft.com/office/officeart/2011/layout/CircleProcess"/>
    <dgm:cxn modelId="{A7F83D2B-9D7D-43E2-B7F5-D67CB5C6114E}" type="presParOf" srcId="{EABF385E-597A-4E17-89A3-90015EDF5338}" destId="{38F80A4A-66EB-402A-9166-E36ABD64BCAB}" srcOrd="4" destOrd="0" presId="urn:microsoft.com/office/officeart/2011/layout/CircleProcess"/>
    <dgm:cxn modelId="{31853129-72B5-41D4-B939-346FF501DED0}" type="presParOf" srcId="{38F80A4A-66EB-402A-9166-E36ABD64BCAB}" destId="{D80B7DC6-9301-4887-967F-96773528CE88}" srcOrd="0" destOrd="0" presId="urn:microsoft.com/office/officeart/2011/layout/CircleProcess"/>
    <dgm:cxn modelId="{A946863D-3B28-4B69-91ED-2B888EA2135B}" type="presParOf" srcId="{EABF385E-597A-4E17-89A3-90015EDF5338}" destId="{7D33E95D-3342-4929-8142-7A192245C7E6}" srcOrd="5" destOrd="0" presId="urn:microsoft.com/office/officeart/2011/layout/CircleProcess"/>
    <dgm:cxn modelId="{ACCC0747-3502-4445-9DE0-94638301582F}" type="presParOf" srcId="{EABF385E-597A-4E17-89A3-90015EDF5338}" destId="{4EE01ECA-CF54-4479-92FD-5ED110909094}" srcOrd="6" destOrd="0" presId="urn:microsoft.com/office/officeart/2011/layout/CircleProcess"/>
    <dgm:cxn modelId="{89EC7387-1858-4C7B-A875-7FB26E133937}" type="presParOf" srcId="{4EE01ECA-CF54-4479-92FD-5ED110909094}" destId="{E06F9E6C-08EA-4B04-9650-B5A85B76AEFA}" srcOrd="0" destOrd="0" presId="urn:microsoft.com/office/officeart/2011/layout/CircleProcess"/>
    <dgm:cxn modelId="{8ED862C1-FF3F-47D7-9867-7D7F0EA717F1}" type="presParOf" srcId="{EABF385E-597A-4E17-89A3-90015EDF5338}" destId="{D0972609-BD0C-4CC3-8BB7-927ED82C89BF}" srcOrd="7" destOrd="0" presId="urn:microsoft.com/office/officeart/2011/layout/CircleProcess"/>
    <dgm:cxn modelId="{965F032F-EB79-49FC-9D98-F6DB41CC9E56}" type="presParOf" srcId="{D0972609-BD0C-4CC3-8BB7-927ED82C89BF}" destId="{168058D6-3A0B-4FFA-8BF4-6569A7C7C036}" srcOrd="0" destOrd="0" presId="urn:microsoft.com/office/officeart/2011/layout/CircleProcess"/>
    <dgm:cxn modelId="{8F6456A0-D2EE-4278-9989-5DD74D3D9F0B}" type="presParOf" srcId="{EABF385E-597A-4E17-89A3-90015EDF5338}" destId="{4E0103BC-7059-4262-9A21-1671EED7EE22}" srcOrd="8" destOrd="0" presId="urn:microsoft.com/office/officeart/2011/layout/CircleProcess"/>
    <dgm:cxn modelId="{F02CCC47-23F7-45F1-AE99-EEDC1599FD1A}" type="presParOf" srcId="{EABF385E-597A-4E17-89A3-90015EDF5338}" destId="{7A5F1695-3508-447A-A348-582CA496F133}" srcOrd="9" destOrd="0" presId="urn:microsoft.com/office/officeart/2011/layout/CircleProcess"/>
    <dgm:cxn modelId="{0CE1D97C-7679-49C4-BF34-17193A558395}" type="presParOf" srcId="{7A5F1695-3508-447A-A348-582CA496F133}" destId="{BDF4ECA1-85BA-4B9D-AB33-8251E207CA6F}" srcOrd="0" destOrd="0" presId="urn:microsoft.com/office/officeart/2011/layout/CircleProcess"/>
    <dgm:cxn modelId="{233DA7EF-0C78-4B05-8ECA-32B7D9CC6E17}" type="presParOf" srcId="{EABF385E-597A-4E17-89A3-90015EDF5338}" destId="{814D2F6C-B377-4DD4-9ECD-D0E0902EEC02}" srcOrd="10" destOrd="0" presId="urn:microsoft.com/office/officeart/2011/layout/CircleProcess"/>
    <dgm:cxn modelId="{D168201A-AE50-400C-A58E-128B091A103F}" type="presParOf" srcId="{814D2F6C-B377-4DD4-9ECD-D0E0902EEC02}" destId="{C3AFFB18-4175-4216-A3CF-D7A7EF1B2B7C}" srcOrd="0" destOrd="0" presId="urn:microsoft.com/office/officeart/2011/layout/CircleProcess"/>
    <dgm:cxn modelId="{4E537432-096F-4EBF-9A28-7CB7685D1397}" type="presParOf" srcId="{EABF385E-597A-4E17-89A3-90015EDF5338}" destId="{3F4EF137-1F5F-417F-97A7-623A51B6201A}" srcOrd="11"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65F3B2-4DF8-4E68-9DB8-8C6D0B8F8E17}">
      <dsp:nvSpPr>
        <dsp:cNvPr id="0" name=""/>
        <dsp:cNvSpPr/>
      </dsp:nvSpPr>
      <dsp:spPr>
        <a:xfrm>
          <a:off x="2" y="924324"/>
          <a:ext cx="10667994" cy="3028151"/>
        </a:xfrm>
        <a:prstGeom prst="rightArrow">
          <a:avLst/>
        </a:prstGeom>
        <a:solidFill>
          <a:srgbClr val="2C2C2C"/>
        </a:solidFill>
        <a:ln>
          <a:noFill/>
        </a:ln>
        <a:effectLst/>
      </dsp:spPr>
      <dsp:style>
        <a:lnRef idx="0">
          <a:scrgbClr r="0" g="0" b="0"/>
        </a:lnRef>
        <a:fillRef idx="1">
          <a:scrgbClr r="0" g="0" b="0"/>
        </a:fillRef>
        <a:effectRef idx="2">
          <a:scrgbClr r="0" g="0" b="0"/>
        </a:effectRef>
        <a:fontRef idx="minor"/>
      </dsp:style>
    </dsp:sp>
    <dsp:sp modelId="{73092868-ADD3-43C1-8835-2880A771ECD8}">
      <dsp:nvSpPr>
        <dsp:cNvPr id="0" name=""/>
        <dsp:cNvSpPr/>
      </dsp:nvSpPr>
      <dsp:spPr>
        <a:xfrm>
          <a:off x="1563" y="1702549"/>
          <a:ext cx="10664873" cy="1465614"/>
        </a:xfrm>
        <a:prstGeom prst="roundRect">
          <a:avLst/>
        </a:prstGeom>
        <a:solidFill>
          <a:schemeClr val="bg1"/>
        </a:solidFill>
        <a:ln>
          <a:solidFill>
            <a:srgbClr val="FFCC0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just" defTabSz="666750">
            <a:lnSpc>
              <a:spcPct val="90000"/>
            </a:lnSpc>
            <a:spcBef>
              <a:spcPct val="0"/>
            </a:spcBef>
            <a:spcAft>
              <a:spcPct val="35000"/>
            </a:spcAft>
            <a:buNone/>
          </a:pPr>
          <a:r>
            <a:rPr lang="en-US" altLang="en-US" sz="1500" kern="1200" dirty="0">
              <a:solidFill>
                <a:sysClr val="windowText" lastClr="000000"/>
              </a:solidFill>
              <a:latin typeface="Century Gothic" panose="020B0502020202020204" pitchFamily="34" charset="0"/>
              <a:cs typeface="Times New Roman" panose="02020603050405020304" pitchFamily="18" charset="0"/>
            </a:rPr>
            <a:t>In statistics, skewness and kurtosis are the measures which tell about the shape of the data distribution or simply,  both are numerical methods to analyze the shape of data set unlike, plotting graphs and histograms  which are graphical methods. These are normality tests to check the irregularity and asymmetry of the distribution.</a:t>
          </a:r>
          <a:endParaRPr lang="en-IN" altLang="en-US" sz="1500" kern="1200" dirty="0">
            <a:solidFill>
              <a:sysClr val="windowText" lastClr="000000"/>
            </a:solidFill>
            <a:latin typeface="Century Gothic" panose="020B0502020202020204" pitchFamily="34" charset="0"/>
            <a:cs typeface="Times New Roman" panose="02020603050405020304" pitchFamily="18" charset="0"/>
          </a:endParaRPr>
        </a:p>
      </dsp:txBody>
      <dsp:txXfrm>
        <a:off x="73108" y="1774094"/>
        <a:ext cx="10521783" cy="13225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263875-9807-49CD-A1DA-80B46B90B4CE}">
      <dsp:nvSpPr>
        <dsp:cNvPr id="0" name=""/>
        <dsp:cNvSpPr/>
      </dsp:nvSpPr>
      <dsp:spPr>
        <a:xfrm>
          <a:off x="8157163" y="993854"/>
          <a:ext cx="2446986" cy="2447111"/>
        </a:xfrm>
        <a:prstGeom prst="ellipse">
          <a:avLst/>
        </a:prstGeom>
        <a:solidFill>
          <a:srgbClr val="2C2C2C"/>
        </a:solidFill>
        <a:ln>
          <a:noFill/>
        </a:ln>
        <a:effectLst/>
      </dsp:spPr>
      <dsp:style>
        <a:lnRef idx="0">
          <a:scrgbClr r="0" g="0" b="0"/>
        </a:lnRef>
        <a:fillRef idx="3">
          <a:scrgbClr r="0" g="0" b="0"/>
        </a:fillRef>
        <a:effectRef idx="2">
          <a:scrgbClr r="0" g="0" b="0"/>
        </a:effectRef>
        <a:fontRef idx="minor">
          <a:schemeClr val="lt1"/>
        </a:fontRef>
      </dsp:style>
    </dsp:sp>
    <dsp:sp modelId="{5771303A-DB9C-462F-9150-0D092A19FD73}">
      <dsp:nvSpPr>
        <dsp:cNvPr id="0" name=""/>
        <dsp:cNvSpPr/>
      </dsp:nvSpPr>
      <dsp:spPr>
        <a:xfrm>
          <a:off x="8239009" y="1075439"/>
          <a:ext cx="2284343" cy="2283942"/>
        </a:xfrm>
        <a:prstGeom prst="ellipse">
          <a:avLst/>
        </a:prstGeom>
        <a:solidFill>
          <a:schemeClr val="lt1">
            <a:alpha val="90000"/>
            <a:hueOff val="0"/>
            <a:satOff val="0"/>
            <a:lumOff val="0"/>
            <a:alphaOff val="0"/>
          </a:schemeClr>
        </a:solidFill>
        <a:ln w="6350" cap="flat" cmpd="sng" algn="ctr">
          <a:solidFill>
            <a:srgbClr val="FFCC01"/>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latin typeface="Century Gothic" panose="020B0502020202020204" pitchFamily="34" charset="0"/>
              <a:cs typeface="Times New Roman" panose="02020603050405020304" pitchFamily="18" charset="0"/>
            </a:rPr>
            <a:t>Method of moments</a:t>
          </a:r>
        </a:p>
      </dsp:txBody>
      <dsp:txXfrm>
        <a:off x="8565344" y="1401778"/>
        <a:ext cx="1631674" cy="1631264"/>
      </dsp:txXfrm>
    </dsp:sp>
    <dsp:sp modelId="{2060DE58-1840-40B0-B24F-8AB969B6402C}">
      <dsp:nvSpPr>
        <dsp:cNvPr id="0" name=""/>
        <dsp:cNvSpPr/>
      </dsp:nvSpPr>
      <dsp:spPr>
        <a:xfrm rot="2700000">
          <a:off x="5617817" y="993682"/>
          <a:ext cx="2447026" cy="2447026"/>
        </a:xfrm>
        <a:prstGeom prst="teardrop">
          <a:avLst>
            <a:gd name="adj" fmla="val 100000"/>
          </a:avLst>
        </a:prstGeom>
        <a:solidFill>
          <a:srgbClr val="2C2C2C"/>
        </a:solidFill>
        <a:ln>
          <a:noFill/>
        </a:ln>
        <a:effectLst/>
      </dsp:spPr>
      <dsp:style>
        <a:lnRef idx="0">
          <a:scrgbClr r="0" g="0" b="0"/>
        </a:lnRef>
        <a:fillRef idx="3">
          <a:scrgbClr r="0" g="0" b="0"/>
        </a:fillRef>
        <a:effectRef idx="2">
          <a:scrgbClr r="0" g="0" b="0"/>
        </a:effectRef>
        <a:fontRef idx="minor">
          <a:schemeClr val="lt1"/>
        </a:fontRef>
      </dsp:style>
    </dsp:sp>
    <dsp:sp modelId="{D80B7DC6-9301-4887-967F-96773528CE88}">
      <dsp:nvSpPr>
        <dsp:cNvPr id="0" name=""/>
        <dsp:cNvSpPr/>
      </dsp:nvSpPr>
      <dsp:spPr>
        <a:xfrm>
          <a:off x="5710176" y="1075439"/>
          <a:ext cx="2284343" cy="2283942"/>
        </a:xfrm>
        <a:prstGeom prst="ellipse">
          <a:avLst/>
        </a:prstGeom>
        <a:solidFill>
          <a:schemeClr val="lt1">
            <a:alpha val="90000"/>
            <a:hueOff val="0"/>
            <a:satOff val="0"/>
            <a:lumOff val="0"/>
            <a:alphaOff val="0"/>
          </a:schemeClr>
        </a:solidFill>
        <a:ln w="6350" cap="flat" cmpd="sng" algn="ctr">
          <a:solidFill>
            <a:srgbClr val="FFCC01"/>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latin typeface="Century Gothic" panose="020B0502020202020204" pitchFamily="34" charset="0"/>
              <a:cs typeface="Times New Roman" panose="02020603050405020304" pitchFamily="18" charset="0"/>
            </a:rPr>
            <a:t>Kelly’s Method</a:t>
          </a:r>
        </a:p>
      </dsp:txBody>
      <dsp:txXfrm>
        <a:off x="6036511" y="1401778"/>
        <a:ext cx="1631674" cy="1631264"/>
      </dsp:txXfrm>
    </dsp:sp>
    <dsp:sp modelId="{E06F9E6C-08EA-4B04-9650-B5A85B76AEFA}">
      <dsp:nvSpPr>
        <dsp:cNvPr id="0" name=""/>
        <dsp:cNvSpPr/>
      </dsp:nvSpPr>
      <dsp:spPr>
        <a:xfrm rot="2700000">
          <a:off x="3099478" y="993682"/>
          <a:ext cx="2447026" cy="2447026"/>
        </a:xfrm>
        <a:prstGeom prst="teardrop">
          <a:avLst>
            <a:gd name="adj" fmla="val 100000"/>
          </a:avLst>
        </a:prstGeom>
        <a:solidFill>
          <a:srgbClr val="2C2C2C"/>
        </a:solidFill>
        <a:ln>
          <a:noFill/>
        </a:ln>
        <a:effectLst/>
      </dsp:spPr>
      <dsp:style>
        <a:lnRef idx="0">
          <a:scrgbClr r="0" g="0" b="0"/>
        </a:lnRef>
        <a:fillRef idx="3">
          <a:scrgbClr r="0" g="0" b="0"/>
        </a:fillRef>
        <a:effectRef idx="2">
          <a:scrgbClr r="0" g="0" b="0"/>
        </a:effectRef>
        <a:fontRef idx="minor">
          <a:schemeClr val="lt1"/>
        </a:fontRef>
      </dsp:style>
    </dsp:sp>
    <dsp:sp modelId="{168058D6-3A0B-4FFA-8BF4-6569A7C7C036}">
      <dsp:nvSpPr>
        <dsp:cNvPr id="0" name=""/>
        <dsp:cNvSpPr/>
      </dsp:nvSpPr>
      <dsp:spPr>
        <a:xfrm>
          <a:off x="3181344" y="1075439"/>
          <a:ext cx="2284343" cy="2283942"/>
        </a:xfrm>
        <a:prstGeom prst="ellipse">
          <a:avLst/>
        </a:prstGeom>
        <a:solidFill>
          <a:schemeClr val="lt1">
            <a:alpha val="90000"/>
            <a:hueOff val="0"/>
            <a:satOff val="0"/>
            <a:lumOff val="0"/>
            <a:alphaOff val="0"/>
          </a:schemeClr>
        </a:solidFill>
        <a:ln w="6350" cap="flat" cmpd="sng" algn="ctr">
          <a:solidFill>
            <a:srgbClr val="FFCC01"/>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latin typeface="Century Gothic" panose="020B0502020202020204" pitchFamily="34" charset="0"/>
              <a:cs typeface="Times New Roman" panose="02020603050405020304" pitchFamily="18" charset="0"/>
            </a:rPr>
            <a:t>Bowley’s Method</a:t>
          </a:r>
        </a:p>
      </dsp:txBody>
      <dsp:txXfrm>
        <a:off x="3507679" y="1401778"/>
        <a:ext cx="1631674" cy="1631264"/>
      </dsp:txXfrm>
    </dsp:sp>
    <dsp:sp modelId="{BDF4ECA1-85BA-4B9D-AB33-8251E207CA6F}">
      <dsp:nvSpPr>
        <dsp:cNvPr id="0" name=""/>
        <dsp:cNvSpPr/>
      </dsp:nvSpPr>
      <dsp:spPr>
        <a:xfrm rot="2700000">
          <a:off x="570645" y="993682"/>
          <a:ext cx="2447026" cy="2447026"/>
        </a:xfrm>
        <a:prstGeom prst="teardrop">
          <a:avLst>
            <a:gd name="adj" fmla="val 100000"/>
          </a:avLst>
        </a:prstGeom>
        <a:solidFill>
          <a:srgbClr val="2C2C2C"/>
        </a:solidFill>
        <a:ln>
          <a:noFill/>
        </a:ln>
        <a:effectLst/>
      </dsp:spPr>
      <dsp:style>
        <a:lnRef idx="0">
          <a:scrgbClr r="0" g="0" b="0"/>
        </a:lnRef>
        <a:fillRef idx="3">
          <a:scrgbClr r="0" g="0" b="0"/>
        </a:fillRef>
        <a:effectRef idx="2">
          <a:scrgbClr r="0" g="0" b="0"/>
        </a:effectRef>
        <a:fontRef idx="minor">
          <a:schemeClr val="lt1"/>
        </a:fontRef>
      </dsp:style>
    </dsp:sp>
    <dsp:sp modelId="{C3AFFB18-4175-4216-A3CF-D7A7EF1B2B7C}">
      <dsp:nvSpPr>
        <dsp:cNvPr id="0" name=""/>
        <dsp:cNvSpPr/>
      </dsp:nvSpPr>
      <dsp:spPr>
        <a:xfrm>
          <a:off x="652511" y="1075439"/>
          <a:ext cx="2284343" cy="2283942"/>
        </a:xfrm>
        <a:prstGeom prst="ellipse">
          <a:avLst/>
        </a:prstGeom>
        <a:solidFill>
          <a:schemeClr val="lt1">
            <a:alpha val="90000"/>
            <a:hueOff val="0"/>
            <a:satOff val="0"/>
            <a:lumOff val="0"/>
            <a:alphaOff val="0"/>
          </a:schemeClr>
        </a:solidFill>
        <a:ln w="6350" cap="flat" cmpd="sng" algn="ctr">
          <a:solidFill>
            <a:srgbClr val="FFCC01"/>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en-US" sz="1500" kern="1200" dirty="0">
              <a:latin typeface="Century Gothic" panose="020B0502020202020204" pitchFamily="34" charset="0"/>
              <a:cs typeface="Times New Roman" panose="02020603050405020304" pitchFamily="18" charset="0"/>
            </a:rPr>
            <a:t>Karl Pearson’s Method</a:t>
          </a:r>
          <a:endParaRPr lang="en-IN" sz="1500" kern="1200" dirty="0"/>
        </a:p>
      </dsp:txBody>
      <dsp:txXfrm>
        <a:off x="978846" y="1401778"/>
        <a:ext cx="1631674" cy="163126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6D4FF-DEA4-4892-92B1-559585551894}" type="datetimeFigureOut">
              <a:rPr lang="en-IN" smtClean="0"/>
              <a:t>09-11-2020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A5FB5-0710-47CC-8F83-FD860005E88A}" type="slidenum">
              <a:rPr lang="en-IN" smtClean="0"/>
              <a:t>‹#›</a:t>
            </a:fld>
            <a:endParaRPr lang="en-IN"/>
          </a:p>
        </p:txBody>
      </p:sp>
    </p:spTree>
    <p:extLst>
      <p:ext uri="{BB962C8B-B14F-4D97-AF65-F5344CB8AC3E}">
        <p14:creationId xmlns:p14="http://schemas.microsoft.com/office/powerpoint/2010/main" val="2418103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B8F9BCF-6C3B-4706-A57E-62DF77EB85B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Amity Institute of Information Technology</a:t>
            </a:r>
          </a:p>
        </p:txBody>
      </p:sp>
      <p:sp>
        <p:nvSpPr>
          <p:cNvPr id="5123" name="Rectangle 7">
            <a:extLst>
              <a:ext uri="{FF2B5EF4-FFF2-40B4-BE49-F238E27FC236}">
                <a16:creationId xmlns:a16="http://schemas.microsoft.com/office/drawing/2014/main" id="{A9643575-2427-488D-9ACC-8601D357AE2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4B0C161-B90F-4386-A4C0-CF9C7E8033D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Rectangle 2">
            <a:extLst>
              <a:ext uri="{FF2B5EF4-FFF2-40B4-BE49-F238E27FC236}">
                <a16:creationId xmlns:a16="http://schemas.microsoft.com/office/drawing/2014/main" id="{4B098021-E45A-46DC-8FB4-8B7C02CA01AE}"/>
              </a:ext>
            </a:extLst>
          </p:cNvPr>
          <p:cNvSpPr>
            <a:spLocks noGrp="1" noRot="1" noChangeAspect="1" noChangeArrowheads="1" noTextEdit="1"/>
          </p:cNvSpPr>
          <p:nvPr>
            <p:ph type="sldImg"/>
          </p:nvPr>
        </p:nvSpPr>
        <p:spPr>
          <a:ln/>
        </p:spPr>
      </p:sp>
      <p:sp>
        <p:nvSpPr>
          <p:cNvPr id="5125" name="Rectangle 3">
            <a:extLst>
              <a:ext uri="{FF2B5EF4-FFF2-40B4-BE49-F238E27FC236}">
                <a16:creationId xmlns:a16="http://schemas.microsoft.com/office/drawing/2014/main" id="{5DDACB0A-87E8-404A-9A9D-CEBF51E825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7294E0-43BA-4050-978A-B5F4E62A110E}" type="slidenum">
              <a:rPr lang="en-IN" smtClean="0"/>
              <a:pPr/>
              <a:t>2</a:t>
            </a:fld>
            <a:endParaRPr lang="en-IN" dirty="0"/>
          </a:p>
        </p:txBody>
      </p:sp>
    </p:spTree>
    <p:extLst>
      <p:ext uri="{BB962C8B-B14F-4D97-AF65-F5344CB8AC3E}">
        <p14:creationId xmlns:p14="http://schemas.microsoft.com/office/powerpoint/2010/main" val="2994825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6">
            <a:extLst>
              <a:ext uri="{FF2B5EF4-FFF2-40B4-BE49-F238E27FC236}">
                <a16:creationId xmlns:a16="http://schemas.microsoft.com/office/drawing/2014/main" id="{697815AB-70D8-49EB-A36D-D442E40DD67F}"/>
              </a:ext>
            </a:extLst>
          </p:cNvPr>
          <p:cNvSpPr>
            <a:spLocks noGrp="1" noChangeArrowheads="1"/>
          </p:cNvSpPr>
          <p:nvPr>
            <p:ph type="sldNum" sz="quarter" idx="10"/>
          </p:nvPr>
        </p:nvSpPr>
        <p:spPr>
          <a:ln/>
        </p:spPr>
        <p:txBody>
          <a:bodyPr/>
          <a:lstStyle>
            <a:lvl1pPr>
              <a:defRPr/>
            </a:lvl1pPr>
          </a:lstStyle>
          <a:p>
            <a:pPr>
              <a:defRPr/>
            </a:pPr>
            <a:fld id="{2DBB581B-2F53-4A21-A360-4A739774B45E}" type="slidenum">
              <a:rPr lang="en-US" altLang="en-US"/>
              <a:pPr>
                <a:defRPr/>
              </a:pPr>
              <a:t>‹#›</a:t>
            </a:fld>
            <a:endParaRPr lang="en-US" altLang="en-US"/>
          </a:p>
        </p:txBody>
      </p:sp>
    </p:spTree>
    <p:extLst>
      <p:ext uri="{BB962C8B-B14F-4D97-AF65-F5344CB8AC3E}">
        <p14:creationId xmlns:p14="http://schemas.microsoft.com/office/powerpoint/2010/main" val="158778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DADD6217-5E64-455F-8FDC-A22BBF22A3A9}"/>
              </a:ext>
            </a:extLst>
          </p:cNvPr>
          <p:cNvSpPr>
            <a:spLocks noGrp="1" noChangeArrowheads="1"/>
          </p:cNvSpPr>
          <p:nvPr>
            <p:ph type="sldNum" sz="quarter" idx="10"/>
          </p:nvPr>
        </p:nvSpPr>
        <p:spPr>
          <a:ln/>
        </p:spPr>
        <p:txBody>
          <a:bodyPr/>
          <a:lstStyle>
            <a:lvl1pPr>
              <a:defRPr/>
            </a:lvl1pPr>
          </a:lstStyle>
          <a:p>
            <a:pPr>
              <a:defRPr/>
            </a:pPr>
            <a:fld id="{941F7A49-95A6-4D3E-8239-B64543B8D690}" type="slidenum">
              <a:rPr lang="en-US" altLang="en-US"/>
              <a:pPr>
                <a:defRPr/>
              </a:pPr>
              <a:t>‹#›</a:t>
            </a:fld>
            <a:endParaRPr lang="en-US" altLang="en-US"/>
          </a:p>
        </p:txBody>
      </p:sp>
    </p:spTree>
    <p:extLst>
      <p:ext uri="{BB962C8B-B14F-4D97-AF65-F5344CB8AC3E}">
        <p14:creationId xmlns:p14="http://schemas.microsoft.com/office/powerpoint/2010/main" val="1891958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140E1339-A830-4559-98A3-35372A9481FD}"/>
              </a:ext>
            </a:extLst>
          </p:cNvPr>
          <p:cNvSpPr>
            <a:spLocks noGrp="1" noChangeArrowheads="1"/>
          </p:cNvSpPr>
          <p:nvPr>
            <p:ph type="sldNum" sz="quarter" idx="10"/>
          </p:nvPr>
        </p:nvSpPr>
        <p:spPr>
          <a:ln/>
        </p:spPr>
        <p:txBody>
          <a:bodyPr/>
          <a:lstStyle>
            <a:lvl1pPr>
              <a:defRPr/>
            </a:lvl1pPr>
          </a:lstStyle>
          <a:p>
            <a:pPr>
              <a:defRPr/>
            </a:pPr>
            <a:fld id="{27EC55A9-C5C2-4034-8C68-E5E00DA01365}" type="slidenum">
              <a:rPr lang="en-US" altLang="en-US"/>
              <a:pPr>
                <a:defRPr/>
              </a:pPr>
              <a:t>‹#›</a:t>
            </a:fld>
            <a:endParaRPr lang="en-US" altLang="en-US"/>
          </a:p>
        </p:txBody>
      </p:sp>
    </p:spTree>
    <p:extLst>
      <p:ext uri="{BB962C8B-B14F-4D97-AF65-F5344CB8AC3E}">
        <p14:creationId xmlns:p14="http://schemas.microsoft.com/office/powerpoint/2010/main" val="128151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2E924A73-6C50-4AC3-9D70-9BF5CD770347}"/>
              </a:ext>
            </a:extLst>
          </p:cNvPr>
          <p:cNvSpPr>
            <a:spLocks noGrp="1" noChangeArrowheads="1"/>
          </p:cNvSpPr>
          <p:nvPr>
            <p:ph type="sldNum" sz="quarter" idx="10"/>
          </p:nvPr>
        </p:nvSpPr>
        <p:spPr>
          <a:ln/>
        </p:spPr>
        <p:txBody>
          <a:bodyPr/>
          <a:lstStyle>
            <a:lvl1pPr>
              <a:defRPr/>
            </a:lvl1pPr>
          </a:lstStyle>
          <a:p>
            <a:pPr>
              <a:defRPr/>
            </a:pPr>
            <a:fld id="{BC88B6BB-978E-4895-9FE3-804546364DB5}" type="slidenum">
              <a:rPr lang="en-US" altLang="en-US"/>
              <a:pPr>
                <a:defRPr/>
              </a:pPr>
              <a:t>‹#›</a:t>
            </a:fld>
            <a:endParaRPr lang="en-US" altLang="en-US"/>
          </a:p>
        </p:txBody>
      </p:sp>
    </p:spTree>
    <p:extLst>
      <p:ext uri="{BB962C8B-B14F-4D97-AF65-F5344CB8AC3E}">
        <p14:creationId xmlns:p14="http://schemas.microsoft.com/office/powerpoint/2010/main" val="111234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56EA8121-B2D3-41F8-8E89-A3FE9A413EE6}"/>
              </a:ext>
            </a:extLst>
          </p:cNvPr>
          <p:cNvSpPr>
            <a:spLocks noGrp="1" noChangeArrowheads="1"/>
          </p:cNvSpPr>
          <p:nvPr>
            <p:ph type="sldNum" sz="quarter" idx="10"/>
          </p:nvPr>
        </p:nvSpPr>
        <p:spPr>
          <a:ln/>
        </p:spPr>
        <p:txBody>
          <a:bodyPr/>
          <a:lstStyle>
            <a:lvl1pPr>
              <a:defRPr/>
            </a:lvl1pPr>
          </a:lstStyle>
          <a:p>
            <a:pPr>
              <a:defRPr/>
            </a:pPr>
            <a:fld id="{A5E00F77-6DD8-4988-B35E-0535D76BCEF6}" type="slidenum">
              <a:rPr lang="en-US" altLang="en-US"/>
              <a:pPr>
                <a:defRPr/>
              </a:pPr>
              <a:t>‹#›</a:t>
            </a:fld>
            <a:endParaRPr lang="en-US" altLang="en-US"/>
          </a:p>
        </p:txBody>
      </p:sp>
    </p:spTree>
    <p:extLst>
      <p:ext uri="{BB962C8B-B14F-4D97-AF65-F5344CB8AC3E}">
        <p14:creationId xmlns:p14="http://schemas.microsoft.com/office/powerpoint/2010/main" val="347160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9A4A9970-884C-47F6-8626-E1D4CD9DE41A}"/>
              </a:ext>
            </a:extLst>
          </p:cNvPr>
          <p:cNvSpPr>
            <a:spLocks noGrp="1" noChangeArrowheads="1"/>
          </p:cNvSpPr>
          <p:nvPr>
            <p:ph type="sldNum" sz="quarter" idx="10"/>
          </p:nvPr>
        </p:nvSpPr>
        <p:spPr>
          <a:ln/>
        </p:spPr>
        <p:txBody>
          <a:bodyPr/>
          <a:lstStyle>
            <a:lvl1pPr>
              <a:defRPr/>
            </a:lvl1pPr>
          </a:lstStyle>
          <a:p>
            <a:pPr>
              <a:defRPr/>
            </a:pPr>
            <a:fld id="{4FFCD857-033F-41E3-AE3F-066F8AF172C6}" type="slidenum">
              <a:rPr lang="en-US" altLang="en-US"/>
              <a:pPr>
                <a:defRPr/>
              </a:pPr>
              <a:t>‹#›</a:t>
            </a:fld>
            <a:endParaRPr lang="en-US" altLang="en-US"/>
          </a:p>
        </p:txBody>
      </p:sp>
    </p:spTree>
    <p:extLst>
      <p:ext uri="{BB962C8B-B14F-4D97-AF65-F5344CB8AC3E}">
        <p14:creationId xmlns:p14="http://schemas.microsoft.com/office/powerpoint/2010/main" val="102726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EEFACFA-D5B0-4964-A16D-E8A4CBC7117D}"/>
              </a:ext>
            </a:extLst>
          </p:cNvPr>
          <p:cNvSpPr>
            <a:spLocks noGrp="1" noChangeArrowheads="1"/>
          </p:cNvSpPr>
          <p:nvPr>
            <p:ph type="sldNum" sz="quarter" idx="10"/>
          </p:nvPr>
        </p:nvSpPr>
        <p:spPr>
          <a:ln/>
        </p:spPr>
        <p:txBody>
          <a:bodyPr/>
          <a:lstStyle>
            <a:lvl1pPr>
              <a:defRPr/>
            </a:lvl1pPr>
          </a:lstStyle>
          <a:p>
            <a:pPr>
              <a:defRPr/>
            </a:pPr>
            <a:fld id="{40CE7F4D-6297-41C0-ACE0-955D72B832BD}" type="slidenum">
              <a:rPr lang="en-US" altLang="en-US"/>
              <a:pPr>
                <a:defRPr/>
              </a:pPr>
              <a:t>‹#›</a:t>
            </a:fld>
            <a:endParaRPr lang="en-US" altLang="en-US"/>
          </a:p>
        </p:txBody>
      </p:sp>
    </p:spTree>
    <p:extLst>
      <p:ext uri="{BB962C8B-B14F-4D97-AF65-F5344CB8AC3E}">
        <p14:creationId xmlns:p14="http://schemas.microsoft.com/office/powerpoint/2010/main" val="2078777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8EB96FA9-73D7-4AB6-8917-C92D30A6B63A}"/>
              </a:ext>
            </a:extLst>
          </p:cNvPr>
          <p:cNvSpPr>
            <a:spLocks noGrp="1" noChangeArrowheads="1"/>
          </p:cNvSpPr>
          <p:nvPr>
            <p:ph type="sldNum" sz="quarter" idx="10"/>
          </p:nvPr>
        </p:nvSpPr>
        <p:spPr>
          <a:ln/>
        </p:spPr>
        <p:txBody>
          <a:bodyPr/>
          <a:lstStyle>
            <a:lvl1pPr>
              <a:defRPr/>
            </a:lvl1pPr>
          </a:lstStyle>
          <a:p>
            <a:pPr>
              <a:defRPr/>
            </a:pPr>
            <a:fld id="{69B29622-9F7E-4FEE-927C-378CA5783F19}" type="slidenum">
              <a:rPr lang="en-US" altLang="en-US"/>
              <a:pPr>
                <a:defRPr/>
              </a:pPr>
              <a:t>‹#›</a:t>
            </a:fld>
            <a:endParaRPr lang="en-US" altLang="en-US"/>
          </a:p>
        </p:txBody>
      </p:sp>
    </p:spTree>
    <p:extLst>
      <p:ext uri="{BB962C8B-B14F-4D97-AF65-F5344CB8AC3E}">
        <p14:creationId xmlns:p14="http://schemas.microsoft.com/office/powerpoint/2010/main" val="47768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F7CD70D-4D46-46B4-BEE2-A008FF3640C8}"/>
              </a:ext>
            </a:extLst>
          </p:cNvPr>
          <p:cNvSpPr>
            <a:spLocks noGrp="1" noChangeArrowheads="1"/>
          </p:cNvSpPr>
          <p:nvPr>
            <p:ph type="sldNum" sz="quarter" idx="10"/>
          </p:nvPr>
        </p:nvSpPr>
        <p:spPr>
          <a:ln/>
        </p:spPr>
        <p:txBody>
          <a:bodyPr/>
          <a:lstStyle>
            <a:lvl1pPr>
              <a:defRPr/>
            </a:lvl1pPr>
          </a:lstStyle>
          <a:p>
            <a:pPr>
              <a:defRPr/>
            </a:pPr>
            <a:fld id="{EF827498-146B-4988-8324-4FDA45D96EE1}" type="slidenum">
              <a:rPr lang="en-US" altLang="en-US"/>
              <a:pPr>
                <a:defRPr/>
              </a:pPr>
              <a:t>‹#›</a:t>
            </a:fld>
            <a:endParaRPr lang="en-US" altLang="en-US"/>
          </a:p>
        </p:txBody>
      </p:sp>
    </p:spTree>
    <p:extLst>
      <p:ext uri="{BB962C8B-B14F-4D97-AF65-F5344CB8AC3E}">
        <p14:creationId xmlns:p14="http://schemas.microsoft.com/office/powerpoint/2010/main" val="2301845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8968565-86CB-4886-8DC6-AAC02891B8FB}"/>
              </a:ext>
            </a:extLst>
          </p:cNvPr>
          <p:cNvSpPr>
            <a:spLocks noGrp="1" noChangeArrowheads="1"/>
          </p:cNvSpPr>
          <p:nvPr>
            <p:ph type="sldNum" sz="quarter" idx="10"/>
          </p:nvPr>
        </p:nvSpPr>
        <p:spPr>
          <a:ln/>
        </p:spPr>
        <p:txBody>
          <a:bodyPr/>
          <a:lstStyle>
            <a:lvl1pPr>
              <a:defRPr/>
            </a:lvl1pPr>
          </a:lstStyle>
          <a:p>
            <a:pPr>
              <a:defRPr/>
            </a:pPr>
            <a:fld id="{1CF355AD-7026-4A51-92AC-BDE138BCA4A8}" type="slidenum">
              <a:rPr lang="en-US" altLang="en-US"/>
              <a:pPr>
                <a:defRPr/>
              </a:pPr>
              <a:t>‹#›</a:t>
            </a:fld>
            <a:endParaRPr lang="en-US" altLang="en-US"/>
          </a:p>
        </p:txBody>
      </p:sp>
    </p:spTree>
    <p:extLst>
      <p:ext uri="{BB962C8B-B14F-4D97-AF65-F5344CB8AC3E}">
        <p14:creationId xmlns:p14="http://schemas.microsoft.com/office/powerpoint/2010/main" val="123809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125B6C0-0E44-4A4E-819E-36CEE900B639}"/>
              </a:ext>
            </a:extLst>
          </p:cNvPr>
          <p:cNvSpPr>
            <a:spLocks noGrp="1" noChangeArrowheads="1"/>
          </p:cNvSpPr>
          <p:nvPr>
            <p:ph type="sldNum" sz="quarter" idx="10"/>
          </p:nvPr>
        </p:nvSpPr>
        <p:spPr>
          <a:ln/>
        </p:spPr>
        <p:txBody>
          <a:bodyPr/>
          <a:lstStyle>
            <a:lvl1pPr>
              <a:defRPr/>
            </a:lvl1pPr>
          </a:lstStyle>
          <a:p>
            <a:pPr>
              <a:defRPr/>
            </a:pPr>
            <a:fld id="{52F2FCC7-3B50-42FE-BACC-7717F049D3C3}" type="slidenum">
              <a:rPr lang="en-US" altLang="en-US"/>
              <a:pPr>
                <a:defRPr/>
              </a:pPr>
              <a:t>‹#›</a:t>
            </a:fld>
            <a:endParaRPr lang="en-US" altLang="en-US"/>
          </a:p>
        </p:txBody>
      </p:sp>
    </p:spTree>
    <p:extLst>
      <p:ext uri="{BB962C8B-B14F-4D97-AF65-F5344CB8AC3E}">
        <p14:creationId xmlns:p14="http://schemas.microsoft.com/office/powerpoint/2010/main" val="1695484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BD7087-FF66-4DC3-89BC-F97889426A8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Picture 2" descr="A close up of a sign&#10;&#10;Description automatically generated">
            <a:extLst>
              <a:ext uri="{FF2B5EF4-FFF2-40B4-BE49-F238E27FC236}">
                <a16:creationId xmlns:a16="http://schemas.microsoft.com/office/drawing/2014/main" id="{E1123F4C-6A31-4C1F-A6F6-826F5AEAF06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44000" y="177800"/>
            <a:ext cx="2885445" cy="1202947"/>
          </a:xfrm>
          <a:prstGeom prst="rect">
            <a:avLst/>
          </a:prstGeom>
        </p:spPr>
      </p:pic>
    </p:spTree>
    <p:extLst>
      <p:ext uri="{BB962C8B-B14F-4D97-AF65-F5344CB8AC3E}">
        <p14:creationId xmlns:p14="http://schemas.microsoft.com/office/powerpoint/2010/main" val="556770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933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a:extLst>
              <a:ext uri="{FF2B5EF4-FFF2-40B4-BE49-F238E27FC236}">
                <a16:creationId xmlns:a16="http://schemas.microsoft.com/office/drawing/2014/main" id="{8449A887-5DE0-4487-B255-3AF567F9C735}"/>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b="83365"/>
          <a:stretch>
            <a:fillRect/>
          </a:stretch>
        </p:blipFill>
        <p:spPr bwMode="auto">
          <a:xfrm>
            <a:off x="0" y="76201"/>
            <a:ext cx="1218353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a:extLst>
              <a:ext uri="{FF2B5EF4-FFF2-40B4-BE49-F238E27FC236}">
                <a16:creationId xmlns:a16="http://schemas.microsoft.com/office/drawing/2014/main" id="{3725FC8C-A2FB-4E54-9109-26A80C5FA7A2}"/>
              </a:ext>
            </a:extLst>
          </p:cNvPr>
          <p:cNvSpPr>
            <a:spLocks noGrp="1" noChangeArrowheads="1"/>
          </p:cNvSpPr>
          <p:nvPr>
            <p:ph type="sldNum" sz="quarter" idx="4"/>
          </p:nvPr>
        </p:nvSpPr>
        <p:spPr bwMode="auto">
          <a:xfrm>
            <a:off x="9065684" y="6400800"/>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100" smtClean="0"/>
            </a:lvl1pPr>
          </a:lstStyle>
          <a:p>
            <a:pPr>
              <a:defRPr/>
            </a:pPr>
            <a:fld id="{87D83082-6E93-47F3-BCEC-6D6F7AC7DA64}" type="slidenum">
              <a:rPr lang="en-US" altLang="en-US"/>
              <a:pPr>
                <a:defRPr/>
              </a:pPr>
              <a:t>‹#›</a:t>
            </a:fld>
            <a:endParaRPr lang="en-US" altLang="en-US"/>
          </a:p>
        </p:txBody>
      </p:sp>
      <p:sp>
        <p:nvSpPr>
          <p:cNvPr id="1028" name="Rectangle 8">
            <a:extLst>
              <a:ext uri="{FF2B5EF4-FFF2-40B4-BE49-F238E27FC236}">
                <a16:creationId xmlns:a16="http://schemas.microsoft.com/office/drawing/2014/main" id="{F2006CED-6E1C-4C80-84FC-50B3EA341DF5}"/>
              </a:ext>
            </a:extLst>
          </p:cNvPr>
          <p:cNvSpPr>
            <a:spLocks noChangeArrowheads="1"/>
          </p:cNvSpPr>
          <p:nvPr/>
        </p:nvSpPr>
        <p:spPr bwMode="auto">
          <a:xfrm>
            <a:off x="4656667" y="611188"/>
            <a:ext cx="721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1600" b="1">
                <a:solidFill>
                  <a:schemeClr val="accent2"/>
                </a:solidFill>
              </a:rPr>
              <a:t>Amity Institute of Information Technology</a:t>
            </a:r>
          </a:p>
        </p:txBody>
      </p:sp>
      <p:sp>
        <p:nvSpPr>
          <p:cNvPr id="1029" name="Rectangle 10">
            <a:extLst>
              <a:ext uri="{FF2B5EF4-FFF2-40B4-BE49-F238E27FC236}">
                <a16:creationId xmlns:a16="http://schemas.microsoft.com/office/drawing/2014/main" id="{85D5D199-E1F6-467A-A88F-299499A5AE56}"/>
              </a:ext>
            </a:extLst>
          </p:cNvPr>
          <p:cNvSpPr>
            <a:spLocks noChangeArrowheads="1"/>
          </p:cNvSpPr>
          <p:nvPr userDrawn="1"/>
        </p:nvSpPr>
        <p:spPr bwMode="auto">
          <a:xfrm>
            <a:off x="3251200" y="6705600"/>
            <a:ext cx="8940800" cy="152400"/>
          </a:xfrm>
          <a:prstGeom prst="rect">
            <a:avLst/>
          </a:prstGeom>
          <a:solidFill>
            <a:srgbClr val="F1B4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sz="1800"/>
          </a:p>
        </p:txBody>
      </p:sp>
    </p:spTree>
    <p:extLst>
      <p:ext uri="{BB962C8B-B14F-4D97-AF65-F5344CB8AC3E}">
        <p14:creationId xmlns:p14="http://schemas.microsoft.com/office/powerpoint/2010/main" val="694566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 Id="rId5" Type="http://schemas.microsoft.com/office/2007/relationships/hdphoto" Target="../media/hdphoto4.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9.png"/><Relationship Id="rId1" Type="http://schemas.openxmlformats.org/officeDocument/2006/relationships/slideLayout" Target="../slideLayouts/slideLayout7.xml"/><Relationship Id="rId5" Type="http://schemas.microsoft.com/office/2007/relationships/hdphoto" Target="../media/hdphoto6.wdp"/><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1.png"/><Relationship Id="rId1" Type="http://schemas.openxmlformats.org/officeDocument/2006/relationships/slideLayout" Target="../slideLayouts/slideLayout7.xml"/><Relationship Id="rId5" Type="http://schemas.microsoft.com/office/2007/relationships/hdphoto" Target="../media/hdphoto8.wdp"/><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3.png"/><Relationship Id="rId1" Type="http://schemas.openxmlformats.org/officeDocument/2006/relationships/slideLayout" Target="../slideLayouts/slideLayout7.xml"/><Relationship Id="rId5" Type="http://schemas.microsoft.com/office/2007/relationships/hdphoto" Target="../media/hdphoto10.wdp"/><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5.png"/><Relationship Id="rId1" Type="http://schemas.openxmlformats.org/officeDocument/2006/relationships/slideLayout" Target="../slideLayouts/slideLayout7.xml"/><Relationship Id="rId5" Type="http://schemas.microsoft.com/office/2007/relationships/hdphoto" Target="../media/hdphoto12.wdp"/><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a:extLst>
              <a:ext uri="{FF2B5EF4-FFF2-40B4-BE49-F238E27FC236}">
                <a16:creationId xmlns:a16="http://schemas.microsoft.com/office/drawing/2014/main" id="{8469C9C1-BD22-4CF2-9C58-53B367FE92B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48AB5C7E-C987-4B17-8B6C-FB2215A95668}" type="slidenum">
              <a:rPr lang="en-US" altLang="en-US">
                <a:solidFill>
                  <a:srgbClr val="000000"/>
                </a:solidFill>
              </a:rPr>
              <a:pPr fontAlgn="base">
                <a:spcBef>
                  <a:spcPct val="0"/>
                </a:spcBef>
                <a:spcAft>
                  <a:spcPct val="0"/>
                </a:spcAft>
              </a:pPr>
              <a:t>1</a:t>
            </a:fld>
            <a:endParaRPr lang="en-US" altLang="en-US">
              <a:solidFill>
                <a:srgbClr val="000000"/>
              </a:solidFill>
            </a:endParaRPr>
          </a:p>
        </p:txBody>
      </p:sp>
      <p:sp>
        <p:nvSpPr>
          <p:cNvPr id="4099" name="Rectangle 4">
            <a:extLst>
              <a:ext uri="{FF2B5EF4-FFF2-40B4-BE49-F238E27FC236}">
                <a16:creationId xmlns:a16="http://schemas.microsoft.com/office/drawing/2014/main" id="{A377AE03-F191-4623-A034-86DA79FC7120}"/>
              </a:ext>
            </a:extLst>
          </p:cNvPr>
          <p:cNvSpPr>
            <a:spLocks noGrp="1" noChangeArrowheads="1"/>
          </p:cNvSpPr>
          <p:nvPr>
            <p:ph type="ctrTitle"/>
          </p:nvPr>
        </p:nvSpPr>
        <p:spPr bwMode="auto">
          <a:xfrm>
            <a:off x="2209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pPr>
            <a:r>
              <a:rPr lang="en-US" altLang="en-US" sz="4500" dirty="0">
                <a:solidFill>
                  <a:schemeClr val="tx1"/>
                </a:solidFill>
                <a:latin typeface="Times New Roman" panose="02020603050405020304" pitchFamily="18" charset="0"/>
              </a:rPr>
              <a:t>Amity Institute of Information Technology</a:t>
            </a:r>
            <a:br>
              <a:rPr lang="en-US" altLang="en-US" sz="4500" b="1" dirty="0">
                <a:solidFill>
                  <a:schemeClr val="tx1"/>
                </a:solidFill>
                <a:latin typeface="Times New Roman" panose="02020603050405020304" pitchFamily="18" charset="0"/>
              </a:rPr>
            </a:br>
            <a:r>
              <a:rPr lang="en-US" altLang="en-US" sz="2500" b="1" dirty="0">
                <a:solidFill>
                  <a:schemeClr val="tx1"/>
                </a:solidFill>
                <a:latin typeface="Times New Roman" panose="02020603050405020304" pitchFamily="18" charset="0"/>
              </a:rPr>
              <a:t>BCA </a:t>
            </a:r>
            <a:r>
              <a:rPr lang="en-US" altLang="en-US" sz="2500" dirty="0">
                <a:solidFill>
                  <a:schemeClr val="tx1"/>
                </a:solidFill>
                <a:latin typeface="Times New Roman" panose="02020603050405020304" pitchFamily="18" charset="0"/>
              </a:rPr>
              <a:t>, </a:t>
            </a:r>
            <a:r>
              <a:rPr lang="en-US" altLang="en-US" sz="2500" dirty="0" err="1">
                <a:solidFill>
                  <a:schemeClr val="tx1"/>
                </a:solidFill>
                <a:latin typeface="Times New Roman" panose="02020603050405020304" pitchFamily="18" charset="0"/>
              </a:rPr>
              <a:t>Ist</a:t>
            </a:r>
            <a:r>
              <a:rPr lang="en-US" altLang="en-US" sz="2500" dirty="0">
                <a:solidFill>
                  <a:schemeClr val="tx1"/>
                </a:solidFill>
                <a:latin typeface="Times New Roman" panose="02020603050405020304" pitchFamily="18" charset="0"/>
              </a:rPr>
              <a:t> Semester </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Basic Mathematics- Skewness </a:t>
            </a:r>
            <a:r>
              <a:rPr lang="en-US" altLang="en-US" sz="2500">
                <a:solidFill>
                  <a:schemeClr val="tx1"/>
                </a:solidFill>
                <a:latin typeface="Times New Roman" panose="02020603050405020304" pitchFamily="18" charset="0"/>
              </a:rPr>
              <a:t>and Kurtosis</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Dr Sarika Jain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304589-BD54-45D9-A84C-DE8A3A67047B}"/>
              </a:ext>
            </a:extLst>
          </p:cNvPr>
          <p:cNvSpPr txBox="1"/>
          <p:nvPr/>
        </p:nvSpPr>
        <p:spPr>
          <a:xfrm>
            <a:off x="228600" y="3080187"/>
            <a:ext cx="11734800" cy="666786"/>
          </a:xfrm>
          <a:prstGeom prst="rect">
            <a:avLst/>
          </a:prstGeom>
          <a:noFill/>
        </p:spPr>
        <p:txBody>
          <a:bodyPr wrap="square" rtlCol="0">
            <a:spAutoFit/>
          </a:bodyPr>
          <a:lstStyle/>
          <a:p>
            <a:pPr algn="ctr"/>
            <a:r>
              <a:rPr lang="en-US" altLang="en-US" sz="3733" b="1" dirty="0">
                <a:solidFill>
                  <a:schemeClr val="bg1"/>
                </a:solidFill>
                <a:effectLst>
                  <a:outerShdw blurRad="38100" dist="38100" dir="2700000" algn="tl">
                    <a:srgbClr val="000000">
                      <a:alpha val="43137"/>
                    </a:srgbClr>
                  </a:outerShdw>
                </a:effectLst>
                <a:highlight>
                  <a:srgbClr val="00FF00"/>
                </a:highlight>
                <a:latin typeface="Century Gothic" panose="020B0502020202020204" pitchFamily="34" charset="0"/>
              </a:rPr>
              <a:t>Skewness and Kurtosis</a:t>
            </a:r>
          </a:p>
        </p:txBody>
      </p:sp>
    </p:spTree>
    <p:extLst>
      <p:ext uri="{BB962C8B-B14F-4D97-AF65-F5344CB8AC3E}">
        <p14:creationId xmlns:p14="http://schemas.microsoft.com/office/powerpoint/2010/main" val="250262207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ACDB186-86C6-4A3D-A7DD-5E4A081B6920}"/>
              </a:ext>
            </a:extLst>
          </p:cNvPr>
          <p:cNvGraphicFramePr/>
          <p:nvPr/>
        </p:nvGraphicFramePr>
        <p:xfrm>
          <a:off x="711200" y="1600200"/>
          <a:ext cx="106680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49A1B4D4-6838-4364-B2E8-A7CFBF0AF699}"/>
              </a:ext>
            </a:extLst>
          </p:cNvPr>
          <p:cNvSpPr txBox="1"/>
          <p:nvPr/>
        </p:nvSpPr>
        <p:spPr>
          <a:xfrm>
            <a:off x="2951658" y="381000"/>
            <a:ext cx="4142481"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Skewness and Kurtosis</a:t>
            </a:r>
          </a:p>
        </p:txBody>
      </p:sp>
    </p:spTree>
    <p:extLst>
      <p:ext uri="{BB962C8B-B14F-4D97-AF65-F5344CB8AC3E}">
        <p14:creationId xmlns:p14="http://schemas.microsoft.com/office/powerpoint/2010/main" val="35897705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graphicEl>
                                              <a:dgm id="{3265F3B2-4DF8-4E68-9DB8-8C6D0B8F8E17}"/>
                                            </p:graphicEl>
                                          </p:spTgt>
                                        </p:tgtEl>
                                        <p:attrNameLst>
                                          <p:attrName>style.visibility</p:attrName>
                                        </p:attrNameLst>
                                      </p:cBhvr>
                                      <p:to>
                                        <p:strVal val="visible"/>
                                      </p:to>
                                    </p:set>
                                    <p:animEffect transition="in" filter="wipe(left)">
                                      <p:cBhvr>
                                        <p:cTn id="7" dur="500"/>
                                        <p:tgtEl>
                                          <p:spTgt spid="4">
                                            <p:graphicEl>
                                              <a:dgm id="{3265F3B2-4DF8-4E68-9DB8-8C6D0B8F8E17}"/>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dgm id="{73092868-ADD3-43C1-8835-2880A771ECD8}"/>
                                            </p:graphicEl>
                                          </p:spTgt>
                                        </p:tgtEl>
                                        <p:attrNameLst>
                                          <p:attrName>style.visibility</p:attrName>
                                        </p:attrNameLst>
                                      </p:cBhvr>
                                      <p:to>
                                        <p:strVal val="visible"/>
                                      </p:to>
                                    </p:set>
                                    <p:animEffect transition="in" filter="wipe(left)">
                                      <p:cBhvr>
                                        <p:cTn id="12" dur="500"/>
                                        <p:tgtEl>
                                          <p:spTgt spid="4">
                                            <p:graphicEl>
                                              <a:dgm id="{73092868-ADD3-43C1-8835-2880A771ECD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1015663"/>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Skewness is a statistical numerical method to measure the asymmetry of the  distribution or data set. It tells about the position of the majority of data values in the distribution around the mean value.</a:t>
            </a:r>
          </a:p>
        </p:txBody>
      </p:sp>
      <p:sp>
        <p:nvSpPr>
          <p:cNvPr id="2" name="TextBox 1">
            <a:extLst>
              <a:ext uri="{FF2B5EF4-FFF2-40B4-BE49-F238E27FC236}">
                <a16:creationId xmlns:a16="http://schemas.microsoft.com/office/drawing/2014/main" id="{5E53F7AB-5CFF-43A5-A60B-16AA5F75ED4B}"/>
              </a:ext>
            </a:extLst>
          </p:cNvPr>
          <p:cNvSpPr txBox="1"/>
          <p:nvPr/>
        </p:nvSpPr>
        <p:spPr>
          <a:xfrm>
            <a:off x="3803914" y="424843"/>
            <a:ext cx="1882247"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Skewness</a:t>
            </a:r>
          </a:p>
        </p:txBody>
      </p:sp>
      <p:pic>
        <p:nvPicPr>
          <p:cNvPr id="3" name="Picture 2">
            <a:extLst>
              <a:ext uri="{FF2B5EF4-FFF2-40B4-BE49-F238E27FC236}">
                <a16:creationId xmlns:a16="http://schemas.microsoft.com/office/drawing/2014/main" id="{3381CC17-2214-4AAC-967C-A3071B3971A7}"/>
              </a:ext>
            </a:extLst>
          </p:cNvPr>
          <p:cNvPicPr>
            <a:picLocks noChangeAspect="1"/>
          </p:cNvPicPr>
          <p:nvPr/>
        </p:nvPicPr>
        <p:blipFill>
          <a:blip r:embed="rId2"/>
          <a:stretch>
            <a:fillRect/>
          </a:stretch>
        </p:blipFill>
        <p:spPr>
          <a:xfrm>
            <a:off x="974726" y="2918655"/>
            <a:ext cx="4999153" cy="2377647"/>
          </a:xfrm>
          <a:prstGeom prst="rect">
            <a:avLst/>
          </a:prstGeom>
        </p:spPr>
      </p:pic>
      <p:pic>
        <p:nvPicPr>
          <p:cNvPr id="7" name="Picture 6">
            <a:extLst>
              <a:ext uri="{FF2B5EF4-FFF2-40B4-BE49-F238E27FC236}">
                <a16:creationId xmlns:a16="http://schemas.microsoft.com/office/drawing/2014/main" id="{02FD5FE1-A6E9-4FC7-8EA6-D2DD6F59F2B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400000"/>
                    </a14:imgEffect>
                  </a14:imgLayer>
                </a14:imgProps>
              </a:ext>
            </a:extLst>
          </a:blip>
          <a:stretch>
            <a:fillRect/>
          </a:stretch>
        </p:blipFill>
        <p:spPr>
          <a:xfrm>
            <a:off x="6745874" y="2918655"/>
            <a:ext cx="4226927" cy="1900084"/>
          </a:xfrm>
          <a:prstGeom prst="rect">
            <a:avLst/>
          </a:prstGeom>
        </p:spPr>
      </p:pic>
    </p:spTree>
    <p:extLst>
      <p:ext uri="{BB962C8B-B14F-4D97-AF65-F5344CB8AC3E}">
        <p14:creationId xmlns:p14="http://schemas.microsoft.com/office/powerpoint/2010/main" val="37077921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554545"/>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There exist 3 types of skewness values on the basis of which asymmetry of the graph is decided. These are as follows: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Positive Skew</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If the coefficient of skewness is greater than 0 i.e. γ1  &gt;0, then the graph is said to be positively skewed with the majority of data values less than mean. Most of the values are concentrated on the left side of the graph.</a:t>
            </a:r>
          </a:p>
        </p:txBody>
      </p:sp>
      <p:sp>
        <p:nvSpPr>
          <p:cNvPr id="2" name="TextBox 1">
            <a:extLst>
              <a:ext uri="{FF2B5EF4-FFF2-40B4-BE49-F238E27FC236}">
                <a16:creationId xmlns:a16="http://schemas.microsoft.com/office/drawing/2014/main" id="{5E53F7AB-5CFF-43A5-A60B-16AA5F75ED4B}"/>
              </a:ext>
            </a:extLst>
          </p:cNvPr>
          <p:cNvSpPr txBox="1"/>
          <p:nvPr/>
        </p:nvSpPr>
        <p:spPr>
          <a:xfrm>
            <a:off x="3990346" y="478109"/>
            <a:ext cx="2467342"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Skewness…..</a:t>
            </a:r>
          </a:p>
        </p:txBody>
      </p:sp>
      <p:pic>
        <p:nvPicPr>
          <p:cNvPr id="4" name="Picture 3">
            <a:extLst>
              <a:ext uri="{FF2B5EF4-FFF2-40B4-BE49-F238E27FC236}">
                <a16:creationId xmlns:a16="http://schemas.microsoft.com/office/drawing/2014/main" id="{5D6AD874-99AB-4848-ADE0-8DC604B649E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tretch>
            <a:fillRect/>
          </a:stretch>
        </p:blipFill>
        <p:spPr>
          <a:xfrm>
            <a:off x="8195093" y="3913749"/>
            <a:ext cx="3184108" cy="2565561"/>
          </a:xfrm>
          <a:prstGeom prst="rect">
            <a:avLst/>
          </a:prstGeom>
        </p:spPr>
      </p:pic>
    </p:spTree>
    <p:extLst>
      <p:ext uri="{BB962C8B-B14F-4D97-AF65-F5344CB8AC3E}">
        <p14:creationId xmlns:p14="http://schemas.microsoft.com/office/powerpoint/2010/main" val="7918254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4" y="1611722"/>
            <a:ext cx="6937089" cy="4093428"/>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Zero Skewness or Symmetric</a:t>
            </a:r>
          </a:p>
          <a:p>
            <a:pPr algn="just"/>
            <a:endParaRPr lang="en-US" altLang="en-US" sz="2000" b="1"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If the coefficient of skewness is equal to 0 or approximately close to 0 i.e. γ1  = 0, then the graph is said to be symmetric and data is normally distributed.</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Negatively skewed</a:t>
            </a:r>
          </a:p>
          <a:p>
            <a:pPr algn="just"/>
            <a:endParaRPr lang="en-US" altLang="en-US" sz="2000" b="1"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If the coefficient of skewness is less than 0 i.e. γ1  &lt;0, then the graph is said to be negatively skewed with the majority of data values greater than mean. Most of the values are concentrated on the right side of the graph.</a:t>
            </a:r>
          </a:p>
        </p:txBody>
      </p:sp>
      <p:sp>
        <p:nvSpPr>
          <p:cNvPr id="2" name="TextBox 1">
            <a:extLst>
              <a:ext uri="{FF2B5EF4-FFF2-40B4-BE49-F238E27FC236}">
                <a16:creationId xmlns:a16="http://schemas.microsoft.com/office/drawing/2014/main" id="{5E53F7AB-5CFF-43A5-A60B-16AA5F75ED4B}"/>
              </a:ext>
            </a:extLst>
          </p:cNvPr>
          <p:cNvSpPr txBox="1"/>
          <p:nvPr/>
        </p:nvSpPr>
        <p:spPr>
          <a:xfrm>
            <a:off x="4372085" y="398210"/>
            <a:ext cx="2467342"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Skewness…..</a:t>
            </a:r>
          </a:p>
        </p:txBody>
      </p:sp>
      <p:pic>
        <p:nvPicPr>
          <p:cNvPr id="3" name="Picture 2">
            <a:extLst>
              <a:ext uri="{FF2B5EF4-FFF2-40B4-BE49-F238E27FC236}">
                <a16:creationId xmlns:a16="http://schemas.microsoft.com/office/drawing/2014/main" id="{A652AC06-80B7-4025-A544-B5425D61926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294253" y="1611722"/>
            <a:ext cx="3072000" cy="2395181"/>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B4E00DDE-41EF-43E1-B899-6EFE200D91B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Lst>
          </a:blip>
          <a:stretch>
            <a:fillRect/>
          </a:stretch>
        </p:blipFill>
        <p:spPr>
          <a:xfrm>
            <a:off x="8307200" y="4108600"/>
            <a:ext cx="3072000" cy="2370709"/>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866064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left)">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wipe(left)">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00110"/>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There are other approaches too to calculate skewness:</a:t>
            </a:r>
          </a:p>
        </p:txBody>
      </p:sp>
      <p:sp>
        <p:nvSpPr>
          <p:cNvPr id="2" name="TextBox 1">
            <a:extLst>
              <a:ext uri="{FF2B5EF4-FFF2-40B4-BE49-F238E27FC236}">
                <a16:creationId xmlns:a16="http://schemas.microsoft.com/office/drawing/2014/main" id="{5E53F7AB-5CFF-43A5-A60B-16AA5F75ED4B}"/>
              </a:ext>
            </a:extLst>
          </p:cNvPr>
          <p:cNvSpPr txBox="1"/>
          <p:nvPr/>
        </p:nvSpPr>
        <p:spPr>
          <a:xfrm>
            <a:off x="3857180" y="309433"/>
            <a:ext cx="2467342"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Skewness…..</a:t>
            </a:r>
          </a:p>
        </p:txBody>
      </p:sp>
      <p:graphicFrame>
        <p:nvGraphicFramePr>
          <p:cNvPr id="4" name="Diagram 3">
            <a:extLst>
              <a:ext uri="{FF2B5EF4-FFF2-40B4-BE49-F238E27FC236}">
                <a16:creationId xmlns:a16="http://schemas.microsoft.com/office/drawing/2014/main" id="{71C6B4F5-9611-47E8-9CD2-B715B2C633D3}"/>
              </a:ext>
            </a:extLst>
          </p:cNvPr>
          <p:cNvGraphicFramePr/>
          <p:nvPr/>
        </p:nvGraphicFramePr>
        <p:xfrm>
          <a:off x="711200" y="2042608"/>
          <a:ext cx="10668000" cy="4434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77906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dgm id="{BDF4ECA1-85BA-4B9D-AB33-8251E207CA6F}"/>
                                            </p:graphicEl>
                                          </p:spTgt>
                                        </p:tgtEl>
                                        <p:attrNameLst>
                                          <p:attrName>style.visibility</p:attrName>
                                        </p:attrNameLst>
                                      </p:cBhvr>
                                      <p:to>
                                        <p:strVal val="visible"/>
                                      </p:to>
                                    </p:set>
                                    <p:animEffect transition="in" filter="wipe(left)">
                                      <p:cBhvr>
                                        <p:cTn id="12" dur="500"/>
                                        <p:tgtEl>
                                          <p:spTgt spid="4">
                                            <p:graphicEl>
                                              <a:dgm id="{BDF4ECA1-85BA-4B9D-AB33-8251E207CA6F}"/>
                                            </p:graphic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graphicEl>
                                              <a:dgm id="{C3AFFB18-4175-4216-A3CF-D7A7EF1B2B7C}"/>
                                            </p:graphicEl>
                                          </p:spTgt>
                                        </p:tgtEl>
                                        <p:attrNameLst>
                                          <p:attrName>style.visibility</p:attrName>
                                        </p:attrNameLst>
                                      </p:cBhvr>
                                      <p:to>
                                        <p:strVal val="visible"/>
                                      </p:to>
                                    </p:set>
                                    <p:animEffect transition="in" filter="wipe(left)">
                                      <p:cBhvr>
                                        <p:cTn id="15" dur="500"/>
                                        <p:tgtEl>
                                          <p:spTgt spid="4">
                                            <p:graphicEl>
                                              <a:dgm id="{C3AFFB18-4175-4216-A3CF-D7A7EF1B2B7C}"/>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graphicEl>
                                              <a:dgm id="{E06F9E6C-08EA-4B04-9650-B5A85B76AEFA}"/>
                                            </p:graphicEl>
                                          </p:spTgt>
                                        </p:tgtEl>
                                        <p:attrNameLst>
                                          <p:attrName>style.visibility</p:attrName>
                                        </p:attrNameLst>
                                      </p:cBhvr>
                                      <p:to>
                                        <p:strVal val="visible"/>
                                      </p:to>
                                    </p:set>
                                    <p:animEffect transition="in" filter="wipe(left)">
                                      <p:cBhvr>
                                        <p:cTn id="20" dur="500"/>
                                        <p:tgtEl>
                                          <p:spTgt spid="4">
                                            <p:graphicEl>
                                              <a:dgm id="{E06F9E6C-08EA-4B04-9650-B5A85B76AEFA}"/>
                                            </p:graphic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
                                            <p:graphicEl>
                                              <a:dgm id="{168058D6-3A0B-4FFA-8BF4-6569A7C7C036}"/>
                                            </p:graphicEl>
                                          </p:spTgt>
                                        </p:tgtEl>
                                        <p:attrNameLst>
                                          <p:attrName>style.visibility</p:attrName>
                                        </p:attrNameLst>
                                      </p:cBhvr>
                                      <p:to>
                                        <p:strVal val="visible"/>
                                      </p:to>
                                    </p:set>
                                    <p:animEffect transition="in" filter="wipe(left)">
                                      <p:cBhvr>
                                        <p:cTn id="23" dur="500"/>
                                        <p:tgtEl>
                                          <p:spTgt spid="4">
                                            <p:graphicEl>
                                              <a:dgm id="{168058D6-3A0B-4FFA-8BF4-6569A7C7C03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
                                            <p:graphicEl>
                                              <a:dgm id="{2060DE58-1840-40B0-B24F-8AB969B6402C}"/>
                                            </p:graphicEl>
                                          </p:spTgt>
                                        </p:tgtEl>
                                        <p:attrNameLst>
                                          <p:attrName>style.visibility</p:attrName>
                                        </p:attrNameLst>
                                      </p:cBhvr>
                                      <p:to>
                                        <p:strVal val="visible"/>
                                      </p:to>
                                    </p:set>
                                    <p:animEffect transition="in" filter="wipe(left)">
                                      <p:cBhvr>
                                        <p:cTn id="28" dur="500"/>
                                        <p:tgtEl>
                                          <p:spTgt spid="4">
                                            <p:graphicEl>
                                              <a:dgm id="{2060DE58-1840-40B0-B24F-8AB969B6402C}"/>
                                            </p:graphic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
                                            <p:graphicEl>
                                              <a:dgm id="{D80B7DC6-9301-4887-967F-96773528CE88}"/>
                                            </p:graphicEl>
                                          </p:spTgt>
                                        </p:tgtEl>
                                        <p:attrNameLst>
                                          <p:attrName>style.visibility</p:attrName>
                                        </p:attrNameLst>
                                      </p:cBhvr>
                                      <p:to>
                                        <p:strVal val="visible"/>
                                      </p:to>
                                    </p:set>
                                    <p:animEffect transition="in" filter="wipe(left)">
                                      <p:cBhvr>
                                        <p:cTn id="31" dur="500"/>
                                        <p:tgtEl>
                                          <p:spTgt spid="4">
                                            <p:graphicEl>
                                              <a:dgm id="{D80B7DC6-9301-4887-967F-96773528CE88}"/>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graphicEl>
                                              <a:dgm id="{D5263875-9807-49CD-A1DA-80B46B90B4CE}"/>
                                            </p:graphicEl>
                                          </p:spTgt>
                                        </p:tgtEl>
                                        <p:attrNameLst>
                                          <p:attrName>style.visibility</p:attrName>
                                        </p:attrNameLst>
                                      </p:cBhvr>
                                      <p:to>
                                        <p:strVal val="visible"/>
                                      </p:to>
                                    </p:set>
                                    <p:animEffect transition="in" filter="wipe(left)">
                                      <p:cBhvr>
                                        <p:cTn id="36" dur="500"/>
                                        <p:tgtEl>
                                          <p:spTgt spid="4">
                                            <p:graphicEl>
                                              <a:dgm id="{D5263875-9807-49CD-A1DA-80B46B90B4CE}"/>
                                            </p:graphic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4">
                                            <p:graphicEl>
                                              <a:dgm id="{5771303A-DB9C-462F-9150-0D092A19FD73}"/>
                                            </p:graphicEl>
                                          </p:spTgt>
                                        </p:tgtEl>
                                        <p:attrNameLst>
                                          <p:attrName>style.visibility</p:attrName>
                                        </p:attrNameLst>
                                      </p:cBhvr>
                                      <p:to>
                                        <p:strVal val="visible"/>
                                      </p:to>
                                    </p:set>
                                    <p:animEffect transition="in" filter="wipe(left)">
                                      <p:cBhvr>
                                        <p:cTn id="39" dur="500"/>
                                        <p:tgtEl>
                                          <p:spTgt spid="4">
                                            <p:graphicEl>
                                              <a:dgm id="{5771303A-DB9C-462F-9150-0D092A19FD7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Graphic spid="4"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70788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Kurtosis is a numerical method in statistics that measures the sharpness of the peak in the data distribution.</a:t>
            </a:r>
          </a:p>
        </p:txBody>
      </p:sp>
      <p:sp>
        <p:nvSpPr>
          <p:cNvPr id="2" name="TextBox 1">
            <a:extLst>
              <a:ext uri="{FF2B5EF4-FFF2-40B4-BE49-F238E27FC236}">
                <a16:creationId xmlns:a16="http://schemas.microsoft.com/office/drawing/2014/main" id="{5E53F7AB-5CFF-43A5-A60B-16AA5F75ED4B}"/>
              </a:ext>
            </a:extLst>
          </p:cNvPr>
          <p:cNvSpPr txBox="1"/>
          <p:nvPr/>
        </p:nvSpPr>
        <p:spPr>
          <a:xfrm>
            <a:off x="4185654" y="362700"/>
            <a:ext cx="1492716"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Kurtosis</a:t>
            </a:r>
          </a:p>
        </p:txBody>
      </p:sp>
      <p:pic>
        <p:nvPicPr>
          <p:cNvPr id="3" name="Picture 2">
            <a:extLst>
              <a:ext uri="{FF2B5EF4-FFF2-40B4-BE49-F238E27FC236}">
                <a16:creationId xmlns:a16="http://schemas.microsoft.com/office/drawing/2014/main" id="{0C27047E-B8E0-476F-853F-F5C89F0FF7C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228991" y="2717801"/>
            <a:ext cx="4155800" cy="2082980"/>
          </a:xfrm>
          <a:prstGeom prst="rect">
            <a:avLst/>
          </a:prstGeom>
        </p:spPr>
      </p:pic>
      <p:pic>
        <p:nvPicPr>
          <p:cNvPr id="7" name="Picture 6">
            <a:extLst>
              <a:ext uri="{FF2B5EF4-FFF2-40B4-BE49-F238E27FC236}">
                <a16:creationId xmlns:a16="http://schemas.microsoft.com/office/drawing/2014/main" id="{F321E77A-EA8C-42CD-ADEF-B64CD933E65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6512192" y="2717800"/>
            <a:ext cx="4257409" cy="1818797"/>
          </a:xfrm>
          <a:prstGeom prst="rect">
            <a:avLst/>
          </a:prstGeom>
        </p:spPr>
      </p:pic>
    </p:spTree>
    <p:extLst>
      <p:ext uri="{BB962C8B-B14F-4D97-AF65-F5344CB8AC3E}">
        <p14:creationId xmlns:p14="http://schemas.microsoft.com/office/powerpoint/2010/main" val="18550016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246769"/>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There exist 3 types of Kurtosis values on the basis of which sharpness of the peak is measured. These are as follows: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Platykurtic</a:t>
            </a:r>
          </a:p>
          <a:p>
            <a:pPr algn="just"/>
            <a:endParaRPr lang="en-US" altLang="en-US" sz="2000" b="1"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If the coefficient of kurtosis is less than 3 i.e. γ2 &lt;3, then the data distribution is platykurtic. Being platykurtic doesn’t mean that the graph is flat-topped.</a:t>
            </a:r>
          </a:p>
        </p:txBody>
      </p:sp>
      <p:sp>
        <p:nvSpPr>
          <p:cNvPr id="2" name="TextBox 1">
            <a:extLst>
              <a:ext uri="{FF2B5EF4-FFF2-40B4-BE49-F238E27FC236}">
                <a16:creationId xmlns:a16="http://schemas.microsoft.com/office/drawing/2014/main" id="{5E53F7AB-5CFF-43A5-A60B-16AA5F75ED4B}"/>
              </a:ext>
            </a:extLst>
          </p:cNvPr>
          <p:cNvSpPr txBox="1"/>
          <p:nvPr/>
        </p:nvSpPr>
        <p:spPr>
          <a:xfrm>
            <a:off x="4487496" y="318311"/>
            <a:ext cx="207781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Kurtosis…..</a:t>
            </a:r>
          </a:p>
        </p:txBody>
      </p:sp>
      <p:pic>
        <p:nvPicPr>
          <p:cNvPr id="4" name="Picture 3">
            <a:extLst>
              <a:ext uri="{FF2B5EF4-FFF2-40B4-BE49-F238E27FC236}">
                <a16:creationId xmlns:a16="http://schemas.microsoft.com/office/drawing/2014/main" id="{EDCE0193-6A74-48A6-B7CC-459B9F6DE31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tretch>
            <a:fillRect/>
          </a:stretch>
        </p:blipFill>
        <p:spPr>
          <a:xfrm>
            <a:off x="2438400" y="4077000"/>
            <a:ext cx="2861789" cy="2400000"/>
          </a:xfrm>
          <a:prstGeom prst="rect">
            <a:avLst/>
          </a:prstGeom>
        </p:spPr>
      </p:pic>
      <p:pic>
        <p:nvPicPr>
          <p:cNvPr id="9" name="Picture 8">
            <a:extLst>
              <a:ext uri="{FF2B5EF4-FFF2-40B4-BE49-F238E27FC236}">
                <a16:creationId xmlns:a16="http://schemas.microsoft.com/office/drawing/2014/main" id="{F8AE1C5A-6058-4DDB-9425-324F6042466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Lst>
          </a:blip>
          <a:stretch>
            <a:fillRect/>
          </a:stretch>
        </p:blipFill>
        <p:spPr>
          <a:xfrm>
            <a:off x="5892804" y="4077000"/>
            <a:ext cx="3900000" cy="2400000"/>
          </a:xfrm>
          <a:prstGeom prst="rect">
            <a:avLst/>
          </a:prstGeom>
        </p:spPr>
      </p:pic>
    </p:spTree>
    <p:extLst>
      <p:ext uri="{BB962C8B-B14F-4D97-AF65-F5344CB8AC3E}">
        <p14:creationId xmlns:p14="http://schemas.microsoft.com/office/powerpoint/2010/main" val="691298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1631216"/>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Mesorkurtic</a:t>
            </a:r>
          </a:p>
          <a:p>
            <a:pPr algn="just"/>
            <a:endParaRPr lang="en-US" altLang="en-US" sz="2000" b="1"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If the coefficient of kurtosis is equal to 3 or approximately close to 3 i.e. γ2  = 3, then the data distribution is mesokurtic. For normal distribution, kurtosis value is approximately equal to 3.</a:t>
            </a:r>
          </a:p>
        </p:txBody>
      </p:sp>
      <p:sp>
        <p:nvSpPr>
          <p:cNvPr id="2" name="TextBox 1">
            <a:extLst>
              <a:ext uri="{FF2B5EF4-FFF2-40B4-BE49-F238E27FC236}">
                <a16:creationId xmlns:a16="http://schemas.microsoft.com/office/drawing/2014/main" id="{5E53F7AB-5CFF-43A5-A60B-16AA5F75ED4B}"/>
              </a:ext>
            </a:extLst>
          </p:cNvPr>
          <p:cNvSpPr txBox="1"/>
          <p:nvPr/>
        </p:nvSpPr>
        <p:spPr>
          <a:xfrm>
            <a:off x="4744948" y="384564"/>
            <a:ext cx="207781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Kurtosis…..</a:t>
            </a:r>
          </a:p>
        </p:txBody>
      </p:sp>
      <p:pic>
        <p:nvPicPr>
          <p:cNvPr id="3" name="Picture 2">
            <a:extLst>
              <a:ext uri="{FF2B5EF4-FFF2-40B4-BE49-F238E27FC236}">
                <a16:creationId xmlns:a16="http://schemas.microsoft.com/office/drawing/2014/main" id="{41678E15-40C5-4B04-A6D9-28B01EECC14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tretch>
            <a:fillRect/>
          </a:stretch>
        </p:blipFill>
        <p:spPr>
          <a:xfrm>
            <a:off x="2032001" y="3636725"/>
            <a:ext cx="3251385" cy="2833351"/>
          </a:xfrm>
          <a:prstGeom prst="rect">
            <a:avLst/>
          </a:prstGeom>
        </p:spPr>
      </p:pic>
      <p:pic>
        <p:nvPicPr>
          <p:cNvPr id="7" name="Picture 6">
            <a:extLst>
              <a:ext uri="{FF2B5EF4-FFF2-40B4-BE49-F238E27FC236}">
                <a16:creationId xmlns:a16="http://schemas.microsoft.com/office/drawing/2014/main" id="{6DF5B5CC-1561-4C68-A129-50F395C0EAB4}"/>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5971670" y="3641436"/>
            <a:ext cx="4188516" cy="2832000"/>
          </a:xfrm>
          <a:prstGeom prst="rect">
            <a:avLst/>
          </a:prstGeom>
        </p:spPr>
      </p:pic>
    </p:spTree>
    <p:extLst>
      <p:ext uri="{BB962C8B-B14F-4D97-AF65-F5344CB8AC3E}">
        <p14:creationId xmlns:p14="http://schemas.microsoft.com/office/powerpoint/2010/main" val="36215870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1323439"/>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Leptokurtic</a:t>
            </a:r>
          </a:p>
          <a:p>
            <a:pPr algn="just"/>
            <a:endParaRPr lang="en-US" altLang="en-US" sz="2000" b="1"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If the coefficient of kurtosis is greater than 3 i.e. γ2  &gt;3, then the data distribution is leptokurtic and shows a sharp peak on the graph.</a:t>
            </a:r>
          </a:p>
        </p:txBody>
      </p:sp>
      <p:sp>
        <p:nvSpPr>
          <p:cNvPr id="2" name="TextBox 1">
            <a:extLst>
              <a:ext uri="{FF2B5EF4-FFF2-40B4-BE49-F238E27FC236}">
                <a16:creationId xmlns:a16="http://schemas.microsoft.com/office/drawing/2014/main" id="{5E53F7AB-5CFF-43A5-A60B-16AA5F75ED4B}"/>
              </a:ext>
            </a:extLst>
          </p:cNvPr>
          <p:cNvSpPr txBox="1"/>
          <p:nvPr/>
        </p:nvSpPr>
        <p:spPr>
          <a:xfrm>
            <a:off x="5215465" y="387587"/>
            <a:ext cx="207781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Kurtosis…..</a:t>
            </a:r>
          </a:p>
        </p:txBody>
      </p:sp>
      <p:pic>
        <p:nvPicPr>
          <p:cNvPr id="4" name="Picture 3">
            <a:extLst>
              <a:ext uri="{FF2B5EF4-FFF2-40B4-BE49-F238E27FC236}">
                <a16:creationId xmlns:a16="http://schemas.microsoft.com/office/drawing/2014/main" id="{3CC525C7-E124-4C34-8E06-5DEA6F59C65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tretch>
            <a:fillRect/>
          </a:stretch>
        </p:blipFill>
        <p:spPr>
          <a:xfrm>
            <a:off x="2540000" y="3494413"/>
            <a:ext cx="3582221" cy="2976000"/>
          </a:xfrm>
          <a:prstGeom prst="rect">
            <a:avLst/>
          </a:prstGeom>
        </p:spPr>
      </p:pic>
      <p:pic>
        <p:nvPicPr>
          <p:cNvPr id="9" name="Picture 8">
            <a:extLst>
              <a:ext uri="{FF2B5EF4-FFF2-40B4-BE49-F238E27FC236}">
                <a16:creationId xmlns:a16="http://schemas.microsoft.com/office/drawing/2014/main" id="{7C0CA11F-B0D8-4B38-80FE-D1FA1903E60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6582563" y="3494413"/>
            <a:ext cx="2399567" cy="2976000"/>
          </a:xfrm>
          <a:prstGeom prst="rect">
            <a:avLst/>
          </a:prstGeom>
        </p:spPr>
      </p:pic>
    </p:spTree>
    <p:extLst>
      <p:ext uri="{BB962C8B-B14F-4D97-AF65-F5344CB8AC3E}">
        <p14:creationId xmlns:p14="http://schemas.microsoft.com/office/powerpoint/2010/main" val="1420135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523007" y="185146"/>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6"/>
            <a:ext cx="10652948" cy="374397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If mean, median, and mode are all equal then distribution will be</a:t>
            </a:r>
          </a:p>
          <a:p>
            <a:pPr algn="just"/>
            <a:endParaRPr lang="en-US" sz="2133" dirty="0">
              <a:latin typeface="Century Gothic" panose="020B0502020202020204" pitchFamily="34" charset="0"/>
              <a:cs typeface="Arial" panose="020B0604020202020204" pitchFamily="34" charset="0"/>
            </a:endParaRPr>
          </a:p>
          <a:p>
            <a:pPr marL="533387" indent="-533387" algn="just">
              <a:buFont typeface="+mj-lt"/>
              <a:buAutoNum type="romanLcPeriod"/>
            </a:pPr>
            <a:r>
              <a:rPr lang="en-US" sz="2133" dirty="0">
                <a:latin typeface="Century Gothic" panose="020B0502020202020204" pitchFamily="34" charset="0"/>
                <a:cs typeface="Arial" panose="020B0604020202020204" pitchFamily="34" charset="0"/>
              </a:rPr>
              <a:t>Positive Skewed</a:t>
            </a:r>
          </a:p>
          <a:p>
            <a:pPr marL="533387" indent="-533387" algn="just">
              <a:buFont typeface="+mj-lt"/>
              <a:buAutoNum type="romanLcPeriod"/>
            </a:pPr>
            <a:endParaRPr lang="en-US" sz="2133" dirty="0">
              <a:latin typeface="Century Gothic" panose="020B0502020202020204" pitchFamily="34" charset="0"/>
              <a:cs typeface="Arial" panose="020B0604020202020204" pitchFamily="34" charset="0"/>
            </a:endParaRPr>
          </a:p>
          <a:p>
            <a:pPr marL="533387" indent="-533387" algn="just">
              <a:buFont typeface="+mj-lt"/>
              <a:buAutoNum type="romanLcPeriod"/>
            </a:pPr>
            <a:r>
              <a:rPr lang="en-US" sz="2133" dirty="0">
                <a:latin typeface="Century Gothic" panose="020B0502020202020204" pitchFamily="34" charset="0"/>
                <a:cs typeface="Arial" panose="020B0604020202020204" pitchFamily="34" charset="0"/>
              </a:rPr>
              <a:t>Negative skewed</a:t>
            </a:r>
          </a:p>
          <a:p>
            <a:pPr marL="533387" indent="-533387" algn="just">
              <a:buFont typeface="+mj-lt"/>
              <a:buAutoNum type="romanLcPeriod"/>
            </a:pPr>
            <a:endParaRPr lang="en-US" sz="2133" dirty="0">
              <a:latin typeface="Century Gothic" panose="020B0502020202020204" pitchFamily="34" charset="0"/>
              <a:cs typeface="Arial" panose="020B0604020202020204" pitchFamily="34" charset="0"/>
            </a:endParaRPr>
          </a:p>
          <a:p>
            <a:pPr marL="533387" indent="-533387" algn="just">
              <a:buFont typeface="+mj-lt"/>
              <a:buAutoNum type="romanLcPeriod"/>
            </a:pPr>
            <a:r>
              <a:rPr lang="en-US" sz="2133" dirty="0">
                <a:latin typeface="Century Gothic" panose="020B0502020202020204" pitchFamily="34" charset="0"/>
                <a:cs typeface="Arial" panose="020B0604020202020204" pitchFamily="34" charset="0"/>
              </a:rPr>
              <a:t>c. Symmetrical</a:t>
            </a:r>
          </a:p>
          <a:p>
            <a:pPr marL="533387" indent="-533387" algn="just">
              <a:buFont typeface="+mj-lt"/>
              <a:buAutoNum type="romanLcPeriod"/>
            </a:pPr>
            <a:endParaRPr lang="en-US" sz="2133" dirty="0">
              <a:latin typeface="Century Gothic" panose="020B0502020202020204" pitchFamily="34" charset="0"/>
              <a:cs typeface="Arial" panose="020B0604020202020204" pitchFamily="34" charset="0"/>
            </a:endParaRPr>
          </a:p>
          <a:p>
            <a:pPr marL="533387" indent="-533387" algn="just">
              <a:buFont typeface="+mj-lt"/>
              <a:buAutoNum type="romanLcPeriod"/>
            </a:pPr>
            <a:r>
              <a:rPr lang="en-US" sz="2133" dirty="0">
                <a:latin typeface="Century Gothic" panose="020B0502020202020204" pitchFamily="34" charset="0"/>
                <a:cs typeface="Arial" panose="020B0604020202020204" pitchFamily="34" charset="0"/>
              </a:rPr>
              <a:t>d. None of these</a:t>
            </a:r>
          </a:p>
          <a:p>
            <a:pPr marL="533387" indent="-533387" algn="just">
              <a:buFont typeface="+mj-lt"/>
              <a:buAutoNum type="romanLcPeriod"/>
            </a:pPr>
            <a:endParaRPr lang="en-US" sz="2133" dirty="0">
              <a:latin typeface="Century Gothic" panose="020B0502020202020204" pitchFamily="34" charset="0"/>
              <a:cs typeface="Arial" panose="020B0604020202020204" pitchFamily="34" charset="0"/>
            </a:endParaRPr>
          </a:p>
          <a:p>
            <a:pPr algn="just"/>
            <a:r>
              <a:rPr lang="en-US" sz="2133" b="1" dirty="0">
                <a:latin typeface="Century Gothic" panose="020B0502020202020204" pitchFamily="34" charset="0"/>
                <a:cs typeface="Arial" panose="020B0604020202020204" pitchFamily="34" charset="0"/>
              </a:rPr>
              <a:t>Answer: </a:t>
            </a:r>
            <a:r>
              <a:rPr lang="en-US" sz="2133" dirty="0">
                <a:latin typeface="Century Gothic" panose="020B0502020202020204" pitchFamily="34" charset="0"/>
                <a:cs typeface="Arial" panose="020B0604020202020204" pitchFamily="34" charset="0"/>
              </a:rPr>
              <a:t>iii.</a:t>
            </a:r>
          </a:p>
        </p:txBody>
      </p:sp>
    </p:spTree>
    <p:extLst>
      <p:ext uri="{BB962C8B-B14F-4D97-AF65-F5344CB8AC3E}">
        <p14:creationId xmlns:p14="http://schemas.microsoft.com/office/powerpoint/2010/main" val="1161414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left)">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left)">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505251" y="318311"/>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37850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If mean is less than mode, then distribution is</a:t>
            </a:r>
          </a:p>
          <a:p>
            <a:pPr algn="just"/>
            <a:endParaRPr lang="en-US" sz="2400" b="1" dirty="0">
              <a:latin typeface="Century Gothic" panose="020B0502020202020204" pitchFamily="34" charset="0"/>
              <a:cs typeface="Arial" panose="020B0604020202020204" pitchFamily="34" charset="0"/>
            </a:endParaRPr>
          </a:p>
          <a:p>
            <a:pPr marL="457189" indent="-457189" algn="just">
              <a:buFont typeface="+mj-lt"/>
              <a:buAutoNum type="alphaLcParenR"/>
            </a:pPr>
            <a:r>
              <a:rPr lang="en-US" sz="2133" dirty="0">
                <a:latin typeface="Century Gothic" panose="020B0502020202020204" pitchFamily="34" charset="0"/>
                <a:cs typeface="Arial" panose="020B0604020202020204" pitchFamily="34" charset="0"/>
              </a:rPr>
              <a:t>Negatively skewed</a:t>
            </a:r>
          </a:p>
          <a:p>
            <a:pPr marL="457189" indent="-457189" algn="just">
              <a:buFont typeface="+mj-lt"/>
              <a:buAutoNum type="alphaLcParenR"/>
            </a:pPr>
            <a:endParaRPr lang="en-US" sz="2133" dirty="0">
              <a:latin typeface="Century Gothic" panose="020B0502020202020204" pitchFamily="34" charset="0"/>
              <a:cs typeface="Arial" panose="020B0604020202020204" pitchFamily="34" charset="0"/>
            </a:endParaRPr>
          </a:p>
          <a:p>
            <a:pPr marL="457189" indent="-457189" algn="just">
              <a:buFont typeface="+mj-lt"/>
              <a:buAutoNum type="alphaLcParenR"/>
            </a:pPr>
            <a:r>
              <a:rPr lang="en-US" sz="2133" dirty="0">
                <a:latin typeface="Century Gothic" panose="020B0502020202020204" pitchFamily="34" charset="0"/>
                <a:cs typeface="Arial" panose="020B0604020202020204" pitchFamily="34" charset="0"/>
              </a:rPr>
              <a:t>Positively skewed</a:t>
            </a:r>
          </a:p>
          <a:p>
            <a:pPr marL="457189" indent="-457189" algn="just">
              <a:buFont typeface="+mj-lt"/>
              <a:buAutoNum type="alphaLcParenR"/>
            </a:pPr>
            <a:endParaRPr lang="en-US" sz="2133" dirty="0">
              <a:latin typeface="Century Gothic" panose="020B0502020202020204" pitchFamily="34" charset="0"/>
              <a:cs typeface="Arial" panose="020B0604020202020204" pitchFamily="34" charset="0"/>
            </a:endParaRPr>
          </a:p>
          <a:p>
            <a:pPr marL="457189" indent="-457189" algn="just">
              <a:buFont typeface="+mj-lt"/>
              <a:buAutoNum type="alphaLcParenR"/>
            </a:pPr>
            <a:r>
              <a:rPr lang="en-US" sz="2133" dirty="0">
                <a:latin typeface="Century Gothic" panose="020B0502020202020204" pitchFamily="34" charset="0"/>
                <a:cs typeface="Arial" panose="020B0604020202020204" pitchFamily="34" charset="0"/>
              </a:rPr>
              <a:t>Symmetrical</a:t>
            </a:r>
          </a:p>
          <a:p>
            <a:pPr marL="457189" indent="-457189" algn="just">
              <a:buFont typeface="+mj-lt"/>
              <a:buAutoNum type="alphaLcParenR"/>
            </a:pPr>
            <a:endParaRPr lang="en-US" sz="2133" dirty="0">
              <a:latin typeface="Century Gothic" panose="020B0502020202020204" pitchFamily="34" charset="0"/>
              <a:cs typeface="Arial" panose="020B0604020202020204" pitchFamily="34" charset="0"/>
            </a:endParaRPr>
          </a:p>
          <a:p>
            <a:pPr marL="457189" indent="-457189" algn="just">
              <a:buFont typeface="+mj-lt"/>
              <a:buAutoNum type="alphaLcParenR"/>
            </a:pPr>
            <a:r>
              <a:rPr lang="en-US" sz="2133" dirty="0">
                <a:latin typeface="Century Gothic" panose="020B0502020202020204" pitchFamily="34" charset="0"/>
                <a:cs typeface="Arial" panose="020B0604020202020204" pitchFamily="34" charset="0"/>
              </a:rPr>
              <a:t>None of these</a:t>
            </a:r>
          </a:p>
          <a:p>
            <a:pPr algn="just"/>
            <a:endParaRPr lang="en-US" sz="2133" b="1" dirty="0">
              <a:latin typeface="Century Gothic" panose="020B0502020202020204" pitchFamily="34" charset="0"/>
              <a:cs typeface="Arial" panose="020B0604020202020204" pitchFamily="34" charset="0"/>
            </a:endParaRPr>
          </a:p>
          <a:p>
            <a:pPr algn="just"/>
            <a:r>
              <a:rPr lang="en-US" sz="2133" b="1" dirty="0">
                <a:latin typeface="Century Gothic" panose="020B0502020202020204" pitchFamily="34" charset="0"/>
                <a:cs typeface="Arial" panose="020B0604020202020204" pitchFamily="34" charset="0"/>
              </a:rPr>
              <a:t>Answer: </a:t>
            </a:r>
            <a:r>
              <a:rPr lang="en-US" sz="2133" dirty="0">
                <a:latin typeface="Century Gothic" panose="020B0502020202020204" pitchFamily="34" charset="0"/>
                <a:cs typeface="Arial" panose="020B0604020202020204" pitchFamily="34" charset="0"/>
              </a:rPr>
              <a:t>a).</a:t>
            </a:r>
          </a:p>
        </p:txBody>
      </p:sp>
    </p:spTree>
    <p:extLst>
      <p:ext uri="{BB962C8B-B14F-4D97-AF65-F5344CB8AC3E}">
        <p14:creationId xmlns:p14="http://schemas.microsoft.com/office/powerpoint/2010/main" val="19307165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left)">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left)">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9311</TotalTime>
  <Words>539</Words>
  <Application>Microsoft Office PowerPoint</Application>
  <PresentationFormat>Widescreen</PresentationFormat>
  <Paragraphs>70</Paragraphs>
  <Slides>13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Century Gothic</vt:lpstr>
      <vt:lpstr>Times New Roman</vt:lpstr>
      <vt:lpstr>Default Design</vt:lpstr>
      <vt:lpstr>Amity Institute of Information Technology BCA , Ist Semester  Basic Mathematics- Skewness and Kurtosis Dr Sarika Jain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Amity Institute of Information Technology MCA , Ist Semester  Graph Theory  Dr Sarika Jain</dc:title>
  <dc:creator>Lalit Kumar</dc:creator>
  <cp:lastModifiedBy>Lalit Kumar</cp:lastModifiedBy>
  <cp:revision>35</cp:revision>
  <dcterms:created xsi:type="dcterms:W3CDTF">2020-09-10T06:54:54Z</dcterms:created>
  <dcterms:modified xsi:type="dcterms:W3CDTF">2020-11-09T07:37:00Z</dcterms:modified>
</cp:coreProperties>
</file>