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257" r:id="rId2"/>
    <p:sldId id="426" r:id="rId3"/>
    <p:sldId id="471" r:id="rId4"/>
    <p:sldId id="472" r:id="rId5"/>
    <p:sldId id="427" r:id="rId6"/>
    <p:sldId id="473" r:id="rId7"/>
    <p:sldId id="474" r:id="rId8"/>
    <p:sldId id="475" r:id="rId9"/>
    <p:sldId id="476" r:id="rId10"/>
    <p:sldId id="477" r:id="rId11"/>
    <p:sldId id="478" r:id="rId12"/>
    <p:sldId id="479" r:id="rId13"/>
    <p:sldId id="480" r:id="rId14"/>
    <p:sldId id="481" r:id="rId15"/>
    <p:sldId id="482" r:id="rId16"/>
    <p:sldId id="483" r:id="rId17"/>
    <p:sldId id="463" r:id="rId18"/>
    <p:sldId id="466" r:id="rId19"/>
    <p:sldId id="467" r:id="rId20"/>
    <p:sldId id="468" r:id="rId21"/>
    <p:sldId id="470" r:id="rId22"/>
    <p:sldId id="484" r:id="rId23"/>
    <p:sldId id="485" r:id="rId24"/>
    <p:sldId id="486" r:id="rId25"/>
    <p:sldId id="487" r:id="rId26"/>
    <p:sldId id="488" r:id="rId27"/>
    <p:sldId id="489" r:id="rId28"/>
    <p:sldId id="490" r:id="rId29"/>
    <p:sldId id="491" r:id="rId30"/>
    <p:sldId id="492" r:id="rId31"/>
    <p:sldId id="493" r:id="rId32"/>
    <p:sldId id="494" r:id="rId33"/>
    <p:sldId id="495" r:id="rId34"/>
    <p:sldId id="496" r:id="rId35"/>
    <p:sldId id="497" r:id="rId36"/>
    <p:sldId id="498" r:id="rId37"/>
    <p:sldId id="499" r:id="rId38"/>
    <p:sldId id="500" r:id="rId39"/>
    <p:sldId id="501" r:id="rId40"/>
    <p:sldId id="502" r:id="rId41"/>
    <p:sldId id="503" r:id="rId42"/>
    <p:sldId id="504" r:id="rId43"/>
    <p:sldId id="505" r:id="rId44"/>
    <p:sldId id="506" r:id="rId45"/>
    <p:sldId id="507" r:id="rId46"/>
    <p:sldId id="508" r:id="rId47"/>
    <p:sldId id="509" r:id="rId48"/>
    <p:sldId id="510" r:id="rId49"/>
    <p:sldId id="511"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8" autoAdjust="0"/>
    <p:restoredTop sz="94660"/>
  </p:normalViewPr>
  <p:slideViewPr>
    <p:cSldViewPr snapToGrid="0">
      <p:cViewPr varScale="1">
        <p:scale>
          <a:sx n="82" d="100"/>
          <a:sy n="82" d="100"/>
        </p:scale>
        <p:origin x="58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2-07T07:39:43.804"/>
    </inkml:context>
    <inkml:brush xml:id="br0">
      <inkml:brushProperty name="width" value="0.025" units="cm"/>
      <inkml:brushProperty name="height" value="0.025" units="cm"/>
      <inkml:brushProperty name="ignorePressure" value="1"/>
    </inkml:brush>
  </inkml:definitions>
  <inkml:trace contextRef="#ctx0" brushRef="#br0">0 97,'0'0,"0"0,0 0,0 0,0 0,0 0,0 0,0 0,12-6,14-13,4-4,7-3,-2 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2-07T07:39:51.168"/>
    </inkml:context>
    <inkml:brush xml:id="br0">
      <inkml:brushProperty name="width" value="0.025" units="cm"/>
      <inkml:brushProperty name="height" value="0.025" units="cm"/>
      <inkml:brushProperty name="ignorePressure" value="1"/>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6D4FF-DEA4-4892-92B1-559585551894}" type="datetimeFigureOut">
              <a:rPr lang="en-IN" smtClean="0"/>
              <a:t>28-01-2025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3A5FB5-0710-47CC-8F83-FD860005E88A}" type="slidenum">
              <a:rPr lang="en-IN" smtClean="0"/>
              <a:t>‹#›</a:t>
            </a:fld>
            <a:endParaRPr lang="en-IN"/>
          </a:p>
        </p:txBody>
      </p:sp>
    </p:spTree>
    <p:extLst>
      <p:ext uri="{BB962C8B-B14F-4D97-AF65-F5344CB8AC3E}">
        <p14:creationId xmlns:p14="http://schemas.microsoft.com/office/powerpoint/2010/main" val="2418103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B8F9BCF-6C3B-4706-A57E-62DF77EB85B1}"/>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rPr>
              <a:t>Amity Institute of Information Technology</a:t>
            </a:r>
          </a:p>
        </p:txBody>
      </p:sp>
      <p:sp>
        <p:nvSpPr>
          <p:cNvPr id="5123" name="Rectangle 7">
            <a:extLst>
              <a:ext uri="{FF2B5EF4-FFF2-40B4-BE49-F238E27FC236}">
                <a16:creationId xmlns:a16="http://schemas.microsoft.com/office/drawing/2014/main" id="{A9643575-2427-488D-9ACC-8601D357AE2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4B0C161-B90F-4386-A4C0-CF9C7E8033D3}"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5124" name="Rectangle 2">
            <a:extLst>
              <a:ext uri="{FF2B5EF4-FFF2-40B4-BE49-F238E27FC236}">
                <a16:creationId xmlns:a16="http://schemas.microsoft.com/office/drawing/2014/main" id="{4B098021-E45A-46DC-8FB4-8B7C02CA01AE}"/>
              </a:ext>
            </a:extLst>
          </p:cNvPr>
          <p:cNvSpPr>
            <a:spLocks noGrp="1" noRot="1" noChangeAspect="1" noChangeArrowheads="1" noTextEdit="1"/>
          </p:cNvSpPr>
          <p:nvPr>
            <p:ph type="sldImg"/>
          </p:nvPr>
        </p:nvSpPr>
        <p:spPr>
          <a:ln/>
        </p:spPr>
      </p:sp>
      <p:sp>
        <p:nvSpPr>
          <p:cNvPr id="5125" name="Rectangle 3">
            <a:extLst>
              <a:ext uri="{FF2B5EF4-FFF2-40B4-BE49-F238E27FC236}">
                <a16:creationId xmlns:a16="http://schemas.microsoft.com/office/drawing/2014/main" id="{5DDACB0A-87E8-404A-9A9D-CEBF51E825E2}"/>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D7294E0-43BA-4050-978A-B5F4E62A110E}" type="slidenum">
              <a:rPr lang="en-IN" smtClean="0"/>
              <a:pPr/>
              <a:t>38</a:t>
            </a:fld>
            <a:endParaRPr lang="en-IN" dirty="0"/>
          </a:p>
        </p:txBody>
      </p:sp>
    </p:spTree>
    <p:extLst>
      <p:ext uri="{BB962C8B-B14F-4D97-AF65-F5344CB8AC3E}">
        <p14:creationId xmlns:p14="http://schemas.microsoft.com/office/powerpoint/2010/main" val="43095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6">
            <a:extLst>
              <a:ext uri="{FF2B5EF4-FFF2-40B4-BE49-F238E27FC236}">
                <a16:creationId xmlns:a16="http://schemas.microsoft.com/office/drawing/2014/main" id="{697815AB-70D8-49EB-A36D-D442E40DD67F}"/>
              </a:ext>
            </a:extLst>
          </p:cNvPr>
          <p:cNvSpPr>
            <a:spLocks noGrp="1" noChangeArrowheads="1"/>
          </p:cNvSpPr>
          <p:nvPr>
            <p:ph type="sldNum" sz="quarter" idx="10"/>
          </p:nvPr>
        </p:nvSpPr>
        <p:spPr>
          <a:ln/>
        </p:spPr>
        <p:txBody>
          <a:bodyPr/>
          <a:lstStyle>
            <a:lvl1pPr>
              <a:defRPr/>
            </a:lvl1pPr>
          </a:lstStyle>
          <a:p>
            <a:pPr>
              <a:defRPr/>
            </a:pPr>
            <a:fld id="{2DBB581B-2F53-4A21-A360-4A739774B45E}" type="slidenum">
              <a:rPr lang="en-US" altLang="en-US"/>
              <a:pPr>
                <a:defRPr/>
              </a:pPr>
              <a:t>‹#›</a:t>
            </a:fld>
            <a:endParaRPr lang="en-US" altLang="en-US"/>
          </a:p>
        </p:txBody>
      </p:sp>
    </p:spTree>
    <p:extLst>
      <p:ext uri="{BB962C8B-B14F-4D97-AF65-F5344CB8AC3E}">
        <p14:creationId xmlns:p14="http://schemas.microsoft.com/office/powerpoint/2010/main" val="1587785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DADD6217-5E64-455F-8FDC-A22BBF22A3A9}"/>
              </a:ext>
            </a:extLst>
          </p:cNvPr>
          <p:cNvSpPr>
            <a:spLocks noGrp="1" noChangeArrowheads="1"/>
          </p:cNvSpPr>
          <p:nvPr>
            <p:ph type="sldNum" sz="quarter" idx="10"/>
          </p:nvPr>
        </p:nvSpPr>
        <p:spPr>
          <a:ln/>
        </p:spPr>
        <p:txBody>
          <a:bodyPr/>
          <a:lstStyle>
            <a:lvl1pPr>
              <a:defRPr/>
            </a:lvl1pPr>
          </a:lstStyle>
          <a:p>
            <a:pPr>
              <a:defRPr/>
            </a:pPr>
            <a:fld id="{941F7A49-95A6-4D3E-8239-B64543B8D690}" type="slidenum">
              <a:rPr lang="en-US" altLang="en-US"/>
              <a:pPr>
                <a:defRPr/>
              </a:pPr>
              <a:t>‹#›</a:t>
            </a:fld>
            <a:endParaRPr lang="en-US" altLang="en-US"/>
          </a:p>
        </p:txBody>
      </p:sp>
    </p:spTree>
    <p:extLst>
      <p:ext uri="{BB962C8B-B14F-4D97-AF65-F5344CB8AC3E}">
        <p14:creationId xmlns:p14="http://schemas.microsoft.com/office/powerpoint/2010/main" val="1891958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6">
            <a:extLst>
              <a:ext uri="{FF2B5EF4-FFF2-40B4-BE49-F238E27FC236}">
                <a16:creationId xmlns:a16="http://schemas.microsoft.com/office/drawing/2014/main" id="{140E1339-A830-4559-98A3-35372A9481FD}"/>
              </a:ext>
            </a:extLst>
          </p:cNvPr>
          <p:cNvSpPr>
            <a:spLocks noGrp="1" noChangeArrowheads="1"/>
          </p:cNvSpPr>
          <p:nvPr>
            <p:ph type="sldNum" sz="quarter" idx="10"/>
          </p:nvPr>
        </p:nvSpPr>
        <p:spPr>
          <a:ln/>
        </p:spPr>
        <p:txBody>
          <a:bodyPr/>
          <a:lstStyle>
            <a:lvl1pPr>
              <a:defRPr/>
            </a:lvl1pPr>
          </a:lstStyle>
          <a:p>
            <a:pPr>
              <a:defRPr/>
            </a:pPr>
            <a:fld id="{27EC55A9-C5C2-4034-8C68-E5E00DA01365}" type="slidenum">
              <a:rPr lang="en-US" altLang="en-US"/>
              <a:pPr>
                <a:defRPr/>
              </a:pPr>
              <a:t>‹#›</a:t>
            </a:fld>
            <a:endParaRPr lang="en-US" altLang="en-US"/>
          </a:p>
        </p:txBody>
      </p:sp>
    </p:spTree>
    <p:extLst>
      <p:ext uri="{BB962C8B-B14F-4D97-AF65-F5344CB8AC3E}">
        <p14:creationId xmlns:p14="http://schemas.microsoft.com/office/powerpoint/2010/main" val="1281515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6">
            <a:extLst>
              <a:ext uri="{FF2B5EF4-FFF2-40B4-BE49-F238E27FC236}">
                <a16:creationId xmlns:a16="http://schemas.microsoft.com/office/drawing/2014/main" id="{2E924A73-6C50-4AC3-9D70-9BF5CD770347}"/>
              </a:ext>
            </a:extLst>
          </p:cNvPr>
          <p:cNvSpPr>
            <a:spLocks noGrp="1" noChangeArrowheads="1"/>
          </p:cNvSpPr>
          <p:nvPr>
            <p:ph type="sldNum" sz="quarter" idx="10"/>
          </p:nvPr>
        </p:nvSpPr>
        <p:spPr>
          <a:ln/>
        </p:spPr>
        <p:txBody>
          <a:bodyPr/>
          <a:lstStyle>
            <a:lvl1pPr>
              <a:defRPr/>
            </a:lvl1pPr>
          </a:lstStyle>
          <a:p>
            <a:pPr>
              <a:defRPr/>
            </a:pPr>
            <a:fld id="{BC88B6BB-978E-4895-9FE3-804546364DB5}" type="slidenum">
              <a:rPr lang="en-US" altLang="en-US"/>
              <a:pPr>
                <a:defRPr/>
              </a:pPr>
              <a:t>‹#›</a:t>
            </a:fld>
            <a:endParaRPr lang="en-US" altLang="en-US"/>
          </a:p>
        </p:txBody>
      </p:sp>
    </p:spTree>
    <p:extLst>
      <p:ext uri="{BB962C8B-B14F-4D97-AF65-F5344CB8AC3E}">
        <p14:creationId xmlns:p14="http://schemas.microsoft.com/office/powerpoint/2010/main" val="111234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6">
            <a:extLst>
              <a:ext uri="{FF2B5EF4-FFF2-40B4-BE49-F238E27FC236}">
                <a16:creationId xmlns:a16="http://schemas.microsoft.com/office/drawing/2014/main" id="{56EA8121-B2D3-41F8-8E89-A3FE9A413EE6}"/>
              </a:ext>
            </a:extLst>
          </p:cNvPr>
          <p:cNvSpPr>
            <a:spLocks noGrp="1" noChangeArrowheads="1"/>
          </p:cNvSpPr>
          <p:nvPr>
            <p:ph type="sldNum" sz="quarter" idx="10"/>
          </p:nvPr>
        </p:nvSpPr>
        <p:spPr>
          <a:ln/>
        </p:spPr>
        <p:txBody>
          <a:bodyPr/>
          <a:lstStyle>
            <a:lvl1pPr>
              <a:defRPr/>
            </a:lvl1pPr>
          </a:lstStyle>
          <a:p>
            <a:pPr>
              <a:defRPr/>
            </a:pPr>
            <a:fld id="{A5E00F77-6DD8-4988-B35E-0535D76BCEF6}" type="slidenum">
              <a:rPr lang="en-US" altLang="en-US"/>
              <a:pPr>
                <a:defRPr/>
              </a:pPr>
              <a:t>‹#›</a:t>
            </a:fld>
            <a:endParaRPr lang="en-US" altLang="en-US"/>
          </a:p>
        </p:txBody>
      </p:sp>
    </p:spTree>
    <p:extLst>
      <p:ext uri="{BB962C8B-B14F-4D97-AF65-F5344CB8AC3E}">
        <p14:creationId xmlns:p14="http://schemas.microsoft.com/office/powerpoint/2010/main" val="34716029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Rectangle 6">
            <a:extLst>
              <a:ext uri="{FF2B5EF4-FFF2-40B4-BE49-F238E27FC236}">
                <a16:creationId xmlns:a16="http://schemas.microsoft.com/office/drawing/2014/main" id="{9A4A9970-884C-47F6-8626-E1D4CD9DE41A}"/>
              </a:ext>
            </a:extLst>
          </p:cNvPr>
          <p:cNvSpPr>
            <a:spLocks noGrp="1" noChangeArrowheads="1"/>
          </p:cNvSpPr>
          <p:nvPr>
            <p:ph type="sldNum" sz="quarter" idx="10"/>
          </p:nvPr>
        </p:nvSpPr>
        <p:spPr>
          <a:ln/>
        </p:spPr>
        <p:txBody>
          <a:bodyPr/>
          <a:lstStyle>
            <a:lvl1pPr>
              <a:defRPr/>
            </a:lvl1pPr>
          </a:lstStyle>
          <a:p>
            <a:pPr>
              <a:defRPr/>
            </a:pPr>
            <a:fld id="{4FFCD857-033F-41E3-AE3F-066F8AF172C6}" type="slidenum">
              <a:rPr lang="en-US" altLang="en-US"/>
              <a:pPr>
                <a:defRPr/>
              </a:pPr>
              <a:t>‹#›</a:t>
            </a:fld>
            <a:endParaRPr lang="en-US" altLang="en-US"/>
          </a:p>
        </p:txBody>
      </p:sp>
    </p:spTree>
    <p:extLst>
      <p:ext uri="{BB962C8B-B14F-4D97-AF65-F5344CB8AC3E}">
        <p14:creationId xmlns:p14="http://schemas.microsoft.com/office/powerpoint/2010/main" val="1027265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3EEFACFA-D5B0-4964-A16D-E8A4CBC7117D}"/>
              </a:ext>
            </a:extLst>
          </p:cNvPr>
          <p:cNvSpPr>
            <a:spLocks noGrp="1" noChangeArrowheads="1"/>
          </p:cNvSpPr>
          <p:nvPr>
            <p:ph type="sldNum" sz="quarter" idx="10"/>
          </p:nvPr>
        </p:nvSpPr>
        <p:spPr>
          <a:ln/>
        </p:spPr>
        <p:txBody>
          <a:bodyPr/>
          <a:lstStyle>
            <a:lvl1pPr>
              <a:defRPr/>
            </a:lvl1pPr>
          </a:lstStyle>
          <a:p>
            <a:pPr>
              <a:defRPr/>
            </a:pPr>
            <a:fld id="{40CE7F4D-6297-41C0-ACE0-955D72B832BD}" type="slidenum">
              <a:rPr lang="en-US" altLang="en-US"/>
              <a:pPr>
                <a:defRPr/>
              </a:pPr>
              <a:t>‹#›</a:t>
            </a:fld>
            <a:endParaRPr lang="en-US" altLang="en-US"/>
          </a:p>
        </p:txBody>
      </p:sp>
    </p:spTree>
    <p:extLst>
      <p:ext uri="{BB962C8B-B14F-4D97-AF65-F5344CB8AC3E}">
        <p14:creationId xmlns:p14="http://schemas.microsoft.com/office/powerpoint/2010/main" val="2078777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8EB96FA9-73D7-4AB6-8917-C92D30A6B63A}"/>
              </a:ext>
            </a:extLst>
          </p:cNvPr>
          <p:cNvSpPr>
            <a:spLocks noGrp="1" noChangeArrowheads="1"/>
          </p:cNvSpPr>
          <p:nvPr>
            <p:ph type="sldNum" sz="quarter" idx="10"/>
          </p:nvPr>
        </p:nvSpPr>
        <p:spPr>
          <a:ln/>
        </p:spPr>
        <p:txBody>
          <a:bodyPr/>
          <a:lstStyle>
            <a:lvl1pPr>
              <a:defRPr/>
            </a:lvl1pPr>
          </a:lstStyle>
          <a:p>
            <a:pPr>
              <a:defRPr/>
            </a:pPr>
            <a:fld id="{69B29622-9F7E-4FEE-927C-378CA5783F19}" type="slidenum">
              <a:rPr lang="en-US" altLang="en-US"/>
              <a:pPr>
                <a:defRPr/>
              </a:pPr>
              <a:t>‹#›</a:t>
            </a:fld>
            <a:endParaRPr lang="en-US" altLang="en-US"/>
          </a:p>
        </p:txBody>
      </p:sp>
    </p:spTree>
    <p:extLst>
      <p:ext uri="{BB962C8B-B14F-4D97-AF65-F5344CB8AC3E}">
        <p14:creationId xmlns:p14="http://schemas.microsoft.com/office/powerpoint/2010/main" val="47768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6">
            <a:extLst>
              <a:ext uri="{FF2B5EF4-FFF2-40B4-BE49-F238E27FC236}">
                <a16:creationId xmlns:a16="http://schemas.microsoft.com/office/drawing/2014/main" id="{CF7CD70D-4D46-46B4-BEE2-A008FF3640C8}"/>
              </a:ext>
            </a:extLst>
          </p:cNvPr>
          <p:cNvSpPr>
            <a:spLocks noGrp="1" noChangeArrowheads="1"/>
          </p:cNvSpPr>
          <p:nvPr>
            <p:ph type="sldNum" sz="quarter" idx="10"/>
          </p:nvPr>
        </p:nvSpPr>
        <p:spPr>
          <a:ln/>
        </p:spPr>
        <p:txBody>
          <a:bodyPr/>
          <a:lstStyle>
            <a:lvl1pPr>
              <a:defRPr/>
            </a:lvl1pPr>
          </a:lstStyle>
          <a:p>
            <a:pPr>
              <a:defRPr/>
            </a:pPr>
            <a:fld id="{EF827498-146B-4988-8324-4FDA45D96EE1}" type="slidenum">
              <a:rPr lang="en-US" altLang="en-US"/>
              <a:pPr>
                <a:defRPr/>
              </a:pPr>
              <a:t>‹#›</a:t>
            </a:fld>
            <a:endParaRPr lang="en-US" altLang="en-US"/>
          </a:p>
        </p:txBody>
      </p:sp>
    </p:spTree>
    <p:extLst>
      <p:ext uri="{BB962C8B-B14F-4D97-AF65-F5344CB8AC3E}">
        <p14:creationId xmlns:p14="http://schemas.microsoft.com/office/powerpoint/2010/main" val="2301845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8968565-86CB-4886-8DC6-AAC02891B8FB}"/>
              </a:ext>
            </a:extLst>
          </p:cNvPr>
          <p:cNvSpPr>
            <a:spLocks noGrp="1" noChangeArrowheads="1"/>
          </p:cNvSpPr>
          <p:nvPr>
            <p:ph type="sldNum" sz="quarter" idx="10"/>
          </p:nvPr>
        </p:nvSpPr>
        <p:spPr>
          <a:ln/>
        </p:spPr>
        <p:txBody>
          <a:bodyPr/>
          <a:lstStyle>
            <a:lvl1pPr>
              <a:defRPr/>
            </a:lvl1pPr>
          </a:lstStyle>
          <a:p>
            <a:pPr>
              <a:defRPr/>
            </a:pPr>
            <a:fld id="{1CF355AD-7026-4A51-92AC-BDE138BCA4A8}" type="slidenum">
              <a:rPr lang="en-US" altLang="en-US"/>
              <a:pPr>
                <a:defRPr/>
              </a:pPr>
              <a:t>‹#›</a:t>
            </a:fld>
            <a:endParaRPr lang="en-US" altLang="en-US"/>
          </a:p>
        </p:txBody>
      </p:sp>
    </p:spTree>
    <p:extLst>
      <p:ext uri="{BB962C8B-B14F-4D97-AF65-F5344CB8AC3E}">
        <p14:creationId xmlns:p14="http://schemas.microsoft.com/office/powerpoint/2010/main" val="1238090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A125B6C0-0E44-4A4E-819E-36CEE900B639}"/>
              </a:ext>
            </a:extLst>
          </p:cNvPr>
          <p:cNvSpPr>
            <a:spLocks noGrp="1" noChangeArrowheads="1"/>
          </p:cNvSpPr>
          <p:nvPr>
            <p:ph type="sldNum" sz="quarter" idx="10"/>
          </p:nvPr>
        </p:nvSpPr>
        <p:spPr>
          <a:ln/>
        </p:spPr>
        <p:txBody>
          <a:bodyPr/>
          <a:lstStyle>
            <a:lvl1pPr>
              <a:defRPr/>
            </a:lvl1pPr>
          </a:lstStyle>
          <a:p>
            <a:pPr>
              <a:defRPr/>
            </a:pPr>
            <a:fld id="{52F2FCC7-3B50-42FE-BACC-7717F049D3C3}" type="slidenum">
              <a:rPr lang="en-US" altLang="en-US"/>
              <a:pPr>
                <a:defRPr/>
              </a:pPr>
              <a:t>‹#›</a:t>
            </a:fld>
            <a:endParaRPr lang="en-US" altLang="en-US"/>
          </a:p>
        </p:txBody>
      </p:sp>
    </p:spTree>
    <p:extLst>
      <p:ext uri="{BB962C8B-B14F-4D97-AF65-F5344CB8AC3E}">
        <p14:creationId xmlns:p14="http://schemas.microsoft.com/office/powerpoint/2010/main" val="16954849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Vertical Tex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BD7087-FF66-4DC3-89BC-F97889426A8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Picture 2" descr="A close up of a sign&#10;&#10;Description automatically generated">
            <a:extLst>
              <a:ext uri="{FF2B5EF4-FFF2-40B4-BE49-F238E27FC236}">
                <a16:creationId xmlns:a16="http://schemas.microsoft.com/office/drawing/2014/main" id="{E1123F4C-6A31-4C1F-A6F6-826F5AEAF06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144000" y="177800"/>
            <a:ext cx="2885445" cy="1202947"/>
          </a:xfrm>
          <a:prstGeom prst="rect">
            <a:avLst/>
          </a:prstGeom>
        </p:spPr>
      </p:pic>
    </p:spTree>
    <p:extLst>
      <p:ext uri="{BB962C8B-B14F-4D97-AF65-F5344CB8AC3E}">
        <p14:creationId xmlns:p14="http://schemas.microsoft.com/office/powerpoint/2010/main" val="556770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2933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a:extLst>
              <a:ext uri="{FF2B5EF4-FFF2-40B4-BE49-F238E27FC236}">
                <a16:creationId xmlns:a16="http://schemas.microsoft.com/office/drawing/2014/main" id="{8449A887-5DE0-4487-B255-3AF567F9C735}"/>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b="83365"/>
          <a:stretch>
            <a:fillRect/>
          </a:stretch>
        </p:blipFill>
        <p:spPr bwMode="auto">
          <a:xfrm>
            <a:off x="0" y="76201"/>
            <a:ext cx="12183533"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a:extLst>
              <a:ext uri="{FF2B5EF4-FFF2-40B4-BE49-F238E27FC236}">
                <a16:creationId xmlns:a16="http://schemas.microsoft.com/office/drawing/2014/main" id="{3725FC8C-A2FB-4E54-9109-26A80C5FA7A2}"/>
              </a:ext>
            </a:extLst>
          </p:cNvPr>
          <p:cNvSpPr>
            <a:spLocks noGrp="1" noChangeArrowheads="1"/>
          </p:cNvSpPr>
          <p:nvPr>
            <p:ph type="sldNum" sz="quarter" idx="4"/>
          </p:nvPr>
        </p:nvSpPr>
        <p:spPr bwMode="auto">
          <a:xfrm>
            <a:off x="9065684" y="6400800"/>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100" smtClean="0"/>
            </a:lvl1pPr>
          </a:lstStyle>
          <a:p>
            <a:pPr>
              <a:defRPr/>
            </a:pPr>
            <a:fld id="{87D83082-6E93-47F3-BCEC-6D6F7AC7DA64}" type="slidenum">
              <a:rPr lang="en-US" altLang="en-US"/>
              <a:pPr>
                <a:defRPr/>
              </a:pPr>
              <a:t>‹#›</a:t>
            </a:fld>
            <a:endParaRPr lang="en-US" altLang="en-US"/>
          </a:p>
        </p:txBody>
      </p:sp>
      <p:sp>
        <p:nvSpPr>
          <p:cNvPr id="1028" name="Rectangle 8">
            <a:extLst>
              <a:ext uri="{FF2B5EF4-FFF2-40B4-BE49-F238E27FC236}">
                <a16:creationId xmlns:a16="http://schemas.microsoft.com/office/drawing/2014/main" id="{F2006CED-6E1C-4C80-84FC-50B3EA341DF5}"/>
              </a:ext>
            </a:extLst>
          </p:cNvPr>
          <p:cNvSpPr>
            <a:spLocks noChangeArrowheads="1"/>
          </p:cNvSpPr>
          <p:nvPr/>
        </p:nvSpPr>
        <p:spPr bwMode="auto">
          <a:xfrm>
            <a:off x="4656667" y="611188"/>
            <a:ext cx="7213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r>
              <a:rPr lang="en-US" altLang="en-US" sz="1600" b="1">
                <a:solidFill>
                  <a:schemeClr val="accent2"/>
                </a:solidFill>
              </a:rPr>
              <a:t>Amity Institute of Information Technology</a:t>
            </a:r>
          </a:p>
        </p:txBody>
      </p:sp>
      <p:sp>
        <p:nvSpPr>
          <p:cNvPr id="1029" name="Rectangle 10">
            <a:extLst>
              <a:ext uri="{FF2B5EF4-FFF2-40B4-BE49-F238E27FC236}">
                <a16:creationId xmlns:a16="http://schemas.microsoft.com/office/drawing/2014/main" id="{85D5D199-E1F6-467A-A88F-299499A5AE56}"/>
              </a:ext>
            </a:extLst>
          </p:cNvPr>
          <p:cNvSpPr>
            <a:spLocks noChangeArrowheads="1"/>
          </p:cNvSpPr>
          <p:nvPr userDrawn="1"/>
        </p:nvSpPr>
        <p:spPr bwMode="auto">
          <a:xfrm>
            <a:off x="3251200" y="6705600"/>
            <a:ext cx="8940800" cy="152400"/>
          </a:xfrm>
          <a:prstGeom prst="rect">
            <a:avLst/>
          </a:prstGeom>
          <a:solidFill>
            <a:srgbClr val="F1B43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IN" altLang="en-US" sz="1800"/>
          </a:p>
        </p:txBody>
      </p:sp>
    </p:spTree>
    <p:extLst>
      <p:ext uri="{BB962C8B-B14F-4D97-AF65-F5344CB8AC3E}">
        <p14:creationId xmlns:p14="http://schemas.microsoft.com/office/powerpoint/2010/main" val="6945666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 id="2147483674" r:id="rId13"/>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35.png"/><Relationship Id="rId1" Type="http://schemas.openxmlformats.org/officeDocument/2006/relationships/slideLayout" Target="../slideLayouts/slideLayout13.xml"/><Relationship Id="rId6" Type="http://schemas.openxmlformats.org/officeDocument/2006/relationships/image" Target="../media/image37.png"/><Relationship Id="rId5" Type="http://schemas.openxmlformats.org/officeDocument/2006/relationships/customXml" Target="../ink/ink2.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a:extLst>
              <a:ext uri="{FF2B5EF4-FFF2-40B4-BE49-F238E27FC236}">
                <a16:creationId xmlns:a16="http://schemas.microsoft.com/office/drawing/2014/main" id="{8469C9C1-BD22-4CF2-9C58-53B367FE92B2}"/>
              </a:ext>
            </a:extLst>
          </p:cNvPr>
          <p:cNvSpPr>
            <a:spLocks noGrp="1"/>
          </p:cNvSpPr>
          <p:nvPr>
            <p:ph type="sldNum"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48AB5C7E-C987-4B17-8B6C-FB2215A95668}" type="slidenum">
              <a:rPr lang="en-US" altLang="en-US">
                <a:solidFill>
                  <a:srgbClr val="000000"/>
                </a:solidFill>
              </a:rPr>
              <a:pPr fontAlgn="base">
                <a:spcBef>
                  <a:spcPct val="0"/>
                </a:spcBef>
                <a:spcAft>
                  <a:spcPct val="0"/>
                </a:spcAft>
              </a:pPr>
              <a:t>1</a:t>
            </a:fld>
            <a:endParaRPr lang="en-US" altLang="en-US">
              <a:solidFill>
                <a:srgbClr val="000000"/>
              </a:solidFill>
            </a:endParaRPr>
          </a:p>
        </p:txBody>
      </p:sp>
      <p:sp>
        <p:nvSpPr>
          <p:cNvPr id="4099" name="Rectangle 4">
            <a:extLst>
              <a:ext uri="{FF2B5EF4-FFF2-40B4-BE49-F238E27FC236}">
                <a16:creationId xmlns:a16="http://schemas.microsoft.com/office/drawing/2014/main" id="{A377AE03-F191-4623-A034-86DA79FC7120}"/>
              </a:ext>
            </a:extLst>
          </p:cNvPr>
          <p:cNvSpPr>
            <a:spLocks noGrp="1" noChangeArrowheads="1"/>
          </p:cNvSpPr>
          <p:nvPr>
            <p:ph type="ctrTitle"/>
          </p:nvPr>
        </p:nvSpPr>
        <p:spPr bwMode="auto">
          <a:xfrm>
            <a:off x="2209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50000"/>
              </a:lnSpc>
            </a:pPr>
            <a:r>
              <a:rPr lang="en-US" altLang="en-US" sz="4500" dirty="0">
                <a:solidFill>
                  <a:schemeClr val="tx1"/>
                </a:solidFill>
                <a:latin typeface="Times New Roman" panose="02020603050405020304" pitchFamily="18" charset="0"/>
              </a:rPr>
              <a:t>Amity Institute of Information Technology</a:t>
            </a:r>
            <a:br>
              <a:rPr lang="en-US" altLang="en-US" sz="4500" b="1" dirty="0">
                <a:solidFill>
                  <a:schemeClr val="tx1"/>
                </a:solidFill>
                <a:latin typeface="Times New Roman" panose="02020603050405020304" pitchFamily="18" charset="0"/>
              </a:rPr>
            </a:br>
            <a:r>
              <a:rPr lang="en-US" altLang="en-US" sz="2500" b="1" dirty="0">
                <a:solidFill>
                  <a:schemeClr val="tx1"/>
                </a:solidFill>
                <a:latin typeface="Times New Roman" panose="02020603050405020304" pitchFamily="18" charset="0"/>
              </a:rPr>
              <a:t>BCA </a:t>
            </a:r>
            <a:r>
              <a:rPr lang="en-US" altLang="en-US" sz="2500" dirty="0">
                <a:solidFill>
                  <a:schemeClr val="tx1"/>
                </a:solidFill>
                <a:latin typeface="Times New Roman" panose="02020603050405020304" pitchFamily="18" charset="0"/>
              </a:rPr>
              <a:t>, </a:t>
            </a:r>
            <a:r>
              <a:rPr lang="en-US" altLang="en-US" sz="2500" dirty="0" err="1">
                <a:solidFill>
                  <a:schemeClr val="tx1"/>
                </a:solidFill>
                <a:latin typeface="Times New Roman" panose="02020603050405020304" pitchFamily="18" charset="0"/>
              </a:rPr>
              <a:t>Ist</a:t>
            </a:r>
            <a:r>
              <a:rPr lang="en-US" altLang="en-US" sz="2500" dirty="0">
                <a:solidFill>
                  <a:schemeClr val="tx1"/>
                </a:solidFill>
                <a:latin typeface="Times New Roman" panose="02020603050405020304" pitchFamily="18" charset="0"/>
              </a:rPr>
              <a:t> Semester </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Basic Mathematics- Matrices</a:t>
            </a:r>
            <a:br>
              <a:rPr lang="en-US" altLang="en-US" sz="2500" dirty="0">
                <a:solidFill>
                  <a:schemeClr val="tx1"/>
                </a:solidFill>
                <a:latin typeface="Times New Roman" panose="02020603050405020304" pitchFamily="18" charset="0"/>
              </a:rPr>
            </a:br>
            <a:r>
              <a:rPr lang="en-US" altLang="en-US" sz="2500" dirty="0">
                <a:solidFill>
                  <a:schemeClr val="tx1"/>
                </a:solidFill>
                <a:latin typeface="Times New Roman" panose="02020603050405020304" pitchFamily="18" charset="0"/>
              </a:rPr>
              <a:t>Dr Sarika Jain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4">
            <a:extLst>
              <a:ext uri="{FF2B5EF4-FFF2-40B4-BE49-F238E27FC236}">
                <a16:creationId xmlns:a16="http://schemas.microsoft.com/office/drawing/2014/main" id="{9C262B92-17C2-4456-B9D5-B2108D8936B1}"/>
              </a:ext>
            </a:extLst>
          </p:cNvPr>
          <p:cNvSpPr txBox="1">
            <a:spLocks noChangeArrowheads="1"/>
          </p:cNvSpPr>
          <p:nvPr/>
        </p:nvSpPr>
        <p:spPr bwMode="auto">
          <a:xfrm>
            <a:off x="13208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dirty="0">
                <a:solidFill>
                  <a:srgbClr val="C00000"/>
                </a:solidFill>
                <a:latin typeface="Calibri" panose="020F0502020204030204" pitchFamily="34" charset="0"/>
              </a:rPr>
              <a:t>Matrix</a:t>
            </a:r>
          </a:p>
        </p:txBody>
      </p:sp>
      <p:sp>
        <p:nvSpPr>
          <p:cNvPr id="4" name="Rectangle 1">
            <a:extLst>
              <a:ext uri="{FF2B5EF4-FFF2-40B4-BE49-F238E27FC236}">
                <a16:creationId xmlns:a16="http://schemas.microsoft.com/office/drawing/2014/main" id="{16B1426E-25D5-47CA-BD81-6A70F103A424}"/>
              </a:ext>
            </a:extLst>
          </p:cNvPr>
          <p:cNvSpPr>
            <a:spLocks noChangeArrowheads="1"/>
          </p:cNvSpPr>
          <p:nvPr/>
        </p:nvSpPr>
        <p:spPr bwMode="auto">
          <a:xfrm>
            <a:off x="609601" y="1360151"/>
            <a:ext cx="10160000"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A matrix consists of a set of numbers arranged in rows and columns enclosed in brackets.</a:t>
            </a: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  </a:t>
            </a:r>
            <a:r>
              <a:rPr lang="en-US" altLang="en-US" sz="6000" dirty="0">
                <a:solidFill>
                  <a:srgbClr val="0A0A0A"/>
                </a:solidFill>
                <a:latin typeface="Lucida Sans Unicode" panose="020B0602030504020204" pitchFamily="34" charset="0"/>
                <a:cs typeface="Lucida Sans Unicode" panose="020B0602030504020204" pitchFamily="34" charset="0"/>
              </a:rPr>
              <a:t>                 </a:t>
            </a:r>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The following diagram shows the rows and columns </a:t>
            </a:r>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of a 3 by 2 matrix. </a:t>
            </a:r>
            <a:endParaRPr lang="en-US" altLang="en-US" sz="2400" dirty="0"/>
          </a:p>
        </p:txBody>
      </p:sp>
      <p:pic>
        <p:nvPicPr>
          <p:cNvPr id="25602" name="Picture 2">
            <a:extLst>
              <a:ext uri="{FF2B5EF4-FFF2-40B4-BE49-F238E27FC236}">
                <a16:creationId xmlns:a16="http://schemas.microsoft.com/office/drawing/2014/main" id="{86F0CAD5-7DA6-44EA-BE8E-8FF61D26F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7201" y="2209801"/>
            <a:ext cx="3873500" cy="952500"/>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descr="matrix row column example">
            <a:extLst>
              <a:ext uri="{FF2B5EF4-FFF2-40B4-BE49-F238E27FC236}">
                <a16:creationId xmlns:a16="http://schemas.microsoft.com/office/drawing/2014/main" id="{9395729F-78CE-409E-8E93-1A09D84688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9200" y="2108201"/>
            <a:ext cx="5715000" cy="4533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a:extLst>
              <a:ext uri="{FF2B5EF4-FFF2-40B4-BE49-F238E27FC236}">
                <a16:creationId xmlns:a16="http://schemas.microsoft.com/office/drawing/2014/main" id="{F735D8A5-88AD-43A1-AF8C-8B1F139295FD}"/>
              </a:ext>
            </a:extLst>
          </p:cNvPr>
          <p:cNvSpPr txBox="1">
            <a:spLocks noChangeArrowheads="1"/>
          </p:cNvSpPr>
          <p:nvPr/>
        </p:nvSpPr>
        <p:spPr bwMode="auto">
          <a:xfrm>
            <a:off x="1320800" y="269877"/>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dirty="0">
                <a:solidFill>
                  <a:srgbClr val="990000"/>
                </a:solidFill>
                <a:latin typeface="Lucida Sans Unicode" panose="020B0602030504020204" pitchFamily="34" charset="0"/>
                <a:cs typeface="Lucida Sans Unicode" panose="020B0602030504020204" pitchFamily="34" charset="0"/>
              </a:rPr>
              <a:t>dimensions or order of a matrix</a:t>
            </a:r>
            <a:endParaRPr lang="en-US" altLang="en-US" sz="2400" dirty="0">
              <a:solidFill>
                <a:srgbClr val="C00000"/>
              </a:solidFill>
              <a:latin typeface="Calibri" panose="020F0502020204030204" pitchFamily="34" charset="0"/>
            </a:endParaRPr>
          </a:p>
        </p:txBody>
      </p:sp>
      <p:sp>
        <p:nvSpPr>
          <p:cNvPr id="5" name="Rectangle 1">
            <a:extLst>
              <a:ext uri="{FF2B5EF4-FFF2-40B4-BE49-F238E27FC236}">
                <a16:creationId xmlns:a16="http://schemas.microsoft.com/office/drawing/2014/main" id="{D7202E2F-44D7-4A90-BDDD-DA911FB78B56}"/>
              </a:ext>
            </a:extLst>
          </p:cNvPr>
          <p:cNvSpPr>
            <a:spLocks noChangeArrowheads="1"/>
          </p:cNvSpPr>
          <p:nvPr/>
        </p:nvSpPr>
        <p:spPr bwMode="auto">
          <a:xfrm>
            <a:off x="1117601" y="1397033"/>
            <a:ext cx="9485930" cy="3036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The </a:t>
            </a:r>
            <a:r>
              <a:rPr lang="en-US" altLang="en-US" sz="1600" b="1" dirty="0">
                <a:solidFill>
                  <a:srgbClr val="990000"/>
                </a:solidFill>
                <a:latin typeface="Lucida Sans Unicode" panose="020B0602030504020204" pitchFamily="34" charset="0"/>
                <a:cs typeface="Lucida Sans Unicode" panose="020B0602030504020204" pitchFamily="34" charset="0"/>
              </a:rPr>
              <a:t>dimensions or order of a matrix </a:t>
            </a:r>
            <a:r>
              <a:rPr lang="en-US" altLang="en-US" sz="1600" dirty="0">
                <a:solidFill>
                  <a:srgbClr val="0A0A0A"/>
                </a:solidFill>
                <a:latin typeface="Lucida Sans Unicode" panose="020B0602030504020204" pitchFamily="34" charset="0"/>
                <a:cs typeface="Lucida Sans Unicode" panose="020B0602030504020204" pitchFamily="34" charset="0"/>
              </a:rPr>
              <a:t>gives the number of rows followed by the number</a:t>
            </a:r>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 of columns in a matrix. The order of a matrix with 3 rows and 2 columns is 3 × 2 or 3 by 2.</a:t>
            </a:r>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We usually denote a matrix by a capital letter.</a:t>
            </a: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  </a:t>
            </a:r>
            <a:r>
              <a:rPr lang="en-US" altLang="en-US" sz="3733" dirty="0">
                <a:solidFill>
                  <a:srgbClr val="0A0A0A"/>
                </a:solidFill>
                <a:latin typeface="Lucida Sans Unicode" panose="020B0602030504020204" pitchFamily="34" charset="0"/>
                <a:cs typeface="Lucida Sans Unicode" panose="020B0602030504020204" pitchFamily="34" charset="0"/>
              </a:rPr>
              <a:t>           </a:t>
            </a:r>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C is a matrix of order 2 × 4 (read as ‘2 by 4’)</a:t>
            </a:r>
            <a:endParaRPr lang="en-US" altLang="en-US" sz="2400" dirty="0"/>
          </a:p>
        </p:txBody>
      </p:sp>
      <p:pic>
        <p:nvPicPr>
          <p:cNvPr id="23554" name="Picture 2">
            <a:extLst>
              <a:ext uri="{FF2B5EF4-FFF2-40B4-BE49-F238E27FC236}">
                <a16:creationId xmlns:a16="http://schemas.microsoft.com/office/drawing/2014/main" id="{D1843E00-5CE8-424F-A28D-4EEB3EDBB5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1" y="2717801"/>
            <a:ext cx="1638300" cy="609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440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a:extLst>
              <a:ext uri="{FF2B5EF4-FFF2-40B4-BE49-F238E27FC236}">
                <a16:creationId xmlns:a16="http://schemas.microsoft.com/office/drawing/2014/main" id="{F735D8A5-88AD-43A1-AF8C-8B1F139295FD}"/>
              </a:ext>
            </a:extLst>
          </p:cNvPr>
          <p:cNvSpPr txBox="1">
            <a:spLocks noChangeArrowheads="1"/>
          </p:cNvSpPr>
          <p:nvPr/>
        </p:nvSpPr>
        <p:spPr bwMode="auto">
          <a:xfrm>
            <a:off x="13208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dirty="0">
                <a:solidFill>
                  <a:srgbClr val="FF0000"/>
                </a:solidFill>
                <a:latin typeface="Lucida Sans Unicode" panose="020B0602030504020204" pitchFamily="34" charset="0"/>
                <a:cs typeface="Lucida Sans Unicode" panose="020B0602030504020204" pitchFamily="34" charset="0"/>
              </a:rPr>
              <a:t>elements </a:t>
            </a:r>
            <a:r>
              <a:rPr lang="en-US" altLang="en-US" sz="2400" dirty="0">
                <a:solidFill>
                  <a:srgbClr val="FF0000"/>
                </a:solidFill>
                <a:latin typeface="Lucida Sans Unicode" panose="020B0602030504020204" pitchFamily="34" charset="0"/>
                <a:cs typeface="Lucida Sans Unicode" panose="020B0602030504020204" pitchFamily="34" charset="0"/>
              </a:rPr>
              <a:t>of the matrix</a:t>
            </a:r>
            <a:endParaRPr lang="en-US" altLang="en-US" sz="2400" dirty="0">
              <a:solidFill>
                <a:srgbClr val="FF0000"/>
              </a:solidFill>
              <a:latin typeface="Calibri" panose="020F0502020204030204" pitchFamily="34" charset="0"/>
            </a:endParaRPr>
          </a:p>
        </p:txBody>
      </p:sp>
      <p:sp>
        <p:nvSpPr>
          <p:cNvPr id="3" name="Rectangle 1">
            <a:extLst>
              <a:ext uri="{FF2B5EF4-FFF2-40B4-BE49-F238E27FC236}">
                <a16:creationId xmlns:a16="http://schemas.microsoft.com/office/drawing/2014/main" id="{BF2F69E8-FA75-406D-818D-DC089CE74324}"/>
              </a:ext>
            </a:extLst>
          </p:cNvPr>
          <p:cNvSpPr>
            <a:spLocks noChangeArrowheads="1"/>
          </p:cNvSpPr>
          <p:nvPr/>
        </p:nvSpPr>
        <p:spPr bwMode="auto">
          <a:xfrm>
            <a:off x="965201" y="1172855"/>
            <a:ext cx="10434908" cy="363176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Each number in the array is called an </a:t>
            </a:r>
            <a:r>
              <a:rPr lang="en-US" altLang="en-US" sz="1600" b="1" dirty="0">
                <a:solidFill>
                  <a:srgbClr val="990000"/>
                </a:solidFill>
                <a:latin typeface="Lucida Sans Unicode" panose="020B0602030504020204" pitchFamily="34" charset="0"/>
                <a:cs typeface="Lucida Sans Unicode" panose="020B0602030504020204" pitchFamily="34" charset="0"/>
              </a:rPr>
              <a:t>entry</a:t>
            </a:r>
            <a:r>
              <a:rPr lang="en-US" altLang="en-US" sz="1600" dirty="0">
                <a:solidFill>
                  <a:srgbClr val="0A0A0A"/>
                </a:solidFill>
                <a:latin typeface="Lucida Sans Unicode" panose="020B0602030504020204" pitchFamily="34" charset="0"/>
                <a:cs typeface="Lucida Sans Unicode" panose="020B0602030504020204" pitchFamily="34" charset="0"/>
              </a:rPr>
              <a:t> or an </a:t>
            </a:r>
            <a:r>
              <a:rPr lang="en-US" altLang="en-US" sz="1600" b="1" dirty="0">
                <a:solidFill>
                  <a:srgbClr val="990000"/>
                </a:solidFill>
                <a:latin typeface="Lucida Sans Unicode" panose="020B0602030504020204" pitchFamily="34" charset="0"/>
                <a:cs typeface="Lucida Sans Unicode" panose="020B0602030504020204" pitchFamily="34" charset="0"/>
              </a:rPr>
              <a:t>element </a:t>
            </a:r>
            <a:r>
              <a:rPr lang="en-US" altLang="en-US" sz="1600" dirty="0">
                <a:solidFill>
                  <a:srgbClr val="0A0A0A"/>
                </a:solidFill>
                <a:latin typeface="Lucida Sans Unicode" panose="020B0602030504020204" pitchFamily="34" charset="0"/>
                <a:cs typeface="Lucida Sans Unicode" panose="020B0602030504020204" pitchFamily="34" charset="0"/>
              </a:rPr>
              <a:t>of the matrix. When we need to read out the</a:t>
            </a:r>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 elements of an array, we read it out row by row.</a:t>
            </a: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  </a:t>
            </a:r>
            <a:r>
              <a:rPr lang="en-US" altLang="en-US" sz="6000" dirty="0">
                <a:solidFill>
                  <a:srgbClr val="0A0A0A"/>
                </a:solidFill>
                <a:latin typeface="Lucida Sans Unicode" panose="020B0602030504020204" pitchFamily="34" charset="0"/>
                <a:cs typeface="Lucida Sans Unicode" panose="020B0602030504020204" pitchFamily="34" charset="0"/>
              </a:rPr>
              <a:t>                     </a:t>
            </a:r>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Each element is defined by its position in the matrix.</a:t>
            </a:r>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In a matrix A, an element in row </a:t>
            </a:r>
            <a:r>
              <a:rPr lang="en-US" altLang="en-US" sz="1600" dirty="0" err="1">
                <a:solidFill>
                  <a:srgbClr val="0A0A0A"/>
                </a:solidFill>
                <a:latin typeface="Lucida Sans Unicode" panose="020B0602030504020204" pitchFamily="34" charset="0"/>
                <a:cs typeface="Lucida Sans Unicode" panose="020B0602030504020204" pitchFamily="34" charset="0"/>
              </a:rPr>
              <a:t>i</a:t>
            </a:r>
            <a:r>
              <a:rPr lang="en-US" altLang="en-US" sz="1600" dirty="0">
                <a:solidFill>
                  <a:srgbClr val="0A0A0A"/>
                </a:solidFill>
                <a:latin typeface="Lucida Sans Unicode" panose="020B0602030504020204" pitchFamily="34" charset="0"/>
                <a:cs typeface="Lucida Sans Unicode" panose="020B0602030504020204" pitchFamily="34" charset="0"/>
              </a:rPr>
              <a:t> and column j is represented by </a:t>
            </a:r>
            <a:r>
              <a:rPr lang="en-US" altLang="en-US" sz="1600" dirty="0" err="1">
                <a:solidFill>
                  <a:srgbClr val="0A0A0A"/>
                </a:solidFill>
                <a:latin typeface="Lucida Sans Unicode" panose="020B0602030504020204" pitchFamily="34" charset="0"/>
                <a:cs typeface="Lucida Sans Unicode" panose="020B0602030504020204" pitchFamily="34" charset="0"/>
              </a:rPr>
              <a:t>a</a:t>
            </a:r>
            <a:r>
              <a:rPr lang="en-US" altLang="en-US" sz="1200" baseline="-30000" dirty="0" err="1">
                <a:solidFill>
                  <a:srgbClr val="0A0A0A"/>
                </a:solidFill>
                <a:latin typeface="Lucida Sans Unicode" panose="020B0602030504020204" pitchFamily="34" charset="0"/>
                <a:cs typeface="Lucida Sans Unicode" panose="020B0602030504020204" pitchFamily="34" charset="0"/>
              </a:rPr>
              <a:t>ij</a:t>
            </a:r>
            <a:endParaRPr lang="en-US" altLang="en-US" sz="1200" baseline="-300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200" baseline="-300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2400" dirty="0"/>
          </a:p>
        </p:txBody>
      </p:sp>
      <p:pic>
        <p:nvPicPr>
          <p:cNvPr id="22530" name="Picture 2">
            <a:extLst>
              <a:ext uri="{FF2B5EF4-FFF2-40B4-BE49-F238E27FC236}">
                <a16:creationId xmlns:a16="http://schemas.microsoft.com/office/drawing/2014/main" id="{B52FADC2-CC96-4826-A822-29917374D7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1" y="2108201"/>
            <a:ext cx="4838700" cy="9525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D61EFC20-1973-42B9-AFF8-596666B7E05C}"/>
              </a:ext>
            </a:extLst>
          </p:cNvPr>
          <p:cNvSpPr>
            <a:spLocks noChangeArrowheads="1"/>
          </p:cNvSpPr>
          <p:nvPr/>
        </p:nvSpPr>
        <p:spPr bwMode="auto">
          <a:xfrm>
            <a:off x="819678" y="4268195"/>
            <a:ext cx="5665975" cy="168244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9170"/>
            <a:r>
              <a:rPr lang="en-US" altLang="en-US" sz="1600" b="1" dirty="0">
                <a:solidFill>
                  <a:srgbClr val="009933"/>
                </a:solidFill>
                <a:latin typeface="Lucida Sans Unicode" panose="020B0602030504020204" pitchFamily="34" charset="0"/>
                <a:cs typeface="Lucida Sans Unicode" panose="020B0602030504020204" pitchFamily="34" charset="0"/>
              </a:rPr>
              <a:t>Example:</a:t>
            </a:r>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  </a:t>
            </a:r>
            <a:r>
              <a:rPr lang="en-US" altLang="en-US" sz="3733" dirty="0">
                <a:solidFill>
                  <a:srgbClr val="0A0A0A"/>
                </a:solidFill>
                <a:latin typeface="Lucida Sans Unicode" panose="020B0602030504020204" pitchFamily="34" charset="0"/>
                <a:cs typeface="Lucida Sans Unicode" panose="020B0602030504020204" pitchFamily="34" charset="0"/>
              </a:rPr>
              <a:t>         </a:t>
            </a:r>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a</a:t>
            </a:r>
            <a:r>
              <a:rPr lang="en-US" altLang="en-US" sz="1200" baseline="-30000" dirty="0">
                <a:solidFill>
                  <a:srgbClr val="0A0A0A"/>
                </a:solidFill>
                <a:latin typeface="Lucida Sans Unicode" panose="020B0602030504020204" pitchFamily="34" charset="0"/>
                <a:cs typeface="Lucida Sans Unicode" panose="020B0602030504020204" pitchFamily="34" charset="0"/>
              </a:rPr>
              <a:t>11</a:t>
            </a:r>
            <a:r>
              <a:rPr lang="en-US" altLang="en-US" sz="1600" dirty="0">
                <a:solidFill>
                  <a:srgbClr val="0A0A0A"/>
                </a:solidFill>
                <a:latin typeface="Lucida Sans Unicode" panose="020B0602030504020204" pitchFamily="34" charset="0"/>
                <a:cs typeface="Lucida Sans Unicode" panose="020B0602030504020204" pitchFamily="34" charset="0"/>
              </a:rPr>
              <a:t> (read as ‘a one </a:t>
            </a:r>
            <a:r>
              <a:rPr lang="en-US" altLang="en-US" sz="1600" dirty="0" err="1">
                <a:solidFill>
                  <a:srgbClr val="0A0A0A"/>
                </a:solidFill>
                <a:latin typeface="Lucida Sans Unicode" panose="020B0602030504020204" pitchFamily="34" charset="0"/>
                <a:cs typeface="Lucida Sans Unicode" panose="020B0602030504020204" pitchFamily="34" charset="0"/>
              </a:rPr>
              <a:t>one</a:t>
            </a:r>
            <a:r>
              <a:rPr lang="en-US" altLang="en-US" sz="1600" dirty="0">
                <a:solidFill>
                  <a:srgbClr val="0A0A0A"/>
                </a:solidFill>
                <a:latin typeface="Lucida Sans Unicode" panose="020B0602030504020204" pitchFamily="34" charset="0"/>
                <a:cs typeface="Lucida Sans Unicode" panose="020B0602030504020204" pitchFamily="34" charset="0"/>
              </a:rPr>
              <a:t> ’)= 2 (first row, first column)</a:t>
            </a:r>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a</a:t>
            </a:r>
            <a:r>
              <a:rPr lang="en-US" altLang="en-US" sz="1200" baseline="-30000" dirty="0">
                <a:solidFill>
                  <a:srgbClr val="0A0A0A"/>
                </a:solidFill>
                <a:latin typeface="Lucida Sans Unicode" panose="020B0602030504020204" pitchFamily="34" charset="0"/>
                <a:cs typeface="Lucida Sans Unicode" panose="020B0602030504020204" pitchFamily="34" charset="0"/>
              </a:rPr>
              <a:t>12</a:t>
            </a:r>
            <a:r>
              <a:rPr lang="en-US" altLang="en-US" sz="1600" dirty="0">
                <a:solidFill>
                  <a:srgbClr val="0A0A0A"/>
                </a:solidFill>
                <a:latin typeface="Lucida Sans Unicode" panose="020B0602030504020204" pitchFamily="34" charset="0"/>
                <a:cs typeface="Lucida Sans Unicode" panose="020B0602030504020204" pitchFamily="34" charset="0"/>
              </a:rPr>
              <a:t> (read as ‘a one two') = 4 (first row, second column)</a:t>
            </a:r>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a</a:t>
            </a:r>
            <a:r>
              <a:rPr lang="en-US" altLang="en-US" sz="1200" baseline="-30000" dirty="0">
                <a:solidFill>
                  <a:srgbClr val="0A0A0A"/>
                </a:solidFill>
                <a:latin typeface="Lucida Sans Unicode" panose="020B0602030504020204" pitchFamily="34" charset="0"/>
                <a:cs typeface="Lucida Sans Unicode" panose="020B0602030504020204" pitchFamily="34" charset="0"/>
              </a:rPr>
              <a:t>13</a:t>
            </a:r>
            <a:r>
              <a:rPr lang="en-US" altLang="en-US" sz="1600" dirty="0">
                <a:solidFill>
                  <a:srgbClr val="0A0A0A"/>
                </a:solidFill>
                <a:latin typeface="Lucida Sans Unicode" panose="020B0602030504020204" pitchFamily="34" charset="0"/>
                <a:cs typeface="Lucida Sans Unicode" panose="020B0602030504020204" pitchFamily="34" charset="0"/>
              </a:rPr>
              <a:t> = 5, a</a:t>
            </a:r>
            <a:r>
              <a:rPr lang="en-US" altLang="en-US" sz="1200" baseline="-30000" dirty="0">
                <a:solidFill>
                  <a:srgbClr val="0A0A0A"/>
                </a:solidFill>
                <a:latin typeface="Lucida Sans Unicode" panose="020B0602030504020204" pitchFamily="34" charset="0"/>
                <a:cs typeface="Lucida Sans Unicode" panose="020B0602030504020204" pitchFamily="34" charset="0"/>
              </a:rPr>
              <a:t>21</a:t>
            </a:r>
            <a:r>
              <a:rPr lang="en-US" altLang="en-US" sz="1600" dirty="0">
                <a:solidFill>
                  <a:srgbClr val="0A0A0A"/>
                </a:solidFill>
                <a:latin typeface="Lucida Sans Unicode" panose="020B0602030504020204" pitchFamily="34" charset="0"/>
                <a:cs typeface="Lucida Sans Unicode" panose="020B0602030504020204" pitchFamily="34" charset="0"/>
              </a:rPr>
              <a:t> = 7, a</a:t>
            </a:r>
            <a:r>
              <a:rPr lang="en-US" altLang="en-US" sz="1200" baseline="-30000" dirty="0">
                <a:solidFill>
                  <a:srgbClr val="0A0A0A"/>
                </a:solidFill>
                <a:latin typeface="Lucida Sans Unicode" panose="020B0602030504020204" pitchFamily="34" charset="0"/>
                <a:cs typeface="Lucida Sans Unicode" panose="020B0602030504020204" pitchFamily="34" charset="0"/>
              </a:rPr>
              <a:t>22</a:t>
            </a:r>
            <a:r>
              <a:rPr lang="en-US" altLang="en-US" sz="1600" dirty="0">
                <a:solidFill>
                  <a:srgbClr val="0A0A0A"/>
                </a:solidFill>
                <a:latin typeface="Lucida Sans Unicode" panose="020B0602030504020204" pitchFamily="34" charset="0"/>
                <a:cs typeface="Lucida Sans Unicode" panose="020B0602030504020204" pitchFamily="34" charset="0"/>
              </a:rPr>
              <a:t> = 8, a</a:t>
            </a:r>
            <a:r>
              <a:rPr lang="en-US" altLang="en-US" sz="1200" baseline="-30000" dirty="0">
                <a:solidFill>
                  <a:srgbClr val="0A0A0A"/>
                </a:solidFill>
                <a:latin typeface="Lucida Sans Unicode" panose="020B0602030504020204" pitchFamily="34" charset="0"/>
                <a:cs typeface="Lucida Sans Unicode" panose="020B0602030504020204" pitchFamily="34" charset="0"/>
              </a:rPr>
              <a:t>23</a:t>
            </a:r>
            <a:r>
              <a:rPr lang="en-US" altLang="en-US" sz="1600" dirty="0">
                <a:solidFill>
                  <a:srgbClr val="0A0A0A"/>
                </a:solidFill>
                <a:latin typeface="Lucida Sans Unicode" panose="020B0602030504020204" pitchFamily="34" charset="0"/>
                <a:cs typeface="Lucida Sans Unicode" panose="020B0602030504020204" pitchFamily="34" charset="0"/>
              </a:rPr>
              <a:t> = 9</a:t>
            </a:r>
            <a:r>
              <a:rPr lang="en-US" altLang="en-US" sz="800" dirty="0"/>
              <a:t> </a:t>
            </a:r>
            <a:endParaRPr lang="en-US" altLang="en-US" sz="2400" dirty="0"/>
          </a:p>
        </p:txBody>
      </p:sp>
      <p:pic>
        <p:nvPicPr>
          <p:cNvPr id="22532" name="Picture 4">
            <a:extLst>
              <a:ext uri="{FF2B5EF4-FFF2-40B4-BE49-F238E27FC236}">
                <a16:creationId xmlns:a16="http://schemas.microsoft.com/office/drawing/2014/main" id="{1E5D7641-DBBD-4F5E-912F-60FB391A34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1" y="5075547"/>
            <a:ext cx="1282700"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7700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1">
            <a:extLst>
              <a:ext uri="{FF2B5EF4-FFF2-40B4-BE49-F238E27FC236}">
                <a16:creationId xmlns:a16="http://schemas.microsoft.com/office/drawing/2014/main" id="{8B55BAD9-4037-40DC-ADE8-5463180824DC}"/>
              </a:ext>
            </a:extLst>
          </p:cNvPr>
          <p:cNvSpPr>
            <a:spLocks noChangeArrowheads="1"/>
          </p:cNvSpPr>
          <p:nvPr/>
        </p:nvSpPr>
        <p:spPr bwMode="auto">
          <a:xfrm>
            <a:off x="1524000" y="-276999"/>
            <a:ext cx="256464"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53920" tIns="0" rIns="0" bIns="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a:p>
            <a:endParaRPr lang="en-US" altLang="en-US"/>
          </a:p>
        </p:txBody>
      </p:sp>
      <p:sp>
        <p:nvSpPr>
          <p:cNvPr id="3" name="Rectangle 1">
            <a:extLst>
              <a:ext uri="{FF2B5EF4-FFF2-40B4-BE49-F238E27FC236}">
                <a16:creationId xmlns:a16="http://schemas.microsoft.com/office/drawing/2014/main" id="{5E108ABC-A8F5-4569-9504-F09095028A32}"/>
              </a:ext>
            </a:extLst>
          </p:cNvPr>
          <p:cNvSpPr>
            <a:spLocks noChangeArrowheads="1"/>
          </p:cNvSpPr>
          <p:nvPr/>
        </p:nvSpPr>
        <p:spPr bwMode="auto">
          <a:xfrm>
            <a:off x="637147" y="1172354"/>
            <a:ext cx="10975120" cy="59502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Matrices  have many uses in real life. One application would be to use matrices to represent a large amount</a:t>
            </a:r>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 of data in a concise manner so that we can process the data in various ways more conveniently.</a:t>
            </a:r>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For example, the sales of different types of pre-packed food from 3 stalls during a given period of time </a:t>
            </a:r>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could be shown in the form of a table here:</a:t>
            </a: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1600"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This table can be represented as a matrix:</a:t>
            </a:r>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  </a:t>
            </a:r>
            <a:r>
              <a:rPr lang="en-US" altLang="en-US" sz="3733" dirty="0">
                <a:solidFill>
                  <a:srgbClr val="0A0A0A"/>
                </a:solidFill>
                <a:latin typeface="Lucida Sans Unicode" panose="020B0602030504020204" pitchFamily="34" charset="0"/>
                <a:cs typeface="Lucida Sans Unicode" panose="020B0602030504020204" pitchFamily="34" charset="0"/>
              </a:rPr>
              <a:t>         </a:t>
            </a:r>
          </a:p>
          <a:p>
            <a:pPr defTabSz="1219170"/>
            <a:endParaRPr lang="en-US" altLang="en-US" sz="3733" dirty="0">
              <a:solidFill>
                <a:srgbClr val="0A0A0A"/>
              </a:solidFill>
              <a:latin typeface="Lucida Sans Unicode" panose="020B0602030504020204" pitchFamily="34" charset="0"/>
              <a:cs typeface="Lucida Sans Unicode" panose="020B0602030504020204" pitchFamily="34" charset="0"/>
            </a:endParaRPr>
          </a:p>
          <a:p>
            <a:pPr defTabSz="1219170"/>
            <a:endParaRPr lang="en-US" altLang="en-US" sz="800" dirty="0"/>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This matrix could then be added with another that represents the sales for a different period of time</a:t>
            </a:r>
          </a:p>
          <a:p>
            <a:pPr defTabSz="1219170"/>
            <a:r>
              <a:rPr lang="en-US" altLang="en-US" sz="1600" dirty="0">
                <a:solidFill>
                  <a:srgbClr val="0A0A0A"/>
                </a:solidFill>
                <a:latin typeface="Lucida Sans Unicode" panose="020B0602030504020204" pitchFamily="34" charset="0"/>
                <a:cs typeface="Lucida Sans Unicode" panose="020B0602030504020204" pitchFamily="34" charset="0"/>
              </a:rPr>
              <a:t> to get the total for the two periods of time, etc.</a:t>
            </a:r>
            <a:endParaRPr lang="en-US" altLang="en-US" sz="2400" dirty="0"/>
          </a:p>
        </p:txBody>
      </p:sp>
      <p:pic>
        <p:nvPicPr>
          <p:cNvPr id="24578" name="Picture 2" descr="matrix">
            <a:extLst>
              <a:ext uri="{FF2B5EF4-FFF2-40B4-BE49-F238E27FC236}">
                <a16:creationId xmlns:a16="http://schemas.microsoft.com/office/drawing/2014/main" id="{C73CE273-2284-4630-B801-79FFCA03DB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1" y="5461000"/>
            <a:ext cx="1231900" cy="6096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06187DC0-CB19-40E9-A081-A15877FF59D9}"/>
              </a:ext>
            </a:extLst>
          </p:cNvPr>
          <p:cNvGraphicFramePr>
            <a:graphicFrameLocks noGrp="1"/>
          </p:cNvGraphicFramePr>
          <p:nvPr>
            <p:extLst>
              <p:ext uri="{D42A27DB-BD31-4B8C-83A1-F6EECF244321}">
                <p14:modId xmlns:p14="http://schemas.microsoft.com/office/powerpoint/2010/main" val="3343012031"/>
              </p:ext>
            </p:extLst>
          </p:nvPr>
        </p:nvGraphicFramePr>
        <p:xfrm>
          <a:off x="2409371" y="2270123"/>
          <a:ext cx="6884416" cy="2743200"/>
        </p:xfrm>
        <a:graphic>
          <a:graphicData uri="http://schemas.openxmlformats.org/drawingml/2006/table">
            <a:tbl>
              <a:tblPr/>
              <a:tblGrid>
                <a:gridCol w="1721104">
                  <a:extLst>
                    <a:ext uri="{9D8B030D-6E8A-4147-A177-3AD203B41FA5}">
                      <a16:colId xmlns:a16="http://schemas.microsoft.com/office/drawing/2014/main" val="1247018611"/>
                    </a:ext>
                  </a:extLst>
                </a:gridCol>
                <a:gridCol w="1721104">
                  <a:extLst>
                    <a:ext uri="{9D8B030D-6E8A-4147-A177-3AD203B41FA5}">
                      <a16:colId xmlns:a16="http://schemas.microsoft.com/office/drawing/2014/main" val="4259370175"/>
                    </a:ext>
                  </a:extLst>
                </a:gridCol>
                <a:gridCol w="1721104">
                  <a:extLst>
                    <a:ext uri="{9D8B030D-6E8A-4147-A177-3AD203B41FA5}">
                      <a16:colId xmlns:a16="http://schemas.microsoft.com/office/drawing/2014/main" val="3991077491"/>
                    </a:ext>
                  </a:extLst>
                </a:gridCol>
                <a:gridCol w="1721104">
                  <a:extLst>
                    <a:ext uri="{9D8B030D-6E8A-4147-A177-3AD203B41FA5}">
                      <a16:colId xmlns:a16="http://schemas.microsoft.com/office/drawing/2014/main" val="437287739"/>
                    </a:ext>
                  </a:extLst>
                </a:gridCol>
              </a:tblGrid>
              <a:tr h="650095">
                <a:tc>
                  <a:txBody>
                    <a:bodyPr/>
                    <a:lstStyle/>
                    <a:p>
                      <a:pPr algn="ctr"/>
                      <a:br>
                        <a:rPr lang="en-IN" sz="2400" dirty="0">
                          <a:effectLst/>
                        </a:rPr>
                      </a:br>
                      <a:endParaRPr lang="en-IN" sz="2400" dirty="0">
                        <a:effectLst/>
                      </a:endParaRPr>
                    </a:p>
                  </a:txBody>
                  <a:tcPr marL="30480" marR="30480" marT="30480" marB="3048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ctr"/>
                      <a:r>
                        <a:rPr lang="en-IN" sz="2400" dirty="0">
                          <a:effectLst/>
                        </a:rPr>
                        <a:t>Stall A</a:t>
                      </a:r>
                    </a:p>
                  </a:txBody>
                  <a:tcPr marL="30480" marR="30480" marT="30480" marB="3048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ctr"/>
                      <a:r>
                        <a:rPr lang="en-IN" sz="2400" dirty="0">
                          <a:effectLst/>
                        </a:rPr>
                        <a:t>Stall B</a:t>
                      </a:r>
                    </a:p>
                  </a:txBody>
                  <a:tcPr marL="30480" marR="30480" marT="30480" marB="3048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r>
                        <a:rPr lang="en-IN" sz="2400" dirty="0">
                          <a:effectLst/>
                        </a:rPr>
                        <a:t>Stall C</a:t>
                      </a:r>
                      <a:endParaRPr lang="en-IN" sz="2400" dirty="0"/>
                    </a:p>
                  </a:txBody>
                  <a:tcPr marL="121920" marR="121920" marT="60960" marB="60960">
                    <a:lnL w="7620" cap="flat" cmpd="sng" algn="ctr">
                      <a:solidFill>
                        <a:srgbClr val="000000"/>
                      </a:solidFill>
                      <a:prstDash val="solid"/>
                      <a:round/>
                      <a:headEnd type="none" w="med" len="med"/>
                      <a:tailEnd type="none" w="med" len="med"/>
                    </a:lnL>
                    <a:lnB w="762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0637663"/>
                  </a:ext>
                </a:extLst>
              </a:tr>
              <a:tr h="1158240">
                <a:tc>
                  <a:txBody>
                    <a:bodyPr/>
                    <a:lstStyle/>
                    <a:p>
                      <a:pPr algn="ctr"/>
                      <a:r>
                        <a:rPr lang="en-IN" sz="2400">
                          <a:solidFill>
                            <a:srgbClr val="CC3300"/>
                          </a:solidFill>
                          <a:effectLst/>
                        </a:rPr>
                        <a:t>Packs of noodles sold</a:t>
                      </a:r>
                    </a:p>
                  </a:txBody>
                  <a:tcPr marL="30480" marR="30480" marT="30480" marB="3048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ctr"/>
                      <a:r>
                        <a:rPr lang="en-IN" sz="2400" dirty="0">
                          <a:effectLst/>
                        </a:rPr>
                        <a:t>36</a:t>
                      </a:r>
                    </a:p>
                  </a:txBody>
                  <a:tcPr marL="30480" marR="30480" marT="30480" marB="3048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ctr"/>
                      <a:r>
                        <a:rPr lang="en-IN" sz="2400">
                          <a:effectLst/>
                        </a:rPr>
                        <a:t>21</a:t>
                      </a:r>
                    </a:p>
                  </a:txBody>
                  <a:tcPr marL="30480" marR="30480" marT="30480" marB="3048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ctr"/>
                      <a:r>
                        <a:rPr lang="en-IN" sz="2400">
                          <a:effectLst/>
                        </a:rPr>
                        <a:t>43</a:t>
                      </a:r>
                    </a:p>
                  </a:txBody>
                  <a:tcPr marL="30480" marR="30480" marT="30480" marB="3048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36142207"/>
                  </a:ext>
                </a:extLst>
              </a:tr>
              <a:tr h="792480">
                <a:tc>
                  <a:txBody>
                    <a:bodyPr/>
                    <a:lstStyle/>
                    <a:p>
                      <a:pPr algn="ctr"/>
                      <a:r>
                        <a:rPr lang="en-IN" sz="2400">
                          <a:solidFill>
                            <a:srgbClr val="CC3300"/>
                          </a:solidFill>
                          <a:effectLst/>
                        </a:rPr>
                        <a:t>Packs of rice sold</a:t>
                      </a:r>
                    </a:p>
                  </a:txBody>
                  <a:tcPr marL="30480" marR="30480" marT="30480" marB="3048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ctr"/>
                      <a:r>
                        <a:rPr lang="en-IN" sz="2400">
                          <a:effectLst/>
                        </a:rPr>
                        <a:t>27</a:t>
                      </a:r>
                    </a:p>
                  </a:txBody>
                  <a:tcPr marL="30480" marR="30480" marT="30480" marB="3048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ctr"/>
                      <a:r>
                        <a:rPr lang="en-IN" sz="2400">
                          <a:effectLst/>
                        </a:rPr>
                        <a:t>56</a:t>
                      </a:r>
                    </a:p>
                  </a:txBody>
                  <a:tcPr marL="30480" marR="30480" marT="30480" marB="3048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ctr"/>
                      <a:r>
                        <a:rPr lang="en-IN" sz="2400" dirty="0">
                          <a:effectLst/>
                        </a:rPr>
                        <a:t>35</a:t>
                      </a:r>
                    </a:p>
                  </a:txBody>
                  <a:tcPr marL="30480" marR="30480" marT="30480" marB="3048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705963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6D349CB9-5675-434E-A9DF-3F6257389670}"/>
              </a:ext>
            </a:extLst>
          </p:cNvPr>
          <p:cNvSpPr txBox="1">
            <a:spLocks noChangeArrowheads="1"/>
          </p:cNvSpPr>
          <p:nvPr/>
        </p:nvSpPr>
        <p:spPr bwMode="auto">
          <a:xfrm>
            <a:off x="1320800" y="279401"/>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dirty="0">
                <a:solidFill>
                  <a:srgbClr val="FF0000"/>
                </a:solidFill>
                <a:latin typeface="Lucida Sans Unicode" panose="020B0602030504020204" pitchFamily="34" charset="0"/>
                <a:cs typeface="Lucida Sans Unicode" panose="020B0602030504020204" pitchFamily="34" charset="0"/>
              </a:rPr>
              <a:t>Types of Matrices</a:t>
            </a:r>
            <a:endParaRPr lang="en-US" altLang="en-US" sz="2400" dirty="0">
              <a:solidFill>
                <a:srgbClr val="FF0000"/>
              </a:solidFill>
              <a:latin typeface="Calibri" panose="020F0502020204030204" pitchFamily="34" charset="0"/>
            </a:endParaRPr>
          </a:p>
        </p:txBody>
      </p:sp>
      <p:sp>
        <p:nvSpPr>
          <p:cNvPr id="4" name="Rectangle 3">
            <a:extLst>
              <a:ext uri="{FF2B5EF4-FFF2-40B4-BE49-F238E27FC236}">
                <a16:creationId xmlns:a16="http://schemas.microsoft.com/office/drawing/2014/main" id="{1148C24F-2B01-495C-8931-37A5AFA0F3B9}"/>
              </a:ext>
            </a:extLst>
          </p:cNvPr>
          <p:cNvSpPr/>
          <p:nvPr/>
        </p:nvSpPr>
        <p:spPr>
          <a:xfrm>
            <a:off x="1219200" y="1284844"/>
            <a:ext cx="9753600" cy="4893647"/>
          </a:xfrm>
          <a:prstGeom prst="rect">
            <a:avLst/>
          </a:prstGeom>
        </p:spPr>
        <p:txBody>
          <a:bodyPr wrap="square">
            <a:spAutoFit/>
          </a:bodyPr>
          <a:lstStyle/>
          <a:p>
            <a:r>
              <a:rPr lang="en-US" sz="2400" dirty="0">
                <a:solidFill>
                  <a:srgbClr val="813588"/>
                </a:solidFill>
                <a:latin typeface="Roboto"/>
              </a:rPr>
              <a:t>Row Matrix</a:t>
            </a:r>
          </a:p>
          <a:p>
            <a:r>
              <a:rPr lang="en-US" sz="2400" dirty="0">
                <a:solidFill>
                  <a:srgbClr val="333333"/>
                </a:solidFill>
                <a:latin typeface="Roboto"/>
              </a:rPr>
              <a:t>A matrix having only one row is called a</a:t>
            </a:r>
            <a:r>
              <a:rPr lang="en-US" sz="2400" b="1" dirty="0">
                <a:solidFill>
                  <a:srgbClr val="333333"/>
                </a:solidFill>
                <a:latin typeface="Roboto"/>
              </a:rPr>
              <a:t> row matrix</a:t>
            </a:r>
            <a:r>
              <a:rPr lang="en-US" sz="2400" dirty="0">
                <a:solidFill>
                  <a:srgbClr val="333333"/>
                </a:solidFill>
                <a:latin typeface="Roboto"/>
              </a:rPr>
              <a:t>. </a:t>
            </a:r>
          </a:p>
          <a:p>
            <a:endParaRPr lang="en-US" sz="2400" dirty="0">
              <a:solidFill>
                <a:srgbClr val="333333"/>
              </a:solidFill>
              <a:latin typeface="Roboto"/>
            </a:endParaRPr>
          </a:p>
          <a:p>
            <a:r>
              <a:rPr lang="en-US" sz="2400" dirty="0">
                <a:solidFill>
                  <a:srgbClr val="333333"/>
                </a:solidFill>
                <a:latin typeface="Roboto"/>
              </a:rPr>
              <a:t>Thus A = [</a:t>
            </a:r>
            <a:r>
              <a:rPr lang="en-US" sz="2400" dirty="0" err="1">
                <a:solidFill>
                  <a:srgbClr val="333333"/>
                </a:solidFill>
                <a:latin typeface="Roboto"/>
              </a:rPr>
              <a:t>a</a:t>
            </a:r>
            <a:r>
              <a:rPr lang="en-US" sz="2400" baseline="-25000" dirty="0" err="1">
                <a:solidFill>
                  <a:srgbClr val="333333"/>
                </a:solidFill>
                <a:latin typeface="Roboto"/>
              </a:rPr>
              <a:t>ij</a:t>
            </a:r>
            <a:r>
              <a:rPr lang="en-US" sz="2400" dirty="0">
                <a:solidFill>
                  <a:srgbClr val="333333"/>
                </a:solidFill>
                <a:latin typeface="Roboto"/>
              </a:rPr>
              <a:t>]</a:t>
            </a:r>
            <a:r>
              <a:rPr lang="en-US" sz="2400" baseline="-25000" dirty="0" err="1">
                <a:solidFill>
                  <a:srgbClr val="333333"/>
                </a:solidFill>
                <a:latin typeface="Roboto"/>
              </a:rPr>
              <a:t>mxn</a:t>
            </a:r>
            <a:r>
              <a:rPr lang="en-US" sz="2400" dirty="0">
                <a:solidFill>
                  <a:srgbClr val="333333"/>
                </a:solidFill>
                <a:latin typeface="Roboto"/>
              </a:rPr>
              <a:t> is a row matrix if m = 1. </a:t>
            </a:r>
          </a:p>
          <a:p>
            <a:r>
              <a:rPr lang="en-US" sz="2400" dirty="0">
                <a:solidFill>
                  <a:srgbClr val="333333"/>
                </a:solidFill>
                <a:latin typeface="Roboto"/>
              </a:rPr>
              <a:t>So, a row matrix can be represented as </a:t>
            </a:r>
            <a:r>
              <a:rPr lang="en-US" sz="2400" b="1" dirty="0">
                <a:solidFill>
                  <a:srgbClr val="333333"/>
                </a:solidFill>
                <a:latin typeface="Roboto"/>
              </a:rPr>
              <a:t>A = [</a:t>
            </a:r>
            <a:r>
              <a:rPr lang="en-US" sz="2400" b="1" dirty="0" err="1">
                <a:solidFill>
                  <a:srgbClr val="333333"/>
                </a:solidFill>
                <a:latin typeface="Roboto"/>
              </a:rPr>
              <a:t>a</a:t>
            </a:r>
            <a:r>
              <a:rPr lang="en-US" sz="2400" b="1" baseline="-25000" dirty="0" err="1">
                <a:solidFill>
                  <a:srgbClr val="333333"/>
                </a:solidFill>
                <a:latin typeface="Roboto"/>
              </a:rPr>
              <a:t>ij</a:t>
            </a:r>
            <a:r>
              <a:rPr lang="en-US" sz="2400" b="1" dirty="0">
                <a:solidFill>
                  <a:srgbClr val="333333"/>
                </a:solidFill>
                <a:latin typeface="Roboto"/>
              </a:rPr>
              <a:t>]</a:t>
            </a:r>
            <a:r>
              <a:rPr lang="en-US" sz="2400" b="1" baseline="-25000" dirty="0">
                <a:solidFill>
                  <a:srgbClr val="333333"/>
                </a:solidFill>
                <a:latin typeface="Roboto"/>
              </a:rPr>
              <a:t>1×n</a:t>
            </a:r>
            <a:r>
              <a:rPr lang="en-US" sz="2400" dirty="0">
                <a:solidFill>
                  <a:srgbClr val="333333"/>
                </a:solidFill>
                <a:latin typeface="Roboto"/>
              </a:rPr>
              <a:t>. </a:t>
            </a:r>
          </a:p>
          <a:p>
            <a:endParaRPr lang="en-US" sz="2400" dirty="0">
              <a:solidFill>
                <a:srgbClr val="333333"/>
              </a:solidFill>
              <a:latin typeface="Roboto"/>
            </a:endParaRPr>
          </a:p>
          <a:p>
            <a:r>
              <a:rPr lang="en-US" sz="2400" dirty="0">
                <a:solidFill>
                  <a:srgbClr val="333333"/>
                </a:solidFill>
                <a:latin typeface="Roboto"/>
              </a:rPr>
              <a:t>It is called so because it has only one row and the order of a row matrix will hence be 1 × n. </a:t>
            </a:r>
          </a:p>
          <a:p>
            <a:endParaRPr lang="en-US" sz="2400" dirty="0">
              <a:solidFill>
                <a:srgbClr val="333333"/>
              </a:solidFill>
              <a:latin typeface="Roboto"/>
            </a:endParaRPr>
          </a:p>
          <a:p>
            <a:r>
              <a:rPr lang="en-US" sz="2400" dirty="0">
                <a:solidFill>
                  <a:srgbClr val="333333"/>
                </a:solidFill>
                <a:latin typeface="Roboto"/>
              </a:rPr>
              <a:t>For example, A = [1 2 4 5] is row matrix of order 1 x 4. </a:t>
            </a:r>
          </a:p>
          <a:p>
            <a:endParaRPr lang="en-US" sz="2400" dirty="0">
              <a:solidFill>
                <a:srgbClr val="333333"/>
              </a:solidFill>
              <a:latin typeface="Roboto"/>
            </a:endParaRPr>
          </a:p>
          <a:p>
            <a:r>
              <a:rPr lang="en-US" sz="2400" dirty="0">
                <a:solidFill>
                  <a:srgbClr val="333333"/>
                </a:solidFill>
                <a:latin typeface="Roboto"/>
              </a:rPr>
              <a:t>Another example of the row matrix is P = [ -4 -21 -17 ] which is of the order 1×3.</a:t>
            </a:r>
          </a:p>
        </p:txBody>
      </p:sp>
    </p:spTree>
    <p:extLst>
      <p:ext uri="{BB962C8B-B14F-4D97-AF65-F5344CB8AC3E}">
        <p14:creationId xmlns:p14="http://schemas.microsoft.com/office/powerpoint/2010/main" val="1070317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7F169AB4-B6CB-4DD5-96F6-D80EA837D31D}"/>
                  </a:ext>
                </a:extLst>
              </p:cNvPr>
              <p:cNvSpPr/>
              <p:nvPr/>
            </p:nvSpPr>
            <p:spPr>
              <a:xfrm>
                <a:off x="1625600" y="1520786"/>
                <a:ext cx="8839200" cy="4407617"/>
              </a:xfrm>
              <a:prstGeom prst="rect">
                <a:avLst/>
              </a:prstGeom>
            </p:spPr>
            <p:txBody>
              <a:bodyPr wrap="square">
                <a:spAutoFit/>
              </a:bodyPr>
              <a:lstStyle/>
              <a:p>
                <a:r>
                  <a:rPr lang="en-US" sz="2400" dirty="0">
                    <a:solidFill>
                      <a:srgbClr val="813588"/>
                    </a:solidFill>
                    <a:latin typeface="Roboto"/>
                  </a:rPr>
                  <a:t>Column Matrix</a:t>
                </a:r>
              </a:p>
              <a:p>
                <a:r>
                  <a:rPr lang="en-US" sz="2400" dirty="0">
                    <a:solidFill>
                      <a:srgbClr val="333333"/>
                    </a:solidFill>
                    <a:latin typeface="Roboto"/>
                  </a:rPr>
                  <a:t>A matrix having only one column is called a </a:t>
                </a:r>
                <a:r>
                  <a:rPr lang="en-US" sz="2400" b="1" dirty="0">
                    <a:solidFill>
                      <a:srgbClr val="333333"/>
                    </a:solidFill>
                    <a:latin typeface="Roboto"/>
                  </a:rPr>
                  <a:t>column matrix</a:t>
                </a:r>
                <a:r>
                  <a:rPr lang="en-US" sz="2400" dirty="0">
                    <a:solidFill>
                      <a:srgbClr val="333333"/>
                    </a:solidFill>
                    <a:latin typeface="Roboto"/>
                  </a:rPr>
                  <a:t>.</a:t>
                </a:r>
              </a:p>
              <a:p>
                <a:endParaRPr lang="en-US" sz="2400" dirty="0">
                  <a:solidFill>
                    <a:srgbClr val="333333"/>
                  </a:solidFill>
                  <a:latin typeface="Roboto"/>
                </a:endParaRPr>
              </a:p>
              <a:p>
                <a:r>
                  <a:rPr lang="en-US" sz="2400" dirty="0">
                    <a:solidFill>
                      <a:srgbClr val="333333"/>
                    </a:solidFill>
                    <a:latin typeface="Roboto"/>
                  </a:rPr>
                  <a:t> Thus, A = [</a:t>
                </a:r>
                <a:r>
                  <a:rPr lang="en-US" sz="2400" dirty="0" err="1">
                    <a:solidFill>
                      <a:srgbClr val="333333"/>
                    </a:solidFill>
                    <a:latin typeface="Roboto"/>
                  </a:rPr>
                  <a:t>a</a:t>
                </a:r>
                <a:r>
                  <a:rPr lang="en-US" sz="2400" baseline="-25000" dirty="0" err="1">
                    <a:solidFill>
                      <a:srgbClr val="333333"/>
                    </a:solidFill>
                    <a:latin typeface="Roboto"/>
                  </a:rPr>
                  <a:t>ij</a:t>
                </a:r>
                <a:r>
                  <a:rPr lang="en-US" sz="2400" dirty="0">
                    <a:solidFill>
                      <a:srgbClr val="333333"/>
                    </a:solidFill>
                    <a:latin typeface="Roboto"/>
                  </a:rPr>
                  <a:t>]</a:t>
                </a:r>
                <a:r>
                  <a:rPr lang="en-US" sz="2400" baseline="-25000" dirty="0" err="1">
                    <a:solidFill>
                      <a:srgbClr val="333333"/>
                    </a:solidFill>
                    <a:latin typeface="Roboto"/>
                  </a:rPr>
                  <a:t>mxn</a:t>
                </a:r>
                <a:r>
                  <a:rPr lang="en-US" sz="2400" dirty="0">
                    <a:solidFill>
                      <a:srgbClr val="333333"/>
                    </a:solidFill>
                    <a:latin typeface="Roboto"/>
                  </a:rPr>
                  <a:t> is a column matrix if n = 1. </a:t>
                </a:r>
              </a:p>
              <a:p>
                <a:r>
                  <a:rPr lang="en-US" sz="2400" dirty="0">
                    <a:solidFill>
                      <a:srgbClr val="333333"/>
                    </a:solidFill>
                    <a:latin typeface="Roboto"/>
                  </a:rPr>
                  <a:t>Thus, the value of for a column matrix will be 1. Hence, the order is m × 1.</a:t>
                </a:r>
              </a:p>
              <a:p>
                <a:endParaRPr lang="en-US" sz="2400" dirty="0">
                  <a:solidFill>
                    <a:srgbClr val="333333"/>
                  </a:solidFill>
                  <a:latin typeface="Roboto"/>
                </a:endParaRPr>
              </a:p>
              <a:p>
                <a:r>
                  <a:rPr lang="en-US" sz="2400" dirty="0">
                    <a:solidFill>
                      <a:srgbClr val="333333"/>
                    </a:solidFill>
                    <a:latin typeface="Roboto"/>
                  </a:rPr>
                  <a:t>An example of a column matrix is:</a:t>
                </a:r>
              </a:p>
              <a:p>
                <a:r>
                  <a:rPr lang="en-US" sz="2400" dirty="0">
                    <a:solidFill>
                      <a:srgbClr val="333333"/>
                    </a:solidFill>
                    <a:latin typeface="Roboto"/>
                  </a:rPr>
                  <a:t>A =  </a:t>
                </a:r>
                <a14:m>
                  <m:oMath xmlns:m="http://schemas.openxmlformats.org/officeDocument/2006/math">
                    <m:d>
                      <m:dPr>
                        <m:begChr m:val="["/>
                        <m:endChr m:val="]"/>
                        <m:ctrlPr>
                          <a:rPr lang="en-US" sz="2400" i="1">
                            <a:solidFill>
                              <a:srgbClr val="333333"/>
                            </a:solidFill>
                            <a:latin typeface="Cambria Math" panose="02040503050406030204" pitchFamily="18" charset="0"/>
                          </a:rPr>
                        </m:ctrlPr>
                      </m:dPr>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−1</m:t>
                            </m:r>
                          </m:e>
                          <m:e>
                            <m:r>
                              <a:rPr lang="en-IN" sz="2400" i="1">
                                <a:solidFill>
                                  <a:srgbClr val="333333"/>
                                </a:solidFill>
                                <a:latin typeface="Cambria Math" panose="02040503050406030204" pitchFamily="18" charset="0"/>
                              </a:rPr>
                              <m:t>2</m:t>
                            </m:r>
                          </m:e>
                          <m:e>
                            <m:r>
                              <a:rPr lang="en-IN" sz="2400" i="1">
                                <a:solidFill>
                                  <a:srgbClr val="333333"/>
                                </a:solidFill>
                                <a:latin typeface="Cambria Math" panose="02040503050406030204" pitchFamily="18" charset="0"/>
                              </a:rPr>
                              <m:t>−4</m:t>
                            </m:r>
                          </m:e>
                          <m:e>
                            <m:r>
                              <a:rPr lang="en-IN" sz="2400" i="1">
                                <a:solidFill>
                                  <a:srgbClr val="333333"/>
                                </a:solidFill>
                                <a:latin typeface="Cambria Math" panose="02040503050406030204" pitchFamily="18" charset="0"/>
                              </a:rPr>
                              <m:t>5</m:t>
                            </m:r>
                          </m:e>
                        </m:eqArr>
                      </m:e>
                    </m:d>
                  </m:oMath>
                </a14:m>
                <a:r>
                  <a:rPr lang="en-US" sz="2400" dirty="0">
                    <a:solidFill>
                      <a:srgbClr val="333333"/>
                    </a:solidFill>
                    <a:latin typeface="Roboto"/>
                  </a:rPr>
                  <a:t>   is column matrix of order 4 x 1.</a:t>
                </a:r>
              </a:p>
            </p:txBody>
          </p:sp>
        </mc:Choice>
        <mc:Fallback xmlns="">
          <p:sp>
            <p:nvSpPr>
              <p:cNvPr id="4" name="Rectangle 3">
                <a:extLst>
                  <a:ext uri="{FF2B5EF4-FFF2-40B4-BE49-F238E27FC236}">
                    <a16:creationId xmlns:a16="http://schemas.microsoft.com/office/drawing/2014/main" id="{7F169AB4-B6CB-4DD5-96F6-D80EA837D31D}"/>
                  </a:ext>
                </a:extLst>
              </p:cNvPr>
              <p:cNvSpPr>
                <a:spLocks noRot="1" noChangeAspect="1" noMove="1" noResize="1" noEditPoints="1" noAdjustHandles="1" noChangeArrowheads="1" noChangeShapeType="1" noTextEdit="1"/>
              </p:cNvSpPr>
              <p:nvPr/>
            </p:nvSpPr>
            <p:spPr>
              <a:xfrm>
                <a:off x="1625600" y="1520786"/>
                <a:ext cx="8839200" cy="4407617"/>
              </a:xfrm>
              <a:prstGeom prst="rect">
                <a:avLst/>
              </a:prstGeom>
              <a:blipFill>
                <a:blip r:embed="rId2"/>
                <a:stretch>
                  <a:fillRect l="-1103" t="-967"/>
                </a:stretch>
              </a:blipFill>
            </p:spPr>
            <p:txBody>
              <a:bodyPr/>
              <a:lstStyle/>
              <a:p>
                <a:r>
                  <a:rPr lang="en-IN">
                    <a:noFill/>
                  </a:rPr>
                  <a:t> </a:t>
                </a:r>
              </a:p>
            </p:txBody>
          </p:sp>
        </mc:Fallback>
      </mc:AlternateContent>
    </p:spTree>
    <p:extLst>
      <p:ext uri="{BB962C8B-B14F-4D97-AF65-F5344CB8AC3E}">
        <p14:creationId xmlns:p14="http://schemas.microsoft.com/office/powerpoint/2010/main" val="4066654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608FDD1-C768-4D85-97E1-555AF8EE6521}"/>
                  </a:ext>
                </a:extLst>
              </p:cNvPr>
              <p:cNvSpPr/>
              <p:nvPr/>
            </p:nvSpPr>
            <p:spPr>
              <a:xfrm>
                <a:off x="914400" y="1092200"/>
                <a:ext cx="9652000" cy="5578578"/>
              </a:xfrm>
              <a:prstGeom prst="rect">
                <a:avLst/>
              </a:prstGeom>
            </p:spPr>
            <p:txBody>
              <a:bodyPr wrap="square">
                <a:spAutoFit/>
              </a:bodyPr>
              <a:lstStyle/>
              <a:p>
                <a:r>
                  <a:rPr lang="en-IN" sz="2400" dirty="0">
                    <a:solidFill>
                      <a:srgbClr val="813588"/>
                    </a:solidFill>
                    <a:latin typeface="Roboto"/>
                  </a:rPr>
                  <a:t>Zero or Null Matrix</a:t>
                </a:r>
              </a:p>
              <a:p>
                <a:r>
                  <a:rPr lang="en-IN" sz="2400" dirty="0">
                    <a:solidFill>
                      <a:srgbClr val="333333"/>
                    </a:solidFill>
                    <a:latin typeface="Roboto"/>
                  </a:rPr>
                  <a:t>If in a matrix all the elements are zero then it is called a </a:t>
                </a:r>
                <a:r>
                  <a:rPr lang="en-IN" sz="2400" b="1" dirty="0">
                    <a:solidFill>
                      <a:srgbClr val="333333"/>
                    </a:solidFill>
                    <a:latin typeface="Roboto"/>
                  </a:rPr>
                  <a:t>zero matrix</a:t>
                </a:r>
                <a:r>
                  <a:rPr lang="en-IN" sz="2400" dirty="0">
                    <a:solidFill>
                      <a:srgbClr val="333333"/>
                    </a:solidFill>
                    <a:latin typeface="Roboto"/>
                  </a:rPr>
                  <a:t> and it is generally denoted by 0. Thus, A = [</a:t>
                </a:r>
                <a:r>
                  <a:rPr lang="en-IN" sz="2400" dirty="0" err="1">
                    <a:solidFill>
                      <a:srgbClr val="333333"/>
                    </a:solidFill>
                    <a:latin typeface="Roboto"/>
                  </a:rPr>
                  <a:t>a</a:t>
                </a:r>
                <a:r>
                  <a:rPr lang="en-IN" sz="2400" baseline="-25000" dirty="0" err="1">
                    <a:solidFill>
                      <a:srgbClr val="333333"/>
                    </a:solidFill>
                    <a:latin typeface="Roboto"/>
                  </a:rPr>
                  <a:t>ij</a:t>
                </a:r>
                <a:r>
                  <a:rPr lang="en-IN" sz="2400" dirty="0">
                    <a:solidFill>
                      <a:srgbClr val="333333"/>
                    </a:solidFill>
                    <a:latin typeface="Roboto"/>
                  </a:rPr>
                  <a:t>]</a:t>
                </a:r>
                <a:r>
                  <a:rPr lang="en-IN" sz="2400" baseline="-25000" dirty="0" err="1">
                    <a:solidFill>
                      <a:srgbClr val="333333"/>
                    </a:solidFill>
                    <a:latin typeface="Roboto"/>
                  </a:rPr>
                  <a:t>mxn</a:t>
                </a:r>
                <a:r>
                  <a:rPr lang="en-IN" sz="2400" dirty="0">
                    <a:solidFill>
                      <a:srgbClr val="333333"/>
                    </a:solidFill>
                    <a:latin typeface="Roboto"/>
                  </a:rPr>
                  <a:t> is a zero-matrix if </a:t>
                </a:r>
                <a:r>
                  <a:rPr lang="en-IN" sz="2400" dirty="0" err="1">
                    <a:solidFill>
                      <a:srgbClr val="333333"/>
                    </a:solidFill>
                    <a:latin typeface="Roboto"/>
                  </a:rPr>
                  <a:t>a</a:t>
                </a:r>
                <a:r>
                  <a:rPr lang="en-IN" sz="2400" baseline="-25000" dirty="0" err="1">
                    <a:solidFill>
                      <a:srgbClr val="333333"/>
                    </a:solidFill>
                    <a:latin typeface="Roboto"/>
                  </a:rPr>
                  <a:t>ij</a:t>
                </a:r>
                <a:r>
                  <a:rPr lang="en-IN" sz="2400" dirty="0">
                    <a:solidFill>
                      <a:srgbClr val="333333"/>
                    </a:solidFill>
                    <a:latin typeface="Roboto"/>
                  </a:rPr>
                  <a:t> = 0 for all </a:t>
                </a:r>
                <a:r>
                  <a:rPr lang="en-IN" sz="2400" dirty="0" err="1">
                    <a:solidFill>
                      <a:srgbClr val="333333"/>
                    </a:solidFill>
                    <a:latin typeface="Roboto"/>
                  </a:rPr>
                  <a:t>i</a:t>
                </a:r>
                <a:r>
                  <a:rPr lang="en-IN" sz="2400" dirty="0">
                    <a:solidFill>
                      <a:srgbClr val="333333"/>
                    </a:solidFill>
                    <a:latin typeface="Roboto"/>
                  </a:rPr>
                  <a:t> and j; </a:t>
                </a:r>
              </a:p>
              <a:p>
                <a:endParaRPr lang="en-IN" sz="2400" dirty="0">
                  <a:solidFill>
                    <a:srgbClr val="333333"/>
                  </a:solidFill>
                  <a:latin typeface="Roboto"/>
                </a:endParaRPr>
              </a:p>
              <a:p>
                <a:r>
                  <a:rPr lang="en-IN" sz="2400" dirty="0">
                    <a:solidFill>
                      <a:srgbClr val="333333"/>
                    </a:solidFill>
                    <a:latin typeface="Roboto"/>
                  </a:rPr>
                  <a:t>E.g.    A = </a:t>
                </a:r>
                <a14:m>
                  <m:oMath xmlns:m="http://schemas.openxmlformats.org/officeDocument/2006/math">
                    <m:d>
                      <m:dPr>
                        <m:begChr m:val="["/>
                        <m:endChr m:val="]"/>
                        <m:ctrlPr>
                          <a:rPr lang="en-IN" sz="2400" i="1">
                            <a:solidFill>
                              <a:srgbClr val="333333"/>
                            </a:solidFill>
                            <a:latin typeface="Cambria Math" panose="02040503050406030204" pitchFamily="18" charset="0"/>
                          </a:rPr>
                        </m:ctrlPr>
                      </m:dPr>
                      <m:e>
                        <m:m>
                          <m:mPr>
                            <m:mcs>
                              <m:mc>
                                <m:mcPr>
                                  <m:count m:val="2"/>
                                  <m:mcJc m:val="center"/>
                                </m:mcPr>
                              </m:mc>
                            </m:mcs>
                            <m:ctrlPr>
                              <a:rPr lang="en-IN"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0</m:t>
                              </m:r>
                            </m:e>
                            <m:e>
                              <m:r>
                                <a:rPr lang="en-IN" sz="2400" i="1">
                                  <a:solidFill>
                                    <a:srgbClr val="333333"/>
                                  </a:solidFill>
                                  <a:latin typeface="Cambria Math" panose="02040503050406030204" pitchFamily="18" charset="0"/>
                                </a:rPr>
                                <m:t>0     0</m:t>
                              </m:r>
                            </m:e>
                          </m:mr>
                          <m:mr>
                            <m:e>
                              <m:r>
                                <a:rPr lang="en-IN" sz="2400" i="1">
                                  <a:solidFill>
                                    <a:srgbClr val="333333"/>
                                  </a:solidFill>
                                  <a:latin typeface="Cambria Math" panose="02040503050406030204" pitchFamily="18" charset="0"/>
                                </a:rPr>
                                <m:t>0</m:t>
                              </m:r>
                            </m:e>
                            <m:e>
                              <m:r>
                                <a:rPr lang="en-IN" sz="2400" i="1">
                                  <a:solidFill>
                                    <a:srgbClr val="333333"/>
                                  </a:solidFill>
                                  <a:latin typeface="Cambria Math" panose="02040503050406030204" pitchFamily="18" charset="0"/>
                                </a:rPr>
                                <m:t>0     0</m:t>
                              </m:r>
                            </m:e>
                          </m:mr>
                        </m:m>
                      </m:e>
                    </m:d>
                  </m:oMath>
                </a14:m>
                <a:r>
                  <a:rPr lang="en-IN" sz="2400" dirty="0">
                    <a:solidFill>
                      <a:srgbClr val="333333"/>
                    </a:solidFill>
                    <a:latin typeface="Roboto"/>
                  </a:rPr>
                  <a:t>                is a zero matrix of order 2 x 3.</a:t>
                </a:r>
              </a:p>
              <a:p>
                <a:endParaRPr lang="en-IN" sz="2400" dirty="0">
                  <a:solidFill>
                    <a:srgbClr val="333333"/>
                  </a:solidFill>
                  <a:latin typeface="Roboto"/>
                </a:endParaRPr>
              </a:p>
              <a:p>
                <a:endParaRPr lang="en-IN" sz="2400" dirty="0">
                  <a:solidFill>
                    <a:srgbClr val="333333"/>
                  </a:solidFill>
                  <a:latin typeface="Roboto"/>
                </a:endParaRPr>
              </a:p>
              <a:p>
                <a:r>
                  <a:rPr lang="en-IN" sz="2400" dirty="0">
                    <a:solidFill>
                      <a:srgbClr val="333333"/>
                    </a:solidFill>
                    <a:latin typeface="Roboto"/>
                  </a:rPr>
                  <a:t>A =  </a:t>
                </a:r>
                <a14:m>
                  <m:oMath xmlns:m="http://schemas.openxmlformats.org/officeDocument/2006/math">
                    <m:d>
                      <m:dPr>
                        <m:begChr m:val="["/>
                        <m:endChr m:val="]"/>
                        <m:ctrlPr>
                          <a:rPr lang="en-IN" sz="2400" i="1">
                            <a:solidFill>
                              <a:srgbClr val="333333"/>
                            </a:solidFill>
                            <a:latin typeface="Cambria Math" panose="02040503050406030204" pitchFamily="18" charset="0"/>
                          </a:rPr>
                        </m:ctrlPr>
                      </m:dPr>
                      <m:e>
                        <m:m>
                          <m:mPr>
                            <m:mcs>
                              <m:mc>
                                <m:mcPr>
                                  <m:count m:val="2"/>
                                  <m:mcJc m:val="center"/>
                                </m:mcPr>
                              </m:mc>
                            </m:mcs>
                            <m:ctrlPr>
                              <a:rPr lang="en-IN"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0</m:t>
                              </m:r>
                            </m:e>
                            <m:e>
                              <m:r>
                                <a:rPr lang="en-IN" sz="2400" i="1">
                                  <a:solidFill>
                                    <a:srgbClr val="333333"/>
                                  </a:solidFill>
                                  <a:latin typeface="Cambria Math" panose="02040503050406030204" pitchFamily="18" charset="0"/>
                                </a:rPr>
                                <m:t>0</m:t>
                              </m:r>
                            </m:e>
                          </m:mr>
                          <m:mr>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0</m:t>
                                  </m:r>
                                </m:e>
                                <m:e>
                                  <m:r>
                                    <a:rPr lang="en-IN" sz="2400" i="1">
                                      <a:solidFill>
                                        <a:srgbClr val="333333"/>
                                      </a:solidFill>
                                      <a:latin typeface="Cambria Math" panose="02040503050406030204" pitchFamily="18" charset="0"/>
                                    </a:rPr>
                                    <m:t>0</m:t>
                                  </m:r>
                                </m:e>
                              </m:eqArr>
                            </m:e>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0</m:t>
                                  </m:r>
                                </m:e>
                                <m:e>
                                  <m:r>
                                    <a:rPr lang="en-IN" sz="2400" i="1">
                                      <a:solidFill>
                                        <a:srgbClr val="333333"/>
                                      </a:solidFill>
                                      <a:latin typeface="Cambria Math" panose="02040503050406030204" pitchFamily="18" charset="0"/>
                                    </a:rPr>
                                    <m:t>0</m:t>
                                  </m:r>
                                </m:e>
                              </m:eqArr>
                            </m:e>
                          </m:mr>
                        </m:m>
                      </m:e>
                    </m:d>
                  </m:oMath>
                </a14:m>
                <a:r>
                  <a:rPr lang="en-IN" sz="2400" dirty="0">
                    <a:solidFill>
                      <a:srgbClr val="333333"/>
                    </a:solidFill>
                    <a:latin typeface="Roboto"/>
                  </a:rPr>
                  <a:t>                                   is a 3 x 2 null matrix &amp;</a:t>
                </a:r>
              </a:p>
              <a:p>
                <a:endParaRPr lang="en-IN" sz="2400" dirty="0">
                  <a:solidFill>
                    <a:srgbClr val="333333"/>
                  </a:solidFill>
                  <a:latin typeface="Roboto"/>
                </a:endParaRPr>
              </a:p>
              <a:p>
                <a:r>
                  <a:rPr lang="en-IN" sz="2400" dirty="0">
                    <a:solidFill>
                      <a:srgbClr val="333333"/>
                    </a:solidFill>
                    <a:latin typeface="Roboto"/>
                  </a:rPr>
                  <a:t> B = </a:t>
                </a:r>
                <a14:m>
                  <m:oMath xmlns:m="http://schemas.openxmlformats.org/officeDocument/2006/math">
                    <m:d>
                      <m:dPr>
                        <m:begChr m:val="["/>
                        <m:endChr m:val="]"/>
                        <m:ctrlPr>
                          <a:rPr lang="en-IN" sz="2400" i="1">
                            <a:solidFill>
                              <a:srgbClr val="333333"/>
                            </a:solidFill>
                            <a:latin typeface="Cambria Math" panose="02040503050406030204" pitchFamily="18" charset="0"/>
                          </a:rPr>
                        </m:ctrlPr>
                      </m:dPr>
                      <m:e>
                        <m:m>
                          <m:mPr>
                            <m:mcs>
                              <m:mc>
                                <m:mcPr>
                                  <m:count m:val="2"/>
                                  <m:mcJc m:val="center"/>
                                </m:mcPr>
                              </m:mc>
                            </m:mcs>
                            <m:ctrlPr>
                              <a:rPr lang="en-IN"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0</m:t>
                              </m:r>
                            </m:e>
                            <m:e>
                              <m:r>
                                <a:rPr lang="en-IN" sz="2400" i="1">
                                  <a:solidFill>
                                    <a:srgbClr val="333333"/>
                                  </a:solidFill>
                                  <a:latin typeface="Cambria Math" panose="02040503050406030204" pitchFamily="18" charset="0"/>
                                </a:rPr>
                                <m:t>0       0</m:t>
                              </m:r>
                            </m:e>
                          </m:mr>
                          <m:mr>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0</m:t>
                                  </m:r>
                                </m:e>
                                <m:e>
                                  <m:r>
                                    <a:rPr lang="en-IN" sz="2400" i="1">
                                      <a:solidFill>
                                        <a:srgbClr val="333333"/>
                                      </a:solidFill>
                                      <a:latin typeface="Cambria Math" panose="02040503050406030204" pitchFamily="18" charset="0"/>
                                    </a:rPr>
                                    <m:t>0</m:t>
                                  </m:r>
                                </m:e>
                              </m:eqArr>
                            </m:e>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0       0</m:t>
                                  </m:r>
                                </m:e>
                                <m:e>
                                  <m:r>
                                    <a:rPr lang="en-IN" sz="2400" i="1">
                                      <a:solidFill>
                                        <a:srgbClr val="333333"/>
                                      </a:solidFill>
                                      <a:latin typeface="Cambria Math" panose="02040503050406030204" pitchFamily="18" charset="0"/>
                                    </a:rPr>
                                    <m:t>0       0</m:t>
                                  </m:r>
                                </m:e>
                              </m:eqArr>
                            </m:e>
                          </m:mr>
                        </m:m>
                      </m:e>
                    </m:d>
                  </m:oMath>
                </a14:m>
                <a:r>
                  <a:rPr lang="en-IN" sz="2400" dirty="0">
                    <a:solidFill>
                      <a:srgbClr val="333333"/>
                    </a:solidFill>
                    <a:latin typeface="Roboto"/>
                  </a:rPr>
                  <a:t>                            is a  3 x 3 null matrix.</a:t>
                </a:r>
              </a:p>
            </p:txBody>
          </p:sp>
        </mc:Choice>
        <mc:Fallback xmlns="">
          <p:sp>
            <p:nvSpPr>
              <p:cNvPr id="4" name="Rectangle 3">
                <a:extLst>
                  <a:ext uri="{FF2B5EF4-FFF2-40B4-BE49-F238E27FC236}">
                    <a16:creationId xmlns:a16="http://schemas.microsoft.com/office/drawing/2014/main" id="{3608FDD1-C768-4D85-97E1-555AF8EE6521}"/>
                  </a:ext>
                </a:extLst>
              </p:cNvPr>
              <p:cNvSpPr>
                <a:spLocks noRot="1" noChangeAspect="1" noMove="1" noResize="1" noEditPoints="1" noAdjustHandles="1" noChangeArrowheads="1" noChangeShapeType="1" noTextEdit="1"/>
              </p:cNvSpPr>
              <p:nvPr/>
            </p:nvSpPr>
            <p:spPr>
              <a:xfrm>
                <a:off x="914400" y="1092200"/>
                <a:ext cx="9652000" cy="5578578"/>
              </a:xfrm>
              <a:prstGeom prst="rect">
                <a:avLst/>
              </a:prstGeom>
              <a:blipFill>
                <a:blip r:embed="rId2"/>
                <a:stretch>
                  <a:fillRect l="-948" t="-765"/>
                </a:stretch>
              </a:blipFill>
            </p:spPr>
            <p:txBody>
              <a:bodyPr/>
              <a:lstStyle/>
              <a:p>
                <a:r>
                  <a:rPr lang="en-IN">
                    <a:noFill/>
                  </a:rPr>
                  <a:t> </a:t>
                </a:r>
              </a:p>
            </p:txBody>
          </p:sp>
        </mc:Fallback>
      </mc:AlternateContent>
    </p:spTree>
    <p:extLst>
      <p:ext uri="{BB962C8B-B14F-4D97-AF65-F5344CB8AC3E}">
        <p14:creationId xmlns:p14="http://schemas.microsoft.com/office/powerpoint/2010/main" val="1158747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17FCBB-D2F1-4B2F-AA9B-09869E42752A}"/>
              </a:ext>
            </a:extLst>
          </p:cNvPr>
          <p:cNvSpPr/>
          <p:nvPr/>
        </p:nvSpPr>
        <p:spPr>
          <a:xfrm>
            <a:off x="1117600" y="1092200"/>
            <a:ext cx="9753600" cy="1569660"/>
          </a:xfrm>
          <a:prstGeom prst="rect">
            <a:avLst/>
          </a:prstGeom>
        </p:spPr>
        <p:txBody>
          <a:bodyPr wrap="square">
            <a:spAutoFit/>
          </a:bodyPr>
          <a:lstStyle/>
          <a:p>
            <a:r>
              <a:rPr lang="en-US" sz="2400" dirty="0">
                <a:solidFill>
                  <a:srgbClr val="813588"/>
                </a:solidFill>
                <a:latin typeface="Roboto"/>
              </a:rPr>
              <a:t>Singleton Matrix</a:t>
            </a:r>
          </a:p>
          <a:p>
            <a:r>
              <a:rPr lang="en-US" sz="2400" dirty="0">
                <a:solidFill>
                  <a:srgbClr val="333333"/>
                </a:solidFill>
                <a:latin typeface="Roboto"/>
              </a:rPr>
              <a:t>If in a matrix there is only element then it is called</a:t>
            </a:r>
            <a:r>
              <a:rPr lang="en-US" sz="2400" b="1" dirty="0">
                <a:solidFill>
                  <a:srgbClr val="333333"/>
                </a:solidFill>
                <a:latin typeface="Roboto"/>
              </a:rPr>
              <a:t> singleton matrix</a:t>
            </a:r>
            <a:r>
              <a:rPr lang="en-US" sz="2400" dirty="0">
                <a:solidFill>
                  <a:srgbClr val="333333"/>
                </a:solidFill>
                <a:latin typeface="Roboto"/>
              </a:rPr>
              <a:t>. Thus, A = [</a:t>
            </a:r>
            <a:r>
              <a:rPr lang="en-US" sz="2400" dirty="0" err="1">
                <a:solidFill>
                  <a:srgbClr val="333333"/>
                </a:solidFill>
                <a:latin typeface="Roboto"/>
              </a:rPr>
              <a:t>a</a:t>
            </a:r>
            <a:r>
              <a:rPr lang="en-US" sz="2400" baseline="-25000" dirty="0" err="1">
                <a:solidFill>
                  <a:srgbClr val="333333"/>
                </a:solidFill>
                <a:latin typeface="Roboto"/>
              </a:rPr>
              <a:t>ij</a:t>
            </a:r>
            <a:r>
              <a:rPr lang="en-US" sz="2400" dirty="0">
                <a:solidFill>
                  <a:srgbClr val="333333"/>
                </a:solidFill>
                <a:latin typeface="Roboto"/>
              </a:rPr>
              <a:t>]</a:t>
            </a:r>
            <a:r>
              <a:rPr lang="en-US" sz="2400" baseline="-25000" dirty="0" err="1">
                <a:solidFill>
                  <a:srgbClr val="333333"/>
                </a:solidFill>
                <a:latin typeface="Roboto"/>
              </a:rPr>
              <a:t>mxn</a:t>
            </a:r>
            <a:r>
              <a:rPr lang="en-US" sz="2400" dirty="0">
                <a:solidFill>
                  <a:srgbClr val="333333"/>
                </a:solidFill>
                <a:latin typeface="Roboto"/>
              </a:rPr>
              <a:t> is a singleton matrix if m = n = 1. E.g. [2], [3], [a], [  ] are singleton matrices.</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0BD36D0-A47B-4551-BD46-F01507C517B6}"/>
                  </a:ext>
                </a:extLst>
              </p:cNvPr>
              <p:cNvSpPr/>
              <p:nvPr/>
            </p:nvSpPr>
            <p:spPr>
              <a:xfrm>
                <a:off x="1117600" y="2695814"/>
                <a:ext cx="9448800" cy="1446806"/>
              </a:xfrm>
              <a:prstGeom prst="rect">
                <a:avLst/>
              </a:prstGeom>
            </p:spPr>
            <p:txBody>
              <a:bodyPr wrap="square">
                <a:spAutoFit/>
              </a:bodyPr>
              <a:lstStyle/>
              <a:p>
                <a:r>
                  <a:rPr lang="en-IN" sz="2400" dirty="0">
                    <a:solidFill>
                      <a:srgbClr val="813588"/>
                    </a:solidFill>
                    <a:latin typeface="Roboto"/>
                  </a:rPr>
                  <a:t>Horizontal Matrix</a:t>
                </a:r>
              </a:p>
              <a:p>
                <a:r>
                  <a:rPr lang="en-IN" sz="2400" dirty="0">
                    <a:solidFill>
                      <a:srgbClr val="333333"/>
                    </a:solidFill>
                    <a:latin typeface="Roboto"/>
                  </a:rPr>
                  <a:t>A matrix of order m x n is a </a:t>
                </a:r>
                <a:r>
                  <a:rPr lang="en-IN" sz="2400" b="1" dirty="0">
                    <a:solidFill>
                      <a:srgbClr val="333333"/>
                    </a:solidFill>
                    <a:latin typeface="Roboto"/>
                  </a:rPr>
                  <a:t>horizontal matrix</a:t>
                </a:r>
                <a:r>
                  <a:rPr lang="en-IN" sz="2400" dirty="0">
                    <a:solidFill>
                      <a:srgbClr val="333333"/>
                    </a:solidFill>
                    <a:latin typeface="Roboto"/>
                  </a:rPr>
                  <a:t> if n &gt; m; E.g. </a:t>
                </a:r>
              </a:p>
              <a:p>
                <a:pPr/>
                <a14:m>
                  <m:oMathPara xmlns:m="http://schemas.openxmlformats.org/officeDocument/2006/math">
                    <m:oMathParaPr>
                      <m:jc m:val="centerGroup"/>
                    </m:oMathParaPr>
                    <m:oMath xmlns:m="http://schemas.openxmlformats.org/officeDocument/2006/math">
                      <m:d>
                        <m:dPr>
                          <m:begChr m:val="["/>
                          <m:endChr m:val="]"/>
                          <m:ctrlPr>
                            <a:rPr lang="en-IN" sz="2400" i="1">
                              <a:solidFill>
                                <a:srgbClr val="333333"/>
                              </a:solidFill>
                              <a:latin typeface="Cambria Math" panose="02040503050406030204" pitchFamily="18" charset="0"/>
                            </a:rPr>
                          </m:ctrlPr>
                        </m:dPr>
                        <m:e>
                          <m:m>
                            <m:mPr>
                              <m:mcs>
                                <m:mc>
                                  <m:mcPr>
                                    <m:count m:val="2"/>
                                    <m:mcJc m:val="center"/>
                                  </m:mcPr>
                                </m:mc>
                              </m:mcs>
                              <m:ctrlPr>
                                <a:rPr lang="en-IN"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1</m:t>
                                </m:r>
                              </m:e>
                              <m:e>
                                <m:r>
                                  <a:rPr lang="en-IN" sz="2400" i="1">
                                    <a:solidFill>
                                      <a:srgbClr val="333333"/>
                                    </a:solidFill>
                                    <a:latin typeface="Cambria Math" panose="02040503050406030204" pitchFamily="18" charset="0"/>
                                  </a:rPr>
                                  <m:t>2       3       4</m:t>
                                </m:r>
                              </m:e>
                            </m:mr>
                            <m:mr>
                              <m:e>
                                <m:r>
                                  <a:rPr lang="en-IN" sz="2400" i="1">
                                    <a:solidFill>
                                      <a:srgbClr val="333333"/>
                                    </a:solidFill>
                                    <a:latin typeface="Cambria Math" panose="02040503050406030204" pitchFamily="18" charset="0"/>
                                  </a:rPr>
                                  <m:t>5</m:t>
                                </m:r>
                              </m:e>
                              <m:e>
                                <m:r>
                                  <a:rPr lang="en-IN" sz="2400" i="1">
                                    <a:solidFill>
                                      <a:srgbClr val="333333"/>
                                    </a:solidFill>
                                    <a:latin typeface="Cambria Math" panose="02040503050406030204" pitchFamily="18" charset="0"/>
                                  </a:rPr>
                                  <m:t>2        2       1</m:t>
                                </m:r>
                              </m:e>
                            </m:mr>
                          </m:m>
                        </m:e>
                      </m:d>
                    </m:oMath>
                  </m:oMathPara>
                </a14:m>
                <a:endParaRPr lang="en-IN" sz="2400" dirty="0">
                  <a:solidFill>
                    <a:srgbClr val="333333"/>
                  </a:solidFill>
                  <a:latin typeface="Roboto"/>
                </a:endParaRPr>
              </a:p>
            </p:txBody>
          </p:sp>
        </mc:Choice>
        <mc:Fallback xmlns="">
          <p:sp>
            <p:nvSpPr>
              <p:cNvPr id="3" name="Rectangle 2">
                <a:extLst>
                  <a:ext uri="{FF2B5EF4-FFF2-40B4-BE49-F238E27FC236}">
                    <a16:creationId xmlns:a16="http://schemas.microsoft.com/office/drawing/2014/main" id="{50BD36D0-A47B-4551-BD46-F01507C517B6}"/>
                  </a:ext>
                </a:extLst>
              </p:cNvPr>
              <p:cNvSpPr>
                <a:spLocks noRot="1" noChangeAspect="1" noMove="1" noResize="1" noEditPoints="1" noAdjustHandles="1" noChangeArrowheads="1" noChangeShapeType="1" noTextEdit="1"/>
              </p:cNvSpPr>
              <p:nvPr/>
            </p:nvSpPr>
            <p:spPr>
              <a:xfrm>
                <a:off x="1117600" y="2695814"/>
                <a:ext cx="9448800" cy="1446806"/>
              </a:xfrm>
              <a:prstGeom prst="rect">
                <a:avLst/>
              </a:prstGeom>
              <a:blipFill>
                <a:blip r:embed="rId2"/>
                <a:stretch>
                  <a:fillRect l="-968" t="-29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9C066CED-52AC-48CC-8B9D-C78EA4B57053}"/>
                  </a:ext>
                </a:extLst>
              </p:cNvPr>
              <p:cNvSpPr/>
              <p:nvPr/>
            </p:nvSpPr>
            <p:spPr>
              <a:xfrm>
                <a:off x="1219200" y="4224387"/>
                <a:ext cx="9347200" cy="2560957"/>
              </a:xfrm>
              <a:prstGeom prst="rect">
                <a:avLst/>
              </a:prstGeom>
            </p:spPr>
            <p:txBody>
              <a:bodyPr wrap="square">
                <a:spAutoFit/>
              </a:bodyPr>
              <a:lstStyle/>
              <a:p>
                <a:r>
                  <a:rPr lang="en-IN" sz="2400" dirty="0">
                    <a:solidFill>
                      <a:srgbClr val="813588"/>
                    </a:solidFill>
                    <a:latin typeface="Roboto"/>
                  </a:rPr>
                  <a:t>Vertical Matrix</a:t>
                </a:r>
              </a:p>
              <a:p>
                <a:r>
                  <a:rPr lang="en-IN" sz="2400" dirty="0">
                    <a:solidFill>
                      <a:srgbClr val="333333"/>
                    </a:solidFill>
                    <a:latin typeface="Roboto"/>
                  </a:rPr>
                  <a:t>A matrix of order m x n is a </a:t>
                </a:r>
                <a:r>
                  <a:rPr lang="en-IN" sz="2400" b="1" dirty="0">
                    <a:solidFill>
                      <a:srgbClr val="333333"/>
                    </a:solidFill>
                    <a:latin typeface="Roboto"/>
                  </a:rPr>
                  <a:t>vertical matrix</a:t>
                </a:r>
                <a:r>
                  <a:rPr lang="en-IN" sz="2400" dirty="0">
                    <a:solidFill>
                      <a:srgbClr val="333333"/>
                    </a:solidFill>
                    <a:latin typeface="Roboto"/>
                  </a:rPr>
                  <a:t> if m &gt; n; E.g.</a:t>
                </a:r>
              </a:p>
              <a:p>
                <a:endParaRPr lang="en-IN" sz="2400" dirty="0">
                  <a:solidFill>
                    <a:srgbClr val="333333"/>
                  </a:solidFill>
                  <a:latin typeface="Roboto"/>
                </a:endParaRPr>
              </a:p>
              <a:p>
                <a14:m>
                  <m:oMath xmlns:m="http://schemas.openxmlformats.org/officeDocument/2006/math">
                    <m:d>
                      <m:dPr>
                        <m:begChr m:val="["/>
                        <m:endChr m:val="]"/>
                        <m:ctrlPr>
                          <a:rPr lang="en-IN" sz="2400" i="1">
                            <a:solidFill>
                              <a:srgbClr val="333333"/>
                            </a:solidFill>
                            <a:latin typeface="Cambria Math" panose="02040503050406030204" pitchFamily="18" charset="0"/>
                          </a:rPr>
                        </m:ctrlPr>
                      </m:dPr>
                      <m:e>
                        <m:m>
                          <m:mPr>
                            <m:mcs>
                              <m:mc>
                                <m:mcPr>
                                  <m:count m:val="2"/>
                                  <m:mcJc m:val="center"/>
                                </m:mcPr>
                              </m:mc>
                            </m:mcs>
                            <m:ctrlPr>
                              <a:rPr lang="en-IN"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1</m:t>
                              </m:r>
                            </m:e>
                            <m:e>
                              <m:r>
                                <a:rPr lang="en-IN" sz="2400" i="1">
                                  <a:solidFill>
                                    <a:srgbClr val="333333"/>
                                  </a:solidFill>
                                  <a:latin typeface="Cambria Math" panose="02040503050406030204" pitchFamily="18" charset="0"/>
                                </a:rPr>
                                <m:t>2</m:t>
                              </m:r>
                            </m:e>
                          </m:mr>
                          <m:mr>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5</m:t>
                                  </m:r>
                                </m:e>
                                <m:e>
                                  <m:r>
                                    <a:rPr lang="en-IN" sz="2400" i="1">
                                      <a:solidFill>
                                        <a:srgbClr val="333333"/>
                                      </a:solidFill>
                                      <a:latin typeface="Cambria Math" panose="02040503050406030204" pitchFamily="18" charset="0"/>
                                    </a:rPr>
                                    <m:t>6</m:t>
                                  </m:r>
                                </m:e>
                                <m:e>
                                  <m:r>
                                    <a:rPr lang="en-IN" sz="2400" i="1">
                                      <a:solidFill>
                                        <a:srgbClr val="333333"/>
                                      </a:solidFill>
                                      <a:latin typeface="Cambria Math" panose="02040503050406030204" pitchFamily="18" charset="0"/>
                                    </a:rPr>
                                    <m:t>9</m:t>
                                  </m:r>
                                </m:e>
                              </m:eqArr>
                            </m:e>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4</m:t>
                                  </m:r>
                                </m:e>
                                <m:e>
                                  <m:r>
                                    <a:rPr lang="en-IN" sz="2400" i="1">
                                      <a:solidFill>
                                        <a:srgbClr val="333333"/>
                                      </a:solidFill>
                                      <a:latin typeface="Cambria Math" panose="02040503050406030204" pitchFamily="18" charset="0"/>
                                    </a:rPr>
                                    <m:t>3</m:t>
                                  </m:r>
                                </m:e>
                                <m:e>
                                  <m:r>
                                    <a:rPr lang="en-IN" sz="2400" i="1">
                                      <a:solidFill>
                                        <a:srgbClr val="333333"/>
                                      </a:solidFill>
                                      <a:latin typeface="Cambria Math" panose="02040503050406030204" pitchFamily="18" charset="0"/>
                                    </a:rPr>
                                    <m:t>7</m:t>
                                  </m:r>
                                </m:e>
                              </m:eqArr>
                            </m:e>
                          </m:mr>
                        </m:m>
                      </m:e>
                    </m:d>
                  </m:oMath>
                </a14:m>
                <a:r>
                  <a:rPr lang="en-IN" sz="2400" dirty="0">
                    <a:solidFill>
                      <a:srgbClr val="333333"/>
                    </a:solidFill>
                    <a:latin typeface="Roboto"/>
                  </a:rPr>
                  <a:t> </a:t>
                </a:r>
              </a:p>
            </p:txBody>
          </p:sp>
        </mc:Choice>
        <mc:Fallback xmlns="">
          <p:sp>
            <p:nvSpPr>
              <p:cNvPr id="4" name="Rectangle 3">
                <a:extLst>
                  <a:ext uri="{FF2B5EF4-FFF2-40B4-BE49-F238E27FC236}">
                    <a16:creationId xmlns:a16="http://schemas.microsoft.com/office/drawing/2014/main" id="{9C066CED-52AC-48CC-8B9D-C78EA4B57053}"/>
                  </a:ext>
                </a:extLst>
              </p:cNvPr>
              <p:cNvSpPr>
                <a:spLocks noRot="1" noChangeAspect="1" noMove="1" noResize="1" noEditPoints="1" noAdjustHandles="1" noChangeArrowheads="1" noChangeShapeType="1" noTextEdit="1"/>
              </p:cNvSpPr>
              <p:nvPr/>
            </p:nvSpPr>
            <p:spPr>
              <a:xfrm>
                <a:off x="1219200" y="4224387"/>
                <a:ext cx="9347200" cy="2560957"/>
              </a:xfrm>
              <a:prstGeom prst="rect">
                <a:avLst/>
              </a:prstGeom>
              <a:blipFill>
                <a:blip r:embed="rId3"/>
                <a:stretch>
                  <a:fillRect l="-978" t="-1667"/>
                </a:stretch>
              </a:blipFill>
            </p:spPr>
            <p:txBody>
              <a:bodyPr/>
              <a:lstStyle/>
              <a:p>
                <a:r>
                  <a:rPr lang="en-IN">
                    <a:noFill/>
                  </a:rPr>
                  <a:t> </a:t>
                </a:r>
              </a:p>
            </p:txBody>
          </p:sp>
        </mc:Fallback>
      </mc:AlternateContent>
    </p:spTree>
    <p:extLst>
      <p:ext uri="{BB962C8B-B14F-4D97-AF65-F5344CB8AC3E}">
        <p14:creationId xmlns:p14="http://schemas.microsoft.com/office/powerpoint/2010/main" val="3565193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182822A3-F745-4F8D-8551-D1E58BD3D9A1}"/>
                  </a:ext>
                </a:extLst>
              </p:cNvPr>
              <p:cNvSpPr/>
              <p:nvPr/>
            </p:nvSpPr>
            <p:spPr>
              <a:xfrm>
                <a:off x="914400" y="1905001"/>
                <a:ext cx="10160000" cy="4374211"/>
              </a:xfrm>
              <a:prstGeom prst="rect">
                <a:avLst/>
              </a:prstGeom>
            </p:spPr>
            <p:txBody>
              <a:bodyPr wrap="square">
                <a:spAutoFit/>
              </a:bodyPr>
              <a:lstStyle/>
              <a:p>
                <a:r>
                  <a:rPr lang="en-IN" sz="2400" dirty="0">
                    <a:solidFill>
                      <a:srgbClr val="813588"/>
                    </a:solidFill>
                    <a:latin typeface="Roboto"/>
                  </a:rPr>
                  <a:t>Square Matrix</a:t>
                </a:r>
              </a:p>
              <a:p>
                <a:r>
                  <a:rPr lang="en-IN" sz="2400" dirty="0">
                    <a:solidFill>
                      <a:srgbClr val="333333"/>
                    </a:solidFill>
                    <a:latin typeface="Roboto"/>
                  </a:rPr>
                  <a:t>If the number of rows and the number of columns in a matrix are equal, then it is called a </a:t>
                </a:r>
                <a:r>
                  <a:rPr lang="en-IN" sz="2400" b="1" dirty="0">
                    <a:solidFill>
                      <a:srgbClr val="333333"/>
                    </a:solidFill>
                    <a:latin typeface="Roboto"/>
                  </a:rPr>
                  <a:t>square matrix</a:t>
                </a:r>
                <a:r>
                  <a:rPr lang="en-IN" sz="2400" dirty="0">
                    <a:solidFill>
                      <a:srgbClr val="333333"/>
                    </a:solidFill>
                    <a:latin typeface="Roboto"/>
                  </a:rPr>
                  <a:t>.</a:t>
                </a:r>
              </a:p>
              <a:p>
                <a:r>
                  <a:rPr lang="en-IN" sz="2400" dirty="0">
                    <a:solidFill>
                      <a:srgbClr val="333333"/>
                    </a:solidFill>
                    <a:latin typeface="Roboto"/>
                  </a:rPr>
                  <a:t>Thus, A = [</a:t>
                </a:r>
                <a:r>
                  <a:rPr lang="en-IN" sz="2400" dirty="0" err="1">
                    <a:solidFill>
                      <a:srgbClr val="333333"/>
                    </a:solidFill>
                    <a:latin typeface="Roboto"/>
                  </a:rPr>
                  <a:t>a</a:t>
                </a:r>
                <a:r>
                  <a:rPr lang="en-IN" sz="2400" baseline="-25000" dirty="0" err="1">
                    <a:solidFill>
                      <a:srgbClr val="333333"/>
                    </a:solidFill>
                    <a:latin typeface="Roboto"/>
                  </a:rPr>
                  <a:t>ij</a:t>
                </a:r>
                <a:r>
                  <a:rPr lang="en-IN" sz="2400" dirty="0">
                    <a:solidFill>
                      <a:srgbClr val="333333"/>
                    </a:solidFill>
                    <a:latin typeface="Roboto"/>
                  </a:rPr>
                  <a:t>]</a:t>
                </a:r>
                <a:r>
                  <a:rPr lang="en-IN" sz="2400" baseline="-25000" dirty="0" err="1">
                    <a:solidFill>
                      <a:srgbClr val="333333"/>
                    </a:solidFill>
                    <a:latin typeface="Roboto"/>
                  </a:rPr>
                  <a:t>mxn</a:t>
                </a:r>
                <a:r>
                  <a:rPr lang="en-IN" sz="2400" dirty="0">
                    <a:solidFill>
                      <a:srgbClr val="333333"/>
                    </a:solidFill>
                    <a:latin typeface="Roboto"/>
                  </a:rPr>
                  <a:t> is a square matrix if m = n; E.g.</a:t>
                </a:r>
              </a:p>
              <a:p>
                <a:endParaRPr lang="en-IN" sz="2400" dirty="0">
                  <a:solidFill>
                    <a:srgbClr val="333333"/>
                  </a:solidFill>
                  <a:latin typeface="Roboto"/>
                </a:endParaRPr>
              </a:p>
              <a:p>
                <a:r>
                  <a:rPr lang="en-IN" sz="2400" dirty="0">
                    <a:solidFill>
                      <a:srgbClr val="333333"/>
                    </a:solidFill>
                    <a:latin typeface="Roboto"/>
                  </a:rPr>
                  <a:t>   </a:t>
                </a:r>
                <a14:m>
                  <m:oMath xmlns:m="http://schemas.openxmlformats.org/officeDocument/2006/math">
                    <m:d>
                      <m:dPr>
                        <m:begChr m:val="["/>
                        <m:endChr m:val="]"/>
                        <m:ctrlPr>
                          <a:rPr lang="en-IN" sz="2400" i="1">
                            <a:solidFill>
                              <a:srgbClr val="333333"/>
                            </a:solidFill>
                            <a:latin typeface="Cambria Math" panose="02040503050406030204" pitchFamily="18" charset="0"/>
                          </a:rPr>
                        </m:ctrlPr>
                      </m:dPr>
                      <m:e>
                        <m:m>
                          <m:mPr>
                            <m:mcs>
                              <m:mc>
                                <m:mcPr>
                                  <m:count m:val="2"/>
                                  <m:mcJc m:val="center"/>
                                </m:mcPr>
                              </m:mc>
                            </m:mcs>
                            <m:ctrlPr>
                              <a:rPr lang="en-IN"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1</m:t>
                              </m:r>
                            </m:e>
                            <m:e>
                              <m:r>
                                <a:rPr lang="en-IN" sz="2400" i="1">
                                  <a:solidFill>
                                    <a:srgbClr val="333333"/>
                                  </a:solidFill>
                                  <a:latin typeface="Cambria Math" panose="02040503050406030204" pitchFamily="18" charset="0"/>
                                </a:rPr>
                                <m:t>2      6</m:t>
                              </m:r>
                            </m:e>
                          </m:mr>
                          <m:mr>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3</m:t>
                                  </m:r>
                                </m:e>
                                <m:e>
                                  <m:r>
                                    <a:rPr lang="en-IN" sz="2400" i="1">
                                      <a:solidFill>
                                        <a:srgbClr val="333333"/>
                                      </a:solidFill>
                                      <a:latin typeface="Cambria Math" panose="02040503050406030204" pitchFamily="18" charset="0"/>
                                    </a:rPr>
                                    <m:t>5</m:t>
                                  </m:r>
                                </m:e>
                              </m:eqArr>
                            </m:e>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4      5</m:t>
                                  </m:r>
                                </m:e>
                                <m:e>
                                  <m:r>
                                    <a:rPr lang="en-IN" sz="2400" i="1">
                                      <a:solidFill>
                                        <a:srgbClr val="333333"/>
                                      </a:solidFill>
                                      <a:latin typeface="Cambria Math" panose="02040503050406030204" pitchFamily="18" charset="0"/>
                                    </a:rPr>
                                    <m:t>8      6</m:t>
                                  </m:r>
                                </m:e>
                              </m:eqArr>
                            </m:e>
                          </m:mr>
                        </m:m>
                      </m:e>
                    </m:d>
                  </m:oMath>
                </a14:m>
                <a:r>
                  <a:rPr lang="en-IN" sz="2400" dirty="0">
                    <a:solidFill>
                      <a:srgbClr val="333333"/>
                    </a:solidFill>
                    <a:latin typeface="Roboto"/>
                  </a:rPr>
                  <a:t>            is a square matrix of order 3 × 3.</a:t>
                </a:r>
              </a:p>
              <a:p>
                <a:endParaRPr lang="en-IN" sz="2400" dirty="0">
                  <a:solidFill>
                    <a:srgbClr val="333333"/>
                  </a:solidFill>
                  <a:latin typeface="Roboto"/>
                </a:endParaRPr>
              </a:p>
              <a:p>
                <a:r>
                  <a:rPr lang="en-IN" sz="2400" dirty="0">
                    <a:solidFill>
                      <a:srgbClr val="333333"/>
                    </a:solidFill>
                    <a:latin typeface="Roboto"/>
                  </a:rPr>
                  <a:t>The sum of the diagonal elements in a square matrix A is called the trace of matrix A, and which is denoted by tr(A); tr(A) = 11</a:t>
                </a:r>
              </a:p>
              <a:p>
                <a:endParaRPr lang="en-IN" sz="2400" dirty="0">
                  <a:solidFill>
                    <a:srgbClr val="333333"/>
                  </a:solidFill>
                  <a:latin typeface="Roboto"/>
                </a:endParaRPr>
              </a:p>
            </p:txBody>
          </p:sp>
        </mc:Choice>
        <mc:Fallback xmlns="">
          <p:sp>
            <p:nvSpPr>
              <p:cNvPr id="2" name="Rectangle 1">
                <a:extLst>
                  <a:ext uri="{FF2B5EF4-FFF2-40B4-BE49-F238E27FC236}">
                    <a16:creationId xmlns:a16="http://schemas.microsoft.com/office/drawing/2014/main" id="{182822A3-F745-4F8D-8551-D1E58BD3D9A1}"/>
                  </a:ext>
                </a:extLst>
              </p:cNvPr>
              <p:cNvSpPr>
                <a:spLocks noRot="1" noChangeAspect="1" noMove="1" noResize="1" noEditPoints="1" noAdjustHandles="1" noChangeArrowheads="1" noChangeShapeType="1" noTextEdit="1"/>
              </p:cNvSpPr>
              <p:nvPr/>
            </p:nvSpPr>
            <p:spPr>
              <a:xfrm>
                <a:off x="914400" y="1905001"/>
                <a:ext cx="10160000" cy="4374211"/>
              </a:xfrm>
              <a:prstGeom prst="rect">
                <a:avLst/>
              </a:prstGeom>
              <a:blipFill>
                <a:blip r:embed="rId2"/>
                <a:stretch>
                  <a:fillRect l="-900" t="-976" r="-120"/>
                </a:stretch>
              </a:blipFill>
            </p:spPr>
            <p:txBody>
              <a:bodyPr/>
              <a:lstStyle/>
              <a:p>
                <a:r>
                  <a:rPr lang="en-IN">
                    <a:noFill/>
                  </a:rPr>
                  <a:t> </a:t>
                </a:r>
              </a:p>
            </p:txBody>
          </p:sp>
        </mc:Fallback>
      </mc:AlternateContent>
    </p:spTree>
    <p:extLst>
      <p:ext uri="{BB962C8B-B14F-4D97-AF65-F5344CB8AC3E}">
        <p14:creationId xmlns:p14="http://schemas.microsoft.com/office/powerpoint/2010/main" val="1559148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A4CEBE3-13B2-4BB7-9F5F-B8184F8DFCBE}"/>
                  </a:ext>
                </a:extLst>
              </p:cNvPr>
              <p:cNvSpPr/>
              <p:nvPr/>
            </p:nvSpPr>
            <p:spPr>
              <a:xfrm>
                <a:off x="812800" y="1092200"/>
                <a:ext cx="11176000" cy="5851538"/>
              </a:xfrm>
              <a:prstGeom prst="rect">
                <a:avLst/>
              </a:prstGeom>
            </p:spPr>
            <p:txBody>
              <a:bodyPr wrap="square">
                <a:spAutoFit/>
              </a:bodyPr>
              <a:lstStyle/>
              <a:p>
                <a:r>
                  <a:rPr lang="en-US" sz="2400" dirty="0">
                    <a:solidFill>
                      <a:srgbClr val="813588"/>
                    </a:solidFill>
                    <a:latin typeface="Roboto"/>
                  </a:rPr>
                  <a:t>Diagonal Matrix</a:t>
                </a:r>
              </a:p>
              <a:p>
                <a:r>
                  <a:rPr lang="en-US" sz="2400" dirty="0">
                    <a:solidFill>
                      <a:srgbClr val="333333"/>
                    </a:solidFill>
                    <a:latin typeface="Roboto"/>
                  </a:rPr>
                  <a:t>If all the elements, except the principal diagonal, in a square matrix, are zero, it is called a </a:t>
                </a:r>
                <a:r>
                  <a:rPr lang="en-US" sz="2400" b="1" dirty="0">
                    <a:solidFill>
                      <a:srgbClr val="333333"/>
                    </a:solidFill>
                    <a:latin typeface="Roboto"/>
                  </a:rPr>
                  <a:t>diagonal matrix</a:t>
                </a:r>
                <a:r>
                  <a:rPr lang="en-US" sz="2400" dirty="0">
                    <a:solidFill>
                      <a:srgbClr val="333333"/>
                    </a:solidFill>
                    <a:latin typeface="Roboto"/>
                  </a:rPr>
                  <a:t>. Thus, a square matrix A = [</a:t>
                </a:r>
                <a:r>
                  <a:rPr lang="en-US" sz="2400" dirty="0" err="1">
                    <a:solidFill>
                      <a:srgbClr val="333333"/>
                    </a:solidFill>
                    <a:latin typeface="Roboto"/>
                  </a:rPr>
                  <a:t>a</a:t>
                </a:r>
                <a:r>
                  <a:rPr lang="en-US" sz="2400" baseline="-25000" dirty="0" err="1">
                    <a:solidFill>
                      <a:srgbClr val="333333"/>
                    </a:solidFill>
                    <a:latin typeface="Roboto"/>
                  </a:rPr>
                  <a:t>ij</a:t>
                </a:r>
                <a:r>
                  <a:rPr lang="en-US" sz="2400" dirty="0">
                    <a:solidFill>
                      <a:srgbClr val="333333"/>
                    </a:solidFill>
                    <a:latin typeface="Roboto"/>
                  </a:rPr>
                  <a:t>] is a diagonal matrix if </a:t>
                </a:r>
                <a:r>
                  <a:rPr lang="en-US" sz="2400" dirty="0" err="1">
                    <a:solidFill>
                      <a:srgbClr val="333333"/>
                    </a:solidFill>
                    <a:latin typeface="Roboto"/>
                  </a:rPr>
                  <a:t>a</a:t>
                </a:r>
                <a:r>
                  <a:rPr lang="en-US" sz="2400" baseline="-25000" dirty="0" err="1">
                    <a:solidFill>
                      <a:srgbClr val="333333"/>
                    </a:solidFill>
                    <a:latin typeface="Roboto"/>
                  </a:rPr>
                  <a:t>ij</a:t>
                </a:r>
                <a:r>
                  <a:rPr lang="en-US" sz="2400" dirty="0">
                    <a:solidFill>
                      <a:srgbClr val="333333"/>
                    </a:solidFill>
                    <a:latin typeface="Roboto"/>
                  </a:rPr>
                  <a:t> = 0,when </a:t>
                </a:r>
                <a:r>
                  <a:rPr lang="en-US" sz="2400" dirty="0" err="1">
                    <a:solidFill>
                      <a:srgbClr val="333333"/>
                    </a:solidFill>
                    <a:latin typeface="Roboto"/>
                  </a:rPr>
                  <a:t>i</a:t>
                </a:r>
                <a:r>
                  <a:rPr lang="en-US" sz="2400" dirty="0">
                    <a:solidFill>
                      <a:srgbClr val="333333"/>
                    </a:solidFill>
                    <a:latin typeface="Roboto"/>
                  </a:rPr>
                  <a:t> ≠ j</a:t>
                </a:r>
              </a:p>
              <a:p>
                <a:endParaRPr lang="en-US" sz="2400" dirty="0">
                  <a:solidFill>
                    <a:srgbClr val="333333"/>
                  </a:solidFill>
                  <a:latin typeface="Roboto"/>
                </a:endParaRPr>
              </a:p>
              <a:p>
                <a14:m>
                  <m:oMath xmlns:m="http://schemas.openxmlformats.org/officeDocument/2006/math">
                    <m:d>
                      <m:dPr>
                        <m:begChr m:val="["/>
                        <m:endChr m:val="]"/>
                        <m:ctrlPr>
                          <a:rPr lang="en-US" sz="2400" i="1">
                            <a:solidFill>
                              <a:srgbClr val="333333"/>
                            </a:solidFill>
                            <a:latin typeface="Cambria Math" panose="02040503050406030204" pitchFamily="18" charset="0"/>
                          </a:rPr>
                        </m:ctrlPr>
                      </m:dPr>
                      <m:e>
                        <m:m>
                          <m:mPr>
                            <m:mcs>
                              <m:mc>
                                <m:mcPr>
                                  <m:count m:val="2"/>
                                  <m:mcJc m:val="center"/>
                                </m:mcPr>
                              </m:mc>
                            </m:mcs>
                            <m:ctrlPr>
                              <a:rPr lang="en-US"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2</m:t>
                              </m:r>
                            </m:e>
                            <m:e>
                              <m:r>
                                <a:rPr lang="en-IN" sz="2400" i="1">
                                  <a:solidFill>
                                    <a:srgbClr val="333333"/>
                                  </a:solidFill>
                                  <a:latin typeface="Cambria Math" panose="02040503050406030204" pitchFamily="18" charset="0"/>
                                </a:rPr>
                                <m:t>0      0</m:t>
                              </m:r>
                            </m:e>
                          </m:mr>
                          <m:mr>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0</m:t>
                                  </m:r>
                                </m:e>
                                <m:e>
                                  <m:r>
                                    <a:rPr lang="en-IN" sz="2400" i="1">
                                      <a:solidFill>
                                        <a:srgbClr val="333333"/>
                                      </a:solidFill>
                                      <a:latin typeface="Cambria Math" panose="02040503050406030204" pitchFamily="18" charset="0"/>
                                    </a:rPr>
                                    <m:t>0</m:t>
                                  </m:r>
                                </m:e>
                              </m:eqArr>
                            </m:e>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3      0</m:t>
                                  </m:r>
                                </m:e>
                                <m:e>
                                  <m:r>
                                    <a:rPr lang="en-IN" sz="2400" i="1">
                                      <a:solidFill>
                                        <a:srgbClr val="333333"/>
                                      </a:solidFill>
                                      <a:latin typeface="Cambria Math" panose="02040503050406030204" pitchFamily="18" charset="0"/>
                                    </a:rPr>
                                    <m:t>0      4</m:t>
                                  </m:r>
                                </m:e>
                              </m:eqArr>
                            </m:e>
                          </m:mr>
                        </m:m>
                      </m:e>
                    </m:d>
                  </m:oMath>
                </a14:m>
                <a:r>
                  <a:rPr lang="en-US" sz="2400" dirty="0">
                    <a:solidFill>
                      <a:srgbClr val="333333"/>
                    </a:solidFill>
                    <a:latin typeface="Roboto"/>
                  </a:rPr>
                  <a:t>is a diagonal matrix of order 3 x 3, which can also be denoted by diagonal [2 3 4]. </a:t>
                </a:r>
              </a:p>
              <a:p>
                <a:endParaRPr lang="en-US" sz="2400" dirty="0">
                  <a:solidFill>
                    <a:srgbClr val="333333"/>
                  </a:solidFill>
                  <a:latin typeface="Roboto"/>
                </a:endParaRPr>
              </a:p>
              <a:p>
                <a:r>
                  <a:rPr lang="en-US" sz="2400" dirty="0">
                    <a:solidFill>
                      <a:srgbClr val="333333"/>
                    </a:solidFill>
                    <a:latin typeface="Roboto"/>
                  </a:rPr>
                  <a:t>The special thing is, all the non-diagonal elements of this matrix are zero. That means only the diagonal has non-zero elements. There are two important things to note here which are</a:t>
                </a:r>
              </a:p>
              <a:p>
                <a:r>
                  <a:rPr lang="en-US" sz="2400" dirty="0">
                    <a:solidFill>
                      <a:srgbClr val="333333"/>
                    </a:solidFill>
                    <a:latin typeface="Roboto"/>
                  </a:rPr>
                  <a:t>(</a:t>
                </a:r>
                <a:r>
                  <a:rPr lang="en-US" sz="2400" dirty="0" err="1">
                    <a:solidFill>
                      <a:srgbClr val="333333"/>
                    </a:solidFill>
                    <a:latin typeface="Roboto"/>
                  </a:rPr>
                  <a:t>i</a:t>
                </a:r>
                <a:r>
                  <a:rPr lang="en-US" sz="2400" dirty="0">
                    <a:solidFill>
                      <a:srgbClr val="333333"/>
                    </a:solidFill>
                    <a:latin typeface="Roboto"/>
                  </a:rPr>
                  <a:t>) A diagonal matrix is always a square matrix</a:t>
                </a:r>
              </a:p>
              <a:p>
                <a:r>
                  <a:rPr lang="en-US" sz="2400" dirty="0">
                    <a:solidFill>
                      <a:srgbClr val="333333"/>
                    </a:solidFill>
                    <a:latin typeface="Roboto"/>
                  </a:rPr>
                  <a:t>(ii) The diagonal elements are characterized by this general form: </a:t>
                </a:r>
                <a:r>
                  <a:rPr lang="en-US" sz="2400" dirty="0" err="1">
                    <a:solidFill>
                      <a:srgbClr val="333333"/>
                    </a:solidFill>
                    <a:latin typeface="Roboto"/>
                  </a:rPr>
                  <a:t>a</a:t>
                </a:r>
                <a:r>
                  <a:rPr lang="en-US" sz="2400" baseline="-25000" dirty="0" err="1">
                    <a:solidFill>
                      <a:srgbClr val="333333"/>
                    </a:solidFill>
                    <a:latin typeface="Roboto"/>
                  </a:rPr>
                  <a:t>ij</a:t>
                </a:r>
                <a:r>
                  <a:rPr lang="en-US" sz="2400" dirty="0">
                    <a:solidFill>
                      <a:srgbClr val="333333"/>
                    </a:solidFill>
                    <a:latin typeface="Roboto"/>
                  </a:rPr>
                  <a:t> where </a:t>
                </a:r>
                <a:r>
                  <a:rPr lang="en-US" sz="2400" dirty="0" err="1">
                    <a:solidFill>
                      <a:srgbClr val="333333"/>
                    </a:solidFill>
                    <a:latin typeface="Roboto"/>
                  </a:rPr>
                  <a:t>i</a:t>
                </a:r>
                <a:r>
                  <a:rPr lang="en-US" sz="2400" dirty="0">
                    <a:solidFill>
                      <a:srgbClr val="333333"/>
                    </a:solidFill>
                    <a:latin typeface="Roboto"/>
                  </a:rPr>
                  <a:t> = j. This means that a matrix can have only one diagonal.</a:t>
                </a:r>
              </a:p>
            </p:txBody>
          </p:sp>
        </mc:Choice>
        <mc:Fallback xmlns="">
          <p:sp>
            <p:nvSpPr>
              <p:cNvPr id="2" name="Rectangle 1">
                <a:extLst>
                  <a:ext uri="{FF2B5EF4-FFF2-40B4-BE49-F238E27FC236}">
                    <a16:creationId xmlns:a16="http://schemas.microsoft.com/office/drawing/2014/main" id="{BA4CEBE3-13B2-4BB7-9F5F-B8184F8DFCBE}"/>
                  </a:ext>
                </a:extLst>
              </p:cNvPr>
              <p:cNvSpPr>
                <a:spLocks noRot="1" noChangeAspect="1" noMove="1" noResize="1" noEditPoints="1" noAdjustHandles="1" noChangeArrowheads="1" noChangeShapeType="1" noTextEdit="1"/>
              </p:cNvSpPr>
              <p:nvPr/>
            </p:nvSpPr>
            <p:spPr>
              <a:xfrm>
                <a:off x="812800" y="1092200"/>
                <a:ext cx="11176000" cy="5851538"/>
              </a:xfrm>
              <a:prstGeom prst="rect">
                <a:avLst/>
              </a:prstGeom>
              <a:blipFill>
                <a:blip r:embed="rId2"/>
                <a:stretch>
                  <a:fillRect l="-818" t="-729" r="-1036" b="-1458"/>
                </a:stretch>
              </a:blipFill>
            </p:spPr>
            <p:txBody>
              <a:bodyPr/>
              <a:lstStyle/>
              <a:p>
                <a:r>
                  <a:rPr lang="en-IN">
                    <a:noFill/>
                  </a:rPr>
                  <a:t> </a:t>
                </a:r>
              </a:p>
            </p:txBody>
          </p:sp>
        </mc:Fallback>
      </mc:AlternateContent>
    </p:spTree>
    <p:extLst>
      <p:ext uri="{BB962C8B-B14F-4D97-AF65-F5344CB8AC3E}">
        <p14:creationId xmlns:p14="http://schemas.microsoft.com/office/powerpoint/2010/main" val="2726064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B5179444-8767-4277-A086-8CC31C82B327}"/>
                  </a:ext>
                </a:extLst>
              </p:cNvPr>
              <p:cNvSpPr/>
              <p:nvPr/>
            </p:nvSpPr>
            <p:spPr>
              <a:xfrm>
                <a:off x="1320800" y="1498600"/>
                <a:ext cx="9550400" cy="2158220"/>
              </a:xfrm>
              <a:prstGeom prst="rect">
                <a:avLst/>
              </a:prstGeom>
            </p:spPr>
            <p:txBody>
              <a:bodyPr wrap="square">
                <a:spAutoFit/>
              </a:bodyPr>
              <a:lstStyle/>
              <a:p>
                <a:r>
                  <a:rPr lang="en-US" sz="2400" dirty="0">
                    <a:solidFill>
                      <a:srgbClr val="813588"/>
                    </a:solidFill>
                    <a:latin typeface="Roboto"/>
                  </a:rPr>
                  <a:t>Scalar Matrix</a:t>
                </a:r>
              </a:p>
              <a:p>
                <a:r>
                  <a:rPr lang="en-US" sz="2400" dirty="0">
                    <a:solidFill>
                      <a:srgbClr val="333333"/>
                    </a:solidFill>
                    <a:latin typeface="Roboto"/>
                  </a:rPr>
                  <a:t>If all the elements in the diagonal of a diagonal matrix are equal, it is called a </a:t>
                </a:r>
                <a:r>
                  <a:rPr lang="en-US" sz="2400" b="1" dirty="0">
                    <a:solidFill>
                      <a:srgbClr val="333333"/>
                    </a:solidFill>
                    <a:latin typeface="Roboto"/>
                  </a:rPr>
                  <a:t>scalar matrix</a:t>
                </a:r>
                <a:r>
                  <a:rPr lang="en-US" sz="2400" dirty="0">
                    <a:solidFill>
                      <a:srgbClr val="333333"/>
                    </a:solidFill>
                    <a:latin typeface="Roboto"/>
                  </a:rPr>
                  <a:t>.</a:t>
                </a:r>
              </a:p>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333333"/>
                              </a:solidFill>
                              <a:latin typeface="Cambria Math" panose="02040503050406030204" pitchFamily="18" charset="0"/>
                            </a:rPr>
                          </m:ctrlPr>
                        </m:dPr>
                        <m:e>
                          <m:m>
                            <m:mPr>
                              <m:mcs>
                                <m:mc>
                                  <m:mcPr>
                                    <m:count m:val="2"/>
                                    <m:mcJc m:val="center"/>
                                  </m:mcPr>
                                </m:mc>
                              </m:mcs>
                              <m:ctrlPr>
                                <a:rPr lang="en-US"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m:t>
                                </m:r>
                                <m:r>
                                  <a:rPr lang="en-IN" sz="2400" i="1">
                                    <a:solidFill>
                                      <a:srgbClr val="333333"/>
                                    </a:solidFill>
                                    <a:latin typeface="Cambria Math" panose="02040503050406030204" pitchFamily="18" charset="0"/>
                                  </a:rPr>
                                  <m:t>6</m:t>
                                </m:r>
                              </m:e>
                              <m:e>
                                <m:r>
                                  <a:rPr lang="en-IN" sz="2400" i="1">
                                    <a:solidFill>
                                      <a:srgbClr val="333333"/>
                                    </a:solidFill>
                                    <a:latin typeface="Cambria Math" panose="02040503050406030204" pitchFamily="18" charset="0"/>
                                  </a:rPr>
                                  <m:t>0        0</m:t>
                                </m:r>
                              </m:e>
                            </m:mr>
                            <m:mr>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0</m:t>
                                    </m:r>
                                  </m:e>
                                  <m:e>
                                    <m:r>
                                      <a:rPr lang="en-IN" sz="2400" i="1">
                                        <a:solidFill>
                                          <a:srgbClr val="333333"/>
                                        </a:solidFill>
                                        <a:latin typeface="Cambria Math" panose="02040503050406030204" pitchFamily="18" charset="0"/>
                                      </a:rPr>
                                      <m:t>0</m:t>
                                    </m:r>
                                  </m:e>
                                </m:eqArr>
                                <m:r>
                                  <a:rPr lang="en-IN" sz="2400" i="1">
                                    <a:solidFill>
                                      <a:srgbClr val="333333"/>
                                    </a:solidFill>
                                    <a:latin typeface="Cambria Math" panose="02040503050406030204" pitchFamily="18" charset="0"/>
                                  </a:rPr>
                                  <m:t> </m:t>
                                </m:r>
                              </m:e>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−6       0</m:t>
                                    </m:r>
                                  </m:e>
                                  <m:e>
                                    <m:r>
                                      <a:rPr lang="en-IN" sz="2400" i="1">
                                        <a:solidFill>
                                          <a:srgbClr val="333333"/>
                                        </a:solidFill>
                                        <a:latin typeface="Cambria Math" panose="02040503050406030204" pitchFamily="18" charset="0"/>
                                      </a:rPr>
                                      <m:t>0      −6</m:t>
                                    </m:r>
                                  </m:e>
                                </m:eqArr>
                              </m:e>
                            </m:mr>
                          </m:m>
                        </m:e>
                      </m:d>
                    </m:oMath>
                  </m:oMathPara>
                </a14:m>
                <a:endParaRPr lang="en-US" sz="2400" dirty="0">
                  <a:solidFill>
                    <a:srgbClr val="333333"/>
                  </a:solidFill>
                  <a:latin typeface="Roboto"/>
                </a:endParaRPr>
              </a:p>
            </p:txBody>
          </p:sp>
        </mc:Choice>
        <mc:Fallback xmlns="">
          <p:sp>
            <p:nvSpPr>
              <p:cNvPr id="2" name="Rectangle 1">
                <a:extLst>
                  <a:ext uri="{FF2B5EF4-FFF2-40B4-BE49-F238E27FC236}">
                    <a16:creationId xmlns:a16="http://schemas.microsoft.com/office/drawing/2014/main" id="{B5179444-8767-4277-A086-8CC31C82B327}"/>
                  </a:ext>
                </a:extLst>
              </p:cNvPr>
              <p:cNvSpPr>
                <a:spLocks noRot="1" noChangeAspect="1" noMove="1" noResize="1" noEditPoints="1" noAdjustHandles="1" noChangeArrowheads="1" noChangeShapeType="1" noTextEdit="1"/>
              </p:cNvSpPr>
              <p:nvPr/>
            </p:nvSpPr>
            <p:spPr>
              <a:xfrm>
                <a:off x="1320800" y="1498600"/>
                <a:ext cx="9550400" cy="2158220"/>
              </a:xfrm>
              <a:prstGeom prst="rect">
                <a:avLst/>
              </a:prstGeom>
              <a:blipFill>
                <a:blip r:embed="rId2"/>
                <a:stretch>
                  <a:fillRect l="-1022" t="-1977"/>
                </a:stretch>
              </a:blipFill>
            </p:spPr>
            <p:txBody>
              <a:bodyPr/>
              <a:lstStyle/>
              <a:p>
                <a:r>
                  <a:rPr lang="en-IN">
                    <a:noFill/>
                  </a:rPr>
                  <a:t> </a:t>
                </a:r>
              </a:p>
            </p:txBody>
          </p:sp>
        </mc:Fallback>
      </mc:AlternateContent>
      <p:sp>
        <p:nvSpPr>
          <p:cNvPr id="3" name="Rectangle 2">
            <a:extLst>
              <a:ext uri="{FF2B5EF4-FFF2-40B4-BE49-F238E27FC236}">
                <a16:creationId xmlns:a16="http://schemas.microsoft.com/office/drawing/2014/main" id="{83D38162-B948-4403-AB51-61293B7D03A4}"/>
              </a:ext>
            </a:extLst>
          </p:cNvPr>
          <p:cNvSpPr/>
          <p:nvPr/>
        </p:nvSpPr>
        <p:spPr>
          <a:xfrm>
            <a:off x="1016000" y="3835401"/>
            <a:ext cx="9855200" cy="1200329"/>
          </a:xfrm>
          <a:prstGeom prst="rect">
            <a:avLst/>
          </a:prstGeom>
        </p:spPr>
        <p:txBody>
          <a:bodyPr wrap="square">
            <a:spAutoFit/>
          </a:bodyPr>
          <a:lstStyle/>
          <a:p>
            <a:r>
              <a:rPr lang="en-US" sz="2400" dirty="0">
                <a:solidFill>
                  <a:srgbClr val="813588"/>
                </a:solidFill>
                <a:latin typeface="Roboto"/>
              </a:rPr>
              <a:t>Unit Matrix or Identity Matrix</a:t>
            </a:r>
          </a:p>
          <a:p>
            <a:r>
              <a:rPr lang="en-US" sz="2400" dirty="0">
                <a:solidFill>
                  <a:srgbClr val="333333"/>
                </a:solidFill>
                <a:latin typeface="Roboto"/>
              </a:rPr>
              <a:t>If all the elements of a principal diagonal in a diagonal matrix are 1, then it is called a </a:t>
            </a:r>
            <a:r>
              <a:rPr lang="en-US" sz="2400" b="1" dirty="0">
                <a:solidFill>
                  <a:srgbClr val="333333"/>
                </a:solidFill>
                <a:latin typeface="Roboto"/>
              </a:rPr>
              <a:t>unit matrix</a:t>
            </a:r>
            <a:r>
              <a:rPr lang="en-US" sz="2400" dirty="0">
                <a:solidFill>
                  <a:srgbClr val="333333"/>
                </a:solidFill>
                <a:latin typeface="Roboto"/>
              </a:rPr>
              <a:t>.</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B80F04D-D0B4-401F-BF9B-F1408D624CA2}"/>
                  </a:ext>
                </a:extLst>
              </p:cNvPr>
              <p:cNvSpPr/>
              <p:nvPr/>
            </p:nvSpPr>
            <p:spPr>
              <a:xfrm>
                <a:off x="3860800" y="5178509"/>
                <a:ext cx="1938671" cy="10502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333333"/>
                              </a:solidFill>
                              <a:latin typeface="Cambria Math" panose="02040503050406030204" pitchFamily="18" charset="0"/>
                            </a:rPr>
                          </m:ctrlPr>
                        </m:dPr>
                        <m:e>
                          <m:m>
                            <m:mPr>
                              <m:mcs>
                                <m:mc>
                                  <m:mcPr>
                                    <m:count m:val="2"/>
                                    <m:mcJc m:val="center"/>
                                  </m:mcPr>
                                </m:mc>
                              </m:mcs>
                              <m:ctrlPr>
                                <a:rPr lang="en-US"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1</m:t>
                                </m:r>
                              </m:e>
                              <m:e>
                                <m:r>
                                  <a:rPr lang="en-IN" sz="2400" i="1">
                                    <a:solidFill>
                                      <a:srgbClr val="333333"/>
                                    </a:solidFill>
                                    <a:latin typeface="Cambria Math" panose="02040503050406030204" pitchFamily="18" charset="0"/>
                                  </a:rPr>
                                  <m:t>0        0</m:t>
                                </m:r>
                              </m:e>
                            </m:mr>
                            <m:mr>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0</m:t>
                                    </m:r>
                                  </m:e>
                                  <m:e>
                                    <m:r>
                                      <a:rPr lang="en-IN" sz="2400" i="1">
                                        <a:solidFill>
                                          <a:srgbClr val="333333"/>
                                        </a:solidFill>
                                        <a:latin typeface="Cambria Math" panose="02040503050406030204" pitchFamily="18" charset="0"/>
                                      </a:rPr>
                                      <m:t>0</m:t>
                                    </m:r>
                                  </m:e>
                                </m:eqArr>
                                <m:r>
                                  <a:rPr lang="en-IN" sz="2400" i="1">
                                    <a:solidFill>
                                      <a:srgbClr val="333333"/>
                                    </a:solidFill>
                                    <a:latin typeface="Cambria Math" panose="02040503050406030204" pitchFamily="18" charset="0"/>
                                  </a:rPr>
                                  <m:t> </m:t>
                                </m:r>
                              </m:e>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1       0</m:t>
                                    </m:r>
                                  </m:e>
                                  <m:e>
                                    <m:r>
                                      <a:rPr lang="en-IN" sz="2400" i="1">
                                        <a:solidFill>
                                          <a:srgbClr val="333333"/>
                                        </a:solidFill>
                                        <a:latin typeface="Cambria Math" panose="02040503050406030204" pitchFamily="18" charset="0"/>
                                      </a:rPr>
                                      <m:t>0       1</m:t>
                                    </m:r>
                                  </m:e>
                                </m:eqArr>
                              </m:e>
                            </m:mr>
                          </m:m>
                        </m:e>
                      </m:d>
                    </m:oMath>
                  </m:oMathPara>
                </a14:m>
                <a:endParaRPr lang="en-IN" sz="2400" dirty="0"/>
              </a:p>
            </p:txBody>
          </p:sp>
        </mc:Choice>
        <mc:Fallback xmlns="">
          <p:sp>
            <p:nvSpPr>
              <p:cNvPr id="4" name="Rectangle 3">
                <a:extLst>
                  <a:ext uri="{FF2B5EF4-FFF2-40B4-BE49-F238E27FC236}">
                    <a16:creationId xmlns:a16="http://schemas.microsoft.com/office/drawing/2014/main" id="{4B80F04D-D0B4-401F-BF9B-F1408D624CA2}"/>
                  </a:ext>
                </a:extLst>
              </p:cNvPr>
              <p:cNvSpPr>
                <a:spLocks noRot="1" noChangeAspect="1" noMove="1" noResize="1" noEditPoints="1" noAdjustHandles="1" noChangeArrowheads="1" noChangeShapeType="1" noTextEdit="1"/>
              </p:cNvSpPr>
              <p:nvPr/>
            </p:nvSpPr>
            <p:spPr>
              <a:xfrm>
                <a:off x="3860800" y="5178509"/>
                <a:ext cx="1938671" cy="1050224"/>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100442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122363-2B61-4A2A-B94C-4D37A23AAF73}"/>
              </a:ext>
            </a:extLst>
          </p:cNvPr>
          <p:cNvSpPr/>
          <p:nvPr/>
        </p:nvSpPr>
        <p:spPr>
          <a:xfrm>
            <a:off x="711200" y="1092201"/>
            <a:ext cx="10769600" cy="5262979"/>
          </a:xfrm>
          <a:prstGeom prst="rect">
            <a:avLst/>
          </a:prstGeom>
        </p:spPr>
        <p:txBody>
          <a:bodyPr wrap="square">
            <a:spAutoFit/>
          </a:bodyPr>
          <a:lstStyle/>
          <a:p>
            <a:r>
              <a:rPr lang="en-US" sz="2400" dirty="0">
                <a:solidFill>
                  <a:srgbClr val="813588"/>
                </a:solidFill>
                <a:latin typeface="Roboto"/>
              </a:rPr>
              <a:t>Equal Matrices</a:t>
            </a:r>
          </a:p>
          <a:p>
            <a:r>
              <a:rPr lang="en-US" sz="2400" dirty="0">
                <a:solidFill>
                  <a:srgbClr val="333333"/>
                </a:solidFill>
                <a:latin typeface="Roboto"/>
              </a:rPr>
              <a:t>Two matrices A and B are said to be equal if they are of the same order and their corresponding elements are equal, i.e. Two matrices A = [</a:t>
            </a:r>
            <a:r>
              <a:rPr lang="en-US" sz="2400" dirty="0" err="1">
                <a:solidFill>
                  <a:srgbClr val="333333"/>
                </a:solidFill>
                <a:latin typeface="Roboto"/>
              </a:rPr>
              <a:t>a</a:t>
            </a:r>
            <a:r>
              <a:rPr lang="en-US" sz="2400" baseline="-25000" dirty="0" err="1">
                <a:solidFill>
                  <a:srgbClr val="333333"/>
                </a:solidFill>
                <a:latin typeface="Roboto"/>
              </a:rPr>
              <a:t>ij</a:t>
            </a:r>
            <a:r>
              <a:rPr lang="en-US" sz="2400" dirty="0">
                <a:solidFill>
                  <a:srgbClr val="333333"/>
                </a:solidFill>
                <a:latin typeface="Roboto"/>
              </a:rPr>
              <a:t>]</a:t>
            </a:r>
            <a:r>
              <a:rPr lang="en-US" sz="2400" baseline="-25000" dirty="0" err="1">
                <a:solidFill>
                  <a:srgbClr val="333333"/>
                </a:solidFill>
                <a:latin typeface="Roboto"/>
              </a:rPr>
              <a:t>m×n</a:t>
            </a:r>
            <a:r>
              <a:rPr lang="en-US" sz="2400" dirty="0">
                <a:solidFill>
                  <a:srgbClr val="333333"/>
                </a:solidFill>
                <a:latin typeface="Roboto"/>
              </a:rPr>
              <a:t> and B = [</a:t>
            </a:r>
            <a:r>
              <a:rPr lang="en-US" sz="2400" dirty="0" err="1">
                <a:solidFill>
                  <a:srgbClr val="333333"/>
                </a:solidFill>
                <a:latin typeface="Roboto"/>
              </a:rPr>
              <a:t>b</a:t>
            </a:r>
            <a:r>
              <a:rPr lang="en-US" sz="2400" baseline="-25000" dirty="0" err="1">
                <a:solidFill>
                  <a:srgbClr val="333333"/>
                </a:solidFill>
                <a:latin typeface="Roboto"/>
              </a:rPr>
              <a:t>ij</a:t>
            </a:r>
            <a:r>
              <a:rPr lang="en-US" sz="2400" dirty="0">
                <a:solidFill>
                  <a:srgbClr val="333333"/>
                </a:solidFill>
                <a:latin typeface="Roboto"/>
              </a:rPr>
              <a:t>]</a:t>
            </a:r>
            <a:r>
              <a:rPr lang="en-US" sz="2400" baseline="-25000" dirty="0" err="1">
                <a:solidFill>
                  <a:srgbClr val="333333"/>
                </a:solidFill>
                <a:latin typeface="Roboto"/>
              </a:rPr>
              <a:t>r×s</a:t>
            </a:r>
            <a:r>
              <a:rPr lang="en-US" sz="2400" dirty="0">
                <a:solidFill>
                  <a:srgbClr val="333333"/>
                </a:solidFill>
                <a:latin typeface="Roboto"/>
              </a:rPr>
              <a:t> are equal if:</a:t>
            </a:r>
          </a:p>
          <a:p>
            <a:r>
              <a:rPr lang="en-US" sz="2400" dirty="0">
                <a:solidFill>
                  <a:srgbClr val="333333"/>
                </a:solidFill>
                <a:latin typeface="Roboto"/>
              </a:rPr>
              <a:t>(a) m = r i.e. the number of rows in A = the number of rows in B.</a:t>
            </a:r>
          </a:p>
          <a:p>
            <a:r>
              <a:rPr lang="en-US" sz="2400" dirty="0">
                <a:solidFill>
                  <a:srgbClr val="333333"/>
                </a:solidFill>
                <a:latin typeface="Roboto"/>
              </a:rPr>
              <a:t>(b) n = s, i.e. the number of columns in A = the number of columns in B</a:t>
            </a:r>
          </a:p>
          <a:p>
            <a:r>
              <a:rPr lang="en-US" sz="2400" dirty="0">
                <a:solidFill>
                  <a:srgbClr val="333333"/>
                </a:solidFill>
                <a:latin typeface="Roboto"/>
              </a:rPr>
              <a:t>(c) </a:t>
            </a:r>
            <a:r>
              <a:rPr lang="en-US" sz="2400" dirty="0" err="1">
                <a:solidFill>
                  <a:srgbClr val="333333"/>
                </a:solidFill>
                <a:latin typeface="Roboto"/>
              </a:rPr>
              <a:t>a</a:t>
            </a:r>
            <a:r>
              <a:rPr lang="en-US" sz="2400" baseline="-25000" dirty="0" err="1">
                <a:solidFill>
                  <a:srgbClr val="333333"/>
                </a:solidFill>
                <a:latin typeface="Roboto"/>
              </a:rPr>
              <a:t>ij</a:t>
            </a:r>
            <a:r>
              <a:rPr lang="en-US" sz="2400" dirty="0">
                <a:solidFill>
                  <a:srgbClr val="333333"/>
                </a:solidFill>
                <a:latin typeface="Roboto"/>
              </a:rPr>
              <a:t> = </a:t>
            </a:r>
            <a:r>
              <a:rPr lang="en-US" sz="2400" dirty="0" err="1">
                <a:solidFill>
                  <a:srgbClr val="333333"/>
                </a:solidFill>
                <a:latin typeface="Roboto"/>
              </a:rPr>
              <a:t>b</a:t>
            </a:r>
            <a:r>
              <a:rPr lang="en-US" sz="2400" baseline="-25000" dirty="0" err="1">
                <a:solidFill>
                  <a:srgbClr val="333333"/>
                </a:solidFill>
                <a:latin typeface="Roboto"/>
              </a:rPr>
              <a:t>ij</a:t>
            </a:r>
            <a:r>
              <a:rPr lang="en-US" sz="2400" dirty="0">
                <a:solidFill>
                  <a:srgbClr val="333333"/>
                </a:solidFill>
                <a:latin typeface="Roboto"/>
              </a:rPr>
              <a:t>, for </a:t>
            </a:r>
            <a:r>
              <a:rPr lang="en-US" sz="2400" dirty="0" err="1">
                <a:solidFill>
                  <a:srgbClr val="333333"/>
                </a:solidFill>
                <a:latin typeface="Roboto"/>
              </a:rPr>
              <a:t>i</a:t>
            </a:r>
            <a:r>
              <a:rPr lang="en-US" sz="2400" dirty="0">
                <a:solidFill>
                  <a:srgbClr val="333333"/>
                </a:solidFill>
                <a:latin typeface="Roboto"/>
              </a:rPr>
              <a:t> = 1, 2, ….., m and j = 1, 2, ….., n, i.e. the corresponding elements are equal;</a:t>
            </a:r>
          </a:p>
          <a:p>
            <a:r>
              <a:rPr lang="en-US" sz="2400" dirty="0">
                <a:solidFill>
                  <a:srgbClr val="333333"/>
                </a:solidFill>
                <a:latin typeface="Roboto"/>
              </a:rPr>
              <a:t>For example,                                                          are not equal because their </a:t>
            </a:r>
          </a:p>
          <a:p>
            <a:r>
              <a:rPr lang="en-US" sz="2400" dirty="0">
                <a:solidFill>
                  <a:srgbClr val="333333"/>
                </a:solidFill>
                <a:latin typeface="Roboto"/>
              </a:rPr>
              <a:t>                                                                               orders are not the same.</a:t>
            </a:r>
          </a:p>
          <a:p>
            <a:endParaRPr lang="en-US" sz="2400" dirty="0">
              <a:solidFill>
                <a:srgbClr val="333333"/>
              </a:solidFill>
              <a:latin typeface="Roboto"/>
            </a:endParaRPr>
          </a:p>
          <a:p>
            <a:r>
              <a:rPr lang="en-US" sz="2400" dirty="0">
                <a:solidFill>
                  <a:srgbClr val="333333"/>
                </a:solidFill>
                <a:latin typeface="Roboto"/>
              </a:rPr>
              <a:t>But, If A = B                    A =                       B  =                            </a:t>
            </a:r>
          </a:p>
          <a:p>
            <a:endParaRPr lang="en-US" sz="2400" dirty="0">
              <a:solidFill>
                <a:srgbClr val="333333"/>
              </a:solidFill>
              <a:latin typeface="Roboto"/>
            </a:endParaRPr>
          </a:p>
          <a:p>
            <a:r>
              <a:rPr lang="en-US" sz="2400" dirty="0">
                <a:solidFill>
                  <a:srgbClr val="333333"/>
                </a:solidFill>
                <a:latin typeface="Roboto"/>
              </a:rPr>
              <a:t>     a = 1, b = 6, c = 3, d = 5, e = 2, f = 1.</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D840BA4E-EE63-4B7B-A040-F8338318EB85}"/>
                  </a:ext>
                </a:extLst>
              </p:cNvPr>
              <p:cNvSpPr/>
              <p:nvPr/>
            </p:nvSpPr>
            <p:spPr>
              <a:xfrm>
                <a:off x="4673601" y="4241801"/>
                <a:ext cx="1850570" cy="708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333333"/>
                              </a:solidFill>
                              <a:latin typeface="Cambria Math" panose="02040503050406030204" pitchFamily="18" charset="0"/>
                            </a:rPr>
                          </m:ctrlPr>
                        </m:dPr>
                        <m:e>
                          <m:m>
                            <m:mPr>
                              <m:mcs>
                                <m:mc>
                                  <m:mcPr>
                                    <m:count m:val="2"/>
                                    <m:mcJc m:val="center"/>
                                  </m:mcPr>
                                </m:mc>
                              </m:mcs>
                              <m:ctrlPr>
                                <a:rPr lang="en-US"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1</m:t>
                                </m:r>
                              </m:e>
                              <m:e>
                                <m:r>
                                  <a:rPr lang="en-IN" sz="2400" i="1">
                                    <a:solidFill>
                                      <a:srgbClr val="333333"/>
                                    </a:solidFill>
                                    <a:latin typeface="Cambria Math" panose="02040503050406030204" pitchFamily="18" charset="0"/>
                                  </a:rPr>
                                  <m:t>0        0</m:t>
                                </m:r>
                              </m:e>
                            </m:mr>
                            <m:mr>
                              <m:e>
                                <m:r>
                                  <a:rPr lang="en-IN" sz="2400" i="1">
                                    <a:solidFill>
                                      <a:srgbClr val="333333"/>
                                    </a:solidFill>
                                    <a:latin typeface="Cambria Math" panose="02040503050406030204" pitchFamily="18" charset="0"/>
                                  </a:rPr>
                                  <m:t>2</m:t>
                                </m:r>
                              </m:e>
                              <m:e>
                                <m:r>
                                  <a:rPr lang="en-IN" sz="2400" i="1">
                                    <a:solidFill>
                                      <a:srgbClr val="333333"/>
                                    </a:solidFill>
                                    <a:latin typeface="Cambria Math" panose="02040503050406030204" pitchFamily="18" charset="0"/>
                                  </a:rPr>
                                  <m:t>3       4</m:t>
                                </m:r>
                              </m:e>
                            </m:mr>
                          </m:m>
                        </m:e>
                      </m:d>
                    </m:oMath>
                  </m:oMathPara>
                </a14:m>
                <a:endParaRPr lang="en-IN" sz="2400" dirty="0"/>
              </a:p>
            </p:txBody>
          </p:sp>
        </mc:Choice>
        <mc:Fallback xmlns="">
          <p:sp>
            <p:nvSpPr>
              <p:cNvPr id="3" name="Rectangle 2">
                <a:extLst>
                  <a:ext uri="{FF2B5EF4-FFF2-40B4-BE49-F238E27FC236}">
                    <a16:creationId xmlns:a16="http://schemas.microsoft.com/office/drawing/2014/main" id="{D840BA4E-EE63-4B7B-A040-F8338318EB85}"/>
                  </a:ext>
                </a:extLst>
              </p:cNvPr>
              <p:cNvSpPr>
                <a:spLocks noRot="1" noChangeAspect="1" noMove="1" noResize="1" noEditPoints="1" noAdjustHandles="1" noChangeArrowheads="1" noChangeShapeType="1" noTextEdit="1"/>
              </p:cNvSpPr>
              <p:nvPr/>
            </p:nvSpPr>
            <p:spPr>
              <a:xfrm>
                <a:off x="4673601" y="4241801"/>
                <a:ext cx="1850570" cy="708143"/>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8786E55-26B4-4FF7-8953-4541EFFB17BC}"/>
                  </a:ext>
                </a:extLst>
              </p:cNvPr>
              <p:cNvSpPr/>
              <p:nvPr/>
            </p:nvSpPr>
            <p:spPr>
              <a:xfrm>
                <a:off x="2641600" y="4038600"/>
                <a:ext cx="1938671" cy="10502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333333"/>
                              </a:solidFill>
                              <a:latin typeface="Cambria Math" panose="02040503050406030204" pitchFamily="18" charset="0"/>
                            </a:rPr>
                          </m:ctrlPr>
                        </m:dPr>
                        <m:e>
                          <m:m>
                            <m:mPr>
                              <m:mcs>
                                <m:mc>
                                  <m:mcPr>
                                    <m:count m:val="2"/>
                                    <m:mcJc m:val="center"/>
                                  </m:mcPr>
                                </m:mc>
                              </m:mcs>
                              <m:ctrlPr>
                                <a:rPr lang="en-US"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1</m:t>
                                </m:r>
                              </m:e>
                              <m:e>
                                <m:r>
                                  <a:rPr lang="en-IN" sz="2400" i="1">
                                    <a:solidFill>
                                      <a:srgbClr val="333333"/>
                                    </a:solidFill>
                                    <a:latin typeface="Cambria Math" panose="02040503050406030204" pitchFamily="18" charset="0"/>
                                  </a:rPr>
                                  <m:t>0        0</m:t>
                                </m:r>
                              </m:e>
                            </m:mr>
                            <m:mr>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0</m:t>
                                    </m:r>
                                  </m:e>
                                  <m:e>
                                    <m:r>
                                      <a:rPr lang="en-IN" sz="2400" i="1">
                                        <a:solidFill>
                                          <a:srgbClr val="333333"/>
                                        </a:solidFill>
                                        <a:latin typeface="Cambria Math" panose="02040503050406030204" pitchFamily="18" charset="0"/>
                                      </a:rPr>
                                      <m:t>0</m:t>
                                    </m:r>
                                  </m:e>
                                </m:eqArr>
                                <m:r>
                                  <a:rPr lang="en-IN" sz="2400" i="1">
                                    <a:solidFill>
                                      <a:srgbClr val="333333"/>
                                    </a:solidFill>
                                    <a:latin typeface="Cambria Math" panose="02040503050406030204" pitchFamily="18" charset="0"/>
                                  </a:rPr>
                                  <m:t> </m:t>
                                </m:r>
                              </m:e>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1       0</m:t>
                                    </m:r>
                                  </m:e>
                                  <m:e>
                                    <m:r>
                                      <a:rPr lang="en-IN" sz="2400" i="1">
                                        <a:solidFill>
                                          <a:srgbClr val="333333"/>
                                        </a:solidFill>
                                        <a:latin typeface="Cambria Math" panose="02040503050406030204" pitchFamily="18" charset="0"/>
                                      </a:rPr>
                                      <m:t>0       1</m:t>
                                    </m:r>
                                  </m:e>
                                </m:eqArr>
                              </m:e>
                            </m:mr>
                          </m:m>
                        </m:e>
                      </m:d>
                    </m:oMath>
                  </m:oMathPara>
                </a14:m>
                <a:endParaRPr lang="en-IN" sz="2400" dirty="0"/>
              </a:p>
            </p:txBody>
          </p:sp>
        </mc:Choice>
        <mc:Fallback xmlns="">
          <p:sp>
            <p:nvSpPr>
              <p:cNvPr id="4" name="Rectangle 3">
                <a:extLst>
                  <a:ext uri="{FF2B5EF4-FFF2-40B4-BE49-F238E27FC236}">
                    <a16:creationId xmlns:a16="http://schemas.microsoft.com/office/drawing/2014/main" id="{A8786E55-26B4-4FF7-8953-4541EFFB17BC}"/>
                  </a:ext>
                </a:extLst>
              </p:cNvPr>
              <p:cNvSpPr>
                <a:spLocks noRot="1" noChangeAspect="1" noMove="1" noResize="1" noEditPoints="1" noAdjustHandles="1" noChangeArrowheads="1" noChangeShapeType="1" noTextEdit="1"/>
              </p:cNvSpPr>
              <p:nvPr/>
            </p:nvSpPr>
            <p:spPr>
              <a:xfrm>
                <a:off x="2641600" y="4038600"/>
                <a:ext cx="1938671" cy="105022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DF58C21-4094-4CB8-A238-6CB49B3DA8CC}"/>
                  </a:ext>
                </a:extLst>
              </p:cNvPr>
              <p:cNvSpPr/>
              <p:nvPr/>
            </p:nvSpPr>
            <p:spPr>
              <a:xfrm>
                <a:off x="4640181" y="5114522"/>
                <a:ext cx="1850570" cy="708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333333"/>
                              </a:solidFill>
                              <a:latin typeface="Cambria Math" panose="02040503050406030204" pitchFamily="18" charset="0"/>
                            </a:rPr>
                          </m:ctrlPr>
                        </m:dPr>
                        <m:e>
                          <m:m>
                            <m:mPr>
                              <m:mcs>
                                <m:mc>
                                  <m:mcPr>
                                    <m:count m:val="2"/>
                                    <m:mcJc m:val="center"/>
                                  </m:mcPr>
                                </m:mc>
                              </m:mcs>
                              <m:ctrlPr>
                                <a:rPr lang="en-US"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1</m:t>
                                </m:r>
                              </m:e>
                              <m:e>
                                <m:r>
                                  <a:rPr lang="en-IN" sz="2400" i="1">
                                    <a:solidFill>
                                      <a:srgbClr val="333333"/>
                                    </a:solidFill>
                                    <a:latin typeface="Cambria Math" panose="02040503050406030204" pitchFamily="18" charset="0"/>
                                  </a:rPr>
                                  <m:t>6        3</m:t>
                                </m:r>
                              </m:e>
                            </m:mr>
                            <m:mr>
                              <m:e>
                                <m:r>
                                  <a:rPr lang="en-IN" sz="2400" i="1">
                                    <a:solidFill>
                                      <a:srgbClr val="333333"/>
                                    </a:solidFill>
                                    <a:latin typeface="Cambria Math" panose="02040503050406030204" pitchFamily="18" charset="0"/>
                                  </a:rPr>
                                  <m:t>5</m:t>
                                </m:r>
                              </m:e>
                              <m:e>
                                <m:r>
                                  <a:rPr lang="en-IN" sz="2400" i="1">
                                    <a:solidFill>
                                      <a:srgbClr val="333333"/>
                                    </a:solidFill>
                                    <a:latin typeface="Cambria Math" panose="02040503050406030204" pitchFamily="18" charset="0"/>
                                  </a:rPr>
                                  <m:t>2        1</m:t>
                                </m:r>
                              </m:e>
                            </m:mr>
                          </m:m>
                        </m:e>
                      </m:d>
                    </m:oMath>
                  </m:oMathPara>
                </a14:m>
                <a:endParaRPr lang="en-IN" sz="2400" dirty="0"/>
              </a:p>
            </p:txBody>
          </p:sp>
        </mc:Choice>
        <mc:Fallback xmlns="">
          <p:sp>
            <p:nvSpPr>
              <p:cNvPr id="5" name="Rectangle 4">
                <a:extLst>
                  <a:ext uri="{FF2B5EF4-FFF2-40B4-BE49-F238E27FC236}">
                    <a16:creationId xmlns:a16="http://schemas.microsoft.com/office/drawing/2014/main" id="{3DF58C21-4094-4CB8-A238-6CB49B3DA8CC}"/>
                  </a:ext>
                </a:extLst>
              </p:cNvPr>
              <p:cNvSpPr>
                <a:spLocks noRot="1" noChangeAspect="1" noMove="1" noResize="1" noEditPoints="1" noAdjustHandles="1" noChangeArrowheads="1" noChangeShapeType="1" noTextEdit="1"/>
              </p:cNvSpPr>
              <p:nvPr/>
            </p:nvSpPr>
            <p:spPr>
              <a:xfrm>
                <a:off x="4640181" y="5114522"/>
                <a:ext cx="1850570" cy="708143"/>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8203F91F-6160-48B5-983C-87FD2643E4E7}"/>
                  </a:ext>
                </a:extLst>
              </p:cNvPr>
              <p:cNvSpPr/>
              <p:nvPr/>
            </p:nvSpPr>
            <p:spPr>
              <a:xfrm>
                <a:off x="7120731" y="5114521"/>
                <a:ext cx="1874936" cy="78027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333333"/>
                              </a:solidFill>
                              <a:latin typeface="Cambria Math" panose="02040503050406030204" pitchFamily="18" charset="0"/>
                            </a:rPr>
                          </m:ctrlPr>
                        </m:dPr>
                        <m:e>
                          <m:m>
                            <m:mPr>
                              <m:mcs>
                                <m:mc>
                                  <m:mcPr>
                                    <m:count m:val="2"/>
                                    <m:mcJc m:val="center"/>
                                  </m:mcPr>
                                </m:mc>
                              </m:mcs>
                              <m:ctrlPr>
                                <a:rPr lang="en-US"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𝑎</m:t>
                                </m:r>
                              </m:e>
                              <m:e>
                                <m:r>
                                  <a:rPr lang="en-IN" sz="2400" i="1">
                                    <a:solidFill>
                                      <a:srgbClr val="333333"/>
                                    </a:solidFill>
                                    <a:latin typeface="Cambria Math" panose="02040503050406030204" pitchFamily="18" charset="0"/>
                                  </a:rPr>
                                  <m:t>𝑏</m:t>
                                </m:r>
                                <m:r>
                                  <a:rPr lang="en-IN" sz="2400" i="1">
                                    <a:solidFill>
                                      <a:srgbClr val="333333"/>
                                    </a:solidFill>
                                    <a:latin typeface="Cambria Math" panose="02040503050406030204" pitchFamily="18" charset="0"/>
                                  </a:rPr>
                                  <m:t>        </m:t>
                                </m:r>
                                <m:r>
                                  <a:rPr lang="en-IN" sz="2400" i="1">
                                    <a:solidFill>
                                      <a:srgbClr val="333333"/>
                                    </a:solidFill>
                                    <a:latin typeface="Cambria Math" panose="02040503050406030204" pitchFamily="18" charset="0"/>
                                  </a:rPr>
                                  <m:t>𝑐</m:t>
                                </m:r>
                              </m:e>
                            </m:mr>
                            <m:mr>
                              <m:e>
                                <m:r>
                                  <a:rPr lang="en-IN" sz="2400" i="1">
                                    <a:solidFill>
                                      <a:srgbClr val="333333"/>
                                    </a:solidFill>
                                    <a:latin typeface="Cambria Math" panose="02040503050406030204" pitchFamily="18" charset="0"/>
                                  </a:rPr>
                                  <m:t>𝑑</m:t>
                                </m:r>
                              </m:e>
                              <m:e>
                                <m:r>
                                  <a:rPr lang="en-IN" sz="2400" i="1">
                                    <a:solidFill>
                                      <a:srgbClr val="333333"/>
                                    </a:solidFill>
                                    <a:latin typeface="Cambria Math" panose="02040503050406030204" pitchFamily="18" charset="0"/>
                                  </a:rPr>
                                  <m:t>𝑒</m:t>
                                </m:r>
                                <m:r>
                                  <a:rPr lang="en-IN" sz="2400" i="1">
                                    <a:solidFill>
                                      <a:srgbClr val="333333"/>
                                    </a:solidFill>
                                    <a:latin typeface="Cambria Math" panose="02040503050406030204" pitchFamily="18" charset="0"/>
                                  </a:rPr>
                                  <m:t>        </m:t>
                                </m:r>
                                <m:r>
                                  <a:rPr lang="en-IN" sz="2400" i="1">
                                    <a:solidFill>
                                      <a:srgbClr val="333333"/>
                                    </a:solidFill>
                                    <a:latin typeface="Cambria Math" panose="02040503050406030204" pitchFamily="18" charset="0"/>
                                  </a:rPr>
                                  <m:t>𝑓</m:t>
                                </m:r>
                              </m:e>
                            </m:mr>
                          </m:m>
                        </m:e>
                      </m:d>
                    </m:oMath>
                  </m:oMathPara>
                </a14:m>
                <a:endParaRPr lang="en-IN" sz="2400" dirty="0"/>
              </a:p>
            </p:txBody>
          </p:sp>
        </mc:Choice>
        <mc:Fallback xmlns="">
          <p:sp>
            <p:nvSpPr>
              <p:cNvPr id="7" name="Rectangle 6">
                <a:extLst>
                  <a:ext uri="{FF2B5EF4-FFF2-40B4-BE49-F238E27FC236}">
                    <a16:creationId xmlns:a16="http://schemas.microsoft.com/office/drawing/2014/main" id="{8203F91F-6160-48B5-983C-87FD2643E4E7}"/>
                  </a:ext>
                </a:extLst>
              </p:cNvPr>
              <p:cNvSpPr>
                <a:spLocks noRot="1" noChangeAspect="1" noMove="1" noResize="1" noEditPoints="1" noAdjustHandles="1" noChangeArrowheads="1" noChangeShapeType="1" noTextEdit="1"/>
              </p:cNvSpPr>
              <p:nvPr/>
            </p:nvSpPr>
            <p:spPr>
              <a:xfrm>
                <a:off x="7120731" y="5114521"/>
                <a:ext cx="1874936" cy="780278"/>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996778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EF610F-AA1D-4415-8C1D-668AC2E0467A}"/>
              </a:ext>
            </a:extLst>
          </p:cNvPr>
          <p:cNvSpPr/>
          <p:nvPr/>
        </p:nvSpPr>
        <p:spPr>
          <a:xfrm>
            <a:off x="711200" y="1193801"/>
            <a:ext cx="10871200" cy="4524315"/>
          </a:xfrm>
          <a:prstGeom prst="rect">
            <a:avLst/>
          </a:prstGeom>
        </p:spPr>
        <p:txBody>
          <a:bodyPr wrap="square">
            <a:spAutoFit/>
          </a:bodyPr>
          <a:lstStyle/>
          <a:p>
            <a:r>
              <a:rPr lang="en-IN" sz="2400" dirty="0">
                <a:solidFill>
                  <a:srgbClr val="813588"/>
                </a:solidFill>
                <a:latin typeface="Roboto"/>
              </a:rPr>
              <a:t>Triangular Matrix</a:t>
            </a:r>
          </a:p>
          <a:p>
            <a:r>
              <a:rPr lang="en-IN" sz="2400" dirty="0">
                <a:solidFill>
                  <a:srgbClr val="333333"/>
                </a:solidFill>
                <a:latin typeface="Roboto"/>
              </a:rPr>
              <a:t>A square matrix is said to be a </a:t>
            </a:r>
            <a:r>
              <a:rPr lang="en-IN" sz="2400" b="1" dirty="0">
                <a:solidFill>
                  <a:srgbClr val="333333"/>
                </a:solidFill>
                <a:latin typeface="Roboto"/>
              </a:rPr>
              <a:t>triangular matrix</a:t>
            </a:r>
            <a:r>
              <a:rPr lang="en-IN" sz="2400" dirty="0">
                <a:solidFill>
                  <a:srgbClr val="333333"/>
                </a:solidFill>
                <a:latin typeface="Roboto"/>
              </a:rPr>
              <a:t> if the elements above or below the principal diagonal are zero. There are two types:</a:t>
            </a:r>
          </a:p>
          <a:p>
            <a:pPr>
              <a:buFont typeface="Arial" panose="020B0604020202020204" pitchFamily="34" charset="0"/>
              <a:buChar char="•"/>
            </a:pPr>
            <a:r>
              <a:rPr lang="en-IN" sz="2400" b="1" dirty="0">
                <a:solidFill>
                  <a:srgbClr val="333333"/>
                </a:solidFill>
                <a:latin typeface="Roboto"/>
              </a:rPr>
              <a:t>Upper Triangular Matrix</a:t>
            </a:r>
            <a:endParaRPr lang="en-IN" sz="2400" dirty="0">
              <a:solidFill>
                <a:srgbClr val="333333"/>
              </a:solidFill>
              <a:latin typeface="Roboto"/>
            </a:endParaRPr>
          </a:p>
          <a:p>
            <a:r>
              <a:rPr lang="en-IN" sz="2400" dirty="0">
                <a:solidFill>
                  <a:srgbClr val="333333"/>
                </a:solidFill>
                <a:latin typeface="Roboto"/>
              </a:rPr>
              <a:t>A square matrix [</a:t>
            </a:r>
            <a:r>
              <a:rPr lang="en-IN" sz="2400" dirty="0" err="1">
                <a:solidFill>
                  <a:srgbClr val="333333"/>
                </a:solidFill>
                <a:latin typeface="Roboto"/>
              </a:rPr>
              <a:t>a</a:t>
            </a:r>
            <a:r>
              <a:rPr lang="en-IN" sz="2400" baseline="-25000" dirty="0" err="1">
                <a:solidFill>
                  <a:srgbClr val="333333"/>
                </a:solidFill>
                <a:latin typeface="Roboto"/>
              </a:rPr>
              <a:t>ij</a:t>
            </a:r>
            <a:r>
              <a:rPr lang="en-IN" sz="2400" dirty="0">
                <a:solidFill>
                  <a:srgbClr val="333333"/>
                </a:solidFill>
                <a:latin typeface="Roboto"/>
              </a:rPr>
              <a:t>] is called an </a:t>
            </a:r>
            <a:r>
              <a:rPr lang="en-IN" sz="2400" b="1" dirty="0">
                <a:solidFill>
                  <a:srgbClr val="333333"/>
                </a:solidFill>
                <a:latin typeface="Roboto"/>
              </a:rPr>
              <a:t>upper triangular matrix</a:t>
            </a:r>
            <a:r>
              <a:rPr lang="en-IN" sz="2400" dirty="0">
                <a:solidFill>
                  <a:srgbClr val="333333"/>
                </a:solidFill>
                <a:latin typeface="Roboto"/>
              </a:rPr>
              <a:t>, if </a:t>
            </a:r>
            <a:r>
              <a:rPr lang="en-IN" sz="2400" dirty="0" err="1">
                <a:solidFill>
                  <a:srgbClr val="333333"/>
                </a:solidFill>
                <a:latin typeface="Roboto"/>
              </a:rPr>
              <a:t>a</a:t>
            </a:r>
            <a:r>
              <a:rPr lang="en-IN" sz="2400" baseline="-25000" dirty="0" err="1">
                <a:solidFill>
                  <a:srgbClr val="333333"/>
                </a:solidFill>
                <a:latin typeface="Roboto"/>
              </a:rPr>
              <a:t>ij</a:t>
            </a:r>
            <a:r>
              <a:rPr lang="en-IN" sz="2400" dirty="0">
                <a:solidFill>
                  <a:srgbClr val="333333"/>
                </a:solidFill>
                <a:latin typeface="Roboto"/>
              </a:rPr>
              <a:t> = 0, when </a:t>
            </a:r>
            <a:r>
              <a:rPr lang="en-IN" sz="2400" dirty="0" err="1">
                <a:solidFill>
                  <a:srgbClr val="333333"/>
                </a:solidFill>
                <a:latin typeface="Roboto"/>
              </a:rPr>
              <a:t>i</a:t>
            </a:r>
            <a:r>
              <a:rPr lang="en-IN" sz="2400" dirty="0">
                <a:solidFill>
                  <a:srgbClr val="333333"/>
                </a:solidFill>
                <a:latin typeface="Roboto"/>
              </a:rPr>
              <a:t> &gt; j.</a:t>
            </a:r>
          </a:p>
          <a:p>
            <a:r>
              <a:rPr lang="en-IN" sz="2400" dirty="0" err="1">
                <a:latin typeface="KaTeX_Main"/>
              </a:rPr>
              <a:t>e.g</a:t>
            </a:r>
            <a:r>
              <a:rPr lang="en-IN" sz="2400" dirty="0">
                <a:latin typeface="KaTeX_Main"/>
              </a:rPr>
              <a:t>                                      </a:t>
            </a:r>
            <a:r>
              <a:rPr lang="en-IN" sz="2400" dirty="0">
                <a:solidFill>
                  <a:srgbClr val="333333"/>
                </a:solidFill>
                <a:latin typeface="Roboto"/>
              </a:rPr>
              <a:t> is an upper triangular matrix of order 3 x 3.</a:t>
            </a:r>
          </a:p>
          <a:p>
            <a:endParaRPr lang="en-IN" sz="2400" dirty="0">
              <a:solidFill>
                <a:srgbClr val="333333"/>
              </a:solidFill>
              <a:latin typeface="Roboto"/>
            </a:endParaRPr>
          </a:p>
          <a:p>
            <a:endParaRPr lang="en-IN" sz="2400" dirty="0">
              <a:solidFill>
                <a:srgbClr val="333333"/>
              </a:solidFill>
              <a:latin typeface="Roboto"/>
            </a:endParaRPr>
          </a:p>
          <a:p>
            <a:endParaRPr lang="en-IN" sz="2400" dirty="0">
              <a:solidFill>
                <a:srgbClr val="333333"/>
              </a:solidFill>
              <a:latin typeface="Roboto"/>
            </a:endParaRPr>
          </a:p>
          <a:p>
            <a:pPr>
              <a:buFont typeface="Arial" panose="020B0604020202020204" pitchFamily="34" charset="0"/>
              <a:buChar char="•"/>
            </a:pPr>
            <a:r>
              <a:rPr lang="en-IN" sz="2400" b="1" dirty="0">
                <a:solidFill>
                  <a:srgbClr val="333333"/>
                </a:solidFill>
                <a:latin typeface="Roboto"/>
              </a:rPr>
              <a:t>Lower Triangular Matrix</a:t>
            </a:r>
            <a:endParaRPr lang="en-IN" sz="2400" dirty="0">
              <a:solidFill>
                <a:srgbClr val="333333"/>
              </a:solidFill>
              <a:latin typeface="Roboto"/>
            </a:endParaRPr>
          </a:p>
          <a:p>
            <a:r>
              <a:rPr lang="en-IN" sz="2400" dirty="0">
                <a:solidFill>
                  <a:srgbClr val="333333"/>
                </a:solidFill>
                <a:latin typeface="Roboto"/>
              </a:rPr>
              <a:t>A square matrix is called a </a:t>
            </a:r>
            <a:r>
              <a:rPr lang="en-IN" sz="2400" b="1" dirty="0">
                <a:solidFill>
                  <a:srgbClr val="333333"/>
                </a:solidFill>
                <a:latin typeface="Roboto"/>
              </a:rPr>
              <a:t>lower triangular matrix</a:t>
            </a:r>
            <a:r>
              <a:rPr lang="en-IN" sz="2400" dirty="0">
                <a:solidFill>
                  <a:srgbClr val="333333"/>
                </a:solidFill>
                <a:latin typeface="Roboto"/>
              </a:rPr>
              <a:t>, if </a:t>
            </a:r>
            <a:r>
              <a:rPr lang="en-IN" sz="2400" dirty="0" err="1">
                <a:solidFill>
                  <a:srgbClr val="333333"/>
                </a:solidFill>
                <a:latin typeface="Roboto"/>
              </a:rPr>
              <a:t>a</a:t>
            </a:r>
            <a:r>
              <a:rPr lang="en-IN" sz="2400" baseline="-25000" dirty="0" err="1">
                <a:solidFill>
                  <a:srgbClr val="333333"/>
                </a:solidFill>
                <a:latin typeface="Roboto"/>
              </a:rPr>
              <a:t>ij</a:t>
            </a:r>
            <a:r>
              <a:rPr lang="en-IN" sz="2400" dirty="0">
                <a:solidFill>
                  <a:srgbClr val="333333"/>
                </a:solidFill>
                <a:latin typeface="Roboto"/>
              </a:rPr>
              <a:t> = 0 when </a:t>
            </a:r>
            <a:r>
              <a:rPr lang="en-IN" sz="2400" dirty="0" err="1">
                <a:solidFill>
                  <a:srgbClr val="333333"/>
                </a:solidFill>
                <a:latin typeface="Roboto"/>
              </a:rPr>
              <a:t>i</a:t>
            </a:r>
            <a:r>
              <a:rPr lang="en-IN" sz="2400" dirty="0">
                <a:solidFill>
                  <a:srgbClr val="333333"/>
                </a:solidFill>
                <a:latin typeface="Roboto"/>
              </a:rPr>
              <a:t> &lt; j.</a:t>
            </a:r>
          </a:p>
          <a:p>
            <a:r>
              <a:rPr lang="en-IN" sz="2400" dirty="0">
                <a:solidFill>
                  <a:srgbClr val="333333"/>
                </a:solidFill>
                <a:latin typeface="Roboto"/>
              </a:rPr>
              <a:t>       e.g.                                               is a lower triangular matrix of order 3 x 3.</a:t>
            </a:r>
            <a:endParaRPr lang="en-IN" sz="2400" dirty="0"/>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32ED6DB-372F-4B81-A26A-3DB530FEED1D}"/>
                  </a:ext>
                </a:extLst>
              </p:cNvPr>
              <p:cNvSpPr/>
              <p:nvPr/>
            </p:nvSpPr>
            <p:spPr>
              <a:xfrm>
                <a:off x="1828800" y="3124200"/>
                <a:ext cx="1871346" cy="10502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333333"/>
                              </a:solidFill>
                              <a:latin typeface="Cambria Math" panose="02040503050406030204" pitchFamily="18" charset="0"/>
                            </a:rPr>
                          </m:ctrlPr>
                        </m:dPr>
                        <m:e>
                          <m:m>
                            <m:mPr>
                              <m:mcs>
                                <m:mc>
                                  <m:mcPr>
                                    <m:count m:val="2"/>
                                    <m:mcJc m:val="center"/>
                                  </m:mcPr>
                                </m:mc>
                              </m:mcs>
                              <m:ctrlPr>
                                <a:rPr lang="en-US"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1</m:t>
                                </m:r>
                              </m:e>
                              <m:e>
                                <m:r>
                                  <a:rPr lang="en-IN" sz="2400" i="1">
                                    <a:solidFill>
                                      <a:srgbClr val="333333"/>
                                    </a:solidFill>
                                    <a:latin typeface="Cambria Math" panose="02040503050406030204" pitchFamily="18" charset="0"/>
                                  </a:rPr>
                                  <m:t>2       3</m:t>
                                </m:r>
                              </m:e>
                            </m:mr>
                            <m:mr>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0</m:t>
                                    </m:r>
                                  </m:e>
                                  <m:e>
                                    <m:r>
                                      <a:rPr lang="en-IN" sz="2400" i="1">
                                        <a:solidFill>
                                          <a:srgbClr val="333333"/>
                                        </a:solidFill>
                                        <a:latin typeface="Cambria Math" panose="02040503050406030204" pitchFamily="18" charset="0"/>
                                      </a:rPr>
                                      <m:t>0</m:t>
                                    </m:r>
                                  </m:e>
                                </m:eqArr>
                                <m:r>
                                  <a:rPr lang="en-IN" sz="2400" i="1">
                                    <a:solidFill>
                                      <a:srgbClr val="333333"/>
                                    </a:solidFill>
                                    <a:latin typeface="Cambria Math" panose="02040503050406030204" pitchFamily="18" charset="0"/>
                                  </a:rPr>
                                  <m:t> </m:t>
                                </m:r>
                              </m:e>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4       5</m:t>
                                    </m:r>
                                  </m:e>
                                  <m:e>
                                    <m:r>
                                      <a:rPr lang="en-IN" sz="2400" i="1">
                                        <a:solidFill>
                                          <a:srgbClr val="333333"/>
                                        </a:solidFill>
                                        <a:latin typeface="Cambria Math" panose="02040503050406030204" pitchFamily="18" charset="0"/>
                                      </a:rPr>
                                      <m:t>0       0</m:t>
                                    </m:r>
                                  </m:e>
                                </m:eqArr>
                              </m:e>
                            </m:mr>
                          </m:m>
                        </m:e>
                      </m:d>
                    </m:oMath>
                  </m:oMathPara>
                </a14:m>
                <a:endParaRPr lang="en-IN" sz="2400" dirty="0"/>
              </a:p>
            </p:txBody>
          </p:sp>
        </mc:Choice>
        <mc:Fallback xmlns="">
          <p:sp>
            <p:nvSpPr>
              <p:cNvPr id="3" name="Rectangle 2">
                <a:extLst>
                  <a:ext uri="{FF2B5EF4-FFF2-40B4-BE49-F238E27FC236}">
                    <a16:creationId xmlns:a16="http://schemas.microsoft.com/office/drawing/2014/main" id="{532ED6DB-372F-4B81-A26A-3DB530FEED1D}"/>
                  </a:ext>
                </a:extLst>
              </p:cNvPr>
              <p:cNvSpPr>
                <a:spLocks noRot="1" noChangeAspect="1" noMove="1" noResize="1" noEditPoints="1" noAdjustHandles="1" noChangeArrowheads="1" noChangeShapeType="1" noTextEdit="1"/>
              </p:cNvSpPr>
              <p:nvPr/>
            </p:nvSpPr>
            <p:spPr>
              <a:xfrm>
                <a:off x="1828800" y="3124200"/>
                <a:ext cx="1871346" cy="1050224"/>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DC8B4873-3BF1-42E2-8FF5-AABD11121E56}"/>
                  </a:ext>
                </a:extLst>
              </p:cNvPr>
              <p:cNvSpPr/>
              <p:nvPr/>
            </p:nvSpPr>
            <p:spPr>
              <a:xfrm>
                <a:off x="2032000" y="5257800"/>
                <a:ext cx="1938671" cy="10502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333333"/>
                              </a:solidFill>
                              <a:latin typeface="Cambria Math" panose="02040503050406030204" pitchFamily="18" charset="0"/>
                            </a:rPr>
                          </m:ctrlPr>
                        </m:dPr>
                        <m:e>
                          <m:m>
                            <m:mPr>
                              <m:mcs>
                                <m:mc>
                                  <m:mcPr>
                                    <m:count m:val="2"/>
                                    <m:mcJc m:val="center"/>
                                  </m:mcPr>
                                </m:mc>
                              </m:mcs>
                              <m:ctrlPr>
                                <a:rPr lang="en-US"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4</m:t>
                                </m:r>
                              </m:e>
                              <m:e>
                                <m:r>
                                  <a:rPr lang="en-IN" sz="2400" i="1">
                                    <a:solidFill>
                                      <a:srgbClr val="333333"/>
                                    </a:solidFill>
                                    <a:latin typeface="Cambria Math" panose="02040503050406030204" pitchFamily="18" charset="0"/>
                                  </a:rPr>
                                  <m:t>0        0</m:t>
                                </m:r>
                              </m:e>
                            </m:mr>
                            <m:mr>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7</m:t>
                                    </m:r>
                                  </m:e>
                                  <m:e>
                                    <m:r>
                                      <a:rPr lang="en-IN" sz="2400" i="1">
                                        <a:solidFill>
                                          <a:srgbClr val="333333"/>
                                        </a:solidFill>
                                        <a:latin typeface="Cambria Math" panose="02040503050406030204" pitchFamily="18" charset="0"/>
                                      </a:rPr>
                                      <m:t>8</m:t>
                                    </m:r>
                                  </m:e>
                                </m:eqArr>
                                <m:r>
                                  <a:rPr lang="en-IN" sz="2400" i="1">
                                    <a:solidFill>
                                      <a:srgbClr val="333333"/>
                                    </a:solidFill>
                                    <a:latin typeface="Cambria Math" panose="02040503050406030204" pitchFamily="18" charset="0"/>
                                  </a:rPr>
                                  <m:t> </m:t>
                                </m:r>
                              </m:e>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5       0</m:t>
                                    </m:r>
                                  </m:e>
                                  <m:e>
                                    <m:r>
                                      <a:rPr lang="en-IN" sz="2400" i="1">
                                        <a:solidFill>
                                          <a:srgbClr val="333333"/>
                                        </a:solidFill>
                                        <a:latin typeface="Cambria Math" panose="02040503050406030204" pitchFamily="18" charset="0"/>
                                      </a:rPr>
                                      <m:t>6       1</m:t>
                                    </m:r>
                                  </m:e>
                                </m:eqArr>
                              </m:e>
                            </m:mr>
                          </m:m>
                        </m:e>
                      </m:d>
                    </m:oMath>
                  </m:oMathPara>
                </a14:m>
                <a:endParaRPr lang="en-IN" sz="2400" dirty="0"/>
              </a:p>
            </p:txBody>
          </p:sp>
        </mc:Choice>
        <mc:Fallback xmlns="">
          <p:sp>
            <p:nvSpPr>
              <p:cNvPr id="4" name="Rectangle 3">
                <a:extLst>
                  <a:ext uri="{FF2B5EF4-FFF2-40B4-BE49-F238E27FC236}">
                    <a16:creationId xmlns:a16="http://schemas.microsoft.com/office/drawing/2014/main" id="{DC8B4873-3BF1-42E2-8FF5-AABD11121E56}"/>
                  </a:ext>
                </a:extLst>
              </p:cNvPr>
              <p:cNvSpPr>
                <a:spLocks noRot="1" noChangeAspect="1" noMove="1" noResize="1" noEditPoints="1" noAdjustHandles="1" noChangeArrowheads="1" noChangeShapeType="1" noTextEdit="1"/>
              </p:cNvSpPr>
              <p:nvPr/>
            </p:nvSpPr>
            <p:spPr>
              <a:xfrm>
                <a:off x="2032000" y="5257800"/>
                <a:ext cx="1938671" cy="1050224"/>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883905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CA7A204-1B4C-4B35-BD7E-7483CCDBD8DF}"/>
              </a:ext>
            </a:extLst>
          </p:cNvPr>
          <p:cNvSpPr/>
          <p:nvPr/>
        </p:nvSpPr>
        <p:spPr>
          <a:xfrm>
            <a:off x="1524000" y="2259449"/>
            <a:ext cx="9245600" cy="1569660"/>
          </a:xfrm>
          <a:prstGeom prst="rect">
            <a:avLst/>
          </a:prstGeom>
        </p:spPr>
        <p:txBody>
          <a:bodyPr wrap="square">
            <a:spAutoFit/>
          </a:bodyPr>
          <a:lstStyle/>
          <a:p>
            <a:r>
              <a:rPr lang="en-IN" sz="2400" dirty="0">
                <a:solidFill>
                  <a:srgbClr val="813588"/>
                </a:solidFill>
                <a:latin typeface="Roboto"/>
              </a:rPr>
              <a:t>Singular Matrix and Non-Singular Matrix</a:t>
            </a:r>
          </a:p>
          <a:p>
            <a:r>
              <a:rPr lang="en-IN" sz="2400" dirty="0">
                <a:solidFill>
                  <a:srgbClr val="333333"/>
                </a:solidFill>
                <a:latin typeface="Roboto"/>
              </a:rPr>
              <a:t>Matrix A is said to be a </a:t>
            </a:r>
            <a:r>
              <a:rPr lang="en-IN" sz="2400" b="1" dirty="0">
                <a:solidFill>
                  <a:srgbClr val="333333"/>
                </a:solidFill>
                <a:latin typeface="Roboto"/>
              </a:rPr>
              <a:t>singular matrix</a:t>
            </a:r>
            <a:r>
              <a:rPr lang="en-IN" sz="2400" dirty="0">
                <a:solidFill>
                  <a:srgbClr val="333333"/>
                </a:solidFill>
                <a:latin typeface="Roboto"/>
              </a:rPr>
              <a:t> if its determinant |A| = 0, otherwise a </a:t>
            </a:r>
            <a:r>
              <a:rPr lang="en-IN" sz="2400" b="1" dirty="0">
                <a:solidFill>
                  <a:srgbClr val="333333"/>
                </a:solidFill>
                <a:latin typeface="Roboto"/>
              </a:rPr>
              <a:t>non-singular matrix</a:t>
            </a:r>
            <a:r>
              <a:rPr lang="en-IN" sz="2400" dirty="0">
                <a:solidFill>
                  <a:srgbClr val="333333"/>
                </a:solidFill>
                <a:latin typeface="Roboto"/>
              </a:rPr>
              <a:t>, i.e. If for det |A| = 0, it is </a:t>
            </a:r>
            <a:r>
              <a:rPr lang="en-IN" sz="2400" dirty="0">
                <a:solidFill>
                  <a:srgbClr val="73AD21"/>
                </a:solidFill>
                <a:latin typeface="Roboto"/>
              </a:rPr>
              <a:t>singular matrix</a:t>
            </a:r>
            <a:r>
              <a:rPr lang="en-IN" sz="2400" dirty="0">
                <a:solidFill>
                  <a:srgbClr val="333333"/>
                </a:solidFill>
                <a:latin typeface="Roboto"/>
              </a:rPr>
              <a:t> and for det |A| ≠ 0, it is non-singular.</a:t>
            </a:r>
          </a:p>
        </p:txBody>
      </p:sp>
    </p:spTree>
    <p:extLst>
      <p:ext uri="{BB962C8B-B14F-4D97-AF65-F5344CB8AC3E}">
        <p14:creationId xmlns:p14="http://schemas.microsoft.com/office/powerpoint/2010/main" val="3854747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B2CA0F3-E3E3-44EE-8A2D-BE3218AB365F}"/>
              </a:ext>
            </a:extLst>
          </p:cNvPr>
          <p:cNvSpPr/>
          <p:nvPr/>
        </p:nvSpPr>
        <p:spPr>
          <a:xfrm>
            <a:off x="609600" y="1092201"/>
            <a:ext cx="10058400" cy="5632311"/>
          </a:xfrm>
          <a:prstGeom prst="rect">
            <a:avLst/>
          </a:prstGeom>
        </p:spPr>
        <p:txBody>
          <a:bodyPr wrap="square">
            <a:spAutoFit/>
          </a:bodyPr>
          <a:lstStyle/>
          <a:p>
            <a:r>
              <a:rPr lang="en-IN" sz="2400" dirty="0">
                <a:solidFill>
                  <a:srgbClr val="813588"/>
                </a:solidFill>
                <a:latin typeface="Roboto"/>
              </a:rPr>
              <a:t>Symmetric and Skew Symmetric Matrices</a:t>
            </a:r>
          </a:p>
          <a:p>
            <a:pPr>
              <a:buFont typeface="Arial" panose="020B0604020202020204" pitchFamily="34" charset="0"/>
              <a:buChar char="•"/>
            </a:pPr>
            <a:r>
              <a:rPr lang="en-IN" sz="2400" b="1" dirty="0">
                <a:solidFill>
                  <a:srgbClr val="333333"/>
                </a:solidFill>
                <a:latin typeface="Roboto"/>
              </a:rPr>
              <a:t>Symmetric matrix:</a:t>
            </a:r>
            <a:r>
              <a:rPr lang="en-IN" sz="2400" dirty="0">
                <a:solidFill>
                  <a:srgbClr val="333333"/>
                </a:solidFill>
                <a:latin typeface="Roboto"/>
              </a:rPr>
              <a:t> A square matrix A = [</a:t>
            </a:r>
            <a:r>
              <a:rPr lang="en-IN" sz="2400" dirty="0" err="1">
                <a:solidFill>
                  <a:srgbClr val="333333"/>
                </a:solidFill>
                <a:latin typeface="Roboto"/>
              </a:rPr>
              <a:t>a</a:t>
            </a:r>
            <a:r>
              <a:rPr lang="en-IN" sz="2400" baseline="-25000" dirty="0" err="1">
                <a:solidFill>
                  <a:srgbClr val="333333"/>
                </a:solidFill>
                <a:latin typeface="Roboto"/>
              </a:rPr>
              <a:t>ij</a:t>
            </a:r>
            <a:r>
              <a:rPr lang="en-IN" sz="2400" dirty="0">
                <a:solidFill>
                  <a:srgbClr val="333333"/>
                </a:solidFill>
                <a:latin typeface="Roboto"/>
              </a:rPr>
              <a:t>] is called a </a:t>
            </a:r>
            <a:r>
              <a:rPr lang="en-IN" sz="2400" dirty="0">
                <a:solidFill>
                  <a:srgbClr val="73AD21"/>
                </a:solidFill>
                <a:latin typeface="Roboto"/>
              </a:rPr>
              <a:t>symmetric matrix</a:t>
            </a:r>
            <a:r>
              <a:rPr lang="en-IN" sz="2400" dirty="0">
                <a:solidFill>
                  <a:srgbClr val="333333"/>
                </a:solidFill>
                <a:latin typeface="Roboto"/>
              </a:rPr>
              <a:t> if </a:t>
            </a:r>
            <a:r>
              <a:rPr lang="en-IN" sz="2400" dirty="0" err="1">
                <a:solidFill>
                  <a:srgbClr val="333333"/>
                </a:solidFill>
                <a:latin typeface="Roboto"/>
              </a:rPr>
              <a:t>a</a:t>
            </a:r>
            <a:r>
              <a:rPr lang="en-IN" sz="2400" baseline="-25000" dirty="0" err="1">
                <a:solidFill>
                  <a:srgbClr val="333333"/>
                </a:solidFill>
                <a:latin typeface="Roboto"/>
              </a:rPr>
              <a:t>ij</a:t>
            </a:r>
            <a:r>
              <a:rPr lang="en-IN" sz="2400" dirty="0">
                <a:solidFill>
                  <a:srgbClr val="333333"/>
                </a:solidFill>
                <a:latin typeface="Roboto"/>
              </a:rPr>
              <a:t> = </a:t>
            </a:r>
            <a:r>
              <a:rPr lang="en-IN" sz="2400" dirty="0" err="1">
                <a:solidFill>
                  <a:srgbClr val="333333"/>
                </a:solidFill>
                <a:latin typeface="Roboto"/>
              </a:rPr>
              <a:t>a</a:t>
            </a:r>
            <a:r>
              <a:rPr lang="en-IN" sz="2400" baseline="-25000" dirty="0" err="1">
                <a:solidFill>
                  <a:srgbClr val="333333"/>
                </a:solidFill>
                <a:latin typeface="Roboto"/>
              </a:rPr>
              <a:t>ji</a:t>
            </a:r>
            <a:r>
              <a:rPr lang="en-IN" sz="2400" dirty="0">
                <a:solidFill>
                  <a:srgbClr val="333333"/>
                </a:solidFill>
                <a:latin typeface="Roboto"/>
              </a:rPr>
              <a:t>, for all </a:t>
            </a:r>
            <a:r>
              <a:rPr lang="en-IN" sz="2400" dirty="0" err="1">
                <a:solidFill>
                  <a:srgbClr val="333333"/>
                </a:solidFill>
                <a:latin typeface="Roboto"/>
              </a:rPr>
              <a:t>i,j</a:t>
            </a:r>
            <a:r>
              <a:rPr lang="en-IN" sz="2400" dirty="0">
                <a:solidFill>
                  <a:srgbClr val="333333"/>
                </a:solidFill>
                <a:latin typeface="Roboto"/>
              </a:rPr>
              <a:t> values;</a:t>
            </a:r>
          </a:p>
          <a:p>
            <a:pPr>
              <a:buFont typeface="Arial" panose="020B0604020202020204" pitchFamily="34" charset="0"/>
              <a:buChar char="•"/>
            </a:pPr>
            <a:endParaRPr lang="en-IN" sz="2400" dirty="0">
              <a:solidFill>
                <a:srgbClr val="333333"/>
              </a:solidFill>
              <a:latin typeface="Roboto"/>
            </a:endParaRPr>
          </a:p>
          <a:p>
            <a:r>
              <a:rPr lang="en-IN" sz="2400" dirty="0" err="1">
                <a:solidFill>
                  <a:srgbClr val="333333"/>
                </a:solidFill>
                <a:latin typeface="Roboto"/>
              </a:rPr>
              <a:t>Eg.</a:t>
            </a:r>
            <a:r>
              <a:rPr lang="en-IN" sz="2400" dirty="0">
                <a:solidFill>
                  <a:srgbClr val="333333"/>
                </a:solidFill>
                <a:latin typeface="Roboto"/>
              </a:rPr>
              <a:t> </a:t>
            </a:r>
            <a:r>
              <a:rPr lang="en-IN" sz="2400" dirty="0">
                <a:solidFill>
                  <a:srgbClr val="333333"/>
                </a:solidFill>
                <a:latin typeface="KaTeX_Main"/>
              </a:rPr>
              <a:t>A=                            </a:t>
            </a:r>
          </a:p>
          <a:p>
            <a:endParaRPr lang="en-IN" sz="2400" b="1" dirty="0">
              <a:solidFill>
                <a:srgbClr val="333333"/>
              </a:solidFill>
              <a:latin typeface="KaTeX_Main"/>
            </a:endParaRPr>
          </a:p>
          <a:p>
            <a:r>
              <a:rPr lang="en-IN" sz="2400" b="1" dirty="0">
                <a:solidFill>
                  <a:srgbClr val="333333"/>
                </a:solidFill>
                <a:latin typeface="Roboto"/>
              </a:rPr>
              <a:t>Note:</a:t>
            </a:r>
            <a:r>
              <a:rPr lang="en-IN" sz="2400" dirty="0">
                <a:solidFill>
                  <a:srgbClr val="333333"/>
                </a:solidFill>
                <a:latin typeface="Roboto"/>
              </a:rPr>
              <a:t> A is symmetric if A’ = A (where ‘A’ is the transpose of matrix)</a:t>
            </a:r>
          </a:p>
          <a:p>
            <a:pPr>
              <a:buFont typeface="Arial" panose="020B0604020202020204" pitchFamily="34" charset="0"/>
              <a:buChar char="•"/>
            </a:pPr>
            <a:r>
              <a:rPr lang="en-IN" sz="2400" b="1" dirty="0">
                <a:solidFill>
                  <a:srgbClr val="333333"/>
                </a:solidFill>
                <a:latin typeface="Roboto"/>
              </a:rPr>
              <a:t>Skew-Symmetric Matrix:</a:t>
            </a:r>
            <a:r>
              <a:rPr lang="en-IN" sz="2400" dirty="0">
                <a:solidFill>
                  <a:srgbClr val="333333"/>
                </a:solidFill>
                <a:latin typeface="Roboto"/>
              </a:rPr>
              <a:t> A square matrix A = [</a:t>
            </a:r>
            <a:r>
              <a:rPr lang="en-IN" sz="2400" dirty="0" err="1">
                <a:solidFill>
                  <a:srgbClr val="333333"/>
                </a:solidFill>
                <a:latin typeface="Roboto"/>
              </a:rPr>
              <a:t>a</a:t>
            </a:r>
            <a:r>
              <a:rPr lang="en-IN" sz="2400" baseline="-25000" dirty="0" err="1">
                <a:solidFill>
                  <a:srgbClr val="333333"/>
                </a:solidFill>
                <a:latin typeface="Roboto"/>
              </a:rPr>
              <a:t>ij</a:t>
            </a:r>
            <a:r>
              <a:rPr lang="en-IN" sz="2400" dirty="0">
                <a:solidFill>
                  <a:srgbClr val="333333"/>
                </a:solidFill>
                <a:latin typeface="Roboto"/>
              </a:rPr>
              <a:t>] is a skew-symmetric matrix if </a:t>
            </a:r>
            <a:r>
              <a:rPr lang="en-IN" sz="2400" dirty="0" err="1">
                <a:solidFill>
                  <a:srgbClr val="333333"/>
                </a:solidFill>
                <a:latin typeface="Roboto"/>
              </a:rPr>
              <a:t>a</a:t>
            </a:r>
            <a:r>
              <a:rPr lang="en-IN" sz="2400" baseline="-25000" dirty="0" err="1">
                <a:solidFill>
                  <a:srgbClr val="333333"/>
                </a:solidFill>
                <a:latin typeface="Roboto"/>
              </a:rPr>
              <a:t>ij</a:t>
            </a:r>
            <a:r>
              <a:rPr lang="en-IN" sz="2400" dirty="0">
                <a:solidFill>
                  <a:srgbClr val="333333"/>
                </a:solidFill>
                <a:latin typeface="Roboto"/>
              </a:rPr>
              <a:t> = </a:t>
            </a:r>
            <a:r>
              <a:rPr lang="en-IN" sz="2400" dirty="0" err="1">
                <a:solidFill>
                  <a:srgbClr val="333333"/>
                </a:solidFill>
                <a:latin typeface="Roboto"/>
              </a:rPr>
              <a:t>a</a:t>
            </a:r>
            <a:r>
              <a:rPr lang="en-IN" sz="2400" baseline="-25000" dirty="0" err="1">
                <a:solidFill>
                  <a:srgbClr val="333333"/>
                </a:solidFill>
                <a:latin typeface="Roboto"/>
              </a:rPr>
              <a:t>ji</a:t>
            </a:r>
            <a:r>
              <a:rPr lang="en-IN" sz="2400" dirty="0">
                <a:solidFill>
                  <a:srgbClr val="333333"/>
                </a:solidFill>
                <a:latin typeface="Roboto"/>
              </a:rPr>
              <a:t>, for all values of </a:t>
            </a:r>
            <a:r>
              <a:rPr lang="en-IN" sz="2400" dirty="0" err="1">
                <a:solidFill>
                  <a:srgbClr val="333333"/>
                </a:solidFill>
                <a:latin typeface="Roboto"/>
              </a:rPr>
              <a:t>i,j</a:t>
            </a:r>
            <a:r>
              <a:rPr lang="en-IN" sz="2400" dirty="0">
                <a:solidFill>
                  <a:srgbClr val="333333"/>
                </a:solidFill>
                <a:latin typeface="Roboto"/>
              </a:rPr>
              <a:t> and  </a:t>
            </a:r>
            <a:r>
              <a:rPr lang="en-IN" sz="2400" dirty="0" err="1">
                <a:solidFill>
                  <a:srgbClr val="333333"/>
                </a:solidFill>
                <a:latin typeface="Roboto"/>
              </a:rPr>
              <a:t>a</a:t>
            </a:r>
            <a:r>
              <a:rPr lang="en-IN" sz="2400" baseline="-25000" dirty="0" err="1">
                <a:solidFill>
                  <a:srgbClr val="333333"/>
                </a:solidFill>
                <a:latin typeface="Roboto"/>
              </a:rPr>
              <a:t>ii</a:t>
            </a:r>
            <a:r>
              <a:rPr lang="en-IN" sz="2400" dirty="0">
                <a:solidFill>
                  <a:srgbClr val="333333"/>
                </a:solidFill>
                <a:latin typeface="Roboto"/>
              </a:rPr>
              <a:t> = 0</a:t>
            </a:r>
          </a:p>
          <a:p>
            <a:r>
              <a:rPr lang="en-IN" sz="2400" dirty="0">
                <a:solidFill>
                  <a:srgbClr val="333333"/>
                </a:solidFill>
                <a:latin typeface="Roboto"/>
              </a:rPr>
              <a:t>Thus, in a skew-symmetric matrix all diagonal elements are zero; </a:t>
            </a:r>
          </a:p>
          <a:p>
            <a:endParaRPr lang="en-IN" sz="2400" dirty="0">
              <a:solidFill>
                <a:srgbClr val="333333"/>
              </a:solidFill>
              <a:latin typeface="Roboto"/>
            </a:endParaRPr>
          </a:p>
          <a:p>
            <a:r>
              <a:rPr lang="en-IN" sz="2400" dirty="0">
                <a:solidFill>
                  <a:srgbClr val="333333"/>
                </a:solidFill>
                <a:latin typeface="Roboto"/>
              </a:rPr>
              <a:t>E.g. </a:t>
            </a:r>
            <a:r>
              <a:rPr lang="en-IN" sz="2400" dirty="0">
                <a:solidFill>
                  <a:srgbClr val="333333"/>
                </a:solidFill>
                <a:latin typeface="KaTeX_Main"/>
              </a:rPr>
              <a:t>A = </a:t>
            </a:r>
          </a:p>
          <a:p>
            <a:endParaRPr lang="en-IN" sz="2400" dirty="0">
              <a:solidFill>
                <a:srgbClr val="333333"/>
              </a:solidFill>
              <a:latin typeface="KaTeX_Main"/>
            </a:endParaRPr>
          </a:p>
          <a:p>
            <a:endParaRPr lang="en-IN" sz="2400" dirty="0">
              <a:solidFill>
                <a:srgbClr val="333333"/>
              </a:solidFill>
              <a:latin typeface="KaTeX_Main"/>
            </a:endParaRPr>
          </a:p>
          <a:p>
            <a:r>
              <a:rPr lang="en-IN" sz="2400" dirty="0">
                <a:solidFill>
                  <a:srgbClr val="333333"/>
                </a:solidFill>
                <a:latin typeface="KaTeX_Main"/>
              </a:rPr>
              <a:t> </a:t>
            </a:r>
            <a:r>
              <a:rPr lang="en-IN" sz="2400" dirty="0">
                <a:solidFill>
                  <a:srgbClr val="333333"/>
                </a:solidFill>
                <a:latin typeface="Roboto"/>
              </a:rPr>
              <a:t>is skew-symmetric matrix.</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C530707D-B1C4-46C5-8AD1-F340AC8122D1}"/>
                  </a:ext>
                </a:extLst>
              </p:cNvPr>
              <p:cNvSpPr/>
              <p:nvPr/>
            </p:nvSpPr>
            <p:spPr>
              <a:xfrm>
                <a:off x="1727200" y="2348020"/>
                <a:ext cx="1871346" cy="1050224"/>
              </a:xfrm>
              <a:prstGeom prst="rect">
                <a:avLst/>
              </a:prstGeom>
            </p:spPr>
            <p:txBody>
              <a:bodyPr wrap="none">
                <a:spAutoFit/>
              </a:bodyPr>
              <a:lstStyle/>
              <a:p>
                <a14:m>
                  <m:oMath xmlns:m="http://schemas.openxmlformats.org/officeDocument/2006/math">
                    <m:d>
                      <m:dPr>
                        <m:begChr m:val="["/>
                        <m:endChr m:val="]"/>
                        <m:ctrlPr>
                          <a:rPr lang="en-US" sz="2400" i="1">
                            <a:solidFill>
                              <a:srgbClr val="333333"/>
                            </a:solidFill>
                            <a:latin typeface="Cambria Math" panose="02040503050406030204" pitchFamily="18" charset="0"/>
                          </a:rPr>
                        </m:ctrlPr>
                      </m:dPr>
                      <m:e>
                        <m:m>
                          <m:mPr>
                            <m:mcs>
                              <m:mc>
                                <m:mcPr>
                                  <m:count m:val="2"/>
                                  <m:mcJc m:val="center"/>
                                </m:mcPr>
                              </m:mc>
                            </m:mcs>
                            <m:ctrlPr>
                              <a:rPr lang="en-US"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7</m:t>
                              </m:r>
                            </m:e>
                            <m:e>
                              <m:r>
                                <a:rPr lang="en-IN" sz="2400" i="1">
                                  <a:solidFill>
                                    <a:srgbClr val="333333"/>
                                  </a:solidFill>
                                  <a:latin typeface="Cambria Math" panose="02040503050406030204" pitchFamily="18" charset="0"/>
                                </a:rPr>
                                <m:t>2       3</m:t>
                              </m:r>
                            </m:e>
                          </m:mr>
                          <m:mr>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2</m:t>
                                  </m:r>
                                </m:e>
                                <m:e>
                                  <m:r>
                                    <a:rPr lang="en-IN" sz="2400" i="1">
                                      <a:solidFill>
                                        <a:srgbClr val="333333"/>
                                      </a:solidFill>
                                      <a:latin typeface="Cambria Math" panose="02040503050406030204" pitchFamily="18" charset="0"/>
                                    </a:rPr>
                                    <m:t>3</m:t>
                                  </m:r>
                                </m:e>
                              </m:eqArr>
                              <m:r>
                                <a:rPr lang="en-IN" sz="2400" i="1">
                                  <a:solidFill>
                                    <a:srgbClr val="333333"/>
                                  </a:solidFill>
                                  <a:latin typeface="Cambria Math" panose="02040503050406030204" pitchFamily="18" charset="0"/>
                                </a:rPr>
                                <m:t> </m:t>
                              </m:r>
                            </m:e>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4       5</m:t>
                                  </m:r>
                                </m:e>
                                <m:e>
                                  <m:r>
                                    <a:rPr lang="en-IN" sz="2400" i="1">
                                      <a:solidFill>
                                        <a:srgbClr val="333333"/>
                                      </a:solidFill>
                                      <a:latin typeface="Cambria Math" panose="02040503050406030204" pitchFamily="18" charset="0"/>
                                    </a:rPr>
                                    <m:t>5       1</m:t>
                                  </m:r>
                                </m:e>
                              </m:eqArr>
                            </m:e>
                          </m:mr>
                        </m:m>
                      </m:e>
                    </m:d>
                  </m:oMath>
                </a14:m>
                <a:r>
                  <a:rPr lang="en-IN" sz="2400" dirty="0"/>
                  <a:t> </a:t>
                </a:r>
              </a:p>
            </p:txBody>
          </p:sp>
        </mc:Choice>
        <mc:Fallback xmlns="">
          <p:sp>
            <p:nvSpPr>
              <p:cNvPr id="3" name="Rectangle 2">
                <a:extLst>
                  <a:ext uri="{FF2B5EF4-FFF2-40B4-BE49-F238E27FC236}">
                    <a16:creationId xmlns:a16="http://schemas.microsoft.com/office/drawing/2014/main" id="{C530707D-B1C4-46C5-8AD1-F340AC8122D1}"/>
                  </a:ext>
                </a:extLst>
              </p:cNvPr>
              <p:cNvSpPr>
                <a:spLocks noRot="1" noChangeAspect="1" noMove="1" noResize="1" noEditPoints="1" noAdjustHandles="1" noChangeArrowheads="1" noChangeShapeType="1" noTextEdit="1"/>
              </p:cNvSpPr>
              <p:nvPr/>
            </p:nvSpPr>
            <p:spPr>
              <a:xfrm>
                <a:off x="1727200" y="2348020"/>
                <a:ext cx="1871346" cy="1050224"/>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7402990D-1AAF-47D3-BE11-4192A1888805}"/>
                  </a:ext>
                </a:extLst>
              </p:cNvPr>
              <p:cNvSpPr/>
              <p:nvPr/>
            </p:nvSpPr>
            <p:spPr>
              <a:xfrm>
                <a:off x="2032000" y="4851400"/>
                <a:ext cx="1871346" cy="1050224"/>
              </a:xfrm>
              <a:prstGeom prst="rect">
                <a:avLst/>
              </a:prstGeom>
            </p:spPr>
            <p:txBody>
              <a:bodyPr wrap="none">
                <a:spAutoFit/>
              </a:bodyPr>
              <a:lstStyle/>
              <a:p>
                <a14:m>
                  <m:oMath xmlns:m="http://schemas.openxmlformats.org/officeDocument/2006/math">
                    <m:d>
                      <m:dPr>
                        <m:begChr m:val="["/>
                        <m:endChr m:val="]"/>
                        <m:ctrlPr>
                          <a:rPr lang="en-US" sz="2400" i="1">
                            <a:solidFill>
                              <a:srgbClr val="333333"/>
                            </a:solidFill>
                            <a:latin typeface="Cambria Math" panose="02040503050406030204" pitchFamily="18" charset="0"/>
                          </a:rPr>
                        </m:ctrlPr>
                      </m:dPr>
                      <m:e>
                        <m:m>
                          <m:mPr>
                            <m:mcs>
                              <m:mc>
                                <m:mcPr>
                                  <m:count m:val="2"/>
                                  <m:mcJc m:val="center"/>
                                </m:mcPr>
                              </m:mc>
                            </m:mcs>
                            <m:ctrlPr>
                              <a:rPr lang="en-US" sz="2400" i="1">
                                <a:solidFill>
                                  <a:srgbClr val="333333"/>
                                </a:solidFill>
                                <a:latin typeface="Cambria Math" panose="02040503050406030204" pitchFamily="18" charset="0"/>
                              </a:rPr>
                            </m:ctrlPr>
                          </m:mPr>
                          <m:mr>
                            <m:e>
                              <m:r>
                                <m:rPr>
                                  <m:brk m:alnAt="7"/>
                                </m:rPr>
                                <a:rPr lang="en-IN" sz="2400" i="1">
                                  <a:solidFill>
                                    <a:srgbClr val="333333"/>
                                  </a:solidFill>
                                  <a:latin typeface="Cambria Math" panose="02040503050406030204" pitchFamily="18" charset="0"/>
                                </a:rPr>
                                <m:t>0</m:t>
                              </m:r>
                            </m:e>
                            <m:e>
                              <m:r>
                                <a:rPr lang="en-IN" sz="2400" i="1">
                                  <a:solidFill>
                                    <a:srgbClr val="333333"/>
                                  </a:solidFill>
                                  <a:latin typeface="Cambria Math" panose="02040503050406030204" pitchFamily="18" charset="0"/>
                                </a:rPr>
                                <m:t>2       3</m:t>
                              </m:r>
                            </m:e>
                          </m:mr>
                          <m:mr>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2</m:t>
                                  </m:r>
                                </m:e>
                                <m:e>
                                  <m:r>
                                    <a:rPr lang="en-IN" sz="2400" i="1">
                                      <a:solidFill>
                                        <a:srgbClr val="333333"/>
                                      </a:solidFill>
                                      <a:latin typeface="Cambria Math" panose="02040503050406030204" pitchFamily="18" charset="0"/>
                                    </a:rPr>
                                    <m:t>3</m:t>
                                  </m:r>
                                </m:e>
                              </m:eqArr>
                              <m:r>
                                <a:rPr lang="en-IN" sz="2400" i="1">
                                  <a:solidFill>
                                    <a:srgbClr val="333333"/>
                                  </a:solidFill>
                                  <a:latin typeface="Cambria Math" panose="02040503050406030204" pitchFamily="18" charset="0"/>
                                </a:rPr>
                                <m:t> </m:t>
                              </m:r>
                            </m:e>
                            <m:e>
                              <m:eqArr>
                                <m:eqArrPr>
                                  <m:ctrlPr>
                                    <a:rPr lang="en-IN" sz="2400" i="1">
                                      <a:solidFill>
                                        <a:srgbClr val="333333"/>
                                      </a:solidFill>
                                      <a:latin typeface="Cambria Math" panose="02040503050406030204" pitchFamily="18" charset="0"/>
                                    </a:rPr>
                                  </m:ctrlPr>
                                </m:eqArrPr>
                                <m:e>
                                  <m:r>
                                    <a:rPr lang="en-IN" sz="2400" i="1">
                                      <a:solidFill>
                                        <a:srgbClr val="333333"/>
                                      </a:solidFill>
                                      <a:latin typeface="Cambria Math" panose="02040503050406030204" pitchFamily="18" charset="0"/>
                                    </a:rPr>
                                    <m:t>0       5</m:t>
                                  </m:r>
                                </m:e>
                                <m:e>
                                  <m:r>
                                    <a:rPr lang="en-IN" sz="2400" i="1">
                                      <a:solidFill>
                                        <a:srgbClr val="333333"/>
                                      </a:solidFill>
                                      <a:latin typeface="Cambria Math" panose="02040503050406030204" pitchFamily="18" charset="0"/>
                                    </a:rPr>
                                    <m:t>5       0</m:t>
                                  </m:r>
                                </m:e>
                              </m:eqArr>
                            </m:e>
                          </m:mr>
                        </m:m>
                      </m:e>
                    </m:d>
                  </m:oMath>
                </a14:m>
                <a:r>
                  <a:rPr lang="en-IN" sz="2400" dirty="0"/>
                  <a:t> </a:t>
                </a:r>
              </a:p>
            </p:txBody>
          </p:sp>
        </mc:Choice>
        <mc:Fallback xmlns="">
          <p:sp>
            <p:nvSpPr>
              <p:cNvPr id="4" name="Rectangle 3">
                <a:extLst>
                  <a:ext uri="{FF2B5EF4-FFF2-40B4-BE49-F238E27FC236}">
                    <a16:creationId xmlns:a16="http://schemas.microsoft.com/office/drawing/2014/main" id="{7402990D-1AAF-47D3-BE11-4192A1888805}"/>
                  </a:ext>
                </a:extLst>
              </p:cNvPr>
              <p:cNvSpPr>
                <a:spLocks noRot="1" noChangeAspect="1" noMove="1" noResize="1" noEditPoints="1" noAdjustHandles="1" noChangeArrowheads="1" noChangeShapeType="1" noTextEdit="1"/>
              </p:cNvSpPr>
              <p:nvPr/>
            </p:nvSpPr>
            <p:spPr>
              <a:xfrm>
                <a:off x="2032000" y="4851400"/>
                <a:ext cx="1871346" cy="1050224"/>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289588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812800" y="1905000"/>
            <a:ext cx="9652000" cy="304698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If |A| = 0 then A is</a:t>
            </a: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Zero matrix</a:t>
            </a:r>
          </a:p>
          <a:p>
            <a:r>
              <a:rPr lang="en-US" sz="2400" dirty="0">
                <a:latin typeface="Century Gothic" panose="020B0502020202020204" pitchFamily="34" charset="0"/>
                <a:cs typeface="Arial" panose="020B0604020202020204" pitchFamily="34" charset="0"/>
              </a:rPr>
              <a:t>(ii) Singular matrix</a:t>
            </a:r>
          </a:p>
          <a:p>
            <a:r>
              <a:rPr lang="en-US" sz="2400" dirty="0">
                <a:latin typeface="Century Gothic" panose="020B0502020202020204" pitchFamily="34" charset="0"/>
                <a:cs typeface="Arial" panose="020B0604020202020204" pitchFamily="34" charset="0"/>
              </a:rPr>
              <a:t>(iii) Non singular matric</a:t>
            </a:r>
          </a:p>
          <a:p>
            <a:r>
              <a:rPr lang="en-US" sz="2400" dirty="0">
                <a:latin typeface="Century Gothic" panose="020B0502020202020204" pitchFamily="34" charset="0"/>
                <a:cs typeface="Arial" panose="020B0604020202020204" pitchFamily="34" charset="0"/>
              </a:rPr>
              <a:t>(iv) </a:t>
            </a:r>
            <a:r>
              <a:rPr lang="en-IN" sz="2400" dirty="0">
                <a:latin typeface="Century Gothic" panose="020B0502020202020204" pitchFamily="34" charset="0"/>
                <a:cs typeface="Arial" panose="020B0604020202020204" pitchFamily="34" charset="0"/>
              </a:rPr>
              <a:t>Symmetric matrix</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a:t>
            </a: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1</a:t>
            </a:r>
          </a:p>
        </p:txBody>
      </p:sp>
    </p:spTree>
    <p:extLst>
      <p:ext uri="{BB962C8B-B14F-4D97-AF65-F5344CB8AC3E}">
        <p14:creationId xmlns:p14="http://schemas.microsoft.com/office/powerpoint/2010/main" val="19448817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Effect transition="in" filter="fade">
                                      <p:cBhvr>
                                        <p:cTn id="7" dur="1000"/>
                                        <p:tgtEl>
                                          <p:spTgt spid="4">
                                            <p:txEl>
                                              <p:pRg st="6" end="6"/>
                                            </p:txEl>
                                          </p:spTgt>
                                        </p:tgtEl>
                                      </p:cBhvr>
                                    </p:animEffect>
                                    <p:anim calcmode="lin" valueType="num">
                                      <p:cBhvr>
                                        <p:cTn id="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727200" y="2074783"/>
            <a:ext cx="10046237" cy="3046988"/>
          </a:xfrm>
          <a:prstGeom prst="rect">
            <a:avLst/>
          </a:prstGeom>
          <a:noFill/>
        </p:spPr>
        <p:txBody>
          <a:bodyPr wrap="square" rtlCol="0">
            <a:spAutoFit/>
          </a:bodyPr>
          <a:lstStyle/>
          <a:p>
            <a:r>
              <a:rPr lang="en-US" sz="2400" dirty="0" err="1">
                <a:latin typeface="Century Gothic" panose="020B0502020202020204" pitchFamily="34" charset="0"/>
                <a:cs typeface="Arial" panose="020B0604020202020204" pitchFamily="34" charset="0"/>
              </a:rPr>
              <a:t>Horizantally</a:t>
            </a:r>
            <a:r>
              <a:rPr lang="en-US" sz="2400" dirty="0">
                <a:latin typeface="Century Gothic" panose="020B0502020202020204" pitchFamily="34" charset="0"/>
                <a:cs typeface="Arial" panose="020B0604020202020204" pitchFamily="34" charset="0"/>
              </a:rPr>
              <a:t> arranged elements in a matrix is called:</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columns</a:t>
            </a:r>
          </a:p>
          <a:p>
            <a:r>
              <a:rPr lang="en-US" sz="2400" dirty="0">
                <a:latin typeface="Century Gothic" panose="020B0502020202020204" pitchFamily="34" charset="0"/>
                <a:cs typeface="Arial" panose="020B0604020202020204" pitchFamily="34" charset="0"/>
              </a:rPr>
              <a:t>(ii) rows</a:t>
            </a:r>
          </a:p>
          <a:p>
            <a:r>
              <a:rPr lang="en-US" sz="2400" dirty="0">
                <a:latin typeface="Century Gothic" panose="020B0502020202020204" pitchFamily="34" charset="0"/>
                <a:cs typeface="Arial" panose="020B0604020202020204" pitchFamily="34" charset="0"/>
              </a:rPr>
              <a:t>(iii) determinants</a:t>
            </a:r>
          </a:p>
          <a:p>
            <a:r>
              <a:rPr lang="en-US" sz="2400" dirty="0">
                <a:latin typeface="Century Gothic" panose="020B0502020202020204" pitchFamily="34" charset="0"/>
                <a:cs typeface="Arial" panose="020B0604020202020204" pitchFamily="34" charset="0"/>
              </a:rPr>
              <a:t>(iv) transpose</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iii</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2</a:t>
            </a:r>
          </a:p>
        </p:txBody>
      </p:sp>
    </p:spTree>
    <p:extLst>
      <p:ext uri="{BB962C8B-B14F-4D97-AF65-F5344CB8AC3E}">
        <p14:creationId xmlns:p14="http://schemas.microsoft.com/office/powerpoint/2010/main" val="6567709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016001" y="1890118"/>
            <a:ext cx="10159999" cy="304698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A matrix having m rows and n columns with m ≠ n is called</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Rectangular matrix</a:t>
            </a:r>
          </a:p>
          <a:p>
            <a:r>
              <a:rPr lang="en-US" sz="2400" dirty="0">
                <a:latin typeface="Century Gothic" panose="020B0502020202020204" pitchFamily="34" charset="0"/>
                <a:cs typeface="Arial" panose="020B0604020202020204" pitchFamily="34" charset="0"/>
              </a:rPr>
              <a:t>(ii) Square matrix</a:t>
            </a:r>
          </a:p>
          <a:p>
            <a:r>
              <a:rPr lang="en-US" sz="2400" dirty="0">
                <a:latin typeface="Century Gothic" panose="020B0502020202020204" pitchFamily="34" charset="0"/>
                <a:cs typeface="Arial" panose="020B0604020202020204" pitchFamily="34" charset="0"/>
              </a:rPr>
              <a:t>(iii) Identity matrix</a:t>
            </a:r>
          </a:p>
          <a:p>
            <a:r>
              <a:rPr lang="en-US" sz="2400" dirty="0">
                <a:latin typeface="Century Gothic" panose="020B0502020202020204" pitchFamily="34" charset="0"/>
                <a:cs typeface="Arial" panose="020B0604020202020204" pitchFamily="34" charset="0"/>
              </a:rPr>
              <a:t>(iv) Scalar matrix</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3</a:t>
            </a:r>
          </a:p>
        </p:txBody>
      </p:sp>
    </p:spTree>
    <p:extLst>
      <p:ext uri="{BB962C8B-B14F-4D97-AF65-F5344CB8AC3E}">
        <p14:creationId xmlns:p14="http://schemas.microsoft.com/office/powerpoint/2010/main" val="10626108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812800" y="889000"/>
            <a:ext cx="10566400" cy="3785652"/>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A square matrix in which all the elements except at least one diagonal element are zero is called</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Scalar matrix</a:t>
            </a:r>
          </a:p>
          <a:p>
            <a:r>
              <a:rPr lang="en-US" sz="2400" dirty="0">
                <a:latin typeface="Century Gothic" panose="020B0502020202020204" pitchFamily="34" charset="0"/>
                <a:cs typeface="Arial" panose="020B0604020202020204" pitchFamily="34" charset="0"/>
              </a:rPr>
              <a:t>(ii) Symmetric matrix</a:t>
            </a:r>
          </a:p>
          <a:p>
            <a:r>
              <a:rPr lang="en-US" sz="2400" dirty="0">
                <a:latin typeface="Century Gothic" panose="020B0502020202020204" pitchFamily="34" charset="0"/>
                <a:cs typeface="Arial" panose="020B0604020202020204" pitchFamily="34" charset="0"/>
              </a:rPr>
              <a:t>(iii) Diagonal matric</a:t>
            </a:r>
          </a:p>
          <a:p>
            <a:r>
              <a:rPr lang="en-US" sz="2400" dirty="0">
                <a:latin typeface="Century Gothic" panose="020B0502020202020204" pitchFamily="34" charset="0"/>
                <a:cs typeface="Arial" panose="020B0604020202020204" pitchFamily="34" charset="0"/>
              </a:rPr>
              <a:t>(iv) Column matrix</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iii</a:t>
            </a: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4</a:t>
            </a:r>
          </a:p>
        </p:txBody>
      </p:sp>
    </p:spTree>
    <p:extLst>
      <p:ext uri="{BB962C8B-B14F-4D97-AF65-F5344CB8AC3E}">
        <p14:creationId xmlns:p14="http://schemas.microsoft.com/office/powerpoint/2010/main" val="34914302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660400" y="1701800"/>
            <a:ext cx="10871200" cy="3416320"/>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If All diagonal elements of a square matrix are 1 and rest are 0 then it is called</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Zero matrix</a:t>
            </a:r>
          </a:p>
          <a:p>
            <a:r>
              <a:rPr lang="en-US" sz="2400" dirty="0">
                <a:latin typeface="Century Gothic" panose="020B0502020202020204" pitchFamily="34" charset="0"/>
                <a:cs typeface="Arial" panose="020B0604020202020204" pitchFamily="34" charset="0"/>
              </a:rPr>
              <a:t>(ii) Identity matrix</a:t>
            </a:r>
          </a:p>
          <a:p>
            <a:r>
              <a:rPr lang="en-US" sz="2400" dirty="0">
                <a:latin typeface="Century Gothic" panose="020B0502020202020204" pitchFamily="34" charset="0"/>
                <a:cs typeface="Arial" panose="020B0604020202020204" pitchFamily="34" charset="0"/>
              </a:rPr>
              <a:t>(iii) Singular matrix</a:t>
            </a:r>
          </a:p>
          <a:p>
            <a:r>
              <a:rPr lang="en-US" sz="2400" dirty="0">
                <a:latin typeface="Century Gothic" panose="020B0502020202020204" pitchFamily="34" charset="0"/>
                <a:cs typeface="Arial" panose="020B0604020202020204" pitchFamily="34" charset="0"/>
              </a:rPr>
              <a:t>(iv) None of these</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5</a:t>
            </a:r>
          </a:p>
        </p:txBody>
      </p:sp>
    </p:spTree>
    <p:extLst>
      <p:ext uri="{BB962C8B-B14F-4D97-AF65-F5344CB8AC3E}">
        <p14:creationId xmlns:p14="http://schemas.microsoft.com/office/powerpoint/2010/main" val="37160844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6095236-62A1-4D4D-87EF-F2D71743BBD5}"/>
              </a:ext>
            </a:extLst>
          </p:cNvPr>
          <p:cNvSpPr/>
          <p:nvPr/>
        </p:nvSpPr>
        <p:spPr>
          <a:xfrm>
            <a:off x="1320800" y="1701800"/>
            <a:ext cx="10363200" cy="3416320"/>
          </a:xfrm>
          <a:prstGeom prst="rect">
            <a:avLst/>
          </a:prstGeom>
        </p:spPr>
        <p:txBody>
          <a:bodyPr wrap="square">
            <a:spAutoFit/>
          </a:bodyPr>
          <a:lstStyle/>
          <a:p>
            <a:r>
              <a:rPr lang="en-US" sz="2400" dirty="0">
                <a:solidFill>
                  <a:srgbClr val="333333"/>
                </a:solidFill>
                <a:latin typeface="Roboto"/>
              </a:rPr>
              <a:t>Addition, subtraction and multiplication are the basic operations on the matrix. To add or subtract matrices, these must be of identical order and for multiplication, the number of columns in the first matrix equals the number of rows in the second matrix.</a:t>
            </a:r>
          </a:p>
          <a:p>
            <a:endParaRPr lang="en-US" sz="2400" dirty="0">
              <a:solidFill>
                <a:srgbClr val="333333"/>
              </a:solidFill>
              <a:latin typeface="Roboto"/>
            </a:endParaRPr>
          </a:p>
          <a:p>
            <a:pPr>
              <a:buFont typeface="Arial" panose="020B0604020202020204" pitchFamily="34" charset="0"/>
              <a:buChar char="•"/>
            </a:pPr>
            <a:r>
              <a:rPr lang="en-US" sz="2400" dirty="0">
                <a:solidFill>
                  <a:srgbClr val="333333"/>
                </a:solidFill>
                <a:latin typeface="Roboto"/>
              </a:rPr>
              <a:t>Addition of Matrices</a:t>
            </a:r>
          </a:p>
          <a:p>
            <a:pPr>
              <a:buFont typeface="Arial" panose="020B0604020202020204" pitchFamily="34" charset="0"/>
              <a:buChar char="•"/>
            </a:pPr>
            <a:r>
              <a:rPr lang="en-US" sz="2400" dirty="0">
                <a:solidFill>
                  <a:srgbClr val="333333"/>
                </a:solidFill>
                <a:latin typeface="Roboto"/>
              </a:rPr>
              <a:t>Subtraction of Matrices</a:t>
            </a:r>
          </a:p>
          <a:p>
            <a:pPr>
              <a:buFont typeface="Arial" panose="020B0604020202020204" pitchFamily="34" charset="0"/>
              <a:buChar char="•"/>
            </a:pPr>
            <a:r>
              <a:rPr lang="en-US" sz="2400" dirty="0">
                <a:solidFill>
                  <a:srgbClr val="333333"/>
                </a:solidFill>
                <a:latin typeface="Roboto"/>
              </a:rPr>
              <a:t>Scalar Multiplication of Matrices</a:t>
            </a:r>
          </a:p>
          <a:p>
            <a:pPr>
              <a:buFont typeface="Arial" panose="020B0604020202020204" pitchFamily="34" charset="0"/>
              <a:buChar char="•"/>
            </a:pPr>
            <a:r>
              <a:rPr lang="en-US" sz="2400" dirty="0">
                <a:solidFill>
                  <a:srgbClr val="333333"/>
                </a:solidFill>
                <a:latin typeface="Roboto"/>
              </a:rPr>
              <a:t>Multiplication of Matrices</a:t>
            </a:r>
          </a:p>
        </p:txBody>
      </p:sp>
      <p:sp>
        <p:nvSpPr>
          <p:cNvPr id="3" name="Rectangle 2">
            <a:extLst>
              <a:ext uri="{FF2B5EF4-FFF2-40B4-BE49-F238E27FC236}">
                <a16:creationId xmlns:a16="http://schemas.microsoft.com/office/drawing/2014/main" id="{F0BB3A22-6EA7-4AFC-9ADC-796614A84666}"/>
              </a:ext>
            </a:extLst>
          </p:cNvPr>
          <p:cNvSpPr/>
          <p:nvPr/>
        </p:nvSpPr>
        <p:spPr>
          <a:xfrm>
            <a:off x="3044850" y="381001"/>
            <a:ext cx="3655168" cy="461665"/>
          </a:xfrm>
          <a:prstGeom prst="rect">
            <a:avLst/>
          </a:prstGeom>
        </p:spPr>
        <p:txBody>
          <a:bodyPr wrap="none">
            <a:spAutoFit/>
          </a:bodyPr>
          <a:lstStyle/>
          <a:p>
            <a:pPr algn="ctr"/>
            <a:r>
              <a:rPr lang="en-US" altLang="en-US" sz="2400" b="1" dirty="0">
                <a:solidFill>
                  <a:srgbClr val="FF0000"/>
                </a:solidFill>
                <a:latin typeface="Lucida Sans Unicode" panose="020B0602030504020204" pitchFamily="34" charset="0"/>
                <a:cs typeface="Lucida Sans Unicode" panose="020B0602030504020204" pitchFamily="34" charset="0"/>
              </a:rPr>
              <a:t>Operations on Matrices</a:t>
            </a:r>
          </a:p>
        </p:txBody>
      </p:sp>
    </p:spTree>
    <p:extLst>
      <p:ext uri="{BB962C8B-B14F-4D97-AF65-F5344CB8AC3E}">
        <p14:creationId xmlns:p14="http://schemas.microsoft.com/office/powerpoint/2010/main" val="1785930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C9A3B1-2596-4CA6-B7F5-2894EA663992}"/>
              </a:ext>
            </a:extLst>
          </p:cNvPr>
          <p:cNvSpPr>
            <a:spLocks noChangeArrowheads="1"/>
          </p:cNvSpPr>
          <p:nvPr/>
        </p:nvSpPr>
        <p:spPr bwMode="auto">
          <a:xfrm>
            <a:off x="914400" y="1420865"/>
            <a:ext cx="8276112" cy="137467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9170"/>
            <a:r>
              <a:rPr lang="en-US" altLang="en-US" sz="2133" dirty="0">
                <a:latin typeface="Minion Pro"/>
              </a:rPr>
              <a:t>Matrix addition is the operation of adding two or matrices by adding the</a:t>
            </a:r>
          </a:p>
          <a:p>
            <a:pPr defTabSz="1219170"/>
            <a:r>
              <a:rPr lang="en-US" altLang="en-US" sz="2133" dirty="0">
                <a:latin typeface="Minion Pro"/>
              </a:rPr>
              <a:t> corresponding entry of each </a:t>
            </a:r>
            <a:r>
              <a:rPr lang="en-US" altLang="en-US" sz="2133" dirty="0">
                <a:solidFill>
                  <a:srgbClr val="55BBEA"/>
                </a:solidFill>
                <a:latin typeface="Minion Pro"/>
              </a:rPr>
              <a:t>matrix</a:t>
            </a:r>
            <a:r>
              <a:rPr lang="en-US" altLang="en-US" sz="2133" dirty="0">
                <a:latin typeface="Minion Pro"/>
              </a:rPr>
              <a:t> together.</a:t>
            </a:r>
            <a:endParaRPr lang="en-US" altLang="en-US" sz="800" dirty="0"/>
          </a:p>
          <a:p>
            <a:pPr defTabSz="1219170"/>
            <a:r>
              <a:rPr lang="en-US" altLang="en-US" sz="1733" dirty="0">
                <a:solidFill>
                  <a:srgbClr val="0B0B0B"/>
                </a:solidFill>
                <a:latin typeface="Open Sans"/>
              </a:rPr>
              <a:t>  </a:t>
            </a:r>
            <a:r>
              <a:rPr lang="en-US" altLang="en-US" sz="3867" dirty="0">
                <a:solidFill>
                  <a:srgbClr val="0B0B0B"/>
                </a:solidFill>
                <a:latin typeface="Open Sans"/>
              </a:rPr>
              <a:t>                                   </a:t>
            </a:r>
            <a:endParaRPr lang="en-US" altLang="en-US" sz="2400" dirty="0"/>
          </a:p>
        </p:txBody>
      </p:sp>
      <p:pic>
        <p:nvPicPr>
          <p:cNvPr id="27650" name="Picture 2" descr="Addition of Matrices ">
            <a:extLst>
              <a:ext uri="{FF2B5EF4-FFF2-40B4-BE49-F238E27FC236}">
                <a16:creationId xmlns:a16="http://schemas.microsoft.com/office/drawing/2014/main" id="{937092B6-0603-47C7-B282-2C8BC14D82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5639" y="2688334"/>
            <a:ext cx="4673600" cy="6223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25B1832-292B-4D84-B1AC-AC8A5C5FAA35}"/>
              </a:ext>
            </a:extLst>
          </p:cNvPr>
          <p:cNvSpPr/>
          <p:nvPr/>
        </p:nvSpPr>
        <p:spPr>
          <a:xfrm>
            <a:off x="914400" y="4241800"/>
            <a:ext cx="10058400" cy="1569660"/>
          </a:xfrm>
          <a:prstGeom prst="rect">
            <a:avLst/>
          </a:prstGeom>
        </p:spPr>
        <p:txBody>
          <a:bodyPr wrap="square">
            <a:spAutoFit/>
          </a:bodyPr>
          <a:lstStyle/>
          <a:p>
            <a:r>
              <a:rPr lang="en-US" sz="2400" dirty="0">
                <a:solidFill>
                  <a:srgbClr val="0B0B0B"/>
                </a:solidFill>
                <a:latin typeface="Open Sans"/>
              </a:rPr>
              <a:t>The most important rule to know is that when adding two or more matrices, first make sure the matrices have the same dimensions. In order words, you can add a 2 x 3 with a 2 x 3 or a 2 x 2 with a 2 x 2. However, you cannot add a 3 x 2 with a 2 x 3 or a 2 x 2 with a 3 x 3.</a:t>
            </a:r>
            <a:endParaRPr lang="en-IN" sz="2400" dirty="0"/>
          </a:p>
        </p:txBody>
      </p:sp>
      <p:sp>
        <p:nvSpPr>
          <p:cNvPr id="6" name="Rectangle 5">
            <a:extLst>
              <a:ext uri="{FF2B5EF4-FFF2-40B4-BE49-F238E27FC236}">
                <a16:creationId xmlns:a16="http://schemas.microsoft.com/office/drawing/2014/main" id="{4DB09ECF-F13F-4E40-8AA2-E3348CC22B3F}"/>
              </a:ext>
            </a:extLst>
          </p:cNvPr>
          <p:cNvSpPr/>
          <p:nvPr/>
        </p:nvSpPr>
        <p:spPr>
          <a:xfrm>
            <a:off x="2414075" y="381001"/>
            <a:ext cx="4916731" cy="461665"/>
          </a:xfrm>
          <a:prstGeom prst="rect">
            <a:avLst/>
          </a:prstGeom>
        </p:spPr>
        <p:txBody>
          <a:bodyPr wrap="none">
            <a:spAutoFit/>
          </a:bodyPr>
          <a:lstStyle/>
          <a:p>
            <a:pPr algn="ctr"/>
            <a:r>
              <a:rPr lang="en-US" altLang="en-US" sz="2400" b="1" dirty="0">
                <a:solidFill>
                  <a:srgbClr val="FF0000"/>
                </a:solidFill>
                <a:latin typeface="Lucida Sans Unicode" panose="020B0602030504020204" pitchFamily="34" charset="0"/>
                <a:cs typeface="Lucida Sans Unicode" panose="020B0602030504020204" pitchFamily="34" charset="0"/>
              </a:rPr>
              <a:t>Matrix addition and subtraction</a:t>
            </a:r>
          </a:p>
        </p:txBody>
      </p:sp>
    </p:spTree>
    <p:extLst>
      <p:ext uri="{BB962C8B-B14F-4D97-AF65-F5344CB8AC3E}">
        <p14:creationId xmlns:p14="http://schemas.microsoft.com/office/powerpoint/2010/main" val="4065314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a:extLst>
              <a:ext uri="{FF2B5EF4-FFF2-40B4-BE49-F238E27FC236}">
                <a16:creationId xmlns:a16="http://schemas.microsoft.com/office/drawing/2014/main" id="{3D7686C5-B58D-47E9-9666-27392C3A43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5200" y="1397001"/>
            <a:ext cx="6051549" cy="31424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542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25FF2A-2B92-46A9-88AC-346BEA5EF236}"/>
              </a:ext>
            </a:extLst>
          </p:cNvPr>
          <p:cNvSpPr/>
          <p:nvPr/>
        </p:nvSpPr>
        <p:spPr>
          <a:xfrm>
            <a:off x="1320800" y="1295401"/>
            <a:ext cx="9042400" cy="830997"/>
          </a:xfrm>
          <a:prstGeom prst="rect">
            <a:avLst/>
          </a:prstGeom>
        </p:spPr>
        <p:txBody>
          <a:bodyPr wrap="square">
            <a:spAutoFit/>
          </a:bodyPr>
          <a:lstStyle/>
          <a:p>
            <a:r>
              <a:rPr lang="en-US" sz="2400" dirty="0">
                <a:latin typeface="Minion Pro"/>
              </a:rPr>
              <a:t>Scalar Matrix Multiplication, in which a single real number is multiplied with every other element of the matrix </a:t>
            </a:r>
            <a:endParaRPr lang="en-IN" sz="2400" dirty="0"/>
          </a:p>
        </p:txBody>
      </p:sp>
      <p:sp>
        <p:nvSpPr>
          <p:cNvPr id="3" name="Rectangle 2">
            <a:extLst>
              <a:ext uri="{FF2B5EF4-FFF2-40B4-BE49-F238E27FC236}">
                <a16:creationId xmlns:a16="http://schemas.microsoft.com/office/drawing/2014/main" id="{6BC1FCCF-1850-4418-8510-983B716D53F9}"/>
              </a:ext>
            </a:extLst>
          </p:cNvPr>
          <p:cNvSpPr/>
          <p:nvPr/>
        </p:nvSpPr>
        <p:spPr>
          <a:xfrm>
            <a:off x="2247359" y="381001"/>
            <a:ext cx="5250155" cy="461665"/>
          </a:xfrm>
          <a:prstGeom prst="rect">
            <a:avLst/>
          </a:prstGeom>
        </p:spPr>
        <p:txBody>
          <a:bodyPr wrap="none">
            <a:spAutoFit/>
          </a:bodyPr>
          <a:lstStyle/>
          <a:p>
            <a:pPr algn="ctr"/>
            <a:r>
              <a:rPr lang="en-US" altLang="en-US" sz="2400" b="1" dirty="0">
                <a:solidFill>
                  <a:srgbClr val="FF0000"/>
                </a:solidFill>
                <a:latin typeface="Lucida Sans Unicode" panose="020B0602030504020204" pitchFamily="34" charset="0"/>
                <a:cs typeface="Lucida Sans Unicode" panose="020B0602030504020204" pitchFamily="34" charset="0"/>
              </a:rPr>
              <a:t>Scalar Multiplication </a:t>
            </a:r>
            <a:r>
              <a:rPr lang="en-US" altLang="en-US" sz="2400" dirty="0">
                <a:solidFill>
                  <a:srgbClr val="FF0000"/>
                </a:solidFill>
                <a:latin typeface="Lucida Sans Unicode" panose="020B0602030504020204" pitchFamily="34" charset="0"/>
                <a:cs typeface="Lucida Sans Unicode" panose="020B0602030504020204" pitchFamily="34" charset="0"/>
              </a:rPr>
              <a:t>of the matrix</a:t>
            </a:r>
            <a:endParaRPr lang="en-US" altLang="en-US" sz="2400" dirty="0">
              <a:solidFill>
                <a:srgbClr val="FF0000"/>
              </a:solidFill>
              <a:latin typeface="Calibri" panose="020F0502020204030204" pitchFamily="34" charset="0"/>
            </a:endParaRPr>
          </a:p>
        </p:txBody>
      </p:sp>
      <p:pic>
        <p:nvPicPr>
          <p:cNvPr id="29698" name="Picture 2">
            <a:extLst>
              <a:ext uri="{FF2B5EF4-FFF2-40B4-BE49-F238E27FC236}">
                <a16:creationId xmlns:a16="http://schemas.microsoft.com/office/drawing/2014/main" id="{91931106-2B2F-4034-86B1-C9977971F0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 y="1701800"/>
            <a:ext cx="6502400" cy="3657600"/>
          </a:xfrm>
          <a:prstGeom prst="rect">
            <a:avLst/>
          </a:prstGeom>
          <a:noFill/>
          <a:extLst>
            <a:ext uri="{909E8E84-426E-40DD-AFC4-6F175D3DCCD1}">
              <a14:hiddenFill xmlns:a14="http://schemas.microsoft.com/office/drawing/2010/main">
                <a:solidFill>
                  <a:srgbClr val="FFFFFF"/>
                </a:solidFill>
              </a14:hiddenFill>
            </a:ext>
          </a:extLst>
        </p:spPr>
      </p:pic>
      <p:pic>
        <p:nvPicPr>
          <p:cNvPr id="29700" name="Picture 4">
            <a:extLst>
              <a:ext uri="{FF2B5EF4-FFF2-40B4-BE49-F238E27FC236}">
                <a16:creationId xmlns:a16="http://schemas.microsoft.com/office/drawing/2014/main" id="{DC7385A0-A45C-4D7D-ABC7-AD186252D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1" y="1892301"/>
            <a:ext cx="3594100" cy="3670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5627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1451BB-9864-4A1A-A032-CCE4B7C418E1}"/>
              </a:ext>
            </a:extLst>
          </p:cNvPr>
          <p:cNvSpPr/>
          <p:nvPr/>
        </p:nvSpPr>
        <p:spPr>
          <a:xfrm>
            <a:off x="914400" y="1520786"/>
            <a:ext cx="10668000" cy="3785652"/>
          </a:xfrm>
          <a:prstGeom prst="rect">
            <a:avLst/>
          </a:prstGeom>
        </p:spPr>
        <p:txBody>
          <a:bodyPr wrap="square">
            <a:spAutoFit/>
          </a:bodyPr>
          <a:lstStyle/>
          <a:p>
            <a:r>
              <a:rPr lang="en-US" sz="2400" dirty="0"/>
              <a:t>The product of two matrices A and B is defined if the number of columns of A is equal to the number of rows of B. Let A = [</a:t>
            </a:r>
            <a:r>
              <a:rPr lang="en-US" sz="2400" dirty="0" err="1"/>
              <a:t>aij</a:t>
            </a:r>
            <a:r>
              <a:rPr lang="en-US" sz="2400" dirty="0"/>
              <a:t>] be an m × n matrix and B = [</a:t>
            </a:r>
            <a:r>
              <a:rPr lang="en-US" sz="2400" dirty="0" err="1"/>
              <a:t>bjk</a:t>
            </a:r>
            <a:r>
              <a:rPr lang="en-US" sz="2400" dirty="0"/>
              <a:t>] be an n × p matrix. Then the product of the matrices A and B is the matrix C of order m × p. To get the (</a:t>
            </a:r>
            <a:r>
              <a:rPr lang="en-US" sz="2400" dirty="0" err="1"/>
              <a:t>i</a:t>
            </a:r>
            <a:r>
              <a:rPr lang="en-US" sz="2400" dirty="0"/>
              <a:t>, k)</a:t>
            </a:r>
            <a:r>
              <a:rPr lang="en-US" sz="2400" dirty="0" err="1"/>
              <a:t>th</a:t>
            </a:r>
            <a:r>
              <a:rPr lang="en-US" sz="2400" dirty="0"/>
              <a:t> element c of the matrix C, we take the </a:t>
            </a:r>
            <a:r>
              <a:rPr lang="en-US" sz="2400" dirty="0" err="1"/>
              <a:t>ith</a:t>
            </a:r>
            <a:r>
              <a:rPr lang="en-US" sz="2400" dirty="0"/>
              <a:t> row of A and kth column of B, multiply them element-wise and take the sum of all these products.</a:t>
            </a:r>
          </a:p>
          <a:p>
            <a:endParaRPr lang="en-US" sz="2400" dirty="0"/>
          </a:p>
          <a:p>
            <a:r>
              <a:rPr lang="en-US" sz="2400" dirty="0"/>
              <a:t>In matrix multiplication, it is not necessary that both matrices must be a square matrix, as in addition and subtraction.</a:t>
            </a:r>
          </a:p>
          <a:p>
            <a:endParaRPr lang="en-IN" sz="2400" dirty="0"/>
          </a:p>
        </p:txBody>
      </p:sp>
      <p:sp>
        <p:nvSpPr>
          <p:cNvPr id="5" name="Rectangle 4">
            <a:extLst>
              <a:ext uri="{FF2B5EF4-FFF2-40B4-BE49-F238E27FC236}">
                <a16:creationId xmlns:a16="http://schemas.microsoft.com/office/drawing/2014/main" id="{6D62C1B3-64C6-4D6D-BEB1-842CA561AEAF}"/>
              </a:ext>
            </a:extLst>
          </p:cNvPr>
          <p:cNvSpPr/>
          <p:nvPr/>
        </p:nvSpPr>
        <p:spPr>
          <a:xfrm>
            <a:off x="3161876" y="381001"/>
            <a:ext cx="3421128" cy="461665"/>
          </a:xfrm>
          <a:prstGeom prst="rect">
            <a:avLst/>
          </a:prstGeom>
        </p:spPr>
        <p:txBody>
          <a:bodyPr wrap="none">
            <a:spAutoFit/>
          </a:bodyPr>
          <a:lstStyle/>
          <a:p>
            <a:pPr algn="ctr"/>
            <a:r>
              <a:rPr lang="en-US" altLang="en-US" sz="2400" b="1" dirty="0">
                <a:solidFill>
                  <a:srgbClr val="FF0000"/>
                </a:solidFill>
                <a:latin typeface="Lucida Sans Unicode" panose="020B0602030504020204" pitchFamily="34" charset="0"/>
                <a:cs typeface="Lucida Sans Unicode" panose="020B0602030504020204" pitchFamily="34" charset="0"/>
              </a:rPr>
              <a:t>Product of </a:t>
            </a:r>
            <a:r>
              <a:rPr lang="en-US" altLang="en-US" sz="2400" b="1">
                <a:solidFill>
                  <a:srgbClr val="FF0000"/>
                </a:solidFill>
                <a:latin typeface="Lucida Sans Unicode" panose="020B0602030504020204" pitchFamily="34" charset="0"/>
                <a:cs typeface="Lucida Sans Unicode" panose="020B0602030504020204" pitchFamily="34" charset="0"/>
              </a:rPr>
              <a:t>two Matrix</a:t>
            </a:r>
            <a:endParaRPr lang="en-US" altLang="en-US" sz="2400" dirty="0">
              <a:solidFill>
                <a:srgbClr val="FF0000"/>
              </a:solidFill>
              <a:latin typeface="Calibri" panose="020F0502020204030204" pitchFamily="34" charset="0"/>
            </a:endParaRPr>
          </a:p>
        </p:txBody>
      </p:sp>
    </p:spTree>
    <p:extLst>
      <p:ext uri="{BB962C8B-B14F-4D97-AF65-F5344CB8AC3E}">
        <p14:creationId xmlns:p14="http://schemas.microsoft.com/office/powerpoint/2010/main" val="825491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E11A91F-DBFD-471D-A757-E3162AC20D6B}"/>
              </a:ext>
            </a:extLst>
          </p:cNvPr>
          <p:cNvSpPr>
            <a:spLocks noChangeArrowheads="1"/>
          </p:cNvSpPr>
          <p:nvPr/>
        </p:nvSpPr>
        <p:spPr bwMode="auto">
          <a:xfrm>
            <a:off x="812800" y="1175267"/>
            <a:ext cx="11399211" cy="5847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9170"/>
            <a:r>
              <a:rPr lang="en-US" altLang="en-US" sz="2400" dirty="0">
                <a:solidFill>
                  <a:srgbClr val="000000"/>
                </a:solidFill>
                <a:latin typeface="+mj-lt"/>
              </a:rPr>
              <a:t>Suppose we have two matrices A and B of dimensions 2×3 and 3×2, respectively. </a:t>
            </a:r>
          </a:p>
          <a:p>
            <a:pPr defTabSz="1219170"/>
            <a:r>
              <a:rPr lang="en-US" altLang="en-US" sz="2400" dirty="0">
                <a:solidFill>
                  <a:srgbClr val="000000"/>
                </a:solidFill>
                <a:latin typeface="+mj-lt"/>
              </a:rPr>
              <a:t>The resultant matrix will be a 2×2 matrix.</a:t>
            </a:r>
          </a:p>
          <a:p>
            <a:pPr defTabSz="1219170"/>
            <a:endParaRPr lang="en-US" altLang="en-US" sz="2400" dirty="0">
              <a:solidFill>
                <a:srgbClr val="000000"/>
              </a:solidFill>
              <a:latin typeface="+mj-lt"/>
            </a:endParaRPr>
          </a:p>
          <a:p>
            <a:pPr defTabSz="1219170"/>
            <a:endParaRPr lang="en-US" altLang="en-US" sz="2400" dirty="0">
              <a:solidFill>
                <a:srgbClr val="000000"/>
              </a:solidFill>
              <a:latin typeface="+mj-lt"/>
            </a:endParaRPr>
          </a:p>
          <a:p>
            <a:pPr defTabSz="1219170"/>
            <a:endParaRPr lang="en-US" altLang="en-US" sz="2400" dirty="0">
              <a:latin typeface="+mj-lt"/>
            </a:endParaRPr>
          </a:p>
          <a:p>
            <a:pPr defTabSz="1219170"/>
            <a:r>
              <a:rPr lang="en-US" altLang="en-US" sz="2400" dirty="0">
                <a:latin typeface="+mj-lt"/>
              </a:rPr>
              <a:t>                     </a:t>
            </a:r>
          </a:p>
          <a:p>
            <a:pPr defTabSz="1219170"/>
            <a:r>
              <a:rPr lang="en-US" altLang="en-US" sz="2400" dirty="0">
                <a:solidFill>
                  <a:srgbClr val="000000"/>
                </a:solidFill>
                <a:latin typeface="+mj-lt"/>
              </a:rPr>
              <a:t>To find the </a:t>
            </a:r>
            <a:r>
              <a:rPr lang="en-US" altLang="en-US" sz="2400" b="1" dirty="0">
                <a:solidFill>
                  <a:srgbClr val="000000"/>
                </a:solidFill>
                <a:latin typeface="+mj-lt"/>
              </a:rPr>
              <a:t>first element</a:t>
            </a:r>
            <a:r>
              <a:rPr lang="en-US" altLang="en-US" sz="2400" dirty="0">
                <a:solidFill>
                  <a:srgbClr val="000000"/>
                </a:solidFill>
                <a:latin typeface="+mj-lt"/>
              </a:rPr>
              <a:t> of the resultant matrix, multiply the first row of matrix A</a:t>
            </a:r>
          </a:p>
          <a:p>
            <a:pPr defTabSz="1219170"/>
            <a:r>
              <a:rPr lang="en-US" altLang="en-US" sz="2400" dirty="0">
                <a:solidFill>
                  <a:srgbClr val="000000"/>
                </a:solidFill>
                <a:latin typeface="+mj-lt"/>
              </a:rPr>
              <a:t> by the first column of matrix B and sum up the product.</a:t>
            </a:r>
          </a:p>
          <a:p>
            <a:pPr defTabSz="1219170"/>
            <a:endParaRPr lang="en-US" altLang="en-US" sz="2400" dirty="0">
              <a:latin typeface="+mj-lt"/>
            </a:endParaRPr>
          </a:p>
          <a:p>
            <a:pPr defTabSz="1219170"/>
            <a:r>
              <a:rPr lang="en-US" altLang="en-US" sz="2400" dirty="0">
                <a:solidFill>
                  <a:srgbClr val="000000"/>
                </a:solidFill>
                <a:latin typeface="+mj-lt"/>
              </a:rPr>
              <a:t>(</a:t>
            </a:r>
            <a:r>
              <a:rPr lang="en-US" altLang="en-US" sz="2400" dirty="0" err="1">
                <a:solidFill>
                  <a:srgbClr val="000000"/>
                </a:solidFill>
                <a:latin typeface="+mj-lt"/>
              </a:rPr>
              <a:t>a,b,c</a:t>
            </a:r>
            <a:r>
              <a:rPr lang="en-US" altLang="en-US" sz="2400" dirty="0">
                <a:solidFill>
                  <a:srgbClr val="000000"/>
                </a:solidFill>
                <a:latin typeface="+mj-lt"/>
              </a:rPr>
              <a:t>).(</a:t>
            </a:r>
            <a:r>
              <a:rPr lang="en-US" altLang="en-US" sz="2400" dirty="0" err="1">
                <a:solidFill>
                  <a:srgbClr val="000000"/>
                </a:solidFill>
                <a:latin typeface="+mj-lt"/>
              </a:rPr>
              <a:t>p,q,r</a:t>
            </a:r>
            <a:r>
              <a:rPr lang="en-US" altLang="en-US" sz="2400" dirty="0">
                <a:solidFill>
                  <a:srgbClr val="000000"/>
                </a:solidFill>
                <a:latin typeface="+mj-lt"/>
              </a:rPr>
              <a:t>)=</a:t>
            </a:r>
            <a:r>
              <a:rPr lang="en-US" altLang="en-US" sz="2400" dirty="0" err="1">
                <a:solidFill>
                  <a:srgbClr val="000000"/>
                </a:solidFill>
                <a:latin typeface="+mj-lt"/>
              </a:rPr>
              <a:t>a×p+b×q+c×r</a:t>
            </a:r>
            <a:endParaRPr lang="en-US" altLang="en-US" sz="2400" dirty="0">
              <a:solidFill>
                <a:srgbClr val="000000"/>
              </a:solidFill>
              <a:latin typeface="+mj-lt"/>
            </a:endParaRPr>
          </a:p>
          <a:p>
            <a:pPr defTabSz="1219170"/>
            <a:endParaRPr lang="en-US" altLang="en-US" sz="1200" dirty="0">
              <a:solidFill>
                <a:srgbClr val="000000"/>
              </a:solidFill>
              <a:latin typeface="Verdana" panose="020B0604030504040204" pitchFamily="34" charset="0"/>
            </a:endParaRPr>
          </a:p>
          <a:p>
            <a:r>
              <a:rPr lang="en-US" sz="2400" dirty="0"/>
              <a:t>To find the </a:t>
            </a:r>
            <a:r>
              <a:rPr lang="en-US" sz="2400" b="1" dirty="0"/>
              <a:t>second element</a:t>
            </a:r>
            <a:r>
              <a:rPr lang="en-US" sz="2400" dirty="0"/>
              <a:t> of the resultant matrix, multiply the first row </a:t>
            </a:r>
          </a:p>
          <a:p>
            <a:r>
              <a:rPr lang="en-US" sz="2400" dirty="0"/>
              <a:t>of matrix A by the second column of matrix B and sum up the product.</a:t>
            </a:r>
          </a:p>
          <a:p>
            <a:endParaRPr lang="en-US" sz="2400" dirty="0"/>
          </a:p>
          <a:p>
            <a:r>
              <a:rPr lang="en-US" sz="2400" dirty="0"/>
              <a:t>(</a:t>
            </a:r>
            <a:r>
              <a:rPr lang="en-US" sz="2400" dirty="0" err="1"/>
              <a:t>a,b,c</a:t>
            </a:r>
            <a:r>
              <a:rPr lang="en-US" sz="2400" dirty="0"/>
              <a:t>).(</a:t>
            </a:r>
            <a:r>
              <a:rPr lang="en-US" sz="2400" dirty="0" err="1"/>
              <a:t>x,y,z</a:t>
            </a:r>
            <a:r>
              <a:rPr lang="en-US" sz="2400" dirty="0"/>
              <a:t>)=</a:t>
            </a:r>
            <a:r>
              <a:rPr lang="en-US" sz="2400" dirty="0" err="1"/>
              <a:t>a×x+b×y+c×z</a:t>
            </a:r>
            <a:endParaRPr lang="en-US" sz="2400" dirty="0"/>
          </a:p>
          <a:p>
            <a:pPr defTabSz="1219170"/>
            <a:endParaRPr lang="en-US" altLang="en-US" sz="2400" dirty="0"/>
          </a:p>
        </p:txBody>
      </p:sp>
      <p:pic>
        <p:nvPicPr>
          <p:cNvPr id="1026" name="Picture 2" descr="Matrix Multiplication">
            <a:extLst>
              <a:ext uri="{FF2B5EF4-FFF2-40B4-BE49-F238E27FC236}">
                <a16:creationId xmlns:a16="http://schemas.microsoft.com/office/drawing/2014/main" id="{FD73A590-CD0E-40A7-B014-FFA192AA6F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2108200"/>
            <a:ext cx="3810000" cy="93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4840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92BAF609-38C2-4751-91F8-77C3EE39A0C8}"/>
                  </a:ext>
                </a:extLst>
              </p:cNvPr>
              <p:cNvSpPr/>
              <p:nvPr/>
            </p:nvSpPr>
            <p:spPr>
              <a:xfrm>
                <a:off x="914400" y="1151454"/>
                <a:ext cx="9956800" cy="4607543"/>
              </a:xfrm>
              <a:prstGeom prst="rect">
                <a:avLst/>
              </a:prstGeom>
            </p:spPr>
            <p:txBody>
              <a:bodyPr wrap="square">
                <a:spAutoFit/>
              </a:bodyPr>
              <a:lstStyle/>
              <a:p>
                <a:r>
                  <a:rPr lang="en-US" sz="2400" dirty="0">
                    <a:solidFill>
                      <a:srgbClr val="000000"/>
                    </a:solidFill>
                    <a:latin typeface="verdana" panose="020B0604030504040204" pitchFamily="34" charset="0"/>
                  </a:rPr>
                  <a:t>To find the </a:t>
                </a:r>
                <a:r>
                  <a:rPr lang="en-US" sz="2400" b="1" dirty="0">
                    <a:solidFill>
                      <a:srgbClr val="000000"/>
                    </a:solidFill>
                    <a:latin typeface="verdana" panose="020B0604030504040204" pitchFamily="34" charset="0"/>
                  </a:rPr>
                  <a:t>third element</a:t>
                </a:r>
                <a:r>
                  <a:rPr lang="en-US" sz="2400" dirty="0">
                    <a:solidFill>
                      <a:srgbClr val="000000"/>
                    </a:solidFill>
                    <a:latin typeface="verdana" panose="020B0604030504040204" pitchFamily="34" charset="0"/>
                  </a:rPr>
                  <a:t> of the resultant matrix, multiply the second row of matrix A by the first column of matrix B and sum up the product.</a:t>
                </a:r>
              </a:p>
              <a:p>
                <a:r>
                  <a:rPr lang="en-US" sz="2400" dirty="0">
                    <a:solidFill>
                      <a:srgbClr val="000000"/>
                    </a:solidFill>
                    <a:latin typeface="verdana" panose="020B0604030504040204" pitchFamily="34" charset="0"/>
                  </a:rPr>
                  <a:t>(</a:t>
                </a:r>
                <a:r>
                  <a:rPr lang="en-US" sz="2400" dirty="0" err="1">
                    <a:solidFill>
                      <a:srgbClr val="000000"/>
                    </a:solidFill>
                    <a:latin typeface="verdana" panose="020B0604030504040204" pitchFamily="34" charset="0"/>
                  </a:rPr>
                  <a:t>d,e,f</a:t>
                </a:r>
                <a:r>
                  <a:rPr lang="en-US" sz="2400" dirty="0">
                    <a:solidFill>
                      <a:srgbClr val="000000"/>
                    </a:solidFill>
                    <a:latin typeface="verdana" panose="020B0604030504040204" pitchFamily="34" charset="0"/>
                  </a:rPr>
                  <a:t>).(</a:t>
                </a:r>
                <a:r>
                  <a:rPr lang="en-US" sz="2400" dirty="0" err="1">
                    <a:solidFill>
                      <a:srgbClr val="000000"/>
                    </a:solidFill>
                    <a:latin typeface="verdana" panose="020B0604030504040204" pitchFamily="34" charset="0"/>
                  </a:rPr>
                  <a:t>p,q,r</a:t>
                </a:r>
                <a:r>
                  <a:rPr lang="en-US" sz="2400" dirty="0">
                    <a:solidFill>
                      <a:srgbClr val="000000"/>
                    </a:solidFill>
                    <a:latin typeface="verdana" panose="020B0604030504040204" pitchFamily="34" charset="0"/>
                  </a:rPr>
                  <a:t>)=</a:t>
                </a:r>
                <a:r>
                  <a:rPr lang="en-US" sz="2400" dirty="0" err="1">
                    <a:solidFill>
                      <a:srgbClr val="000000"/>
                    </a:solidFill>
                    <a:latin typeface="verdana" panose="020B0604030504040204" pitchFamily="34" charset="0"/>
                  </a:rPr>
                  <a:t>d×p+e×q+f×r</a:t>
                </a:r>
                <a:endParaRPr lang="en-US" sz="2400" dirty="0">
                  <a:solidFill>
                    <a:srgbClr val="000000"/>
                  </a:solidFill>
                  <a:latin typeface="verdana" panose="020B0604030504040204" pitchFamily="34" charset="0"/>
                </a:endParaRPr>
              </a:p>
              <a:p>
                <a:r>
                  <a:rPr lang="en-US" sz="2400" dirty="0">
                    <a:solidFill>
                      <a:srgbClr val="000000"/>
                    </a:solidFill>
                    <a:latin typeface="verdana" panose="020B0604030504040204" pitchFamily="34" charset="0"/>
                  </a:rPr>
                  <a:t>To find the </a:t>
                </a:r>
                <a:r>
                  <a:rPr lang="en-US" sz="2400" b="1" dirty="0">
                    <a:solidFill>
                      <a:srgbClr val="000000"/>
                    </a:solidFill>
                    <a:latin typeface="verdana" panose="020B0604030504040204" pitchFamily="34" charset="0"/>
                  </a:rPr>
                  <a:t>fourth element</a:t>
                </a:r>
                <a:r>
                  <a:rPr lang="en-US" sz="2400" dirty="0">
                    <a:solidFill>
                      <a:srgbClr val="000000"/>
                    </a:solidFill>
                    <a:latin typeface="verdana" panose="020B0604030504040204" pitchFamily="34" charset="0"/>
                  </a:rPr>
                  <a:t> of the resultant matrix, multiply the second row of matrix A by the second column of matrix B and sum up the product.</a:t>
                </a:r>
              </a:p>
              <a:p>
                <a:r>
                  <a:rPr lang="en-US" sz="2400" dirty="0">
                    <a:solidFill>
                      <a:srgbClr val="000000"/>
                    </a:solidFill>
                    <a:latin typeface="verdana" panose="020B0604030504040204" pitchFamily="34" charset="0"/>
                  </a:rPr>
                  <a:t>(</a:t>
                </a:r>
                <a:r>
                  <a:rPr lang="en-US" sz="2400" dirty="0" err="1">
                    <a:solidFill>
                      <a:srgbClr val="000000"/>
                    </a:solidFill>
                    <a:latin typeface="verdana" panose="020B0604030504040204" pitchFamily="34" charset="0"/>
                  </a:rPr>
                  <a:t>d,e,f</a:t>
                </a:r>
                <a:r>
                  <a:rPr lang="en-US" sz="2400" dirty="0">
                    <a:solidFill>
                      <a:srgbClr val="000000"/>
                    </a:solidFill>
                    <a:latin typeface="verdana" panose="020B0604030504040204" pitchFamily="34" charset="0"/>
                  </a:rPr>
                  <a:t>).(</a:t>
                </a:r>
                <a:r>
                  <a:rPr lang="en-US" sz="2400" dirty="0" err="1">
                    <a:solidFill>
                      <a:srgbClr val="000000"/>
                    </a:solidFill>
                    <a:latin typeface="verdana" panose="020B0604030504040204" pitchFamily="34" charset="0"/>
                  </a:rPr>
                  <a:t>x,y,z</a:t>
                </a:r>
                <a:r>
                  <a:rPr lang="en-US" sz="2400" dirty="0">
                    <a:solidFill>
                      <a:srgbClr val="000000"/>
                    </a:solidFill>
                    <a:latin typeface="verdana" panose="020B0604030504040204" pitchFamily="34" charset="0"/>
                  </a:rPr>
                  <a:t>)=</a:t>
                </a:r>
                <a:r>
                  <a:rPr lang="en-US" sz="2400" dirty="0" err="1">
                    <a:solidFill>
                      <a:srgbClr val="000000"/>
                    </a:solidFill>
                    <a:latin typeface="verdana" panose="020B0604030504040204" pitchFamily="34" charset="0"/>
                  </a:rPr>
                  <a:t>d×x+e×y+f×z</a:t>
                </a:r>
                <a:endParaRPr lang="en-US" sz="2400" dirty="0">
                  <a:solidFill>
                    <a:srgbClr val="000000"/>
                  </a:solidFill>
                  <a:latin typeface="verdana" panose="020B0604030504040204" pitchFamily="34" charset="0"/>
                </a:endParaRPr>
              </a:p>
              <a:p>
                <a:r>
                  <a:rPr lang="en-US" sz="2400" dirty="0">
                    <a:solidFill>
                      <a:srgbClr val="000000"/>
                    </a:solidFill>
                    <a:latin typeface="verdana" panose="020B0604030504040204" pitchFamily="34" charset="0"/>
                  </a:rPr>
                  <a:t>The resultant matrix is:</a:t>
                </a:r>
              </a:p>
              <a:p>
                <a:endParaRPr lang="en-US" sz="2400" dirty="0">
                  <a:solidFill>
                    <a:srgbClr val="000000"/>
                  </a:solidFill>
                  <a:latin typeface="verdana" panose="020B0604030504040204" pitchFamily="34" charset="0"/>
                </a:endParaRPr>
              </a:p>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0000"/>
                              </a:solidFill>
                              <a:latin typeface="Cambria Math" panose="02040503050406030204" pitchFamily="18" charset="0"/>
                            </a:rPr>
                          </m:ctrlPr>
                        </m:dPr>
                        <m:e>
                          <m:m>
                            <m:mPr>
                              <m:mcs>
                                <m:mc>
                                  <m:mcPr>
                                    <m:count m:val="2"/>
                                    <m:mcJc m:val="center"/>
                                  </m:mcPr>
                                </m:mc>
                              </m:mcs>
                              <m:ctrlPr>
                                <a:rPr lang="en-US" sz="2400" i="1">
                                  <a:solidFill>
                                    <a:srgbClr val="000000"/>
                                  </a:solidFill>
                                  <a:latin typeface="Cambria Math" panose="02040503050406030204" pitchFamily="18" charset="0"/>
                                </a:rPr>
                              </m:ctrlPr>
                            </m:mPr>
                            <m:mr>
                              <m:e>
                                <m:r>
                                  <m:rPr>
                                    <m:nor/>
                                  </m:rPr>
                                  <a:rPr lang="en-US" altLang="en-US" sz="2400" dirty="0">
                                    <a:solidFill>
                                      <a:srgbClr val="000000"/>
                                    </a:solidFill>
                                    <a:latin typeface="verdana" panose="020B0604030504040204" pitchFamily="34" charset="0"/>
                                  </a:rPr>
                                  <m:t>a</m:t>
                                </m:r>
                                <m:r>
                                  <m:rPr>
                                    <m:nor/>
                                  </m:rPr>
                                  <a:rPr lang="en-US" altLang="en-US" sz="2400" dirty="0">
                                    <a:solidFill>
                                      <a:srgbClr val="000000"/>
                                    </a:solidFill>
                                    <a:latin typeface="verdana" panose="020B0604030504040204" pitchFamily="34" charset="0"/>
                                  </a:rPr>
                                  <m:t>×</m:t>
                                </m:r>
                                <m:r>
                                  <m:rPr>
                                    <m:nor/>
                                  </m:rPr>
                                  <a:rPr lang="en-US" altLang="en-US" sz="2400" dirty="0">
                                    <a:solidFill>
                                      <a:srgbClr val="000000"/>
                                    </a:solidFill>
                                    <a:latin typeface="verdana" panose="020B0604030504040204" pitchFamily="34" charset="0"/>
                                  </a:rPr>
                                  <m:t>p</m:t>
                                </m:r>
                                <m:r>
                                  <m:rPr>
                                    <m:nor/>
                                  </m:rPr>
                                  <a:rPr lang="en-US" altLang="en-US" sz="2400" dirty="0">
                                    <a:solidFill>
                                      <a:srgbClr val="000000"/>
                                    </a:solidFill>
                                    <a:latin typeface="verdana" panose="020B0604030504040204" pitchFamily="34" charset="0"/>
                                  </a:rPr>
                                  <m:t>+</m:t>
                                </m:r>
                                <m:r>
                                  <m:rPr>
                                    <m:nor/>
                                  </m:rPr>
                                  <a:rPr lang="en-US" altLang="en-US" sz="2400" dirty="0">
                                    <a:solidFill>
                                      <a:srgbClr val="000000"/>
                                    </a:solidFill>
                                    <a:latin typeface="verdana" panose="020B0604030504040204" pitchFamily="34" charset="0"/>
                                  </a:rPr>
                                  <m:t>b</m:t>
                                </m:r>
                                <m:r>
                                  <m:rPr>
                                    <m:nor/>
                                  </m:rPr>
                                  <a:rPr lang="en-US" altLang="en-US" sz="2400" dirty="0">
                                    <a:solidFill>
                                      <a:srgbClr val="000000"/>
                                    </a:solidFill>
                                    <a:latin typeface="verdana" panose="020B0604030504040204" pitchFamily="34" charset="0"/>
                                  </a:rPr>
                                  <m:t>×</m:t>
                                </m:r>
                                <m:r>
                                  <m:rPr>
                                    <m:nor/>
                                  </m:rPr>
                                  <a:rPr lang="en-US" altLang="en-US" sz="2400" dirty="0">
                                    <a:solidFill>
                                      <a:srgbClr val="000000"/>
                                    </a:solidFill>
                                    <a:latin typeface="verdana" panose="020B0604030504040204" pitchFamily="34" charset="0"/>
                                  </a:rPr>
                                  <m:t>q</m:t>
                                </m:r>
                                <m:r>
                                  <m:rPr>
                                    <m:nor/>
                                  </m:rPr>
                                  <a:rPr lang="en-US" altLang="en-US" sz="2400" dirty="0">
                                    <a:solidFill>
                                      <a:srgbClr val="000000"/>
                                    </a:solidFill>
                                    <a:latin typeface="verdana" panose="020B0604030504040204" pitchFamily="34" charset="0"/>
                                  </a:rPr>
                                  <m:t>+</m:t>
                                </m:r>
                                <m:r>
                                  <m:rPr>
                                    <m:nor/>
                                  </m:rPr>
                                  <a:rPr lang="en-US" altLang="en-US" sz="2400" dirty="0">
                                    <a:solidFill>
                                      <a:srgbClr val="000000"/>
                                    </a:solidFill>
                                    <a:latin typeface="verdana" panose="020B0604030504040204" pitchFamily="34" charset="0"/>
                                  </a:rPr>
                                  <m:t>c</m:t>
                                </m:r>
                                <m:r>
                                  <m:rPr>
                                    <m:nor/>
                                  </m:rPr>
                                  <a:rPr lang="en-US" altLang="en-US" sz="2400" dirty="0">
                                    <a:solidFill>
                                      <a:srgbClr val="000000"/>
                                    </a:solidFill>
                                    <a:latin typeface="verdana" panose="020B0604030504040204" pitchFamily="34" charset="0"/>
                                  </a:rPr>
                                  <m:t>×</m:t>
                                </m:r>
                                <m:r>
                                  <m:rPr>
                                    <m:nor/>
                                  </m:rPr>
                                  <a:rPr lang="en-US" altLang="en-US" sz="2400" dirty="0">
                                    <a:solidFill>
                                      <a:srgbClr val="000000"/>
                                    </a:solidFill>
                                    <a:latin typeface="verdana" panose="020B0604030504040204" pitchFamily="34" charset="0"/>
                                  </a:rPr>
                                  <m:t>r</m:t>
                                </m:r>
                                <m:r>
                                  <m:rPr>
                                    <m:nor/>
                                  </m:rPr>
                                  <a:rPr lang="en-US" altLang="en-US" sz="2400" dirty="0">
                                    <a:solidFill>
                                      <a:srgbClr val="000000"/>
                                    </a:solidFill>
                                    <a:latin typeface="verdana" panose="020B0604030504040204" pitchFamily="34" charset="0"/>
                                  </a:rPr>
                                  <m:t> </m:t>
                                </m:r>
                              </m:e>
                              <m:e>
                                <m:r>
                                  <a:rPr lang="en-US" sz="2400">
                                    <a:solidFill>
                                      <a:srgbClr val="000000"/>
                                    </a:solidFill>
                                    <a:latin typeface="Cambria Math" panose="02040503050406030204" pitchFamily="18" charset="0"/>
                                  </a:rPr>
                                  <m:t>𝑎</m:t>
                                </m:r>
                                <m:r>
                                  <a:rPr lang="en-US" sz="2400">
                                    <a:solidFill>
                                      <a:srgbClr val="000000"/>
                                    </a:solidFill>
                                    <a:latin typeface="Cambria Math" panose="02040503050406030204" pitchFamily="18" charset="0"/>
                                  </a:rPr>
                                  <m:t>×</m:t>
                                </m:r>
                                <m:r>
                                  <a:rPr lang="en-US" sz="2400">
                                    <a:solidFill>
                                      <a:srgbClr val="000000"/>
                                    </a:solidFill>
                                    <a:latin typeface="Cambria Math" panose="02040503050406030204" pitchFamily="18" charset="0"/>
                                  </a:rPr>
                                  <m:t>𝑥</m:t>
                                </m:r>
                                <m:r>
                                  <a:rPr lang="en-US" sz="2400">
                                    <a:solidFill>
                                      <a:srgbClr val="000000"/>
                                    </a:solidFill>
                                    <a:latin typeface="Cambria Math" panose="02040503050406030204" pitchFamily="18" charset="0"/>
                                  </a:rPr>
                                  <m:t>+</m:t>
                                </m:r>
                                <m:r>
                                  <a:rPr lang="en-US" sz="2400">
                                    <a:solidFill>
                                      <a:srgbClr val="000000"/>
                                    </a:solidFill>
                                    <a:latin typeface="Cambria Math" panose="02040503050406030204" pitchFamily="18" charset="0"/>
                                  </a:rPr>
                                  <m:t>𝑏</m:t>
                                </m:r>
                                <m:r>
                                  <a:rPr lang="en-US" sz="2400">
                                    <a:solidFill>
                                      <a:srgbClr val="000000"/>
                                    </a:solidFill>
                                    <a:latin typeface="Cambria Math" panose="02040503050406030204" pitchFamily="18" charset="0"/>
                                  </a:rPr>
                                  <m:t>×</m:t>
                                </m:r>
                                <m:r>
                                  <a:rPr lang="en-US" sz="2400">
                                    <a:solidFill>
                                      <a:srgbClr val="000000"/>
                                    </a:solidFill>
                                    <a:latin typeface="Cambria Math" panose="02040503050406030204" pitchFamily="18" charset="0"/>
                                  </a:rPr>
                                  <m:t>𝑦</m:t>
                                </m:r>
                                <m:r>
                                  <a:rPr lang="en-US" sz="2400">
                                    <a:solidFill>
                                      <a:srgbClr val="000000"/>
                                    </a:solidFill>
                                    <a:latin typeface="Cambria Math" panose="02040503050406030204" pitchFamily="18" charset="0"/>
                                  </a:rPr>
                                  <m:t>+</m:t>
                                </m:r>
                                <m:r>
                                  <a:rPr lang="en-US" sz="2400">
                                    <a:solidFill>
                                      <a:srgbClr val="000000"/>
                                    </a:solidFill>
                                    <a:latin typeface="Cambria Math" panose="02040503050406030204" pitchFamily="18" charset="0"/>
                                  </a:rPr>
                                  <m:t>𝑐</m:t>
                                </m:r>
                                <m:r>
                                  <a:rPr lang="en-US" sz="2400">
                                    <a:solidFill>
                                      <a:srgbClr val="000000"/>
                                    </a:solidFill>
                                    <a:latin typeface="Cambria Math" panose="02040503050406030204" pitchFamily="18" charset="0"/>
                                  </a:rPr>
                                  <m:t>×</m:t>
                                </m:r>
                                <m:r>
                                  <a:rPr lang="en-US" sz="2400">
                                    <a:solidFill>
                                      <a:srgbClr val="000000"/>
                                    </a:solidFill>
                                    <a:latin typeface="Cambria Math" panose="02040503050406030204" pitchFamily="18" charset="0"/>
                                  </a:rPr>
                                  <m:t>𝑧</m:t>
                                </m:r>
                                <m:r>
                                  <a:rPr lang="en-US" sz="2400">
                                    <a:solidFill>
                                      <a:srgbClr val="000000"/>
                                    </a:solidFill>
                                    <a:latin typeface="Cambria Math" panose="02040503050406030204" pitchFamily="18" charset="0"/>
                                  </a:rPr>
                                  <m:t> </m:t>
                                </m:r>
                              </m:e>
                            </m:mr>
                            <m:mr>
                              <m:e>
                                <m:r>
                                  <m:rPr>
                                    <m:nor/>
                                  </m:rPr>
                                  <a:rPr lang="en-US" sz="2400" dirty="0">
                                    <a:solidFill>
                                      <a:srgbClr val="000000"/>
                                    </a:solidFill>
                                    <a:latin typeface="verdana" panose="020B0604030504040204" pitchFamily="34" charset="0"/>
                                  </a:rPr>
                                  <m:t>d</m:t>
                                </m:r>
                                <m:r>
                                  <m:rPr>
                                    <m:nor/>
                                  </m:rPr>
                                  <a:rPr lang="en-US" sz="2400" dirty="0">
                                    <a:solidFill>
                                      <a:srgbClr val="000000"/>
                                    </a:solidFill>
                                    <a:latin typeface="verdana" panose="020B0604030504040204" pitchFamily="34" charset="0"/>
                                  </a:rPr>
                                  <m:t>×</m:t>
                                </m:r>
                                <m:r>
                                  <m:rPr>
                                    <m:nor/>
                                  </m:rPr>
                                  <a:rPr lang="en-US" sz="2400" dirty="0">
                                    <a:solidFill>
                                      <a:srgbClr val="000000"/>
                                    </a:solidFill>
                                    <a:latin typeface="verdana" panose="020B0604030504040204" pitchFamily="34" charset="0"/>
                                  </a:rPr>
                                  <m:t>p</m:t>
                                </m:r>
                                <m:r>
                                  <m:rPr>
                                    <m:nor/>
                                  </m:rPr>
                                  <a:rPr lang="en-US" sz="2400" dirty="0">
                                    <a:solidFill>
                                      <a:srgbClr val="000000"/>
                                    </a:solidFill>
                                    <a:latin typeface="verdana" panose="020B0604030504040204" pitchFamily="34" charset="0"/>
                                  </a:rPr>
                                  <m:t>+</m:t>
                                </m:r>
                                <m:r>
                                  <m:rPr>
                                    <m:nor/>
                                  </m:rPr>
                                  <a:rPr lang="en-US" sz="2400" dirty="0">
                                    <a:solidFill>
                                      <a:srgbClr val="000000"/>
                                    </a:solidFill>
                                    <a:latin typeface="verdana" panose="020B0604030504040204" pitchFamily="34" charset="0"/>
                                  </a:rPr>
                                  <m:t>e</m:t>
                                </m:r>
                                <m:r>
                                  <m:rPr>
                                    <m:nor/>
                                  </m:rPr>
                                  <a:rPr lang="en-US" sz="2400" dirty="0">
                                    <a:solidFill>
                                      <a:srgbClr val="000000"/>
                                    </a:solidFill>
                                    <a:latin typeface="verdana" panose="020B0604030504040204" pitchFamily="34" charset="0"/>
                                  </a:rPr>
                                  <m:t>×</m:t>
                                </m:r>
                                <m:r>
                                  <m:rPr>
                                    <m:nor/>
                                  </m:rPr>
                                  <a:rPr lang="en-US" sz="2400" dirty="0">
                                    <a:solidFill>
                                      <a:srgbClr val="000000"/>
                                    </a:solidFill>
                                    <a:latin typeface="verdana" panose="020B0604030504040204" pitchFamily="34" charset="0"/>
                                  </a:rPr>
                                  <m:t>q</m:t>
                                </m:r>
                                <m:r>
                                  <m:rPr>
                                    <m:nor/>
                                  </m:rPr>
                                  <a:rPr lang="en-US" sz="2400" dirty="0">
                                    <a:solidFill>
                                      <a:srgbClr val="000000"/>
                                    </a:solidFill>
                                    <a:latin typeface="verdana" panose="020B0604030504040204" pitchFamily="34" charset="0"/>
                                  </a:rPr>
                                  <m:t>+</m:t>
                                </m:r>
                                <m:r>
                                  <m:rPr>
                                    <m:nor/>
                                  </m:rPr>
                                  <a:rPr lang="en-US" sz="2400" dirty="0">
                                    <a:solidFill>
                                      <a:srgbClr val="000000"/>
                                    </a:solidFill>
                                    <a:latin typeface="verdana" panose="020B0604030504040204" pitchFamily="34" charset="0"/>
                                  </a:rPr>
                                  <m:t>f</m:t>
                                </m:r>
                                <m:r>
                                  <m:rPr>
                                    <m:nor/>
                                  </m:rPr>
                                  <a:rPr lang="en-US" sz="2400" dirty="0">
                                    <a:solidFill>
                                      <a:srgbClr val="000000"/>
                                    </a:solidFill>
                                    <a:latin typeface="verdana" panose="020B0604030504040204" pitchFamily="34" charset="0"/>
                                  </a:rPr>
                                  <m:t>×</m:t>
                                </m:r>
                                <m:r>
                                  <m:rPr>
                                    <m:nor/>
                                  </m:rPr>
                                  <a:rPr lang="en-US" sz="2400" dirty="0">
                                    <a:solidFill>
                                      <a:srgbClr val="000000"/>
                                    </a:solidFill>
                                    <a:latin typeface="verdana" panose="020B0604030504040204" pitchFamily="34" charset="0"/>
                                  </a:rPr>
                                  <m:t>r</m:t>
                                </m:r>
                                <m:r>
                                  <m:rPr>
                                    <m:nor/>
                                  </m:rPr>
                                  <a:rPr lang="en-US" sz="2400" dirty="0">
                                    <a:solidFill>
                                      <a:srgbClr val="000000"/>
                                    </a:solidFill>
                                    <a:latin typeface="verdana" panose="020B0604030504040204" pitchFamily="34" charset="0"/>
                                  </a:rPr>
                                  <m:t> </m:t>
                                </m:r>
                              </m:e>
                              <m:e>
                                <m:r>
                                  <m:rPr>
                                    <m:nor/>
                                  </m:rPr>
                                  <a:rPr lang="en-US" sz="2400" dirty="0">
                                    <a:solidFill>
                                      <a:srgbClr val="000000"/>
                                    </a:solidFill>
                                    <a:latin typeface="verdana" panose="020B0604030504040204" pitchFamily="34" charset="0"/>
                                  </a:rPr>
                                  <m:t>d</m:t>
                                </m:r>
                                <m:r>
                                  <m:rPr>
                                    <m:nor/>
                                  </m:rPr>
                                  <a:rPr lang="en-US" sz="2400" dirty="0">
                                    <a:solidFill>
                                      <a:srgbClr val="000000"/>
                                    </a:solidFill>
                                    <a:latin typeface="verdana" panose="020B0604030504040204" pitchFamily="34" charset="0"/>
                                  </a:rPr>
                                  <m:t>×</m:t>
                                </m:r>
                                <m:r>
                                  <m:rPr>
                                    <m:nor/>
                                  </m:rPr>
                                  <a:rPr lang="en-US" sz="2400" dirty="0">
                                    <a:solidFill>
                                      <a:srgbClr val="000000"/>
                                    </a:solidFill>
                                    <a:latin typeface="verdana" panose="020B0604030504040204" pitchFamily="34" charset="0"/>
                                  </a:rPr>
                                  <m:t>x</m:t>
                                </m:r>
                                <m:r>
                                  <m:rPr>
                                    <m:nor/>
                                  </m:rPr>
                                  <a:rPr lang="en-US" sz="2400" dirty="0">
                                    <a:solidFill>
                                      <a:srgbClr val="000000"/>
                                    </a:solidFill>
                                    <a:latin typeface="verdana" panose="020B0604030504040204" pitchFamily="34" charset="0"/>
                                  </a:rPr>
                                  <m:t>+</m:t>
                                </m:r>
                                <m:r>
                                  <m:rPr>
                                    <m:nor/>
                                  </m:rPr>
                                  <a:rPr lang="en-US" sz="2400" dirty="0">
                                    <a:solidFill>
                                      <a:srgbClr val="000000"/>
                                    </a:solidFill>
                                    <a:latin typeface="verdana" panose="020B0604030504040204" pitchFamily="34" charset="0"/>
                                  </a:rPr>
                                  <m:t>e</m:t>
                                </m:r>
                                <m:r>
                                  <m:rPr>
                                    <m:nor/>
                                  </m:rPr>
                                  <a:rPr lang="en-US" sz="2400" dirty="0">
                                    <a:solidFill>
                                      <a:srgbClr val="000000"/>
                                    </a:solidFill>
                                    <a:latin typeface="verdana" panose="020B0604030504040204" pitchFamily="34" charset="0"/>
                                  </a:rPr>
                                  <m:t>×</m:t>
                                </m:r>
                                <m:r>
                                  <m:rPr>
                                    <m:nor/>
                                  </m:rPr>
                                  <a:rPr lang="en-US" sz="2400" dirty="0">
                                    <a:solidFill>
                                      <a:srgbClr val="000000"/>
                                    </a:solidFill>
                                    <a:latin typeface="verdana" panose="020B0604030504040204" pitchFamily="34" charset="0"/>
                                  </a:rPr>
                                  <m:t>y</m:t>
                                </m:r>
                                <m:r>
                                  <m:rPr>
                                    <m:nor/>
                                  </m:rPr>
                                  <a:rPr lang="en-US" sz="2400" dirty="0">
                                    <a:solidFill>
                                      <a:srgbClr val="000000"/>
                                    </a:solidFill>
                                    <a:latin typeface="verdana" panose="020B0604030504040204" pitchFamily="34" charset="0"/>
                                  </a:rPr>
                                  <m:t>+</m:t>
                                </m:r>
                                <m:r>
                                  <m:rPr>
                                    <m:nor/>
                                  </m:rPr>
                                  <a:rPr lang="en-US" sz="2400" dirty="0">
                                    <a:solidFill>
                                      <a:srgbClr val="000000"/>
                                    </a:solidFill>
                                    <a:latin typeface="verdana" panose="020B0604030504040204" pitchFamily="34" charset="0"/>
                                  </a:rPr>
                                  <m:t>f</m:t>
                                </m:r>
                                <m:r>
                                  <m:rPr>
                                    <m:nor/>
                                  </m:rPr>
                                  <a:rPr lang="en-US" sz="2400" dirty="0">
                                    <a:solidFill>
                                      <a:srgbClr val="000000"/>
                                    </a:solidFill>
                                    <a:latin typeface="verdana" panose="020B0604030504040204" pitchFamily="34" charset="0"/>
                                  </a:rPr>
                                  <m:t>×</m:t>
                                </m:r>
                                <m:r>
                                  <m:rPr>
                                    <m:nor/>
                                  </m:rPr>
                                  <a:rPr lang="en-US" sz="2400" dirty="0">
                                    <a:solidFill>
                                      <a:srgbClr val="000000"/>
                                    </a:solidFill>
                                    <a:latin typeface="verdana" panose="020B0604030504040204" pitchFamily="34" charset="0"/>
                                  </a:rPr>
                                  <m:t>z</m:t>
                                </m:r>
                                <m:r>
                                  <m:rPr>
                                    <m:nor/>
                                  </m:rPr>
                                  <a:rPr lang="en-US" sz="2400" dirty="0">
                                    <a:solidFill>
                                      <a:srgbClr val="000000"/>
                                    </a:solidFill>
                                    <a:latin typeface="verdana" panose="020B0604030504040204" pitchFamily="34" charset="0"/>
                                  </a:rPr>
                                  <m:t> </m:t>
                                </m:r>
                              </m:e>
                            </m:mr>
                          </m:m>
                        </m:e>
                      </m:d>
                    </m:oMath>
                  </m:oMathPara>
                </a14:m>
                <a:endParaRPr lang="en-US" sz="2400" dirty="0">
                  <a:solidFill>
                    <a:srgbClr val="000000"/>
                  </a:solidFill>
                  <a:latin typeface="verdana" panose="020B0604030504040204" pitchFamily="34" charset="0"/>
                </a:endParaRPr>
              </a:p>
            </p:txBody>
          </p:sp>
        </mc:Choice>
        <mc:Fallback xmlns="">
          <p:sp>
            <p:nvSpPr>
              <p:cNvPr id="2" name="Rectangle 1">
                <a:extLst>
                  <a:ext uri="{FF2B5EF4-FFF2-40B4-BE49-F238E27FC236}">
                    <a16:creationId xmlns:a16="http://schemas.microsoft.com/office/drawing/2014/main" id="{92BAF609-38C2-4751-91F8-77C3EE39A0C8}"/>
                  </a:ext>
                </a:extLst>
              </p:cNvPr>
              <p:cNvSpPr>
                <a:spLocks noRot="1" noChangeAspect="1" noMove="1" noResize="1" noEditPoints="1" noAdjustHandles="1" noChangeArrowheads="1" noChangeShapeType="1" noTextEdit="1"/>
              </p:cNvSpPr>
              <p:nvPr/>
            </p:nvSpPr>
            <p:spPr>
              <a:xfrm>
                <a:off x="914400" y="1151454"/>
                <a:ext cx="9956800" cy="4607543"/>
              </a:xfrm>
              <a:prstGeom prst="rect">
                <a:avLst/>
              </a:prstGeom>
              <a:blipFill>
                <a:blip r:embed="rId2"/>
                <a:stretch>
                  <a:fillRect l="-919" t="-1058" r="-1225"/>
                </a:stretch>
              </a:blipFill>
            </p:spPr>
            <p:txBody>
              <a:bodyPr/>
              <a:lstStyle/>
              <a:p>
                <a:r>
                  <a:rPr lang="en-IN">
                    <a:noFill/>
                  </a:rPr>
                  <a:t> </a:t>
                </a:r>
              </a:p>
            </p:txBody>
          </p:sp>
        </mc:Fallback>
      </mc:AlternateContent>
    </p:spTree>
    <p:extLst>
      <p:ext uri="{BB962C8B-B14F-4D97-AF65-F5344CB8AC3E}">
        <p14:creationId xmlns:p14="http://schemas.microsoft.com/office/powerpoint/2010/main" val="2331875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BF0E0E-A4BD-4F07-B2FC-15BBCE7A93AF}"/>
              </a:ext>
            </a:extLst>
          </p:cNvPr>
          <p:cNvSpPr>
            <a:spLocks noChangeArrowheads="1"/>
          </p:cNvSpPr>
          <p:nvPr/>
        </p:nvSpPr>
        <p:spPr bwMode="auto">
          <a:xfrm>
            <a:off x="2235201" y="220537"/>
            <a:ext cx="6122830" cy="3775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p>
            <a:pPr defTabSz="1219170" eaLnBrk="0" fontAlgn="base" hangingPunct="0">
              <a:spcBef>
                <a:spcPct val="0"/>
              </a:spcBef>
              <a:spcAft>
                <a:spcPct val="0"/>
              </a:spcAft>
            </a:pPr>
            <a:r>
              <a:rPr lang="en-US" altLang="en-US" sz="1200" b="1" dirty="0">
                <a:solidFill>
                  <a:srgbClr val="000000"/>
                </a:solidFill>
                <a:latin typeface="Verdana" panose="020B0604030504040204" pitchFamily="34" charset="0"/>
              </a:rPr>
              <a:t>Example:  Multiply the following matrices.</a:t>
            </a:r>
            <a:endParaRPr lang="en-US" altLang="en-US" sz="1067" dirty="0"/>
          </a:p>
          <a:p>
            <a:pPr defTabSz="1219170" eaLnBrk="0" fontAlgn="base" hangingPunct="0">
              <a:spcBef>
                <a:spcPct val="0"/>
              </a:spcBef>
              <a:spcAft>
                <a:spcPct val="0"/>
              </a:spcAft>
            </a:pPr>
            <a:r>
              <a:rPr lang="en-US" altLang="en-US" sz="2400" dirty="0">
                <a:latin typeface="Arial" panose="020B0604020202020204" pitchFamily="34" charset="0"/>
              </a:rPr>
              <a:t>  </a:t>
            </a:r>
            <a:r>
              <a:rPr lang="en-US" altLang="en-US" sz="22533" dirty="0">
                <a:latin typeface="Arial" panose="020B0604020202020204" pitchFamily="34" charset="0"/>
              </a:rPr>
              <a:t>       </a:t>
            </a:r>
            <a:r>
              <a:rPr lang="en-US" altLang="en-US" sz="2400" dirty="0">
                <a:latin typeface="Arial" panose="020B0604020202020204" pitchFamily="34" charset="0"/>
              </a:rPr>
              <a:t> </a:t>
            </a:r>
          </a:p>
        </p:txBody>
      </p:sp>
      <p:pic>
        <p:nvPicPr>
          <p:cNvPr id="2050" name="Picture 2" descr="Matrix Multiplication">
            <a:extLst>
              <a:ext uri="{FF2B5EF4-FFF2-40B4-BE49-F238E27FC236}">
                <a16:creationId xmlns:a16="http://schemas.microsoft.com/office/drawing/2014/main" id="{38E19307-AB13-4678-B97D-2B13637200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2373" y="1803400"/>
            <a:ext cx="54610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67787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4B09587F-EC78-4E8E-976A-94411F2A6416}"/>
              </a:ext>
            </a:extLst>
          </p:cNvPr>
          <p:cNvSpPr>
            <a:spLocks noChangeArrowheads="1"/>
          </p:cNvSpPr>
          <p:nvPr/>
        </p:nvSpPr>
        <p:spPr bwMode="auto">
          <a:xfrm>
            <a:off x="1331662" y="669243"/>
            <a:ext cx="9634304" cy="5519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9170"/>
            <a:r>
              <a:rPr lang="en-US" altLang="en-US" sz="6400" dirty="0"/>
              <a:t>                           </a:t>
            </a:r>
            <a:endParaRPr lang="en-US" altLang="en-US" sz="2400" dirty="0"/>
          </a:p>
          <a:p>
            <a:pPr defTabSz="1219170"/>
            <a:endParaRPr lang="en-US" altLang="en-US" sz="1200" b="1" dirty="0">
              <a:solidFill>
                <a:srgbClr val="000000"/>
              </a:solidFill>
              <a:latin typeface="Verdana" panose="020B0604030504040204" pitchFamily="34" charset="0"/>
            </a:endParaRPr>
          </a:p>
          <a:p>
            <a:pPr defTabSz="1219170"/>
            <a:endParaRPr lang="en-US" altLang="en-US" sz="1200" b="1" dirty="0">
              <a:solidFill>
                <a:srgbClr val="000000"/>
              </a:solidFill>
              <a:latin typeface="Verdana" panose="020B0604030504040204" pitchFamily="34" charset="0"/>
            </a:endParaRPr>
          </a:p>
          <a:p>
            <a:pPr defTabSz="1219170"/>
            <a:r>
              <a:rPr lang="en-US" altLang="en-US" sz="1200" b="1" dirty="0">
                <a:solidFill>
                  <a:srgbClr val="000000"/>
                </a:solidFill>
                <a:latin typeface="Verdana" panose="020B0604030504040204" pitchFamily="34" charset="0"/>
              </a:rPr>
              <a:t>Solution:</a:t>
            </a:r>
            <a:endParaRPr lang="en-US" altLang="en-US" sz="1067" dirty="0"/>
          </a:p>
          <a:p>
            <a:pPr defTabSz="1219170"/>
            <a:r>
              <a:rPr lang="en-US" altLang="en-US" sz="2400" dirty="0">
                <a:solidFill>
                  <a:srgbClr val="000000"/>
                </a:solidFill>
                <a:latin typeface="+mj-lt"/>
              </a:rPr>
              <a:t>The dimensions of the matrix A and B are 1×4 and 4×1, respectively, </a:t>
            </a:r>
          </a:p>
          <a:p>
            <a:pPr defTabSz="1219170"/>
            <a:r>
              <a:rPr lang="en-US" altLang="en-US" sz="2400" dirty="0">
                <a:solidFill>
                  <a:srgbClr val="000000"/>
                </a:solidFill>
                <a:latin typeface="+mj-lt"/>
              </a:rPr>
              <a:t> the resultant matrix will be of dimension 1×1.</a:t>
            </a:r>
            <a:endParaRPr lang="en-US" altLang="en-US" sz="2400" dirty="0">
              <a:latin typeface="+mj-lt"/>
            </a:endParaRPr>
          </a:p>
          <a:p>
            <a:pPr defTabSz="1219170"/>
            <a:r>
              <a:rPr lang="en-US" altLang="en-US" sz="2400" dirty="0">
                <a:latin typeface="+mj-lt"/>
              </a:rPr>
              <a:t>   </a:t>
            </a:r>
          </a:p>
          <a:p>
            <a:pPr defTabSz="1219170"/>
            <a:r>
              <a:rPr lang="en-US" altLang="en-US" sz="2400" dirty="0">
                <a:latin typeface="+mj-lt"/>
              </a:rPr>
              <a:t>          </a:t>
            </a:r>
          </a:p>
          <a:p>
            <a:pPr defTabSz="1219170"/>
            <a:endParaRPr lang="en-US" altLang="en-US" sz="2400" dirty="0">
              <a:latin typeface="+mj-lt"/>
            </a:endParaRPr>
          </a:p>
          <a:p>
            <a:pPr defTabSz="1219170"/>
            <a:endParaRPr lang="en-US" altLang="en-US" sz="2400" dirty="0">
              <a:latin typeface="+mj-lt"/>
            </a:endParaRPr>
          </a:p>
          <a:p>
            <a:pPr defTabSz="1219170"/>
            <a:r>
              <a:rPr lang="en-US" altLang="en-US" sz="2400" dirty="0">
                <a:solidFill>
                  <a:srgbClr val="000000"/>
                </a:solidFill>
                <a:latin typeface="+mj-lt"/>
              </a:rPr>
              <a:t>A×B=[2×7+5×2+6×3+8×9]</a:t>
            </a:r>
          </a:p>
          <a:p>
            <a:pPr defTabSz="1219170"/>
            <a:endParaRPr lang="en-US" altLang="en-US" sz="2400" dirty="0">
              <a:latin typeface="+mj-lt"/>
            </a:endParaRPr>
          </a:p>
          <a:p>
            <a:pPr defTabSz="1219170"/>
            <a:r>
              <a:rPr lang="en-US" altLang="en-US" sz="2400" dirty="0">
                <a:solidFill>
                  <a:srgbClr val="000000"/>
                </a:solidFill>
                <a:latin typeface="+mj-lt"/>
              </a:rPr>
              <a:t>A×B=[114]</a:t>
            </a:r>
          </a:p>
          <a:p>
            <a:pPr defTabSz="1219170"/>
            <a:endParaRPr lang="en-US" altLang="en-US" sz="1200" dirty="0">
              <a:solidFill>
                <a:srgbClr val="000000"/>
              </a:solidFill>
              <a:latin typeface="Verdana" panose="020B0604030504040204" pitchFamily="34" charset="0"/>
            </a:endParaRPr>
          </a:p>
          <a:p>
            <a:pPr defTabSz="1219170"/>
            <a:endParaRPr lang="en-US" altLang="en-US" sz="1067" dirty="0"/>
          </a:p>
          <a:p>
            <a:pPr defTabSz="1219170"/>
            <a:r>
              <a:rPr lang="en-US" altLang="en-US" sz="1200" b="1" dirty="0">
                <a:solidFill>
                  <a:srgbClr val="000000"/>
                </a:solidFill>
                <a:latin typeface="Verdana" panose="020B0604030504040204" pitchFamily="34" charset="0"/>
              </a:rPr>
              <a:t>The multiplication of the matrices A and B is [114].</a:t>
            </a:r>
            <a:endParaRPr lang="en-US" altLang="en-US" sz="2400" dirty="0"/>
          </a:p>
        </p:txBody>
      </p:sp>
      <p:pic>
        <p:nvPicPr>
          <p:cNvPr id="3085" name="Picture 13" descr="Matrix Multiplication">
            <a:extLst>
              <a:ext uri="{FF2B5EF4-FFF2-40B4-BE49-F238E27FC236}">
                <a16:creationId xmlns:a16="http://schemas.microsoft.com/office/drawing/2014/main" id="{61773FA3-7F21-49D2-A36B-CCEF813E26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0" y="1036302"/>
            <a:ext cx="7086600" cy="1028700"/>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Matrix Multiplication">
            <a:extLst>
              <a:ext uri="{FF2B5EF4-FFF2-40B4-BE49-F238E27FC236}">
                <a16:creationId xmlns:a16="http://schemas.microsoft.com/office/drawing/2014/main" id="{B68D9FE5-93CC-4F2B-AFCD-9712BC6B80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4701" y="3022600"/>
            <a:ext cx="2781300" cy="109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73359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270000" y="1803400"/>
            <a:ext cx="9652000" cy="3416320"/>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Two matrices A and B can be multiplied if</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Both are rectangular</a:t>
            </a:r>
          </a:p>
          <a:p>
            <a:r>
              <a:rPr lang="en-US" sz="2400" dirty="0">
                <a:latin typeface="Century Gothic" panose="020B0502020202020204" pitchFamily="34" charset="0"/>
                <a:cs typeface="Arial" panose="020B0604020202020204" pitchFamily="34" charset="0"/>
              </a:rPr>
              <a:t>(ii) Both have same order</a:t>
            </a:r>
          </a:p>
          <a:p>
            <a:r>
              <a:rPr lang="en-US" sz="2400" dirty="0">
                <a:latin typeface="Century Gothic" panose="020B0502020202020204" pitchFamily="34" charset="0"/>
                <a:cs typeface="Arial" panose="020B0604020202020204" pitchFamily="34" charset="0"/>
              </a:rPr>
              <a:t>(iii) Number of columns of A is equal to number of rows of B</a:t>
            </a:r>
          </a:p>
          <a:p>
            <a:r>
              <a:rPr lang="en-US" sz="2400" dirty="0">
                <a:latin typeface="Century Gothic" panose="020B0502020202020204" pitchFamily="34" charset="0"/>
                <a:cs typeface="Arial" panose="020B0604020202020204" pitchFamily="34" charset="0"/>
              </a:rPr>
              <a:t>(iv) Number of rows of A is equal to number of columns of B</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iii</a:t>
            </a: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1</a:t>
            </a:r>
          </a:p>
        </p:txBody>
      </p:sp>
    </p:spTree>
    <p:extLst>
      <p:ext uri="{BB962C8B-B14F-4D97-AF65-F5344CB8AC3E}">
        <p14:creationId xmlns:p14="http://schemas.microsoft.com/office/powerpoint/2010/main" val="17410462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723363" y="2006600"/>
            <a:ext cx="10046237" cy="304698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Two matrices A and B are added if  </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Both are rectangular</a:t>
            </a:r>
          </a:p>
          <a:p>
            <a:r>
              <a:rPr lang="en-US" sz="2400" dirty="0">
                <a:latin typeface="Century Gothic" panose="020B0502020202020204" pitchFamily="34" charset="0"/>
                <a:cs typeface="Arial" panose="020B0604020202020204" pitchFamily="34" charset="0"/>
              </a:rPr>
              <a:t>(ii) Both have same order</a:t>
            </a:r>
          </a:p>
          <a:p>
            <a:r>
              <a:rPr lang="en-US" sz="2400" dirty="0">
                <a:latin typeface="Century Gothic" panose="020B0502020202020204" pitchFamily="34" charset="0"/>
                <a:cs typeface="Arial" panose="020B0604020202020204" pitchFamily="34" charset="0"/>
              </a:rPr>
              <a:t>(iii) Number of columns of A is equal to number of columns of B</a:t>
            </a:r>
          </a:p>
          <a:p>
            <a:r>
              <a:rPr lang="en-US" sz="2400" dirty="0">
                <a:latin typeface="Century Gothic" panose="020B0502020202020204" pitchFamily="34" charset="0"/>
                <a:cs typeface="Arial" panose="020B0604020202020204" pitchFamily="34" charset="0"/>
              </a:rPr>
              <a:t>(iv) Number of rows of A is equal to number of rows of B</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2</a:t>
            </a:r>
          </a:p>
        </p:txBody>
      </p:sp>
    </p:spTree>
    <p:extLst>
      <p:ext uri="{BB962C8B-B14F-4D97-AF65-F5344CB8AC3E}">
        <p14:creationId xmlns:p14="http://schemas.microsoft.com/office/powerpoint/2010/main" val="1915142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1016001" y="1890118"/>
            <a:ext cx="10159999" cy="304698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If A and B are matrices the which of the following is true:</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AB ≠ BA</a:t>
            </a:r>
          </a:p>
          <a:p>
            <a:r>
              <a:rPr lang="en-US" sz="2400" dirty="0">
                <a:latin typeface="Century Gothic" panose="020B0502020202020204" pitchFamily="34" charset="0"/>
                <a:cs typeface="Arial" panose="020B0604020202020204" pitchFamily="34" charset="0"/>
              </a:rPr>
              <a:t>(ii) (A’)’ ≠  A</a:t>
            </a:r>
          </a:p>
          <a:p>
            <a:r>
              <a:rPr lang="en-US" sz="2400" dirty="0">
                <a:latin typeface="Century Gothic" panose="020B0502020202020204" pitchFamily="34" charset="0"/>
                <a:cs typeface="Arial" panose="020B0604020202020204" pitchFamily="34" charset="0"/>
              </a:rPr>
              <a:t>(iii) A + B ≠  B + A</a:t>
            </a:r>
          </a:p>
          <a:p>
            <a:r>
              <a:rPr lang="en-US" sz="2400" dirty="0">
                <a:latin typeface="Century Gothic" panose="020B0502020202020204" pitchFamily="34" charset="0"/>
                <a:cs typeface="Arial" panose="020B0604020202020204" pitchFamily="34" charset="0"/>
              </a:rPr>
              <a:t>(iv) All are true</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3</a:t>
            </a:r>
          </a:p>
        </p:txBody>
      </p:sp>
    </p:spTree>
    <p:extLst>
      <p:ext uri="{BB962C8B-B14F-4D97-AF65-F5344CB8AC3E}">
        <p14:creationId xmlns:p14="http://schemas.microsoft.com/office/powerpoint/2010/main" val="42170631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DC38FC2-38AE-4A98-82A1-B418EF9FE74F}"/>
                  </a:ext>
                </a:extLst>
              </p:cNvPr>
              <p:cNvSpPr txBox="1"/>
              <p:nvPr/>
            </p:nvSpPr>
            <p:spPr>
              <a:xfrm>
                <a:off x="1330158" y="1592407"/>
                <a:ext cx="10566400" cy="3673185"/>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If </a:t>
                </a:r>
                <a14:m>
                  <m:oMath xmlns:m="http://schemas.openxmlformats.org/officeDocument/2006/math">
                    <m:r>
                      <a:rPr lang="en-IN" sz="2400">
                        <a:latin typeface="Cambria Math" panose="02040503050406030204" pitchFamily="18" charset="0"/>
                        <a:cs typeface="Arial" panose="020B0604020202020204" pitchFamily="34" charset="0"/>
                      </a:rPr>
                      <m:t>2</m:t>
                    </m:r>
                    <m:d>
                      <m:dPr>
                        <m:begChr m:val="["/>
                        <m:endChr m:val="]"/>
                        <m:ctrlPr>
                          <a:rPr lang="en-US" sz="2400" i="1">
                            <a:latin typeface="Cambria Math" panose="02040503050406030204" pitchFamily="18" charset="0"/>
                            <a:cs typeface="Arial" panose="020B0604020202020204" pitchFamily="34" charset="0"/>
                          </a:rPr>
                        </m:ctrlPr>
                      </m:dPr>
                      <m:e>
                        <m:m>
                          <m:mPr>
                            <m:mcs>
                              <m:mc>
                                <m:mcPr>
                                  <m:count m:val="2"/>
                                  <m:mcJc m:val="center"/>
                                </m:mcPr>
                              </m:mc>
                            </m:mcs>
                            <m:ctrlPr>
                              <a:rPr lang="en-US" sz="2400" i="1">
                                <a:latin typeface="Cambria Math" panose="02040503050406030204" pitchFamily="18" charset="0"/>
                                <a:cs typeface="Arial" panose="020B0604020202020204" pitchFamily="34" charset="0"/>
                              </a:rPr>
                            </m:ctrlPr>
                          </m:mPr>
                          <m:mr>
                            <m:e>
                              <m:r>
                                <m:rPr>
                                  <m:brk m:alnAt="7"/>
                                </m:rPr>
                                <a:rPr lang="en-IN" sz="2400" i="1">
                                  <a:latin typeface="Cambria Math" panose="02040503050406030204" pitchFamily="18" charset="0"/>
                                  <a:cs typeface="Arial" panose="020B0604020202020204" pitchFamily="34" charset="0"/>
                                </a:rPr>
                                <m:t>3</m:t>
                              </m:r>
                            </m:e>
                            <m:e>
                              <m:r>
                                <a:rPr lang="en-IN" sz="2400" i="1">
                                  <a:latin typeface="Cambria Math" panose="02040503050406030204" pitchFamily="18" charset="0"/>
                                  <a:cs typeface="Arial" panose="020B0604020202020204" pitchFamily="34" charset="0"/>
                                </a:rPr>
                                <m:t>4</m:t>
                              </m:r>
                            </m:e>
                          </m:mr>
                          <m:mr>
                            <m:e>
                              <m:r>
                                <a:rPr lang="en-IN" sz="2400" i="1">
                                  <a:latin typeface="Cambria Math" panose="02040503050406030204" pitchFamily="18" charset="0"/>
                                  <a:cs typeface="Arial" panose="020B0604020202020204" pitchFamily="34" charset="0"/>
                                </a:rPr>
                                <m:t>5</m:t>
                              </m:r>
                            </m:e>
                            <m:e>
                              <m:r>
                                <a:rPr lang="en-IN" sz="2400" i="1">
                                  <a:latin typeface="Cambria Math" panose="02040503050406030204" pitchFamily="18" charset="0"/>
                                  <a:cs typeface="Arial" panose="020B0604020202020204" pitchFamily="34" charset="0"/>
                                </a:rPr>
                                <m:t>𝑥</m:t>
                              </m:r>
                            </m:e>
                          </m:mr>
                        </m:m>
                      </m:e>
                    </m:d>
                    <m:r>
                      <a:rPr lang="en-IN" sz="2400" i="1">
                        <a:latin typeface="Cambria Math" panose="02040503050406030204" pitchFamily="18" charset="0"/>
                        <a:cs typeface="Arial" panose="020B0604020202020204" pitchFamily="34" charset="0"/>
                      </a:rPr>
                      <m:t>+ </m:t>
                    </m:r>
                    <m:d>
                      <m:dPr>
                        <m:begChr m:val="["/>
                        <m:endChr m:val="]"/>
                        <m:ctrlPr>
                          <a:rPr lang="en-IN" sz="2400" i="1">
                            <a:latin typeface="Cambria Math" panose="02040503050406030204" pitchFamily="18" charset="0"/>
                            <a:cs typeface="Arial" panose="020B0604020202020204" pitchFamily="34" charset="0"/>
                          </a:rPr>
                        </m:ctrlPr>
                      </m:dPr>
                      <m:e>
                        <m:m>
                          <m:mPr>
                            <m:mcs>
                              <m:mc>
                                <m:mcPr>
                                  <m:count m:val="2"/>
                                  <m:mcJc m:val="center"/>
                                </m:mcPr>
                              </m:mc>
                            </m:mcs>
                            <m:ctrlPr>
                              <a:rPr lang="en-IN" sz="2400" i="1">
                                <a:latin typeface="Cambria Math" panose="02040503050406030204" pitchFamily="18" charset="0"/>
                                <a:cs typeface="Arial" panose="020B0604020202020204" pitchFamily="34" charset="0"/>
                              </a:rPr>
                            </m:ctrlPr>
                          </m:mPr>
                          <m:mr>
                            <m:e>
                              <m:r>
                                <m:rPr>
                                  <m:brk m:alnAt="7"/>
                                </m:rPr>
                                <a:rPr lang="en-IN" sz="2400" i="1">
                                  <a:latin typeface="Cambria Math" panose="02040503050406030204" pitchFamily="18" charset="0"/>
                                  <a:cs typeface="Arial" panose="020B0604020202020204" pitchFamily="34" charset="0"/>
                                </a:rPr>
                                <m:t>1</m:t>
                              </m:r>
                            </m:e>
                            <m:e>
                              <m:r>
                                <a:rPr lang="en-IN" sz="2400" i="1">
                                  <a:latin typeface="Cambria Math" panose="02040503050406030204" pitchFamily="18" charset="0"/>
                                  <a:cs typeface="Arial" panose="020B0604020202020204" pitchFamily="34" charset="0"/>
                                </a:rPr>
                                <m:t>𝑦</m:t>
                              </m:r>
                            </m:e>
                          </m:mr>
                          <m:mr>
                            <m:e>
                              <m:r>
                                <a:rPr lang="en-IN" sz="2400" i="1">
                                  <a:latin typeface="Cambria Math" panose="02040503050406030204" pitchFamily="18" charset="0"/>
                                  <a:cs typeface="Arial" panose="020B0604020202020204" pitchFamily="34" charset="0"/>
                                </a:rPr>
                                <m:t>0</m:t>
                              </m:r>
                            </m:e>
                            <m:e>
                              <m:r>
                                <a:rPr lang="en-IN" sz="2400" i="1">
                                  <a:latin typeface="Cambria Math" panose="02040503050406030204" pitchFamily="18" charset="0"/>
                                  <a:cs typeface="Arial" panose="020B0604020202020204" pitchFamily="34" charset="0"/>
                                </a:rPr>
                                <m:t>1</m:t>
                              </m:r>
                            </m:e>
                          </m:mr>
                        </m:m>
                      </m:e>
                    </m:d>
                  </m:oMath>
                </a14:m>
                <a:r>
                  <a:rPr lang="en-US" sz="2400" dirty="0">
                    <a:latin typeface="Century Gothic" panose="020B0502020202020204" pitchFamily="34" charset="0"/>
                    <a:cs typeface="Arial" panose="020B0604020202020204" pitchFamily="34" charset="0"/>
                  </a:rPr>
                  <a:t> = </a:t>
                </a:r>
                <a14:m>
                  <m:oMath xmlns:m="http://schemas.openxmlformats.org/officeDocument/2006/math">
                    <m:d>
                      <m:dPr>
                        <m:begChr m:val="["/>
                        <m:endChr m:val="]"/>
                        <m:ctrlPr>
                          <a:rPr lang="en-US" sz="2400" i="1">
                            <a:latin typeface="Cambria Math" panose="02040503050406030204" pitchFamily="18" charset="0"/>
                            <a:cs typeface="Arial" panose="020B0604020202020204" pitchFamily="34" charset="0"/>
                          </a:rPr>
                        </m:ctrlPr>
                      </m:dPr>
                      <m:e>
                        <m:m>
                          <m:mPr>
                            <m:mcs>
                              <m:mc>
                                <m:mcPr>
                                  <m:count m:val="2"/>
                                  <m:mcJc m:val="center"/>
                                </m:mcPr>
                              </m:mc>
                            </m:mcs>
                            <m:ctrlPr>
                              <a:rPr lang="en-US" sz="2400" i="1">
                                <a:latin typeface="Cambria Math" panose="02040503050406030204" pitchFamily="18" charset="0"/>
                                <a:cs typeface="Arial" panose="020B0604020202020204" pitchFamily="34" charset="0"/>
                              </a:rPr>
                            </m:ctrlPr>
                          </m:mPr>
                          <m:mr>
                            <m:e>
                              <m:r>
                                <m:rPr>
                                  <m:brk m:alnAt="7"/>
                                </m:rPr>
                                <a:rPr lang="en-IN" sz="2400" i="1">
                                  <a:latin typeface="Cambria Math" panose="02040503050406030204" pitchFamily="18" charset="0"/>
                                  <a:cs typeface="Arial" panose="020B0604020202020204" pitchFamily="34" charset="0"/>
                                </a:rPr>
                                <m:t>7</m:t>
                              </m:r>
                            </m:e>
                            <m:e>
                              <m:r>
                                <a:rPr lang="en-IN" sz="2400" i="1">
                                  <a:latin typeface="Cambria Math" panose="02040503050406030204" pitchFamily="18" charset="0"/>
                                  <a:cs typeface="Arial" panose="020B0604020202020204" pitchFamily="34" charset="0"/>
                                </a:rPr>
                                <m:t>0</m:t>
                              </m:r>
                            </m:e>
                          </m:mr>
                          <m:mr>
                            <m:e>
                              <m:r>
                                <a:rPr lang="en-IN" sz="2400" i="1">
                                  <a:latin typeface="Cambria Math" panose="02040503050406030204" pitchFamily="18" charset="0"/>
                                  <a:cs typeface="Arial" panose="020B0604020202020204" pitchFamily="34" charset="0"/>
                                </a:rPr>
                                <m:t>10</m:t>
                              </m:r>
                            </m:e>
                            <m:e>
                              <m:r>
                                <a:rPr lang="en-IN" sz="2400" i="1">
                                  <a:latin typeface="Cambria Math" panose="02040503050406030204" pitchFamily="18" charset="0"/>
                                  <a:cs typeface="Arial" panose="020B0604020202020204" pitchFamily="34" charset="0"/>
                                </a:rPr>
                                <m:t>5</m:t>
                              </m:r>
                            </m:e>
                          </m:mr>
                        </m:m>
                      </m:e>
                    </m:d>
                  </m:oMath>
                </a14:m>
                <a:r>
                  <a:rPr lang="en-US" sz="2400" dirty="0">
                    <a:latin typeface="Century Gothic" panose="020B0502020202020204" pitchFamily="34" charset="0"/>
                    <a:cs typeface="Arial" panose="020B0604020202020204" pitchFamily="34" charset="0"/>
                  </a:rPr>
                  <a:t>, the find x and y</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8</a:t>
                </a:r>
              </a:p>
              <a:p>
                <a:r>
                  <a:rPr lang="en-US" sz="2400" dirty="0">
                    <a:latin typeface="Century Gothic" panose="020B0502020202020204" pitchFamily="34" charset="0"/>
                    <a:cs typeface="Arial" panose="020B0604020202020204" pitchFamily="34" charset="0"/>
                  </a:rPr>
                  <a:t>(ii) 10</a:t>
                </a:r>
              </a:p>
              <a:p>
                <a:r>
                  <a:rPr lang="en-US" sz="2400" dirty="0">
                    <a:latin typeface="Century Gothic" panose="020B0502020202020204" pitchFamily="34" charset="0"/>
                    <a:cs typeface="Arial" panose="020B0604020202020204" pitchFamily="34" charset="0"/>
                  </a:rPr>
                  <a:t>(iii) 7</a:t>
                </a:r>
              </a:p>
              <a:p>
                <a:r>
                  <a:rPr lang="en-US" sz="2400" dirty="0">
                    <a:latin typeface="Century Gothic" panose="020B0502020202020204" pitchFamily="34" charset="0"/>
                    <a:cs typeface="Arial" panose="020B0604020202020204" pitchFamily="34" charset="0"/>
                  </a:rPr>
                  <a:t>(iv) 12</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a:t>
                </a:r>
              </a:p>
              <a:p>
                <a:endParaRPr lang="en-IN" sz="2400" dirty="0">
                  <a:latin typeface="Century Gothic" panose="020B0502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DDC38FC2-38AE-4A98-82A1-B418EF9FE74F}"/>
                  </a:ext>
                </a:extLst>
              </p:cNvPr>
              <p:cNvSpPr txBox="1">
                <a:spLocks noRot="1" noChangeAspect="1" noMove="1" noResize="1" noEditPoints="1" noAdjustHandles="1" noChangeArrowheads="1" noChangeShapeType="1" noTextEdit="1"/>
              </p:cNvSpPr>
              <p:nvPr/>
            </p:nvSpPr>
            <p:spPr>
              <a:xfrm>
                <a:off x="1330158" y="1592407"/>
                <a:ext cx="10566400" cy="3673185"/>
              </a:xfrm>
              <a:prstGeom prst="rect">
                <a:avLst/>
              </a:prstGeom>
              <a:blipFill>
                <a:blip r:embed="rId2"/>
                <a:stretch>
                  <a:fillRect l="-865"/>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4</a:t>
            </a:r>
          </a:p>
        </p:txBody>
      </p:sp>
      <mc:AlternateContent xmlns:mc="http://schemas.openxmlformats.org/markup-compatibility/2006" xmlns:p14="http://schemas.microsoft.com/office/powerpoint/2010/main">
        <mc:Choice Requires="p14">
          <p:contentPart p14:bwMode="auto" r:id="rId3">
            <p14:nvContentPartPr>
              <p14:cNvPr id="20" name="Ink 19">
                <a:extLst>
                  <a:ext uri="{FF2B5EF4-FFF2-40B4-BE49-F238E27FC236}">
                    <a16:creationId xmlns:a16="http://schemas.microsoft.com/office/drawing/2014/main" id="{4AA96E7E-2971-4F5F-BC2D-02DE10CEC7AE}"/>
                  </a:ext>
                </a:extLst>
              </p14:cNvPr>
              <p14:cNvContentPartPr/>
              <p14:nvPr/>
            </p14:nvContentPartPr>
            <p14:xfrm>
              <a:off x="10953246" y="3748168"/>
              <a:ext cx="50760" cy="35280"/>
            </p14:xfrm>
          </p:contentPart>
        </mc:Choice>
        <mc:Fallback xmlns="">
          <p:pic>
            <p:nvPicPr>
              <p:cNvPr id="20" name="Ink 19">
                <a:extLst>
                  <a:ext uri="{FF2B5EF4-FFF2-40B4-BE49-F238E27FC236}">
                    <a16:creationId xmlns:a16="http://schemas.microsoft.com/office/drawing/2014/main" id="{4AA96E7E-2971-4F5F-BC2D-02DE10CEC7AE}"/>
                  </a:ext>
                </a:extLst>
              </p:cNvPr>
              <p:cNvPicPr/>
              <p:nvPr/>
            </p:nvPicPr>
            <p:blipFill>
              <a:blip r:embed="rId4"/>
              <a:stretch>
                <a:fillRect/>
              </a:stretch>
            </p:blipFill>
            <p:spPr>
              <a:xfrm>
                <a:off x="10948926" y="3743848"/>
                <a:ext cx="5940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4" name="Ink 23">
                <a:extLst>
                  <a:ext uri="{FF2B5EF4-FFF2-40B4-BE49-F238E27FC236}">
                    <a16:creationId xmlns:a16="http://schemas.microsoft.com/office/drawing/2014/main" id="{1C255AE7-52C6-4C3C-99CC-1056EAF2E125}"/>
                  </a:ext>
                </a:extLst>
              </p14:cNvPr>
              <p14:cNvContentPartPr/>
              <p14:nvPr/>
            </p14:nvContentPartPr>
            <p14:xfrm>
              <a:off x="2658486" y="-565712"/>
              <a:ext cx="360" cy="360"/>
            </p14:xfrm>
          </p:contentPart>
        </mc:Choice>
        <mc:Fallback xmlns="">
          <p:pic>
            <p:nvPicPr>
              <p:cNvPr id="24" name="Ink 23">
                <a:extLst>
                  <a:ext uri="{FF2B5EF4-FFF2-40B4-BE49-F238E27FC236}">
                    <a16:creationId xmlns:a16="http://schemas.microsoft.com/office/drawing/2014/main" id="{1C255AE7-52C6-4C3C-99CC-1056EAF2E125}"/>
                  </a:ext>
                </a:extLst>
              </p:cNvPr>
              <p:cNvPicPr/>
              <p:nvPr/>
            </p:nvPicPr>
            <p:blipFill>
              <a:blip r:embed="rId6"/>
              <a:stretch>
                <a:fillRect/>
              </a:stretch>
            </p:blipFill>
            <p:spPr>
              <a:xfrm>
                <a:off x="2654166" y="-570032"/>
                <a:ext cx="9000" cy="9000"/>
              </a:xfrm>
              <a:prstGeom prst="rect">
                <a:avLst/>
              </a:prstGeom>
            </p:spPr>
          </p:pic>
        </mc:Fallback>
      </mc:AlternateContent>
    </p:spTree>
    <p:extLst>
      <p:ext uri="{BB962C8B-B14F-4D97-AF65-F5344CB8AC3E}">
        <p14:creationId xmlns:p14="http://schemas.microsoft.com/office/powerpoint/2010/main" val="2360365655"/>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DC38FC2-38AE-4A98-82A1-B418EF9FE74F}"/>
                  </a:ext>
                </a:extLst>
              </p:cNvPr>
              <p:cNvSpPr txBox="1"/>
              <p:nvPr/>
            </p:nvSpPr>
            <p:spPr>
              <a:xfrm>
                <a:off x="660400" y="1701800"/>
                <a:ext cx="10871200" cy="3293466"/>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Solve the matrix equation for x</a:t>
                </a:r>
              </a:p>
              <a:p>
                <a:pPr/>
                <a14:m>
                  <m:oMathPara xmlns:m="http://schemas.openxmlformats.org/officeDocument/2006/math">
                    <m:oMathParaPr>
                      <m:jc m:val="centerGroup"/>
                    </m:oMathParaPr>
                    <m:oMath xmlns:m="http://schemas.openxmlformats.org/officeDocument/2006/math">
                      <m:d>
                        <m:dPr>
                          <m:begChr m:val="["/>
                          <m:endChr m:val="]"/>
                          <m:ctrlPr>
                            <a:rPr lang="en-IN" sz="2400" i="1">
                              <a:latin typeface="Cambria Math" panose="02040503050406030204" pitchFamily="18" charset="0"/>
                              <a:cs typeface="Arial" panose="020B0604020202020204" pitchFamily="34" charset="0"/>
                            </a:rPr>
                          </m:ctrlPr>
                        </m:dPr>
                        <m:e>
                          <m:r>
                            <a:rPr lang="en-IN" sz="2400" i="1">
                              <a:latin typeface="Cambria Math" panose="02040503050406030204" pitchFamily="18" charset="0"/>
                              <a:cs typeface="Arial" panose="020B0604020202020204" pitchFamily="34" charset="0"/>
                            </a:rPr>
                            <m:t> </m:t>
                          </m:r>
                          <m:r>
                            <a:rPr lang="en-IN" sz="2400" i="1">
                              <a:latin typeface="Cambria Math" panose="02040503050406030204" pitchFamily="18" charset="0"/>
                              <a:cs typeface="Arial" panose="020B0604020202020204" pitchFamily="34" charset="0"/>
                            </a:rPr>
                            <m:t>𝑥</m:t>
                          </m:r>
                          <m:r>
                            <a:rPr lang="en-IN" sz="2400" i="1">
                              <a:latin typeface="Cambria Math" panose="02040503050406030204" pitchFamily="18" charset="0"/>
                              <a:cs typeface="Arial" panose="020B0604020202020204" pitchFamily="34" charset="0"/>
                            </a:rPr>
                            <m:t>     1</m:t>
                          </m:r>
                        </m:e>
                      </m:d>
                      <m:d>
                        <m:dPr>
                          <m:begChr m:val="["/>
                          <m:endChr m:val="]"/>
                          <m:ctrlPr>
                            <a:rPr lang="en-IN" sz="2400" i="1">
                              <a:latin typeface="Cambria Math" panose="02040503050406030204" pitchFamily="18" charset="0"/>
                              <a:cs typeface="Arial" panose="020B0604020202020204" pitchFamily="34" charset="0"/>
                            </a:rPr>
                          </m:ctrlPr>
                        </m:dPr>
                        <m:e>
                          <m:m>
                            <m:mPr>
                              <m:mcs>
                                <m:mc>
                                  <m:mcPr>
                                    <m:count m:val="2"/>
                                    <m:mcJc m:val="center"/>
                                  </m:mcPr>
                                </m:mc>
                              </m:mcs>
                              <m:ctrlPr>
                                <a:rPr lang="en-IN" sz="2400" i="1">
                                  <a:latin typeface="Cambria Math" panose="02040503050406030204" pitchFamily="18" charset="0"/>
                                  <a:cs typeface="Arial" panose="020B0604020202020204" pitchFamily="34" charset="0"/>
                                </a:rPr>
                              </m:ctrlPr>
                            </m:mPr>
                            <m:mr>
                              <m:e>
                                <m:r>
                                  <m:rPr>
                                    <m:brk m:alnAt="7"/>
                                  </m:rPr>
                                  <a:rPr lang="en-IN" sz="2400" i="1">
                                    <a:latin typeface="Cambria Math" panose="02040503050406030204" pitchFamily="18" charset="0"/>
                                    <a:cs typeface="Arial" panose="020B0604020202020204" pitchFamily="34" charset="0"/>
                                  </a:rPr>
                                  <m:t>1</m:t>
                                </m:r>
                              </m:e>
                              <m:e>
                                <m:r>
                                  <a:rPr lang="en-IN" sz="2400" i="1">
                                    <a:latin typeface="Cambria Math" panose="02040503050406030204" pitchFamily="18" charset="0"/>
                                    <a:cs typeface="Arial" panose="020B0604020202020204" pitchFamily="34" charset="0"/>
                                  </a:rPr>
                                  <m:t>0</m:t>
                                </m:r>
                              </m:e>
                            </m:mr>
                            <m:mr>
                              <m:e>
                                <m:r>
                                  <a:rPr lang="en-IN" sz="2400" i="1">
                                    <a:latin typeface="Cambria Math" panose="02040503050406030204" pitchFamily="18" charset="0"/>
                                    <a:cs typeface="Arial" panose="020B0604020202020204" pitchFamily="34" charset="0"/>
                                  </a:rPr>
                                  <m:t>−2</m:t>
                                </m:r>
                              </m:e>
                              <m:e>
                                <m:r>
                                  <a:rPr lang="en-IN" sz="2400" i="1">
                                    <a:latin typeface="Cambria Math" panose="02040503050406030204" pitchFamily="18" charset="0"/>
                                    <a:cs typeface="Arial" panose="020B0604020202020204" pitchFamily="34" charset="0"/>
                                  </a:rPr>
                                  <m:t>0</m:t>
                                </m:r>
                              </m:e>
                            </m:mr>
                          </m:m>
                        </m:e>
                      </m:d>
                      <m:r>
                        <a:rPr lang="en-IN" sz="2400" i="1">
                          <a:latin typeface="Cambria Math" panose="02040503050406030204" pitchFamily="18" charset="0"/>
                          <a:cs typeface="Arial" panose="020B0604020202020204" pitchFamily="34" charset="0"/>
                        </a:rPr>
                        <m:t>=0</m:t>
                      </m:r>
                    </m:oMath>
                  </m:oMathPara>
                </a14:m>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1</a:t>
                </a:r>
              </a:p>
              <a:p>
                <a:r>
                  <a:rPr lang="en-US" sz="2400" dirty="0">
                    <a:latin typeface="Century Gothic" panose="020B0502020202020204" pitchFamily="34" charset="0"/>
                    <a:cs typeface="Arial" panose="020B0604020202020204" pitchFamily="34" charset="0"/>
                  </a:rPr>
                  <a:t>(ii) 2</a:t>
                </a:r>
              </a:p>
              <a:p>
                <a:r>
                  <a:rPr lang="en-US" sz="2400" dirty="0">
                    <a:latin typeface="Century Gothic" panose="020B0502020202020204" pitchFamily="34" charset="0"/>
                    <a:cs typeface="Arial" panose="020B0604020202020204" pitchFamily="34" charset="0"/>
                  </a:rPr>
                  <a:t>(iii) 3</a:t>
                </a:r>
              </a:p>
              <a:p>
                <a:r>
                  <a:rPr lang="en-US" sz="2400" dirty="0">
                    <a:latin typeface="Century Gothic" panose="020B0502020202020204" pitchFamily="34" charset="0"/>
                    <a:cs typeface="Arial" panose="020B0604020202020204" pitchFamily="34" charset="0"/>
                  </a:rPr>
                  <a:t>(iv) 4</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a:t>
                </a:r>
              </a:p>
            </p:txBody>
          </p:sp>
        </mc:Choice>
        <mc:Fallback xmlns="">
          <p:sp>
            <p:nvSpPr>
              <p:cNvPr id="4" name="TextBox 3">
                <a:extLst>
                  <a:ext uri="{FF2B5EF4-FFF2-40B4-BE49-F238E27FC236}">
                    <a16:creationId xmlns:a16="http://schemas.microsoft.com/office/drawing/2014/main" id="{DDC38FC2-38AE-4A98-82A1-B418EF9FE74F}"/>
                  </a:ext>
                </a:extLst>
              </p:cNvPr>
              <p:cNvSpPr txBox="1">
                <a:spLocks noRot="1" noChangeAspect="1" noMove="1" noResize="1" noEditPoints="1" noAdjustHandles="1" noChangeArrowheads="1" noChangeShapeType="1" noTextEdit="1"/>
              </p:cNvSpPr>
              <p:nvPr/>
            </p:nvSpPr>
            <p:spPr>
              <a:xfrm>
                <a:off x="660400" y="1701800"/>
                <a:ext cx="10871200" cy="3293466"/>
              </a:xfrm>
              <a:prstGeom prst="rect">
                <a:avLst/>
              </a:prstGeom>
              <a:blipFill>
                <a:blip r:embed="rId2"/>
                <a:stretch>
                  <a:fillRect l="-841" t="-1481" b="-3333"/>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5</a:t>
            </a:r>
          </a:p>
        </p:txBody>
      </p:sp>
    </p:spTree>
    <p:extLst>
      <p:ext uri="{BB962C8B-B14F-4D97-AF65-F5344CB8AC3E}">
        <p14:creationId xmlns:p14="http://schemas.microsoft.com/office/powerpoint/2010/main" val="37180732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7FF19B0B-40FF-4315-A934-DB435329A276}"/>
                  </a:ext>
                </a:extLst>
              </p:cNvPr>
              <p:cNvSpPr/>
              <p:nvPr/>
            </p:nvSpPr>
            <p:spPr>
              <a:xfrm>
                <a:off x="914400" y="1193800"/>
                <a:ext cx="10566400" cy="5605124"/>
              </a:xfrm>
              <a:prstGeom prst="rect">
                <a:avLst/>
              </a:prstGeom>
            </p:spPr>
            <p:txBody>
              <a:bodyPr wrap="square">
                <a:spAutoFit/>
              </a:bodyPr>
              <a:lstStyle/>
              <a:p>
                <a:r>
                  <a:rPr lang="en-US" sz="2400" dirty="0">
                    <a:solidFill>
                      <a:srgbClr val="000000"/>
                    </a:solidFill>
                    <a:latin typeface="Segoe UI" panose="020B0502040204020203" pitchFamily="34" charset="0"/>
                  </a:rPr>
                  <a:t>Echelon matrices come in two forms: the </a:t>
                </a:r>
                <a:r>
                  <a:rPr lang="en-US" sz="2400" b="1" dirty="0">
                    <a:solidFill>
                      <a:srgbClr val="000000"/>
                    </a:solidFill>
                    <a:latin typeface="Segoe UI" panose="020B0502040204020203" pitchFamily="34" charset="0"/>
                  </a:rPr>
                  <a:t>row echelon form</a:t>
                </a:r>
                <a:r>
                  <a:rPr lang="en-US" sz="2400" dirty="0">
                    <a:solidFill>
                      <a:srgbClr val="000000"/>
                    </a:solidFill>
                    <a:latin typeface="Segoe UI" panose="020B0502040204020203" pitchFamily="34" charset="0"/>
                  </a:rPr>
                  <a:t> (ref) and the </a:t>
                </a:r>
                <a:r>
                  <a:rPr lang="en-US" sz="2400" b="1" dirty="0">
                    <a:solidFill>
                      <a:srgbClr val="000000"/>
                    </a:solidFill>
                    <a:latin typeface="Segoe UI" panose="020B0502040204020203" pitchFamily="34" charset="0"/>
                  </a:rPr>
                  <a:t>reduced row echelon form</a:t>
                </a:r>
                <a:r>
                  <a:rPr lang="en-US" sz="2400" dirty="0">
                    <a:solidFill>
                      <a:srgbClr val="000000"/>
                    </a:solidFill>
                    <a:latin typeface="Segoe UI" panose="020B0502040204020203" pitchFamily="34" charset="0"/>
                  </a:rPr>
                  <a:t> (</a:t>
                </a:r>
                <a:r>
                  <a:rPr lang="en-US" sz="2400" dirty="0" err="1">
                    <a:solidFill>
                      <a:srgbClr val="000000"/>
                    </a:solidFill>
                    <a:latin typeface="Segoe UI" panose="020B0502040204020203" pitchFamily="34" charset="0"/>
                  </a:rPr>
                  <a:t>rref</a:t>
                </a:r>
                <a:r>
                  <a:rPr lang="en-US" sz="2400" dirty="0">
                    <a:solidFill>
                      <a:srgbClr val="000000"/>
                    </a:solidFill>
                    <a:latin typeface="Segoe UI" panose="020B0502040204020203" pitchFamily="34" charset="0"/>
                  </a:rPr>
                  <a:t>).</a:t>
                </a:r>
              </a:p>
              <a:p>
                <a:pPr fontAlgn="t"/>
                <a:r>
                  <a:rPr lang="en-US" sz="1600" dirty="0">
                    <a:solidFill>
                      <a:srgbClr val="990000"/>
                    </a:solidFill>
                    <a:latin typeface="Segoe UI" panose="020B0502040204020203" pitchFamily="34" charset="0"/>
                  </a:rPr>
                  <a:t>Row Echelon Form</a:t>
                </a:r>
              </a:p>
              <a:p>
                <a:r>
                  <a:rPr lang="en-US" sz="2400" dirty="0">
                    <a:solidFill>
                      <a:srgbClr val="000000"/>
                    </a:solidFill>
                    <a:latin typeface="Segoe UI" panose="020B0502040204020203" pitchFamily="34" charset="0"/>
                  </a:rPr>
                  <a:t>A matrix is in </a:t>
                </a:r>
                <a:r>
                  <a:rPr lang="en-US" sz="2400" b="1" dirty="0">
                    <a:solidFill>
                      <a:srgbClr val="000000"/>
                    </a:solidFill>
                    <a:latin typeface="Segoe UI" panose="020B0502040204020203" pitchFamily="34" charset="0"/>
                  </a:rPr>
                  <a:t>row echelon form</a:t>
                </a:r>
                <a:r>
                  <a:rPr lang="en-US" sz="2400" dirty="0">
                    <a:solidFill>
                      <a:srgbClr val="000000"/>
                    </a:solidFill>
                    <a:latin typeface="Segoe UI" panose="020B0502040204020203" pitchFamily="34" charset="0"/>
                  </a:rPr>
                  <a:t> (ref) when it satisfies the following conditions.</a:t>
                </a:r>
              </a:p>
              <a:p>
                <a:pPr>
                  <a:buFont typeface="Arial" panose="020B0604020202020204" pitchFamily="34" charset="0"/>
                  <a:buChar char="•"/>
                </a:pPr>
                <a:r>
                  <a:rPr lang="en-US" sz="1333" dirty="0">
                    <a:solidFill>
                      <a:srgbClr val="000000"/>
                    </a:solidFill>
                    <a:latin typeface="Segoe UI" panose="020B0502040204020203" pitchFamily="34" charset="0"/>
                  </a:rPr>
                  <a:t>The first non-zero element in each row, called the </a:t>
                </a:r>
                <a:r>
                  <a:rPr lang="en-US" sz="1333" b="1" dirty="0">
                    <a:solidFill>
                      <a:srgbClr val="000000"/>
                    </a:solidFill>
                    <a:latin typeface="Segoe UI" panose="020B0502040204020203" pitchFamily="34" charset="0"/>
                  </a:rPr>
                  <a:t>leading entry</a:t>
                </a:r>
                <a:r>
                  <a:rPr lang="en-US" sz="1333" dirty="0">
                    <a:solidFill>
                      <a:srgbClr val="000000"/>
                    </a:solidFill>
                    <a:latin typeface="Segoe UI" panose="020B0502040204020203" pitchFamily="34" charset="0"/>
                  </a:rPr>
                  <a:t>, is 1.</a:t>
                </a:r>
              </a:p>
              <a:p>
                <a:pPr>
                  <a:buFont typeface="Arial" panose="020B0604020202020204" pitchFamily="34" charset="0"/>
                  <a:buChar char="•"/>
                </a:pPr>
                <a:r>
                  <a:rPr lang="en-US" sz="1333" dirty="0">
                    <a:solidFill>
                      <a:srgbClr val="000000"/>
                    </a:solidFill>
                    <a:latin typeface="Segoe UI" panose="020B0502040204020203" pitchFamily="34" charset="0"/>
                  </a:rPr>
                  <a:t>Each leading entry is in a column to the right of the leading entry in the previous row.</a:t>
                </a:r>
              </a:p>
              <a:p>
                <a:pPr>
                  <a:buFont typeface="Arial" panose="020B0604020202020204" pitchFamily="34" charset="0"/>
                  <a:buChar char="•"/>
                </a:pPr>
                <a:r>
                  <a:rPr lang="en-US" sz="1333" dirty="0">
                    <a:solidFill>
                      <a:srgbClr val="000000"/>
                    </a:solidFill>
                    <a:latin typeface="Segoe UI" panose="020B0502040204020203" pitchFamily="34" charset="0"/>
                  </a:rPr>
                  <a:t>Rows with all zero elements, if any, are below rows having a non-zero element.</a:t>
                </a:r>
              </a:p>
              <a:p>
                <a:endParaRPr lang="en-US" sz="2400" dirty="0">
                  <a:solidFill>
                    <a:srgbClr val="000000"/>
                  </a:solidFill>
                  <a:latin typeface="Segoe UI" panose="020B0502040204020203" pitchFamily="34" charset="0"/>
                </a:endParaRPr>
              </a:p>
              <a:p>
                <a:r>
                  <a:rPr lang="en-US" sz="2400" dirty="0">
                    <a:solidFill>
                      <a:srgbClr val="000000"/>
                    </a:solidFill>
                    <a:latin typeface="Segoe UI" panose="020B0502040204020203" pitchFamily="34" charset="0"/>
                  </a:rPr>
                  <a:t>Each of the matrices shown below are examples of matrices in row echelon form.</a:t>
                </a:r>
              </a:p>
              <a:p>
                <a:endParaRPr lang="en-US" sz="2400" dirty="0">
                  <a:solidFill>
                    <a:srgbClr val="000000"/>
                  </a:solidFill>
                  <a:latin typeface="Segoe UI" panose="020B0502040204020203" pitchFamily="34" charset="0"/>
                </a:endParaRPr>
              </a:p>
              <a:p>
                <a14:m>
                  <m:oMath xmlns:m="http://schemas.openxmlformats.org/officeDocument/2006/math">
                    <m:d>
                      <m:dPr>
                        <m:begChr m:val="["/>
                        <m:endChr m:val="]"/>
                        <m:ctrlPr>
                          <a:rPr lang="en-US" sz="2400" i="1">
                            <a:solidFill>
                              <a:srgbClr val="000000"/>
                            </a:solidFill>
                            <a:latin typeface="Cambria Math" panose="02040503050406030204" pitchFamily="18" charset="0"/>
                          </a:rPr>
                        </m:ctrlPr>
                      </m:dPr>
                      <m:e>
                        <m:m>
                          <m:mPr>
                            <m:mcs>
                              <m:mc>
                                <m:mcPr>
                                  <m:count m:val="2"/>
                                  <m:mcJc m:val="center"/>
                                </m:mcPr>
                              </m:mc>
                            </m:mcs>
                            <m:ctrlPr>
                              <a:rPr lang="en-US" sz="2400" i="1">
                                <a:solidFill>
                                  <a:srgbClr val="000000"/>
                                </a:solidFill>
                                <a:latin typeface="Cambria Math" panose="02040503050406030204" pitchFamily="18" charset="0"/>
                              </a:rPr>
                            </m:ctrlPr>
                          </m:mPr>
                          <m:mr>
                            <m:e>
                              <m:r>
                                <m:rPr>
                                  <m:brk m:alnAt="7"/>
                                </m:rPr>
                                <a:rPr lang="en-IN" sz="2400" i="1">
                                  <a:solidFill>
                                    <a:srgbClr val="000000"/>
                                  </a:solidFill>
                                  <a:latin typeface="Cambria Math" panose="02040503050406030204" pitchFamily="18" charset="0"/>
                                </a:rPr>
                                <m:t>1</m:t>
                              </m:r>
                            </m:e>
                            <m:e>
                              <m:r>
                                <a:rPr lang="en-IN" sz="2400" i="1">
                                  <a:solidFill>
                                    <a:srgbClr val="000000"/>
                                  </a:solidFill>
                                  <a:latin typeface="Cambria Math" panose="02040503050406030204" pitchFamily="18" charset="0"/>
                                </a:rPr>
                                <m:t>2     3     4</m:t>
                              </m:r>
                            </m:e>
                          </m:mr>
                          <m:mr>
                            <m:e>
                              <m:eqArr>
                                <m:eqArrPr>
                                  <m:ctrlPr>
                                    <a:rPr lang="en-IN" sz="2400" i="1">
                                      <a:solidFill>
                                        <a:srgbClr val="000000"/>
                                      </a:solidFill>
                                      <a:latin typeface="Cambria Math" panose="02040503050406030204" pitchFamily="18" charset="0"/>
                                    </a:rPr>
                                  </m:ctrlPr>
                                </m:eqArrPr>
                                <m:e>
                                  <m:r>
                                    <a:rPr lang="en-IN" sz="2400" i="1">
                                      <a:solidFill>
                                        <a:srgbClr val="000000"/>
                                      </a:solidFill>
                                      <a:latin typeface="Cambria Math" panose="02040503050406030204" pitchFamily="18" charset="0"/>
                                    </a:rPr>
                                    <m:t>0</m:t>
                                  </m:r>
                                </m:e>
                                <m:e>
                                  <m:r>
                                    <a:rPr lang="en-IN" sz="2400" i="1">
                                      <a:solidFill>
                                        <a:srgbClr val="000000"/>
                                      </a:solidFill>
                                      <a:latin typeface="Cambria Math" panose="02040503050406030204" pitchFamily="18" charset="0"/>
                                    </a:rPr>
                                    <m:t>0</m:t>
                                  </m:r>
                                </m:e>
                              </m:eqArr>
                            </m:e>
                            <m:e>
                              <m:eqArr>
                                <m:eqArrPr>
                                  <m:ctrlPr>
                                    <a:rPr lang="en-IN" sz="2400" i="1">
                                      <a:solidFill>
                                        <a:srgbClr val="000000"/>
                                      </a:solidFill>
                                      <a:latin typeface="Cambria Math" panose="02040503050406030204" pitchFamily="18" charset="0"/>
                                    </a:rPr>
                                  </m:ctrlPr>
                                </m:eqArrPr>
                                <m:e>
                                  <m:r>
                                    <a:rPr lang="en-IN" sz="2400" i="1">
                                      <a:solidFill>
                                        <a:srgbClr val="000000"/>
                                      </a:solidFill>
                                      <a:latin typeface="Cambria Math" panose="02040503050406030204" pitchFamily="18" charset="0"/>
                                    </a:rPr>
                                    <m:t>0      1      3</m:t>
                                  </m:r>
                                </m:e>
                                <m:e>
                                  <m:r>
                                    <a:rPr lang="en-IN" sz="2400" i="1">
                                      <a:solidFill>
                                        <a:srgbClr val="000000"/>
                                      </a:solidFill>
                                      <a:latin typeface="Cambria Math" panose="02040503050406030204" pitchFamily="18" charset="0"/>
                                    </a:rPr>
                                    <m:t>0      0     1</m:t>
                                  </m:r>
                                </m:e>
                              </m:eqArr>
                            </m:e>
                          </m:mr>
                        </m:m>
                      </m:e>
                    </m:d>
                  </m:oMath>
                </a14:m>
                <a:r>
                  <a:rPr lang="en-US" sz="2400" dirty="0">
                    <a:solidFill>
                      <a:srgbClr val="000000"/>
                    </a:solidFill>
                    <a:latin typeface="Segoe UI" panose="020B0502040204020203" pitchFamily="34" charset="0"/>
                  </a:rPr>
                  <a:t>     </a:t>
                </a:r>
                <a14:m>
                  <m:oMath xmlns:m="http://schemas.openxmlformats.org/officeDocument/2006/math">
                    <m:d>
                      <m:dPr>
                        <m:begChr m:val="["/>
                        <m:endChr m:val="]"/>
                        <m:ctrlPr>
                          <a:rPr lang="en-US" sz="2400" i="1" dirty="0">
                            <a:solidFill>
                              <a:srgbClr val="000000"/>
                            </a:solidFill>
                            <a:latin typeface="Cambria Math" panose="02040503050406030204" pitchFamily="18" charset="0"/>
                          </a:rPr>
                        </m:ctrlPr>
                      </m:dPr>
                      <m:e>
                        <m:m>
                          <m:mPr>
                            <m:mcs>
                              <m:mc>
                                <m:mcPr>
                                  <m:count m:val="2"/>
                                  <m:mcJc m:val="center"/>
                                </m:mcPr>
                              </m:mc>
                            </m:mcs>
                            <m:ctrlPr>
                              <a:rPr lang="en-US" sz="2400" i="1" dirty="0">
                                <a:solidFill>
                                  <a:srgbClr val="000000"/>
                                </a:solidFill>
                                <a:latin typeface="Cambria Math" panose="02040503050406030204" pitchFamily="18" charset="0"/>
                              </a:rPr>
                            </m:ctrlPr>
                          </m:mPr>
                          <m:mr>
                            <m:e>
                              <m:r>
                                <m:rPr>
                                  <m:brk m:alnAt="7"/>
                                </m:rPr>
                                <a:rPr lang="en-IN" sz="2400" i="1" dirty="0">
                                  <a:solidFill>
                                    <a:srgbClr val="000000"/>
                                  </a:solidFill>
                                  <a:latin typeface="Cambria Math" panose="02040503050406030204" pitchFamily="18" charset="0"/>
                                </a:rPr>
                                <m:t>1</m:t>
                              </m:r>
                            </m:e>
                            <m:e>
                              <m:r>
                                <a:rPr lang="en-IN" sz="2400" i="1" dirty="0">
                                  <a:solidFill>
                                    <a:srgbClr val="000000"/>
                                  </a:solidFill>
                                  <a:latin typeface="Cambria Math" panose="02040503050406030204" pitchFamily="18" charset="0"/>
                                </a:rPr>
                                <m:t>2</m:t>
                              </m:r>
                            </m:e>
                          </m:mr>
                          <m:mr>
                            <m:e>
                              <m:eqArr>
                                <m:eqArrPr>
                                  <m:ctrlPr>
                                    <a:rPr lang="en-IN" sz="2400" i="1" dirty="0">
                                      <a:solidFill>
                                        <a:srgbClr val="000000"/>
                                      </a:solidFill>
                                      <a:latin typeface="Cambria Math" panose="02040503050406030204" pitchFamily="18" charset="0"/>
                                    </a:rPr>
                                  </m:ctrlPr>
                                </m:eqArrPr>
                                <m:e>
                                  <m:r>
                                    <a:rPr lang="en-IN" sz="2400" i="1" dirty="0">
                                      <a:solidFill>
                                        <a:srgbClr val="000000"/>
                                      </a:solidFill>
                                      <a:latin typeface="Cambria Math" panose="02040503050406030204" pitchFamily="18" charset="0"/>
                                    </a:rPr>
                                    <m:t>0</m:t>
                                  </m:r>
                                </m:e>
                                <m:e>
                                  <m:r>
                                    <a:rPr lang="en-IN" sz="2400" i="1" dirty="0">
                                      <a:solidFill>
                                        <a:srgbClr val="000000"/>
                                      </a:solidFill>
                                      <a:latin typeface="Cambria Math" panose="02040503050406030204" pitchFamily="18" charset="0"/>
                                    </a:rPr>
                                    <m:t>0</m:t>
                                  </m:r>
                                </m:e>
                              </m:eqArr>
                            </m:e>
                            <m:e>
                              <m:eqArr>
                                <m:eqArrPr>
                                  <m:ctrlPr>
                                    <a:rPr lang="en-IN" sz="2400" i="1" dirty="0">
                                      <a:solidFill>
                                        <a:srgbClr val="000000"/>
                                      </a:solidFill>
                                      <a:latin typeface="Cambria Math" panose="02040503050406030204" pitchFamily="18" charset="0"/>
                                    </a:rPr>
                                  </m:ctrlPr>
                                </m:eqArrPr>
                                <m:e>
                                  <m:r>
                                    <a:rPr lang="en-IN" sz="2400" i="1" dirty="0">
                                      <a:solidFill>
                                        <a:srgbClr val="000000"/>
                                      </a:solidFill>
                                      <a:latin typeface="Cambria Math" panose="02040503050406030204" pitchFamily="18" charset="0"/>
                                    </a:rPr>
                                    <m:t>1</m:t>
                                  </m:r>
                                </m:e>
                                <m:e>
                                  <m:r>
                                    <a:rPr lang="en-IN" sz="2400" i="1" dirty="0">
                                      <a:solidFill>
                                        <a:srgbClr val="000000"/>
                                      </a:solidFill>
                                      <a:latin typeface="Cambria Math" panose="02040503050406030204" pitchFamily="18" charset="0"/>
                                    </a:rPr>
                                    <m:t>0</m:t>
                                  </m:r>
                                </m:e>
                              </m:eqArr>
                            </m:e>
                          </m:mr>
                        </m:m>
                      </m:e>
                    </m:d>
                  </m:oMath>
                </a14:m>
                <a:r>
                  <a:rPr lang="en-US" sz="2400" dirty="0">
                    <a:solidFill>
                      <a:srgbClr val="000000"/>
                    </a:solidFill>
                    <a:latin typeface="Segoe UI" panose="020B0502040204020203" pitchFamily="34" charset="0"/>
                  </a:rPr>
                  <a:t>   </a:t>
                </a:r>
                <a:r>
                  <a:rPr lang="en-US" sz="2400" b="1" dirty="0"/>
                  <a:t>Note:</a:t>
                </a:r>
                <a:r>
                  <a:rPr lang="en-US" sz="2400" dirty="0"/>
                  <a:t> Some references present a slightly different description of the row echelon form. They do not require that the first non-zero entry in each row is equal to 1.</a:t>
                </a:r>
                <a:endParaRPr lang="en-US" sz="2400" dirty="0">
                  <a:solidFill>
                    <a:srgbClr val="000000"/>
                  </a:solidFill>
                  <a:latin typeface="Segoe UI" panose="020B0502040204020203" pitchFamily="34" charset="0"/>
                </a:endParaRPr>
              </a:p>
            </p:txBody>
          </p:sp>
        </mc:Choice>
        <mc:Fallback xmlns="">
          <p:sp>
            <p:nvSpPr>
              <p:cNvPr id="4" name="Rectangle 3">
                <a:extLst>
                  <a:ext uri="{FF2B5EF4-FFF2-40B4-BE49-F238E27FC236}">
                    <a16:creationId xmlns:a16="http://schemas.microsoft.com/office/drawing/2014/main" id="{7FF19B0B-40FF-4315-A934-DB435329A276}"/>
                  </a:ext>
                </a:extLst>
              </p:cNvPr>
              <p:cNvSpPr>
                <a:spLocks noRot="1" noChangeAspect="1" noMove="1" noResize="1" noEditPoints="1" noAdjustHandles="1" noChangeArrowheads="1" noChangeShapeType="1" noTextEdit="1"/>
              </p:cNvSpPr>
              <p:nvPr/>
            </p:nvSpPr>
            <p:spPr>
              <a:xfrm>
                <a:off x="914400" y="1193800"/>
                <a:ext cx="10566400" cy="5605124"/>
              </a:xfrm>
              <a:prstGeom prst="rect">
                <a:avLst/>
              </a:prstGeom>
              <a:blipFill>
                <a:blip r:embed="rId2"/>
                <a:stretch>
                  <a:fillRect l="-866" t="-762" r="-1096" b="-1632"/>
                </a:stretch>
              </a:blipFill>
            </p:spPr>
            <p:txBody>
              <a:bodyPr/>
              <a:lstStyle/>
              <a:p>
                <a:r>
                  <a:rPr lang="en-IN">
                    <a:noFill/>
                  </a:rPr>
                  <a:t> </a:t>
                </a:r>
              </a:p>
            </p:txBody>
          </p:sp>
        </mc:Fallback>
      </mc:AlternateContent>
      <p:sp>
        <p:nvSpPr>
          <p:cNvPr id="3" name="Rectangle 2">
            <a:extLst>
              <a:ext uri="{FF2B5EF4-FFF2-40B4-BE49-F238E27FC236}">
                <a16:creationId xmlns:a16="http://schemas.microsoft.com/office/drawing/2014/main" id="{5929C9AB-7721-4DDE-90C5-544A15A9E46C}"/>
              </a:ext>
            </a:extLst>
          </p:cNvPr>
          <p:cNvSpPr/>
          <p:nvPr/>
        </p:nvSpPr>
        <p:spPr>
          <a:xfrm>
            <a:off x="2908596" y="381001"/>
            <a:ext cx="3927678" cy="461665"/>
          </a:xfrm>
          <a:prstGeom prst="rect">
            <a:avLst/>
          </a:prstGeom>
        </p:spPr>
        <p:txBody>
          <a:bodyPr wrap="none">
            <a:spAutoFit/>
          </a:bodyPr>
          <a:lstStyle/>
          <a:p>
            <a:pPr algn="ctr"/>
            <a:r>
              <a:rPr lang="en-US" altLang="en-US" sz="2400" b="1" dirty="0">
                <a:solidFill>
                  <a:srgbClr val="FF0000"/>
                </a:solidFill>
                <a:latin typeface="Lucida Sans Unicode" panose="020B0602030504020204" pitchFamily="34" charset="0"/>
                <a:cs typeface="Lucida Sans Unicode" panose="020B0602030504020204" pitchFamily="34" charset="0"/>
              </a:rPr>
              <a:t>Echelon Form of a Matrix</a:t>
            </a:r>
          </a:p>
        </p:txBody>
      </p:sp>
    </p:spTree>
    <p:extLst>
      <p:ext uri="{BB962C8B-B14F-4D97-AF65-F5344CB8AC3E}">
        <p14:creationId xmlns:p14="http://schemas.microsoft.com/office/powerpoint/2010/main" val="21782121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75CA69-4A3A-47AA-BF29-A7DAE656CDD8}"/>
              </a:ext>
            </a:extLst>
          </p:cNvPr>
          <p:cNvSpPr/>
          <p:nvPr/>
        </p:nvSpPr>
        <p:spPr>
          <a:xfrm>
            <a:off x="609600" y="1701800"/>
            <a:ext cx="10871200" cy="4113690"/>
          </a:xfrm>
          <a:prstGeom prst="rect">
            <a:avLst/>
          </a:prstGeom>
        </p:spPr>
        <p:txBody>
          <a:bodyPr wrap="square">
            <a:spAutoFit/>
          </a:bodyPr>
          <a:lstStyle/>
          <a:p>
            <a:r>
              <a:rPr lang="en-US" sz="2400" dirty="0">
                <a:latin typeface="Segoe UI" panose="020B0502040204020203" pitchFamily="34" charset="0"/>
              </a:rPr>
              <a:t>Elementary matrix operations play an important role in many matrix algebra applications, such as finding the inverse of a matrix and solving simultaneous linear equations.</a:t>
            </a:r>
          </a:p>
          <a:p>
            <a:endParaRPr lang="en-US" sz="2400" dirty="0">
              <a:latin typeface="Segoe UI" panose="020B0502040204020203" pitchFamily="34" charset="0"/>
            </a:endParaRPr>
          </a:p>
          <a:p>
            <a:pPr fontAlgn="t"/>
            <a:r>
              <a:rPr lang="en-US" sz="1600" dirty="0">
                <a:solidFill>
                  <a:srgbClr val="990000"/>
                </a:solidFill>
                <a:latin typeface="Segoe UI" panose="020B0502040204020203" pitchFamily="34" charset="0"/>
              </a:rPr>
              <a:t>Elementary Operations</a:t>
            </a:r>
          </a:p>
          <a:p>
            <a:r>
              <a:rPr lang="en-US" sz="2400" dirty="0">
                <a:solidFill>
                  <a:srgbClr val="000000"/>
                </a:solidFill>
                <a:latin typeface="Segoe UI" panose="020B0502040204020203" pitchFamily="34" charset="0"/>
              </a:rPr>
              <a:t>There are three kinds of elementary matrix operations.</a:t>
            </a:r>
          </a:p>
          <a:p>
            <a:pPr>
              <a:buFont typeface="+mj-lt"/>
              <a:buAutoNum type="arabicPeriod"/>
            </a:pPr>
            <a:r>
              <a:rPr lang="en-US" sz="1333" dirty="0">
                <a:solidFill>
                  <a:srgbClr val="000000"/>
                </a:solidFill>
                <a:latin typeface="Segoe UI" panose="020B0502040204020203" pitchFamily="34" charset="0"/>
              </a:rPr>
              <a:t>Interchange two rows (or columns).</a:t>
            </a:r>
          </a:p>
          <a:p>
            <a:pPr>
              <a:buFont typeface="+mj-lt"/>
              <a:buAutoNum type="arabicPeriod"/>
            </a:pPr>
            <a:r>
              <a:rPr lang="en-US" sz="1333" dirty="0">
                <a:solidFill>
                  <a:srgbClr val="000000"/>
                </a:solidFill>
                <a:latin typeface="Segoe UI" panose="020B0502040204020203" pitchFamily="34" charset="0"/>
              </a:rPr>
              <a:t>Multiply each element in a row (or column) by a non-zero number.</a:t>
            </a:r>
          </a:p>
          <a:p>
            <a:pPr>
              <a:buFont typeface="+mj-lt"/>
              <a:buAutoNum type="arabicPeriod"/>
            </a:pPr>
            <a:r>
              <a:rPr lang="en-US" sz="1333" dirty="0">
                <a:solidFill>
                  <a:srgbClr val="000000"/>
                </a:solidFill>
                <a:latin typeface="Segoe UI" panose="020B0502040204020203" pitchFamily="34" charset="0"/>
              </a:rPr>
              <a:t>Multiply a row (or column) by a non-zero number and add the result to another row (or column).</a:t>
            </a:r>
          </a:p>
          <a:p>
            <a:pPr>
              <a:buFont typeface="+mj-lt"/>
              <a:buAutoNum type="arabicPeriod"/>
            </a:pPr>
            <a:endParaRPr lang="en-US" sz="1333" dirty="0">
              <a:solidFill>
                <a:srgbClr val="000000"/>
              </a:solidFill>
              <a:latin typeface="Segoe UI" panose="020B0502040204020203" pitchFamily="34" charset="0"/>
            </a:endParaRPr>
          </a:p>
          <a:p>
            <a:r>
              <a:rPr lang="en-US" sz="2400" dirty="0">
                <a:solidFill>
                  <a:srgbClr val="000000"/>
                </a:solidFill>
                <a:latin typeface="Segoe UI" panose="020B0502040204020203" pitchFamily="34" charset="0"/>
              </a:rPr>
              <a:t>When these operations are performed on rows, they are called </a:t>
            </a:r>
            <a:r>
              <a:rPr lang="en-US" sz="2400" b="1" dirty="0">
                <a:solidFill>
                  <a:srgbClr val="000000"/>
                </a:solidFill>
                <a:latin typeface="Segoe UI" panose="020B0502040204020203" pitchFamily="34" charset="0"/>
              </a:rPr>
              <a:t>elementary row operations</a:t>
            </a:r>
            <a:r>
              <a:rPr lang="en-US" sz="2400" dirty="0">
                <a:solidFill>
                  <a:srgbClr val="000000"/>
                </a:solidFill>
                <a:latin typeface="Segoe UI" panose="020B0502040204020203" pitchFamily="34" charset="0"/>
              </a:rPr>
              <a:t>; and when they are performed on columns, they are called </a:t>
            </a:r>
            <a:r>
              <a:rPr lang="en-US" sz="2400" b="1" dirty="0">
                <a:solidFill>
                  <a:srgbClr val="000000"/>
                </a:solidFill>
                <a:latin typeface="Segoe UI" panose="020B0502040204020203" pitchFamily="34" charset="0"/>
              </a:rPr>
              <a:t>elementary column operations</a:t>
            </a:r>
            <a:r>
              <a:rPr lang="en-US" sz="2400" dirty="0">
                <a:solidFill>
                  <a:srgbClr val="000000"/>
                </a:solidFill>
                <a:latin typeface="Segoe UI" panose="020B0502040204020203" pitchFamily="34" charset="0"/>
              </a:rPr>
              <a:t>.</a:t>
            </a:r>
          </a:p>
        </p:txBody>
      </p:sp>
      <p:sp>
        <p:nvSpPr>
          <p:cNvPr id="3" name="Rectangle 2">
            <a:extLst>
              <a:ext uri="{FF2B5EF4-FFF2-40B4-BE49-F238E27FC236}">
                <a16:creationId xmlns:a16="http://schemas.microsoft.com/office/drawing/2014/main" id="{910EC77A-A1AA-4A91-BDBB-FDE4D2F0FA6E}"/>
              </a:ext>
            </a:extLst>
          </p:cNvPr>
          <p:cNvSpPr/>
          <p:nvPr/>
        </p:nvSpPr>
        <p:spPr>
          <a:xfrm>
            <a:off x="2558341" y="381001"/>
            <a:ext cx="4628190" cy="461665"/>
          </a:xfrm>
          <a:prstGeom prst="rect">
            <a:avLst/>
          </a:prstGeom>
        </p:spPr>
        <p:txBody>
          <a:bodyPr wrap="none">
            <a:spAutoFit/>
          </a:bodyPr>
          <a:lstStyle/>
          <a:p>
            <a:pPr algn="ctr"/>
            <a:r>
              <a:rPr lang="en-US" altLang="en-US" sz="2400" b="1" dirty="0">
                <a:solidFill>
                  <a:srgbClr val="FF0000"/>
                </a:solidFill>
                <a:latin typeface="Lucida Sans Unicode" panose="020B0602030504020204" pitchFamily="34" charset="0"/>
                <a:cs typeface="Lucida Sans Unicode" panose="020B0602030504020204" pitchFamily="34" charset="0"/>
              </a:rPr>
              <a:t>Elementary Matrix Operations</a:t>
            </a:r>
          </a:p>
        </p:txBody>
      </p:sp>
    </p:spTree>
    <p:extLst>
      <p:ext uri="{BB962C8B-B14F-4D97-AF65-F5344CB8AC3E}">
        <p14:creationId xmlns:p14="http://schemas.microsoft.com/office/powerpoint/2010/main" val="21603649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A8D8076-96E0-48EB-BF7F-2B242318E5E1}"/>
              </a:ext>
            </a:extLst>
          </p:cNvPr>
          <p:cNvGraphicFramePr>
            <a:graphicFrameLocks noGrp="1"/>
          </p:cNvGraphicFramePr>
          <p:nvPr/>
        </p:nvGraphicFramePr>
        <p:xfrm>
          <a:off x="1320800" y="2311400"/>
          <a:ext cx="9093200" cy="4348480"/>
        </p:xfrm>
        <a:graphic>
          <a:graphicData uri="http://schemas.openxmlformats.org/drawingml/2006/table">
            <a:tbl>
              <a:tblPr/>
              <a:tblGrid>
                <a:gridCol w="4574493">
                  <a:extLst>
                    <a:ext uri="{9D8B030D-6E8A-4147-A177-3AD203B41FA5}">
                      <a16:colId xmlns:a16="http://schemas.microsoft.com/office/drawing/2014/main" val="3278617087"/>
                    </a:ext>
                  </a:extLst>
                </a:gridCol>
                <a:gridCol w="4518707">
                  <a:extLst>
                    <a:ext uri="{9D8B030D-6E8A-4147-A177-3AD203B41FA5}">
                      <a16:colId xmlns:a16="http://schemas.microsoft.com/office/drawing/2014/main" val="963370696"/>
                    </a:ext>
                  </a:extLst>
                </a:gridCol>
              </a:tblGrid>
              <a:tr h="447040">
                <a:tc>
                  <a:txBody>
                    <a:bodyPr/>
                    <a:lstStyle/>
                    <a:p>
                      <a:pPr algn="ctr"/>
                      <a:r>
                        <a:rPr lang="en-IN" sz="2100">
                          <a:solidFill>
                            <a:srgbClr val="FFFFFF"/>
                          </a:solidFill>
                          <a:effectLst/>
                        </a:rPr>
                        <a:t>Operation description</a:t>
                      </a: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00FF"/>
                    </a:solidFill>
                  </a:tcPr>
                </a:tc>
                <a:tc>
                  <a:txBody>
                    <a:bodyPr/>
                    <a:lstStyle/>
                    <a:p>
                      <a:pPr algn="ctr"/>
                      <a:r>
                        <a:rPr lang="en-IN" sz="2100">
                          <a:solidFill>
                            <a:srgbClr val="FFFFFF"/>
                          </a:solidFill>
                          <a:effectLst/>
                        </a:rPr>
                        <a:t>Notation</a:t>
                      </a: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00FF"/>
                    </a:solidFill>
                  </a:tcPr>
                </a:tc>
                <a:extLst>
                  <a:ext uri="{0D108BD9-81ED-4DB2-BD59-A6C34878D82A}">
                    <a16:rowId xmlns:a16="http://schemas.microsoft.com/office/drawing/2014/main" val="383268454"/>
                  </a:ext>
                </a:extLst>
              </a:tr>
              <a:tr h="447040">
                <a:tc gridSpan="2">
                  <a:txBody>
                    <a:bodyPr/>
                    <a:lstStyle/>
                    <a:p>
                      <a:pPr algn="ctr"/>
                      <a:r>
                        <a:rPr lang="en-IN" sz="2100" b="1">
                          <a:solidFill>
                            <a:srgbClr val="000000"/>
                          </a:solidFill>
                          <a:effectLst/>
                        </a:rPr>
                        <a:t>Row operations</a:t>
                      </a: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1955381758"/>
                  </a:ext>
                </a:extLst>
              </a:tr>
              <a:tr h="447040">
                <a:tc>
                  <a:txBody>
                    <a:bodyPr/>
                    <a:lstStyle/>
                    <a:p>
                      <a:pPr algn="l"/>
                      <a:r>
                        <a:rPr lang="en-US" sz="2100">
                          <a:solidFill>
                            <a:srgbClr val="000000"/>
                          </a:solidFill>
                          <a:effectLst/>
                        </a:rPr>
                        <a:t>1. Interchange rows </a:t>
                      </a:r>
                      <a:r>
                        <a:rPr lang="en-US" sz="2100" i="1">
                          <a:solidFill>
                            <a:srgbClr val="000000"/>
                          </a:solidFill>
                          <a:effectLst/>
                        </a:rPr>
                        <a:t>i</a:t>
                      </a:r>
                      <a:r>
                        <a:rPr lang="en-US" sz="2100">
                          <a:solidFill>
                            <a:srgbClr val="000000"/>
                          </a:solidFill>
                          <a:effectLst/>
                        </a:rPr>
                        <a:t> and </a:t>
                      </a:r>
                      <a:r>
                        <a:rPr lang="en-US" sz="2100" i="1">
                          <a:solidFill>
                            <a:srgbClr val="000000"/>
                          </a:solidFill>
                          <a:effectLst/>
                        </a:rPr>
                        <a:t>j</a:t>
                      </a:r>
                      <a:endParaRPr lang="en-US" sz="2100">
                        <a:solidFill>
                          <a:srgbClr val="000000"/>
                        </a:solidFill>
                        <a:effectLst/>
                      </a:endParaRP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r>
                        <a:rPr lang="en-IN" sz="2100" i="1">
                          <a:solidFill>
                            <a:srgbClr val="000000"/>
                          </a:solidFill>
                          <a:effectLst/>
                        </a:rPr>
                        <a:t>R</a:t>
                      </a:r>
                      <a:r>
                        <a:rPr lang="en-IN" sz="2100" i="1" baseline="-25000">
                          <a:solidFill>
                            <a:srgbClr val="000000"/>
                          </a:solidFill>
                          <a:effectLst/>
                        </a:rPr>
                        <a:t>i</a:t>
                      </a:r>
                      <a:r>
                        <a:rPr lang="en-IN" sz="2100" i="1">
                          <a:solidFill>
                            <a:srgbClr val="000000"/>
                          </a:solidFill>
                          <a:effectLst/>
                        </a:rPr>
                        <a:t> &lt;--&gt; R</a:t>
                      </a:r>
                      <a:r>
                        <a:rPr lang="en-IN" sz="2100" i="1" baseline="-25000">
                          <a:solidFill>
                            <a:srgbClr val="000000"/>
                          </a:solidFill>
                          <a:effectLst/>
                        </a:rPr>
                        <a:t>j</a:t>
                      </a:r>
                      <a:endParaRPr lang="en-IN" sz="2100">
                        <a:solidFill>
                          <a:srgbClr val="000000"/>
                        </a:solidFill>
                        <a:effectLst/>
                      </a:endParaRP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903172414"/>
                  </a:ext>
                </a:extLst>
              </a:tr>
              <a:tr h="447040">
                <a:tc>
                  <a:txBody>
                    <a:bodyPr/>
                    <a:lstStyle/>
                    <a:p>
                      <a:pPr algn="l"/>
                      <a:r>
                        <a:rPr lang="en-US" sz="2100">
                          <a:solidFill>
                            <a:srgbClr val="000000"/>
                          </a:solidFill>
                          <a:effectLst/>
                        </a:rPr>
                        <a:t>2. Multiply row </a:t>
                      </a:r>
                      <a:r>
                        <a:rPr lang="en-US" sz="2100" i="1">
                          <a:solidFill>
                            <a:srgbClr val="000000"/>
                          </a:solidFill>
                          <a:effectLst/>
                        </a:rPr>
                        <a:t>i</a:t>
                      </a:r>
                      <a:r>
                        <a:rPr lang="en-US" sz="2100">
                          <a:solidFill>
                            <a:srgbClr val="000000"/>
                          </a:solidFill>
                          <a:effectLst/>
                        </a:rPr>
                        <a:t> by </a:t>
                      </a:r>
                      <a:r>
                        <a:rPr lang="en-US" sz="2100" i="1">
                          <a:solidFill>
                            <a:srgbClr val="000000"/>
                          </a:solidFill>
                          <a:effectLst/>
                        </a:rPr>
                        <a:t>s</a:t>
                      </a:r>
                      <a:r>
                        <a:rPr lang="en-US" sz="2100">
                          <a:solidFill>
                            <a:srgbClr val="000000"/>
                          </a:solidFill>
                          <a:effectLst/>
                        </a:rPr>
                        <a:t>, where </a:t>
                      </a:r>
                      <a:r>
                        <a:rPr lang="en-US" sz="2100" i="1">
                          <a:solidFill>
                            <a:srgbClr val="000000"/>
                          </a:solidFill>
                          <a:effectLst/>
                        </a:rPr>
                        <a:t>s</a:t>
                      </a:r>
                      <a:r>
                        <a:rPr lang="en-US" sz="2100">
                          <a:solidFill>
                            <a:srgbClr val="000000"/>
                          </a:solidFill>
                          <a:effectLst/>
                        </a:rPr>
                        <a:t> ≠ 0</a:t>
                      </a: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r>
                        <a:rPr lang="en-IN" sz="2100" i="1">
                          <a:solidFill>
                            <a:srgbClr val="000000"/>
                          </a:solidFill>
                          <a:effectLst/>
                        </a:rPr>
                        <a:t>sR</a:t>
                      </a:r>
                      <a:r>
                        <a:rPr lang="en-IN" sz="2100" i="1" baseline="-25000">
                          <a:solidFill>
                            <a:srgbClr val="000000"/>
                          </a:solidFill>
                          <a:effectLst/>
                        </a:rPr>
                        <a:t>i</a:t>
                      </a:r>
                      <a:r>
                        <a:rPr lang="en-IN" sz="2100" i="1">
                          <a:solidFill>
                            <a:srgbClr val="000000"/>
                          </a:solidFill>
                          <a:effectLst/>
                        </a:rPr>
                        <a:t> --&gt; R</a:t>
                      </a:r>
                      <a:r>
                        <a:rPr lang="en-IN" sz="2100" i="1" baseline="-25000">
                          <a:solidFill>
                            <a:srgbClr val="000000"/>
                          </a:solidFill>
                          <a:effectLst/>
                        </a:rPr>
                        <a:t>i</a:t>
                      </a:r>
                      <a:endParaRPr lang="en-IN" sz="2100">
                        <a:solidFill>
                          <a:srgbClr val="000000"/>
                        </a:solidFill>
                        <a:effectLst/>
                      </a:endParaRP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653167800"/>
                  </a:ext>
                </a:extLst>
              </a:tr>
              <a:tr h="447040">
                <a:tc>
                  <a:txBody>
                    <a:bodyPr/>
                    <a:lstStyle/>
                    <a:p>
                      <a:pPr algn="l"/>
                      <a:r>
                        <a:rPr lang="en-US" sz="2100" dirty="0">
                          <a:solidFill>
                            <a:srgbClr val="000000"/>
                          </a:solidFill>
                          <a:effectLst/>
                        </a:rPr>
                        <a:t>3. Add </a:t>
                      </a:r>
                      <a:r>
                        <a:rPr lang="en-US" sz="2100" i="1" dirty="0">
                          <a:solidFill>
                            <a:srgbClr val="000000"/>
                          </a:solidFill>
                          <a:effectLst/>
                        </a:rPr>
                        <a:t>s</a:t>
                      </a:r>
                      <a:r>
                        <a:rPr lang="en-US" sz="2100" dirty="0">
                          <a:solidFill>
                            <a:srgbClr val="000000"/>
                          </a:solidFill>
                          <a:effectLst/>
                        </a:rPr>
                        <a:t> times row </a:t>
                      </a:r>
                      <a:r>
                        <a:rPr lang="en-US" sz="2100" i="1" dirty="0" err="1">
                          <a:solidFill>
                            <a:srgbClr val="000000"/>
                          </a:solidFill>
                          <a:effectLst/>
                        </a:rPr>
                        <a:t>i</a:t>
                      </a:r>
                      <a:r>
                        <a:rPr lang="en-US" sz="2100" dirty="0">
                          <a:solidFill>
                            <a:srgbClr val="000000"/>
                          </a:solidFill>
                          <a:effectLst/>
                        </a:rPr>
                        <a:t> to row </a:t>
                      </a:r>
                      <a:r>
                        <a:rPr lang="en-US" sz="2100" i="1" dirty="0">
                          <a:solidFill>
                            <a:srgbClr val="000000"/>
                          </a:solidFill>
                          <a:effectLst/>
                        </a:rPr>
                        <a:t>j</a:t>
                      </a:r>
                      <a:endParaRPr lang="en-US" sz="2100" dirty="0">
                        <a:solidFill>
                          <a:srgbClr val="000000"/>
                        </a:solidFill>
                        <a:effectLst/>
                      </a:endParaRP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r>
                        <a:rPr lang="en-IN" sz="2100" i="1">
                          <a:solidFill>
                            <a:srgbClr val="000000"/>
                          </a:solidFill>
                          <a:effectLst/>
                        </a:rPr>
                        <a:t>sR</a:t>
                      </a:r>
                      <a:r>
                        <a:rPr lang="en-IN" sz="2100" i="1" baseline="-25000">
                          <a:solidFill>
                            <a:srgbClr val="000000"/>
                          </a:solidFill>
                          <a:effectLst/>
                        </a:rPr>
                        <a:t>i</a:t>
                      </a:r>
                      <a:r>
                        <a:rPr lang="en-IN" sz="2100" i="1">
                          <a:solidFill>
                            <a:srgbClr val="000000"/>
                          </a:solidFill>
                          <a:effectLst/>
                        </a:rPr>
                        <a:t> + R</a:t>
                      </a:r>
                      <a:r>
                        <a:rPr lang="en-IN" sz="2100" i="1" baseline="-25000">
                          <a:solidFill>
                            <a:srgbClr val="000000"/>
                          </a:solidFill>
                          <a:effectLst/>
                        </a:rPr>
                        <a:t>j</a:t>
                      </a:r>
                      <a:r>
                        <a:rPr lang="en-IN" sz="2100" i="1">
                          <a:solidFill>
                            <a:srgbClr val="000000"/>
                          </a:solidFill>
                          <a:effectLst/>
                        </a:rPr>
                        <a:t> --&gt; R</a:t>
                      </a:r>
                      <a:r>
                        <a:rPr lang="en-IN" sz="2100" i="1" baseline="-25000">
                          <a:solidFill>
                            <a:srgbClr val="000000"/>
                          </a:solidFill>
                          <a:effectLst/>
                        </a:rPr>
                        <a:t>j</a:t>
                      </a:r>
                      <a:endParaRPr lang="en-IN" sz="2100">
                        <a:solidFill>
                          <a:srgbClr val="000000"/>
                        </a:solidFill>
                        <a:effectLst/>
                      </a:endParaRP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806169876"/>
                  </a:ext>
                </a:extLst>
              </a:tr>
              <a:tr h="447040">
                <a:tc gridSpan="2">
                  <a:txBody>
                    <a:bodyPr/>
                    <a:lstStyle/>
                    <a:p>
                      <a:pPr algn="ctr"/>
                      <a:r>
                        <a:rPr lang="en-IN" sz="2100" b="1">
                          <a:solidFill>
                            <a:srgbClr val="000000"/>
                          </a:solidFill>
                          <a:effectLst/>
                        </a:rPr>
                        <a:t>Column operations</a:t>
                      </a: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1518720132"/>
                  </a:ext>
                </a:extLst>
              </a:tr>
              <a:tr h="447040">
                <a:tc>
                  <a:txBody>
                    <a:bodyPr/>
                    <a:lstStyle/>
                    <a:p>
                      <a:pPr algn="l"/>
                      <a:r>
                        <a:rPr lang="en-US" sz="2100">
                          <a:solidFill>
                            <a:srgbClr val="000000"/>
                          </a:solidFill>
                          <a:effectLst/>
                        </a:rPr>
                        <a:t>1. Interchange columns </a:t>
                      </a:r>
                      <a:r>
                        <a:rPr lang="en-US" sz="2100" i="1">
                          <a:solidFill>
                            <a:srgbClr val="000000"/>
                          </a:solidFill>
                          <a:effectLst/>
                        </a:rPr>
                        <a:t>i</a:t>
                      </a:r>
                      <a:r>
                        <a:rPr lang="en-US" sz="2100">
                          <a:solidFill>
                            <a:srgbClr val="000000"/>
                          </a:solidFill>
                          <a:effectLst/>
                        </a:rPr>
                        <a:t> and </a:t>
                      </a:r>
                      <a:r>
                        <a:rPr lang="en-US" sz="2100" i="1">
                          <a:solidFill>
                            <a:srgbClr val="000000"/>
                          </a:solidFill>
                          <a:effectLst/>
                        </a:rPr>
                        <a:t>j</a:t>
                      </a:r>
                      <a:endParaRPr lang="en-US" sz="2100">
                        <a:solidFill>
                          <a:srgbClr val="000000"/>
                        </a:solidFill>
                        <a:effectLst/>
                      </a:endParaRP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r>
                        <a:rPr lang="en-IN" sz="2100" i="1">
                          <a:solidFill>
                            <a:srgbClr val="000000"/>
                          </a:solidFill>
                          <a:effectLst/>
                        </a:rPr>
                        <a:t>C</a:t>
                      </a:r>
                      <a:r>
                        <a:rPr lang="en-IN" sz="2100" i="1" baseline="-25000">
                          <a:solidFill>
                            <a:srgbClr val="000000"/>
                          </a:solidFill>
                          <a:effectLst/>
                        </a:rPr>
                        <a:t>i</a:t>
                      </a:r>
                      <a:r>
                        <a:rPr lang="en-IN" sz="2100" i="1">
                          <a:solidFill>
                            <a:srgbClr val="000000"/>
                          </a:solidFill>
                          <a:effectLst/>
                        </a:rPr>
                        <a:t> &lt;--&gt; C</a:t>
                      </a:r>
                      <a:r>
                        <a:rPr lang="en-IN" sz="2100" i="1" baseline="-25000">
                          <a:solidFill>
                            <a:srgbClr val="000000"/>
                          </a:solidFill>
                          <a:effectLst/>
                        </a:rPr>
                        <a:t>j</a:t>
                      </a:r>
                      <a:endParaRPr lang="en-IN" sz="2100">
                        <a:solidFill>
                          <a:srgbClr val="000000"/>
                        </a:solidFill>
                        <a:effectLst/>
                      </a:endParaRP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716462696"/>
                  </a:ext>
                </a:extLst>
              </a:tr>
              <a:tr h="772160">
                <a:tc>
                  <a:txBody>
                    <a:bodyPr/>
                    <a:lstStyle/>
                    <a:p>
                      <a:pPr algn="l"/>
                      <a:r>
                        <a:rPr lang="en-US" sz="2100">
                          <a:solidFill>
                            <a:srgbClr val="000000"/>
                          </a:solidFill>
                          <a:effectLst/>
                        </a:rPr>
                        <a:t>2. Multiply column </a:t>
                      </a:r>
                      <a:r>
                        <a:rPr lang="en-US" sz="2100" i="1">
                          <a:solidFill>
                            <a:srgbClr val="000000"/>
                          </a:solidFill>
                          <a:effectLst/>
                        </a:rPr>
                        <a:t>i</a:t>
                      </a:r>
                      <a:r>
                        <a:rPr lang="en-US" sz="2100">
                          <a:solidFill>
                            <a:srgbClr val="000000"/>
                          </a:solidFill>
                          <a:effectLst/>
                        </a:rPr>
                        <a:t> by </a:t>
                      </a:r>
                      <a:r>
                        <a:rPr lang="en-US" sz="2100" i="1">
                          <a:solidFill>
                            <a:srgbClr val="000000"/>
                          </a:solidFill>
                          <a:effectLst/>
                        </a:rPr>
                        <a:t>s</a:t>
                      </a:r>
                      <a:r>
                        <a:rPr lang="en-US" sz="2100">
                          <a:solidFill>
                            <a:srgbClr val="000000"/>
                          </a:solidFill>
                          <a:effectLst/>
                        </a:rPr>
                        <a:t>, where </a:t>
                      </a:r>
                      <a:r>
                        <a:rPr lang="en-US" sz="2100" i="1">
                          <a:solidFill>
                            <a:srgbClr val="000000"/>
                          </a:solidFill>
                          <a:effectLst/>
                        </a:rPr>
                        <a:t>s</a:t>
                      </a:r>
                      <a:r>
                        <a:rPr lang="en-US" sz="2100">
                          <a:solidFill>
                            <a:srgbClr val="000000"/>
                          </a:solidFill>
                          <a:effectLst/>
                        </a:rPr>
                        <a:t> ≠ 0</a:t>
                      </a: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r>
                        <a:rPr lang="en-IN" sz="2100" i="1">
                          <a:solidFill>
                            <a:srgbClr val="000000"/>
                          </a:solidFill>
                          <a:effectLst/>
                        </a:rPr>
                        <a:t>sC</a:t>
                      </a:r>
                      <a:r>
                        <a:rPr lang="en-IN" sz="2100" i="1" baseline="-25000">
                          <a:solidFill>
                            <a:srgbClr val="000000"/>
                          </a:solidFill>
                          <a:effectLst/>
                        </a:rPr>
                        <a:t>i</a:t>
                      </a:r>
                      <a:r>
                        <a:rPr lang="en-IN" sz="2100" i="1">
                          <a:solidFill>
                            <a:srgbClr val="000000"/>
                          </a:solidFill>
                          <a:effectLst/>
                        </a:rPr>
                        <a:t> --&gt; C</a:t>
                      </a:r>
                      <a:r>
                        <a:rPr lang="en-IN" sz="2100" i="1" baseline="-25000">
                          <a:solidFill>
                            <a:srgbClr val="000000"/>
                          </a:solidFill>
                          <a:effectLst/>
                        </a:rPr>
                        <a:t>i</a:t>
                      </a:r>
                      <a:endParaRPr lang="en-IN" sz="2100">
                        <a:solidFill>
                          <a:srgbClr val="000000"/>
                        </a:solidFill>
                        <a:effectLst/>
                      </a:endParaRP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127554913"/>
                  </a:ext>
                </a:extLst>
              </a:tr>
              <a:tr h="447040">
                <a:tc>
                  <a:txBody>
                    <a:bodyPr/>
                    <a:lstStyle/>
                    <a:p>
                      <a:pPr algn="l"/>
                      <a:r>
                        <a:rPr lang="en-US" sz="2100">
                          <a:solidFill>
                            <a:srgbClr val="000000"/>
                          </a:solidFill>
                          <a:effectLst/>
                        </a:rPr>
                        <a:t>3. Add </a:t>
                      </a:r>
                      <a:r>
                        <a:rPr lang="en-US" sz="2100" i="1">
                          <a:solidFill>
                            <a:srgbClr val="000000"/>
                          </a:solidFill>
                          <a:effectLst/>
                        </a:rPr>
                        <a:t>s</a:t>
                      </a:r>
                      <a:r>
                        <a:rPr lang="en-US" sz="2100">
                          <a:solidFill>
                            <a:srgbClr val="000000"/>
                          </a:solidFill>
                          <a:effectLst/>
                        </a:rPr>
                        <a:t> times column </a:t>
                      </a:r>
                      <a:r>
                        <a:rPr lang="en-US" sz="2100" i="1">
                          <a:solidFill>
                            <a:srgbClr val="000000"/>
                          </a:solidFill>
                          <a:effectLst/>
                        </a:rPr>
                        <a:t>i</a:t>
                      </a:r>
                      <a:r>
                        <a:rPr lang="en-US" sz="2100">
                          <a:solidFill>
                            <a:srgbClr val="000000"/>
                          </a:solidFill>
                          <a:effectLst/>
                        </a:rPr>
                        <a:t> to column </a:t>
                      </a:r>
                      <a:r>
                        <a:rPr lang="en-US" sz="2100" i="1">
                          <a:solidFill>
                            <a:srgbClr val="000000"/>
                          </a:solidFill>
                          <a:effectLst/>
                        </a:rPr>
                        <a:t>j</a:t>
                      </a:r>
                      <a:endParaRPr lang="en-US" sz="2100">
                        <a:solidFill>
                          <a:srgbClr val="000000"/>
                        </a:solidFill>
                        <a:effectLst/>
                      </a:endParaRP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a:r>
                        <a:rPr lang="en-IN" sz="2100" i="1" dirty="0" err="1">
                          <a:solidFill>
                            <a:srgbClr val="000000"/>
                          </a:solidFill>
                          <a:effectLst/>
                        </a:rPr>
                        <a:t>sC</a:t>
                      </a:r>
                      <a:r>
                        <a:rPr lang="en-IN" sz="2100" i="1" baseline="-25000" dirty="0" err="1">
                          <a:solidFill>
                            <a:srgbClr val="000000"/>
                          </a:solidFill>
                          <a:effectLst/>
                        </a:rPr>
                        <a:t>i</a:t>
                      </a:r>
                      <a:r>
                        <a:rPr lang="en-IN" sz="2100" i="1" dirty="0">
                          <a:solidFill>
                            <a:srgbClr val="000000"/>
                          </a:solidFill>
                          <a:effectLst/>
                        </a:rPr>
                        <a:t> + </a:t>
                      </a:r>
                      <a:r>
                        <a:rPr lang="en-IN" sz="2100" i="1" dirty="0" err="1">
                          <a:solidFill>
                            <a:srgbClr val="000000"/>
                          </a:solidFill>
                          <a:effectLst/>
                        </a:rPr>
                        <a:t>C</a:t>
                      </a:r>
                      <a:r>
                        <a:rPr lang="en-IN" sz="2100" i="1" baseline="-25000" dirty="0" err="1">
                          <a:solidFill>
                            <a:srgbClr val="000000"/>
                          </a:solidFill>
                          <a:effectLst/>
                        </a:rPr>
                        <a:t>j</a:t>
                      </a:r>
                      <a:r>
                        <a:rPr lang="en-IN" sz="2100" i="1" dirty="0">
                          <a:solidFill>
                            <a:srgbClr val="000000"/>
                          </a:solidFill>
                          <a:effectLst/>
                        </a:rPr>
                        <a:t> --&gt; </a:t>
                      </a:r>
                      <a:r>
                        <a:rPr lang="en-IN" sz="2100" i="1" dirty="0" err="1">
                          <a:solidFill>
                            <a:srgbClr val="000000"/>
                          </a:solidFill>
                          <a:effectLst/>
                        </a:rPr>
                        <a:t>C</a:t>
                      </a:r>
                      <a:r>
                        <a:rPr lang="en-IN" sz="2100" i="1" baseline="-25000" dirty="0" err="1">
                          <a:solidFill>
                            <a:srgbClr val="000000"/>
                          </a:solidFill>
                          <a:effectLst/>
                        </a:rPr>
                        <a:t>j</a:t>
                      </a:r>
                      <a:endParaRPr lang="en-IN" sz="2100" dirty="0">
                        <a:solidFill>
                          <a:srgbClr val="000000"/>
                        </a:solidFill>
                        <a:effectLst/>
                      </a:endParaRPr>
                    </a:p>
                  </a:txBody>
                  <a:tcPr marL="121920" marR="121920" marT="60960" marB="6096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2178252"/>
                  </a:ext>
                </a:extLst>
              </a:tr>
            </a:tbl>
          </a:graphicData>
        </a:graphic>
      </p:graphicFrame>
      <p:sp>
        <p:nvSpPr>
          <p:cNvPr id="3" name="Rectangle 1">
            <a:extLst>
              <a:ext uri="{FF2B5EF4-FFF2-40B4-BE49-F238E27FC236}">
                <a16:creationId xmlns:a16="http://schemas.microsoft.com/office/drawing/2014/main" id="{87CCB6A3-E821-4DFE-8F8C-0EA74EF8D1FD}"/>
              </a:ext>
            </a:extLst>
          </p:cNvPr>
          <p:cNvSpPr>
            <a:spLocks noChangeArrowheads="1"/>
          </p:cNvSpPr>
          <p:nvPr/>
        </p:nvSpPr>
        <p:spPr bwMode="auto">
          <a:xfrm>
            <a:off x="1422400" y="1223138"/>
            <a:ext cx="9652000" cy="7541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77744"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1219170"/>
            <a:r>
              <a:rPr lang="en-US" altLang="en-US" sz="1867" dirty="0">
                <a:solidFill>
                  <a:srgbClr val="000000"/>
                </a:solidFill>
                <a:latin typeface="Segoe UI" panose="020B0502040204020203" pitchFamily="34" charset="0"/>
                <a:cs typeface="Segoe UI" panose="020B0502040204020203" pitchFamily="34" charset="0"/>
              </a:rPr>
              <a:t>In many references, you will encounter a compact notation to describe elementary operations. That notation is shown below.</a:t>
            </a:r>
            <a:endParaRPr lang="en-US" altLang="en-US" sz="1867" dirty="0"/>
          </a:p>
        </p:txBody>
      </p:sp>
      <p:sp>
        <p:nvSpPr>
          <p:cNvPr id="4" name="Rectangle 3">
            <a:extLst>
              <a:ext uri="{FF2B5EF4-FFF2-40B4-BE49-F238E27FC236}">
                <a16:creationId xmlns:a16="http://schemas.microsoft.com/office/drawing/2014/main" id="{EFA71074-05AF-4BBA-9060-1D7607C97D8E}"/>
              </a:ext>
            </a:extLst>
          </p:cNvPr>
          <p:cNvSpPr/>
          <p:nvPr/>
        </p:nvSpPr>
        <p:spPr>
          <a:xfrm>
            <a:off x="3995689" y="32354"/>
            <a:ext cx="4457759" cy="461665"/>
          </a:xfrm>
          <a:prstGeom prst="rect">
            <a:avLst/>
          </a:prstGeom>
        </p:spPr>
        <p:txBody>
          <a:bodyPr wrap="none">
            <a:spAutoFit/>
          </a:bodyPr>
          <a:lstStyle/>
          <a:p>
            <a:pPr lvl="0" eaLnBrk="0" fontAlgn="t" hangingPunct="0">
              <a:spcBef>
                <a:spcPct val="0"/>
              </a:spcBef>
              <a:spcAft>
                <a:spcPct val="0"/>
              </a:spcAft>
            </a:pPr>
            <a:r>
              <a:rPr lang="en-US" altLang="en-US" sz="2400" dirty="0">
                <a:solidFill>
                  <a:srgbClr val="990000"/>
                </a:solidFill>
                <a:latin typeface="Segoe UI" panose="020B0502040204020203" pitchFamily="34" charset="0"/>
                <a:cs typeface="Segoe UI" panose="020B0502040204020203" pitchFamily="34" charset="0"/>
              </a:rPr>
              <a:t>Elementary Operation Notation</a:t>
            </a:r>
          </a:p>
        </p:txBody>
      </p:sp>
    </p:spTree>
    <p:extLst>
      <p:ext uri="{BB962C8B-B14F-4D97-AF65-F5344CB8AC3E}">
        <p14:creationId xmlns:p14="http://schemas.microsoft.com/office/powerpoint/2010/main" val="5794817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94027F31-36DB-4C31-B84C-2C484E0CD74D}"/>
                  </a:ext>
                </a:extLst>
              </p:cNvPr>
              <p:cNvSpPr/>
              <p:nvPr/>
            </p:nvSpPr>
            <p:spPr>
              <a:xfrm>
                <a:off x="1270000" y="1007905"/>
                <a:ext cx="9652000" cy="5851538"/>
              </a:xfrm>
              <a:prstGeom prst="rect">
                <a:avLst/>
              </a:prstGeom>
            </p:spPr>
            <p:txBody>
              <a:bodyPr wrap="square">
                <a:spAutoFit/>
              </a:bodyPr>
              <a:lstStyle/>
              <a:p>
                <a:r>
                  <a:rPr lang="en-US" sz="2400" dirty="0">
                    <a:solidFill>
                      <a:srgbClr val="343434"/>
                    </a:solidFill>
                    <a:latin typeface="Tahoma" panose="020B0604030504040204" pitchFamily="34" charset="0"/>
                  </a:rPr>
                  <a:t>The matrix rank is determined by the number of independent rows or columns present in it. A row or a column is considered independent, if it satisfies the below conditions. </a:t>
                </a:r>
              </a:p>
              <a:p>
                <a:pPr marL="457189" indent="-457189">
                  <a:buAutoNum type="arabicPeriod"/>
                </a:pPr>
                <a:r>
                  <a:rPr lang="en-US" sz="2400" dirty="0">
                    <a:solidFill>
                      <a:srgbClr val="343434"/>
                    </a:solidFill>
                    <a:latin typeface="Tahoma" panose="020B0604030504040204" pitchFamily="34" charset="0"/>
                  </a:rPr>
                  <a:t>A row/column should have at least one non-zero element for it to be ranked. </a:t>
                </a:r>
              </a:p>
              <a:p>
                <a:pPr marL="457189" indent="-457189">
                  <a:buAutoNum type="arabicPeriod"/>
                </a:pPr>
                <a:r>
                  <a:rPr lang="en-US" sz="2400" dirty="0">
                    <a:solidFill>
                      <a:srgbClr val="343434"/>
                    </a:solidFill>
                    <a:latin typeface="Tahoma" panose="020B0604030504040204" pitchFamily="34" charset="0"/>
                  </a:rPr>
                  <a:t>A row/column should not be identical to another row/column. </a:t>
                </a:r>
              </a:p>
              <a:p>
                <a:pPr marL="457189" indent="-457189">
                  <a:buAutoNum type="arabicPeriod"/>
                </a:pPr>
                <a:r>
                  <a:rPr lang="en-US" sz="2400" dirty="0">
                    <a:solidFill>
                      <a:srgbClr val="343434"/>
                    </a:solidFill>
                    <a:latin typeface="Tahoma" panose="020B0604030504040204" pitchFamily="34" charset="0"/>
                  </a:rPr>
                  <a:t>A row/column should not be proportional (multiples) of another row/column. </a:t>
                </a:r>
              </a:p>
              <a:p>
                <a:pPr marL="457189" indent="-457189">
                  <a:buAutoNum type="arabicPeriod"/>
                </a:pPr>
                <a:r>
                  <a:rPr lang="en-US" sz="2400" dirty="0">
                    <a:solidFill>
                      <a:srgbClr val="343434"/>
                    </a:solidFill>
                    <a:latin typeface="Tahoma" panose="020B0604030504040204" pitchFamily="34" charset="0"/>
                  </a:rPr>
                  <a:t>A row/column should not be should not be a linear combination of another row/column. </a:t>
                </a:r>
              </a:p>
              <a:p>
                <a:r>
                  <a:rPr lang="en-US" sz="2400" dirty="0">
                    <a:solidFill>
                      <a:srgbClr val="343434"/>
                    </a:solidFill>
                    <a:latin typeface="Tahoma" panose="020B0604030504040204" pitchFamily="34" charset="0"/>
                  </a:rPr>
                  <a:t>A row or a column is ranked only if it meets the above conditions. For example, the rank of the below matrix would be 1 as the second row is proportional to the first and the third row does not have a non-zero element. </a:t>
                </a:r>
                <a14:m>
                  <m:oMath xmlns:m="http://schemas.openxmlformats.org/officeDocument/2006/math">
                    <m:d>
                      <m:dPr>
                        <m:begChr m:val="["/>
                        <m:endChr m:val="]"/>
                        <m:ctrlPr>
                          <a:rPr lang="en-US" sz="2400" i="1">
                            <a:solidFill>
                              <a:srgbClr val="343434"/>
                            </a:solidFill>
                            <a:latin typeface="Cambria Math" panose="02040503050406030204" pitchFamily="18" charset="0"/>
                          </a:rPr>
                        </m:ctrlPr>
                      </m:dPr>
                      <m:e>
                        <m:m>
                          <m:mPr>
                            <m:mcs>
                              <m:mc>
                                <m:mcPr>
                                  <m:count m:val="2"/>
                                  <m:mcJc m:val="center"/>
                                </m:mcPr>
                              </m:mc>
                            </m:mcs>
                            <m:ctrlPr>
                              <a:rPr lang="en-US" sz="2400" i="1">
                                <a:solidFill>
                                  <a:srgbClr val="343434"/>
                                </a:solidFill>
                                <a:latin typeface="Cambria Math" panose="02040503050406030204" pitchFamily="18" charset="0"/>
                              </a:rPr>
                            </m:ctrlPr>
                          </m:mPr>
                          <m:mr>
                            <m:e>
                              <m:r>
                                <m:rPr>
                                  <m:brk m:alnAt="7"/>
                                </m:rPr>
                                <a:rPr lang="en-IN" sz="2400" i="1">
                                  <a:solidFill>
                                    <a:srgbClr val="343434"/>
                                  </a:solidFill>
                                  <a:latin typeface="Cambria Math" panose="02040503050406030204" pitchFamily="18" charset="0"/>
                                </a:rPr>
                                <m:t>1</m:t>
                              </m:r>
                            </m:e>
                            <m:e>
                              <m:r>
                                <a:rPr lang="en-IN" sz="2400" i="1">
                                  <a:solidFill>
                                    <a:srgbClr val="343434"/>
                                  </a:solidFill>
                                  <a:latin typeface="Cambria Math" panose="02040503050406030204" pitchFamily="18" charset="0"/>
                                </a:rPr>
                                <m:t>2     3</m:t>
                              </m:r>
                            </m:e>
                          </m:mr>
                          <m:mr>
                            <m:e>
                              <m:eqArr>
                                <m:eqArrPr>
                                  <m:ctrlPr>
                                    <a:rPr lang="en-IN" sz="2400" i="1">
                                      <a:solidFill>
                                        <a:srgbClr val="343434"/>
                                      </a:solidFill>
                                      <a:latin typeface="Cambria Math" panose="02040503050406030204" pitchFamily="18" charset="0"/>
                                    </a:rPr>
                                  </m:ctrlPr>
                                </m:eqArrPr>
                                <m:e>
                                  <m:r>
                                    <a:rPr lang="en-IN" sz="2400" i="1">
                                      <a:solidFill>
                                        <a:srgbClr val="343434"/>
                                      </a:solidFill>
                                      <a:latin typeface="Cambria Math" panose="02040503050406030204" pitchFamily="18" charset="0"/>
                                    </a:rPr>
                                    <m:t>2</m:t>
                                  </m:r>
                                </m:e>
                                <m:e>
                                  <m:r>
                                    <a:rPr lang="en-IN" sz="2400" i="1">
                                      <a:solidFill>
                                        <a:srgbClr val="343434"/>
                                      </a:solidFill>
                                      <a:latin typeface="Cambria Math" panose="02040503050406030204" pitchFamily="18" charset="0"/>
                                    </a:rPr>
                                    <m:t>0</m:t>
                                  </m:r>
                                </m:e>
                              </m:eqArr>
                            </m:e>
                            <m:e>
                              <m:eqArr>
                                <m:eqArrPr>
                                  <m:ctrlPr>
                                    <a:rPr lang="en-IN" sz="2400" i="1">
                                      <a:solidFill>
                                        <a:srgbClr val="343434"/>
                                      </a:solidFill>
                                      <a:latin typeface="Cambria Math" panose="02040503050406030204" pitchFamily="18" charset="0"/>
                                    </a:rPr>
                                  </m:ctrlPr>
                                </m:eqArrPr>
                                <m:e>
                                  <m:r>
                                    <a:rPr lang="en-IN" sz="2400" i="1">
                                      <a:solidFill>
                                        <a:srgbClr val="343434"/>
                                      </a:solidFill>
                                      <a:latin typeface="Cambria Math" panose="02040503050406030204" pitchFamily="18" charset="0"/>
                                    </a:rPr>
                                    <m:t>4      6</m:t>
                                  </m:r>
                                </m:e>
                                <m:e>
                                  <m:r>
                                    <a:rPr lang="en-IN" sz="2400" i="1">
                                      <a:solidFill>
                                        <a:srgbClr val="343434"/>
                                      </a:solidFill>
                                      <a:latin typeface="Cambria Math" panose="02040503050406030204" pitchFamily="18" charset="0"/>
                                    </a:rPr>
                                    <m:t>0     0</m:t>
                                  </m:r>
                                </m:e>
                              </m:eqArr>
                            </m:e>
                          </m:mr>
                        </m:m>
                      </m:e>
                    </m:d>
                  </m:oMath>
                </a14:m>
                <a:endParaRPr lang="en-US" sz="2400" dirty="0">
                  <a:solidFill>
                    <a:srgbClr val="343434"/>
                  </a:solidFill>
                  <a:latin typeface="Tahoma" panose="020B0604030504040204" pitchFamily="34" charset="0"/>
                </a:endParaRPr>
              </a:p>
            </p:txBody>
          </p:sp>
        </mc:Choice>
        <mc:Fallback xmlns="">
          <p:sp>
            <p:nvSpPr>
              <p:cNvPr id="2" name="Rectangle 1">
                <a:extLst>
                  <a:ext uri="{FF2B5EF4-FFF2-40B4-BE49-F238E27FC236}">
                    <a16:creationId xmlns:a16="http://schemas.microsoft.com/office/drawing/2014/main" id="{94027F31-36DB-4C31-B84C-2C484E0CD74D}"/>
                  </a:ext>
                </a:extLst>
              </p:cNvPr>
              <p:cNvSpPr>
                <a:spLocks noRot="1" noChangeAspect="1" noMove="1" noResize="1" noEditPoints="1" noAdjustHandles="1" noChangeArrowheads="1" noChangeShapeType="1" noTextEdit="1"/>
              </p:cNvSpPr>
              <p:nvPr/>
            </p:nvSpPr>
            <p:spPr>
              <a:xfrm>
                <a:off x="1270000" y="1007905"/>
                <a:ext cx="9652000" cy="5851538"/>
              </a:xfrm>
              <a:prstGeom prst="rect">
                <a:avLst/>
              </a:prstGeom>
              <a:blipFill>
                <a:blip r:embed="rId2"/>
                <a:stretch>
                  <a:fillRect l="-947" t="-833" r="-1515"/>
                </a:stretch>
              </a:blipFill>
            </p:spPr>
            <p:txBody>
              <a:bodyPr/>
              <a:lstStyle/>
              <a:p>
                <a:r>
                  <a:rPr lang="en-IN">
                    <a:noFill/>
                  </a:rPr>
                  <a:t> </a:t>
                </a:r>
              </a:p>
            </p:txBody>
          </p:sp>
        </mc:Fallback>
      </mc:AlternateContent>
      <p:sp>
        <p:nvSpPr>
          <p:cNvPr id="3" name="Rectangle 2">
            <a:extLst>
              <a:ext uri="{FF2B5EF4-FFF2-40B4-BE49-F238E27FC236}">
                <a16:creationId xmlns:a16="http://schemas.microsoft.com/office/drawing/2014/main" id="{B0F56DF0-934E-4A42-9CEB-21854B2938D9}"/>
              </a:ext>
            </a:extLst>
          </p:cNvPr>
          <p:cNvSpPr/>
          <p:nvPr/>
        </p:nvSpPr>
        <p:spPr>
          <a:xfrm>
            <a:off x="4368800" y="397460"/>
            <a:ext cx="2408032" cy="461665"/>
          </a:xfrm>
          <a:prstGeom prst="rect">
            <a:avLst/>
          </a:prstGeom>
        </p:spPr>
        <p:txBody>
          <a:bodyPr wrap="none">
            <a:spAutoFit/>
          </a:bodyPr>
          <a:lstStyle/>
          <a:p>
            <a:r>
              <a:rPr lang="en-US" sz="2400" b="1" dirty="0">
                <a:solidFill>
                  <a:srgbClr val="ED1B24"/>
                </a:solidFill>
                <a:latin typeface="Arial" panose="020B0604020202020204" pitchFamily="34" charset="0"/>
              </a:rPr>
              <a:t>Rank of Matrix:</a:t>
            </a:r>
          </a:p>
        </p:txBody>
      </p:sp>
    </p:spTree>
    <p:extLst>
      <p:ext uri="{BB962C8B-B14F-4D97-AF65-F5344CB8AC3E}">
        <p14:creationId xmlns:p14="http://schemas.microsoft.com/office/powerpoint/2010/main" val="3413370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4A75E6-E35B-4486-93F0-3F7D82BD48F8}"/>
              </a:ext>
            </a:extLst>
          </p:cNvPr>
          <p:cNvSpPr/>
          <p:nvPr/>
        </p:nvSpPr>
        <p:spPr>
          <a:xfrm>
            <a:off x="304800" y="1397001"/>
            <a:ext cx="11277600" cy="4154984"/>
          </a:xfrm>
          <a:prstGeom prst="rect">
            <a:avLst/>
          </a:prstGeom>
        </p:spPr>
        <p:txBody>
          <a:bodyPr wrap="square">
            <a:spAutoFit/>
          </a:bodyPr>
          <a:lstStyle/>
          <a:p>
            <a:r>
              <a:rPr lang="en-US" sz="2400" b="1" dirty="0">
                <a:solidFill>
                  <a:srgbClr val="404040"/>
                </a:solidFill>
                <a:latin typeface="Arial" panose="020B0604020202020204" pitchFamily="34" charset="0"/>
              </a:rPr>
              <a:t>How to calculate the rank of a matrix:</a:t>
            </a:r>
          </a:p>
          <a:p>
            <a:r>
              <a:rPr lang="en-US" sz="2400" dirty="0">
                <a:solidFill>
                  <a:srgbClr val="343434"/>
                </a:solidFill>
                <a:latin typeface="Tahoma" panose="020B0604030504040204" pitchFamily="34" charset="0"/>
              </a:rPr>
              <a:t>It can be calculated using various methods. We will calculate the rank based on Gaussian elimination method. Gaussian elimination method is used to calculate the matrix rank by converting it into the reduced row echelon form. It can be called as reduced row echelon form, if it satisfies the following conditions. </a:t>
            </a:r>
          </a:p>
          <a:p>
            <a:pPr marL="457189" indent="-457189">
              <a:buAutoNum type="arabicPeriod"/>
            </a:pPr>
            <a:r>
              <a:rPr lang="en-US" sz="2400" dirty="0">
                <a:solidFill>
                  <a:srgbClr val="343434"/>
                </a:solidFill>
                <a:latin typeface="Tahoma" panose="020B0604030504040204" pitchFamily="34" charset="0"/>
              </a:rPr>
              <a:t>The first element in the first row should be the leading element i.e. 1. </a:t>
            </a:r>
          </a:p>
          <a:p>
            <a:pPr marL="457189" indent="-457189">
              <a:buAutoNum type="arabicPeriod"/>
            </a:pPr>
            <a:r>
              <a:rPr lang="en-US" sz="2400" dirty="0">
                <a:solidFill>
                  <a:srgbClr val="343434"/>
                </a:solidFill>
                <a:latin typeface="Tahoma" panose="020B0604030504040204" pitchFamily="34" charset="0"/>
              </a:rPr>
              <a:t>The leading element in the columns should be to the right of the previous row's leading element. </a:t>
            </a:r>
          </a:p>
          <a:p>
            <a:pPr marL="457189" indent="-457189">
              <a:buAutoNum type="arabicPeriod"/>
            </a:pPr>
            <a:r>
              <a:rPr lang="en-US" sz="2400" dirty="0">
                <a:solidFill>
                  <a:srgbClr val="343434"/>
                </a:solidFill>
                <a:latin typeface="Tahoma" panose="020B0604030504040204" pitchFamily="34" charset="0"/>
              </a:rPr>
              <a:t>If there are any rows with all zero elements, it should be below the non-zero element rows. </a:t>
            </a:r>
          </a:p>
          <a:p>
            <a:r>
              <a:rPr lang="en-US" sz="2400" dirty="0">
                <a:solidFill>
                  <a:srgbClr val="343434"/>
                </a:solidFill>
                <a:latin typeface="Tahoma" panose="020B0604030504040204" pitchFamily="34" charset="0"/>
              </a:rPr>
              <a:t>4. The leading element should be the only non-zero element in every column. </a:t>
            </a:r>
          </a:p>
        </p:txBody>
      </p:sp>
    </p:spTree>
    <p:extLst>
      <p:ext uri="{BB962C8B-B14F-4D97-AF65-F5344CB8AC3E}">
        <p14:creationId xmlns:p14="http://schemas.microsoft.com/office/powerpoint/2010/main" val="10889231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86CB33-BB29-4915-8027-86AB56DB4336}"/>
              </a:ext>
            </a:extLst>
          </p:cNvPr>
          <p:cNvSpPr/>
          <p:nvPr/>
        </p:nvSpPr>
        <p:spPr>
          <a:xfrm>
            <a:off x="711200" y="1397001"/>
            <a:ext cx="10058400" cy="4524315"/>
          </a:xfrm>
          <a:prstGeom prst="rect">
            <a:avLst/>
          </a:prstGeom>
        </p:spPr>
        <p:txBody>
          <a:bodyPr wrap="square">
            <a:spAutoFit/>
          </a:bodyPr>
          <a:lstStyle/>
          <a:p>
            <a:r>
              <a:rPr lang="en-US" sz="2400" dirty="0">
                <a:solidFill>
                  <a:srgbClr val="343434"/>
                </a:solidFill>
                <a:latin typeface="Tahoma" panose="020B0604030504040204" pitchFamily="34" charset="0"/>
              </a:rPr>
              <a:t>If we follow the above steps, then the matrix would become a triangular one, i.e. the elements below or above the main diagonal would become zero. Main diagonal, of a square matrix, is a diagonal which runs from top left corner and to the bottom right corner. However, in this session, we will not consider the last (fourth) point as it would not affect the rank of a matrix. A matrix can be converted to reduced row echelon form by using elementary operations. There are three basic elementary operations explained. </a:t>
            </a:r>
          </a:p>
          <a:p>
            <a:r>
              <a:rPr lang="en-US" sz="2400" dirty="0">
                <a:solidFill>
                  <a:srgbClr val="343434"/>
                </a:solidFill>
                <a:latin typeface="Tahoma" panose="020B0604030504040204" pitchFamily="34" charset="0"/>
              </a:rPr>
              <a:t>1.Interchanging two rows (or columns). </a:t>
            </a:r>
          </a:p>
          <a:p>
            <a:r>
              <a:rPr lang="en-US" sz="2400" dirty="0">
                <a:solidFill>
                  <a:srgbClr val="343434"/>
                </a:solidFill>
                <a:latin typeface="Tahoma" panose="020B0604030504040204" pitchFamily="34" charset="0"/>
              </a:rPr>
              <a:t>2.Multiplying a row (or a column) with a non-zero number. </a:t>
            </a:r>
          </a:p>
          <a:p>
            <a:r>
              <a:rPr lang="en-US" sz="2400" dirty="0">
                <a:solidFill>
                  <a:srgbClr val="343434"/>
                </a:solidFill>
                <a:latin typeface="Tahoma" panose="020B0604030504040204" pitchFamily="34" charset="0"/>
              </a:rPr>
              <a:t>3.Multiplying a row (or a column) with a non-zero number and adding the result to another row (or a column).</a:t>
            </a:r>
            <a:endParaRPr lang="en-IN" sz="2400" dirty="0"/>
          </a:p>
        </p:txBody>
      </p:sp>
    </p:spTree>
    <p:extLst>
      <p:ext uri="{BB962C8B-B14F-4D97-AF65-F5344CB8AC3E}">
        <p14:creationId xmlns:p14="http://schemas.microsoft.com/office/powerpoint/2010/main" val="21917655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3B821FFE-5672-45D7-9D53-87CCD196BC21}"/>
                  </a:ext>
                </a:extLst>
              </p:cNvPr>
              <p:cNvSpPr/>
              <p:nvPr/>
            </p:nvSpPr>
            <p:spPr>
              <a:xfrm>
                <a:off x="914400" y="966788"/>
                <a:ext cx="10566400" cy="6070764"/>
              </a:xfrm>
              <a:prstGeom prst="rect">
                <a:avLst/>
              </a:prstGeom>
            </p:spPr>
            <p:txBody>
              <a:bodyPr wrap="square">
                <a:spAutoFit/>
              </a:bodyPr>
              <a:lstStyle/>
              <a:p>
                <a:r>
                  <a:rPr lang="en-US" sz="2400" dirty="0">
                    <a:solidFill>
                      <a:srgbClr val="343434"/>
                    </a:solidFill>
                    <a:latin typeface="Tahoma" panose="020B0604030504040204" pitchFamily="34" charset="0"/>
                  </a:rPr>
                  <a:t>Now, for example let us calculate the matrix rank. </a:t>
                </a:r>
                <a14:m>
                  <m:oMath xmlns:m="http://schemas.openxmlformats.org/officeDocument/2006/math">
                    <m:d>
                      <m:dPr>
                        <m:begChr m:val="["/>
                        <m:endChr m:val="]"/>
                        <m:ctrlPr>
                          <a:rPr lang="en-US" sz="2400" i="1">
                            <a:solidFill>
                              <a:srgbClr val="343434"/>
                            </a:solidFill>
                            <a:latin typeface="Cambria Math" panose="02040503050406030204" pitchFamily="18" charset="0"/>
                          </a:rPr>
                        </m:ctrlPr>
                      </m:dPr>
                      <m:e>
                        <m:m>
                          <m:mPr>
                            <m:mcs>
                              <m:mc>
                                <m:mcPr>
                                  <m:count m:val="2"/>
                                  <m:mcJc m:val="center"/>
                                </m:mcPr>
                              </m:mc>
                            </m:mcs>
                            <m:ctrlPr>
                              <a:rPr lang="en-US" sz="2400" i="1">
                                <a:solidFill>
                                  <a:srgbClr val="343434"/>
                                </a:solidFill>
                                <a:latin typeface="Cambria Math" panose="02040503050406030204" pitchFamily="18" charset="0"/>
                              </a:rPr>
                            </m:ctrlPr>
                          </m:mPr>
                          <m:mr>
                            <m:e>
                              <m:r>
                                <m:rPr>
                                  <m:brk m:alnAt="7"/>
                                </m:rPr>
                                <a:rPr lang="en-IN" sz="2400" i="1">
                                  <a:solidFill>
                                    <a:srgbClr val="343434"/>
                                  </a:solidFill>
                                  <a:latin typeface="Cambria Math" panose="02040503050406030204" pitchFamily="18" charset="0"/>
                                </a:rPr>
                                <m:t>1</m:t>
                              </m:r>
                            </m:e>
                            <m:e>
                              <m:r>
                                <a:rPr lang="en-IN" sz="2400" i="1">
                                  <a:solidFill>
                                    <a:srgbClr val="343434"/>
                                  </a:solidFill>
                                  <a:latin typeface="Cambria Math" panose="02040503050406030204" pitchFamily="18" charset="0"/>
                                </a:rPr>
                                <m:t>2      3</m:t>
                              </m:r>
                            </m:e>
                          </m:mr>
                          <m:mr>
                            <m:e>
                              <m:eqArr>
                                <m:eqArrPr>
                                  <m:ctrlPr>
                                    <a:rPr lang="en-IN" sz="2400" i="1">
                                      <a:solidFill>
                                        <a:srgbClr val="343434"/>
                                      </a:solidFill>
                                      <a:latin typeface="Cambria Math" panose="02040503050406030204" pitchFamily="18" charset="0"/>
                                    </a:rPr>
                                  </m:ctrlPr>
                                </m:eqArrPr>
                                <m:e>
                                  <m:r>
                                    <a:rPr lang="en-IN" sz="2400" i="1">
                                      <a:solidFill>
                                        <a:srgbClr val="343434"/>
                                      </a:solidFill>
                                      <a:latin typeface="Cambria Math" panose="02040503050406030204" pitchFamily="18" charset="0"/>
                                    </a:rPr>
                                    <m:t>4</m:t>
                                  </m:r>
                                </m:e>
                                <m:e>
                                  <m:r>
                                    <a:rPr lang="en-IN" sz="2400" i="1">
                                      <a:solidFill>
                                        <a:srgbClr val="343434"/>
                                      </a:solidFill>
                                      <a:latin typeface="Cambria Math" panose="02040503050406030204" pitchFamily="18" charset="0"/>
                                    </a:rPr>
                                    <m:t>7</m:t>
                                  </m:r>
                                </m:e>
                              </m:eqArr>
                            </m:e>
                            <m:e>
                              <m:eqArr>
                                <m:eqArrPr>
                                  <m:ctrlPr>
                                    <a:rPr lang="en-IN" sz="2400" i="1">
                                      <a:solidFill>
                                        <a:srgbClr val="343434"/>
                                      </a:solidFill>
                                      <a:latin typeface="Cambria Math" panose="02040503050406030204" pitchFamily="18" charset="0"/>
                                    </a:rPr>
                                  </m:ctrlPr>
                                </m:eqArrPr>
                                <m:e>
                                  <m:r>
                                    <a:rPr lang="en-IN" sz="2400" i="1">
                                      <a:solidFill>
                                        <a:srgbClr val="343434"/>
                                      </a:solidFill>
                                      <a:latin typeface="Cambria Math" panose="02040503050406030204" pitchFamily="18" charset="0"/>
                                    </a:rPr>
                                    <m:t>5       6</m:t>
                                  </m:r>
                                </m:e>
                                <m:e>
                                  <m:r>
                                    <a:rPr lang="en-IN" sz="2400" i="1">
                                      <a:solidFill>
                                        <a:srgbClr val="343434"/>
                                      </a:solidFill>
                                      <a:latin typeface="Cambria Math" panose="02040503050406030204" pitchFamily="18" charset="0"/>
                                    </a:rPr>
                                    <m:t>8       9</m:t>
                                  </m:r>
                                </m:e>
                              </m:eqArr>
                            </m:e>
                          </m:mr>
                        </m:m>
                      </m:e>
                    </m:d>
                  </m:oMath>
                </a14:m>
                <a:endParaRPr lang="en-US" sz="2400" dirty="0">
                  <a:solidFill>
                    <a:srgbClr val="343434"/>
                  </a:solidFill>
                  <a:latin typeface="Tahoma" panose="020B0604030504040204" pitchFamily="34" charset="0"/>
                </a:endParaRPr>
              </a:p>
              <a:p>
                <a:endParaRPr lang="en-US" sz="2400" dirty="0">
                  <a:solidFill>
                    <a:srgbClr val="343434"/>
                  </a:solidFill>
                  <a:latin typeface="Tahoma" panose="020B0604030504040204" pitchFamily="34" charset="0"/>
                </a:endParaRPr>
              </a:p>
              <a:p>
                <a:endParaRPr lang="en-US" sz="2400" dirty="0">
                  <a:solidFill>
                    <a:srgbClr val="343434"/>
                  </a:solidFill>
                  <a:latin typeface="Tahoma" panose="020B0604030504040204" pitchFamily="34" charset="0"/>
                </a:endParaRPr>
              </a:p>
              <a:p>
                <a:r>
                  <a:rPr lang="en-US" sz="2400" dirty="0">
                    <a:solidFill>
                      <a:srgbClr val="343434"/>
                    </a:solidFill>
                    <a:latin typeface="Tahoma" panose="020B0604030504040204" pitchFamily="34" charset="0"/>
                  </a:rPr>
                  <a:t> a) Since the first element of the first row is the leading element, we have satisfied the first condition. If the first element is not 1, then we need to convert the element to 1 by using elementary operations. </a:t>
                </a:r>
              </a:p>
              <a:p>
                <a:endParaRPr lang="en-US" sz="2400" dirty="0">
                  <a:solidFill>
                    <a:srgbClr val="343434"/>
                  </a:solidFill>
                  <a:latin typeface="Tahoma" panose="020B0604030504040204" pitchFamily="34" charset="0"/>
                </a:endParaRPr>
              </a:p>
              <a:p>
                <a:r>
                  <a:rPr lang="en-US" sz="2400" dirty="0">
                    <a:solidFill>
                      <a:srgbClr val="343434"/>
                    </a:solidFill>
                    <a:latin typeface="Tahoma" panose="020B0604030504040204" pitchFamily="34" charset="0"/>
                  </a:rPr>
                  <a:t>b)Now, let us make the first element of the second row zero (to form the triangular matrix). Multiply the first row with -4 and add that to the second row. The result is given below. </a:t>
                </a:r>
                <a14:m>
                  <m:oMath xmlns:m="http://schemas.openxmlformats.org/officeDocument/2006/math">
                    <m:d>
                      <m:dPr>
                        <m:begChr m:val="["/>
                        <m:endChr m:val="]"/>
                        <m:ctrlPr>
                          <a:rPr lang="en-US" sz="2400" i="1">
                            <a:solidFill>
                              <a:srgbClr val="343434"/>
                            </a:solidFill>
                            <a:latin typeface="Cambria Math" panose="02040503050406030204" pitchFamily="18" charset="0"/>
                          </a:rPr>
                        </m:ctrlPr>
                      </m:dPr>
                      <m:e>
                        <m:m>
                          <m:mPr>
                            <m:mcs>
                              <m:mc>
                                <m:mcPr>
                                  <m:count m:val="2"/>
                                  <m:mcJc m:val="center"/>
                                </m:mcPr>
                              </m:mc>
                            </m:mcs>
                            <m:ctrlPr>
                              <a:rPr lang="en-US" sz="2400" i="1">
                                <a:solidFill>
                                  <a:srgbClr val="343434"/>
                                </a:solidFill>
                                <a:latin typeface="Cambria Math" panose="02040503050406030204" pitchFamily="18" charset="0"/>
                              </a:rPr>
                            </m:ctrlPr>
                          </m:mPr>
                          <m:mr>
                            <m:e>
                              <m:r>
                                <m:rPr>
                                  <m:brk m:alnAt="7"/>
                                </m:rPr>
                                <a:rPr lang="en-IN" sz="2400" i="1">
                                  <a:solidFill>
                                    <a:srgbClr val="343434"/>
                                  </a:solidFill>
                                  <a:latin typeface="Cambria Math" panose="02040503050406030204" pitchFamily="18" charset="0"/>
                                </a:rPr>
                                <m:t>1</m:t>
                              </m:r>
                            </m:e>
                            <m:e>
                              <m:r>
                                <a:rPr lang="en-IN" sz="2400" i="1">
                                  <a:solidFill>
                                    <a:srgbClr val="343434"/>
                                  </a:solidFill>
                                  <a:latin typeface="Cambria Math" panose="02040503050406030204" pitchFamily="18" charset="0"/>
                                </a:rPr>
                                <m:t>2         3</m:t>
                              </m:r>
                            </m:e>
                          </m:mr>
                          <m:mr>
                            <m:e>
                              <m:eqArr>
                                <m:eqArrPr>
                                  <m:ctrlPr>
                                    <a:rPr lang="en-IN" sz="2400" i="1">
                                      <a:solidFill>
                                        <a:srgbClr val="343434"/>
                                      </a:solidFill>
                                      <a:latin typeface="Cambria Math" panose="02040503050406030204" pitchFamily="18" charset="0"/>
                                    </a:rPr>
                                  </m:ctrlPr>
                                </m:eqArrPr>
                                <m:e>
                                  <m:r>
                                    <a:rPr lang="en-IN" sz="2400" i="1">
                                      <a:solidFill>
                                        <a:srgbClr val="343434"/>
                                      </a:solidFill>
                                      <a:latin typeface="Cambria Math" panose="02040503050406030204" pitchFamily="18" charset="0"/>
                                    </a:rPr>
                                    <m:t>0</m:t>
                                  </m:r>
                                </m:e>
                                <m:e>
                                  <m:r>
                                    <a:rPr lang="en-IN" sz="2400" i="1">
                                      <a:solidFill>
                                        <a:srgbClr val="343434"/>
                                      </a:solidFill>
                                      <a:latin typeface="Cambria Math" panose="02040503050406030204" pitchFamily="18" charset="0"/>
                                    </a:rPr>
                                    <m:t>7</m:t>
                                  </m:r>
                                </m:e>
                              </m:eqArr>
                            </m:e>
                            <m:e>
                              <m:eqArr>
                                <m:eqArrPr>
                                  <m:ctrlPr>
                                    <a:rPr lang="en-IN" sz="2400" i="1">
                                      <a:solidFill>
                                        <a:srgbClr val="343434"/>
                                      </a:solidFill>
                                      <a:latin typeface="Cambria Math" panose="02040503050406030204" pitchFamily="18" charset="0"/>
                                    </a:rPr>
                                  </m:ctrlPr>
                                </m:eqArrPr>
                                <m:e>
                                  <m:r>
                                    <a:rPr lang="en-IN" sz="2400" i="1">
                                      <a:solidFill>
                                        <a:srgbClr val="343434"/>
                                      </a:solidFill>
                                      <a:latin typeface="Cambria Math" panose="02040503050406030204" pitchFamily="18" charset="0"/>
                                    </a:rPr>
                                    <m:t>−3       −6</m:t>
                                  </m:r>
                                </m:e>
                                <m:e>
                                  <m:r>
                                    <a:rPr lang="en-IN" sz="2400" i="1">
                                      <a:solidFill>
                                        <a:srgbClr val="343434"/>
                                      </a:solidFill>
                                      <a:latin typeface="Cambria Math" panose="02040503050406030204" pitchFamily="18" charset="0"/>
                                    </a:rPr>
                                    <m:t>8         9</m:t>
                                  </m:r>
                                </m:e>
                              </m:eqArr>
                            </m:e>
                          </m:mr>
                        </m:m>
                      </m:e>
                    </m:d>
                  </m:oMath>
                </a14:m>
                <a:endParaRPr lang="en-US" sz="2400" dirty="0">
                  <a:solidFill>
                    <a:srgbClr val="343434"/>
                  </a:solidFill>
                  <a:latin typeface="Tahoma" panose="020B0604030504040204" pitchFamily="34" charset="0"/>
                </a:endParaRPr>
              </a:p>
              <a:p>
                <a:endParaRPr lang="en-US" sz="2400" dirty="0">
                  <a:solidFill>
                    <a:srgbClr val="343434"/>
                  </a:solidFill>
                  <a:latin typeface="Tahoma" panose="020B0604030504040204" pitchFamily="34" charset="0"/>
                </a:endParaRPr>
              </a:p>
              <a:p>
                <a:br>
                  <a:rPr lang="en-US" sz="2400" dirty="0"/>
                </a:br>
                <a:endParaRPr lang="en-IN" sz="2400" dirty="0"/>
              </a:p>
            </p:txBody>
          </p:sp>
        </mc:Choice>
        <mc:Fallback xmlns="">
          <p:sp>
            <p:nvSpPr>
              <p:cNvPr id="2" name="Rectangle 1">
                <a:extLst>
                  <a:ext uri="{FF2B5EF4-FFF2-40B4-BE49-F238E27FC236}">
                    <a16:creationId xmlns:a16="http://schemas.microsoft.com/office/drawing/2014/main" id="{3B821FFE-5672-45D7-9D53-87CCD196BC21}"/>
                  </a:ext>
                </a:extLst>
              </p:cNvPr>
              <p:cNvSpPr>
                <a:spLocks noRot="1" noChangeAspect="1" noMove="1" noResize="1" noEditPoints="1" noAdjustHandles="1" noChangeArrowheads="1" noChangeShapeType="1" noTextEdit="1"/>
              </p:cNvSpPr>
              <p:nvPr/>
            </p:nvSpPr>
            <p:spPr>
              <a:xfrm>
                <a:off x="914400" y="966788"/>
                <a:ext cx="10566400" cy="6070764"/>
              </a:xfrm>
              <a:prstGeom prst="rect">
                <a:avLst/>
              </a:prstGeom>
              <a:blipFill>
                <a:blip r:embed="rId2"/>
                <a:stretch>
                  <a:fillRect l="-866"/>
                </a:stretch>
              </a:blipFill>
            </p:spPr>
            <p:txBody>
              <a:bodyPr/>
              <a:lstStyle/>
              <a:p>
                <a:r>
                  <a:rPr lang="en-IN">
                    <a:noFill/>
                  </a:rPr>
                  <a:t> </a:t>
                </a:r>
              </a:p>
            </p:txBody>
          </p:sp>
        </mc:Fallback>
      </mc:AlternateContent>
    </p:spTree>
    <p:extLst>
      <p:ext uri="{BB962C8B-B14F-4D97-AF65-F5344CB8AC3E}">
        <p14:creationId xmlns:p14="http://schemas.microsoft.com/office/powerpoint/2010/main" val="7809927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41DE65FF-B504-4250-91BD-89D0AE84EC39}"/>
                  </a:ext>
                </a:extLst>
              </p:cNvPr>
              <p:cNvSpPr/>
              <p:nvPr/>
            </p:nvSpPr>
            <p:spPr>
              <a:xfrm>
                <a:off x="812800" y="1520786"/>
                <a:ext cx="10160000" cy="4593437"/>
              </a:xfrm>
              <a:prstGeom prst="rect">
                <a:avLst/>
              </a:prstGeom>
            </p:spPr>
            <p:txBody>
              <a:bodyPr wrap="square">
                <a:spAutoFit/>
              </a:bodyPr>
              <a:lstStyle/>
              <a:p>
                <a:r>
                  <a:rPr lang="en-US" sz="2400" dirty="0">
                    <a:solidFill>
                      <a:srgbClr val="343434"/>
                    </a:solidFill>
                    <a:latin typeface="Tahoma" panose="020B0604030504040204" pitchFamily="34" charset="0"/>
                  </a:rPr>
                  <a:t>c)Similarly let us follow the same step for the third row for finding the rank of a matrix. Multiply the first row with -7 and add that to the third row. Below is the result. </a:t>
                </a:r>
                <a14:m>
                  <m:oMath xmlns:m="http://schemas.openxmlformats.org/officeDocument/2006/math">
                    <m:d>
                      <m:dPr>
                        <m:begChr m:val="["/>
                        <m:endChr m:val="]"/>
                        <m:ctrlPr>
                          <a:rPr lang="en-US" sz="2400" i="1">
                            <a:solidFill>
                              <a:srgbClr val="343434"/>
                            </a:solidFill>
                            <a:latin typeface="Cambria Math" panose="02040503050406030204" pitchFamily="18" charset="0"/>
                          </a:rPr>
                        </m:ctrlPr>
                      </m:dPr>
                      <m:e>
                        <m:m>
                          <m:mPr>
                            <m:mcs>
                              <m:mc>
                                <m:mcPr>
                                  <m:count m:val="2"/>
                                  <m:mcJc m:val="center"/>
                                </m:mcPr>
                              </m:mc>
                            </m:mcs>
                            <m:ctrlPr>
                              <a:rPr lang="en-US" sz="2400" i="1">
                                <a:solidFill>
                                  <a:srgbClr val="343434"/>
                                </a:solidFill>
                                <a:latin typeface="Cambria Math" panose="02040503050406030204" pitchFamily="18" charset="0"/>
                              </a:rPr>
                            </m:ctrlPr>
                          </m:mPr>
                          <m:mr>
                            <m:e>
                              <m:r>
                                <m:rPr>
                                  <m:brk m:alnAt="7"/>
                                </m:rPr>
                                <a:rPr lang="en-IN" sz="2400" i="1">
                                  <a:solidFill>
                                    <a:srgbClr val="343434"/>
                                  </a:solidFill>
                                  <a:latin typeface="Cambria Math" panose="02040503050406030204" pitchFamily="18" charset="0"/>
                                </a:rPr>
                                <m:t>1</m:t>
                              </m:r>
                            </m:e>
                            <m:e>
                              <m:r>
                                <a:rPr lang="en-IN" sz="2400" i="1">
                                  <a:solidFill>
                                    <a:srgbClr val="343434"/>
                                  </a:solidFill>
                                  <a:latin typeface="Cambria Math" panose="02040503050406030204" pitchFamily="18" charset="0"/>
                                </a:rPr>
                                <m:t>2          3</m:t>
                              </m:r>
                            </m:e>
                          </m:mr>
                          <m:mr>
                            <m:e>
                              <m:eqArr>
                                <m:eqArrPr>
                                  <m:ctrlPr>
                                    <a:rPr lang="en-IN" sz="2400" i="1">
                                      <a:solidFill>
                                        <a:srgbClr val="343434"/>
                                      </a:solidFill>
                                      <a:latin typeface="Cambria Math" panose="02040503050406030204" pitchFamily="18" charset="0"/>
                                    </a:rPr>
                                  </m:ctrlPr>
                                </m:eqArrPr>
                                <m:e>
                                  <m:r>
                                    <a:rPr lang="en-IN" sz="2400" i="1">
                                      <a:solidFill>
                                        <a:srgbClr val="343434"/>
                                      </a:solidFill>
                                      <a:latin typeface="Cambria Math" panose="02040503050406030204" pitchFamily="18" charset="0"/>
                                    </a:rPr>
                                    <m:t>0</m:t>
                                  </m:r>
                                </m:e>
                                <m:e>
                                  <m:r>
                                    <a:rPr lang="en-IN" sz="2400" i="1">
                                      <a:solidFill>
                                        <a:srgbClr val="343434"/>
                                      </a:solidFill>
                                      <a:latin typeface="Cambria Math" panose="02040503050406030204" pitchFamily="18" charset="0"/>
                                    </a:rPr>
                                    <m:t>0</m:t>
                                  </m:r>
                                </m:e>
                              </m:eqArr>
                            </m:e>
                            <m:e>
                              <m:eqArr>
                                <m:eqArrPr>
                                  <m:ctrlPr>
                                    <a:rPr lang="en-IN" sz="2400" i="1">
                                      <a:solidFill>
                                        <a:srgbClr val="343434"/>
                                      </a:solidFill>
                                      <a:latin typeface="Cambria Math" panose="02040503050406030204" pitchFamily="18" charset="0"/>
                                    </a:rPr>
                                  </m:ctrlPr>
                                </m:eqArrPr>
                                <m:e>
                                  <m:r>
                                    <a:rPr lang="en-IN" sz="2400" i="1">
                                      <a:solidFill>
                                        <a:srgbClr val="343434"/>
                                      </a:solidFill>
                                      <a:latin typeface="Cambria Math" panose="02040503050406030204" pitchFamily="18" charset="0"/>
                                    </a:rPr>
                                    <m:t>−3      −6</m:t>
                                  </m:r>
                                </m:e>
                                <m:e>
                                  <m:r>
                                    <a:rPr lang="en-IN" sz="2400" i="1">
                                      <a:solidFill>
                                        <a:srgbClr val="343434"/>
                                      </a:solidFill>
                                      <a:latin typeface="Cambria Math" panose="02040503050406030204" pitchFamily="18" charset="0"/>
                                    </a:rPr>
                                    <m:t>−6       −12</m:t>
                                  </m:r>
                                </m:e>
                              </m:eqArr>
                            </m:e>
                          </m:mr>
                        </m:m>
                      </m:e>
                    </m:d>
                  </m:oMath>
                </a14:m>
                <a:endParaRPr lang="en-US" sz="2400" dirty="0">
                  <a:solidFill>
                    <a:srgbClr val="343434"/>
                  </a:solidFill>
                  <a:latin typeface="Tahoma" panose="020B0604030504040204" pitchFamily="34" charset="0"/>
                </a:endParaRPr>
              </a:p>
              <a:p>
                <a:endParaRPr lang="en-US" sz="2400" dirty="0">
                  <a:solidFill>
                    <a:srgbClr val="343434"/>
                  </a:solidFill>
                  <a:latin typeface="Tahoma" panose="020B0604030504040204" pitchFamily="34" charset="0"/>
                </a:endParaRPr>
              </a:p>
              <a:p>
                <a:r>
                  <a:rPr lang="en-US" sz="2400" dirty="0">
                    <a:solidFill>
                      <a:srgbClr val="343434"/>
                    </a:solidFill>
                    <a:latin typeface="Tahoma" panose="020B0604030504040204" pitchFamily="34" charset="0"/>
                  </a:rPr>
                  <a:t>d)Now, let us multiply the second row with -2 and add the values to the third row to make the second element of the third row zero. The resulting matrix would look like below. [1 2 3] [0 -3 -6] [0 0 0]</a:t>
                </a:r>
              </a:p>
              <a:p>
                <a:r>
                  <a:rPr lang="en-IN" sz="2400" dirty="0"/>
                  <a:t> </a:t>
                </a:r>
              </a:p>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343434"/>
                              </a:solidFill>
                              <a:latin typeface="Cambria Math" panose="02040503050406030204" pitchFamily="18" charset="0"/>
                            </a:rPr>
                          </m:ctrlPr>
                        </m:dPr>
                        <m:e>
                          <m:m>
                            <m:mPr>
                              <m:mcs>
                                <m:mc>
                                  <m:mcPr>
                                    <m:count m:val="2"/>
                                    <m:mcJc m:val="center"/>
                                  </m:mcPr>
                                </m:mc>
                              </m:mcs>
                              <m:ctrlPr>
                                <a:rPr lang="en-US" sz="2400" i="1">
                                  <a:solidFill>
                                    <a:srgbClr val="343434"/>
                                  </a:solidFill>
                                  <a:latin typeface="Cambria Math" panose="02040503050406030204" pitchFamily="18" charset="0"/>
                                </a:rPr>
                              </m:ctrlPr>
                            </m:mPr>
                            <m:mr>
                              <m:e>
                                <m:r>
                                  <m:rPr>
                                    <m:brk m:alnAt="7"/>
                                  </m:rPr>
                                  <a:rPr lang="en-IN" sz="2400" i="1">
                                    <a:solidFill>
                                      <a:srgbClr val="343434"/>
                                    </a:solidFill>
                                    <a:latin typeface="Cambria Math" panose="02040503050406030204" pitchFamily="18" charset="0"/>
                                  </a:rPr>
                                  <m:t>1</m:t>
                                </m:r>
                              </m:e>
                              <m:e>
                                <m:r>
                                  <a:rPr lang="en-IN" sz="2400" i="1">
                                    <a:solidFill>
                                      <a:srgbClr val="343434"/>
                                    </a:solidFill>
                                    <a:latin typeface="Cambria Math" panose="02040503050406030204" pitchFamily="18" charset="0"/>
                                  </a:rPr>
                                  <m:t>2          3</m:t>
                                </m:r>
                              </m:e>
                            </m:mr>
                            <m:mr>
                              <m:e>
                                <m:eqArr>
                                  <m:eqArrPr>
                                    <m:ctrlPr>
                                      <a:rPr lang="en-IN" sz="2400" i="1">
                                        <a:solidFill>
                                          <a:srgbClr val="343434"/>
                                        </a:solidFill>
                                        <a:latin typeface="Cambria Math" panose="02040503050406030204" pitchFamily="18" charset="0"/>
                                      </a:rPr>
                                    </m:ctrlPr>
                                  </m:eqArrPr>
                                  <m:e>
                                    <m:r>
                                      <a:rPr lang="en-IN" sz="2400" i="1">
                                        <a:solidFill>
                                          <a:srgbClr val="343434"/>
                                        </a:solidFill>
                                        <a:latin typeface="Cambria Math" panose="02040503050406030204" pitchFamily="18" charset="0"/>
                                      </a:rPr>
                                      <m:t>0</m:t>
                                    </m:r>
                                  </m:e>
                                  <m:e>
                                    <m:r>
                                      <a:rPr lang="en-IN" sz="2400" i="1">
                                        <a:solidFill>
                                          <a:srgbClr val="343434"/>
                                        </a:solidFill>
                                        <a:latin typeface="Cambria Math" panose="02040503050406030204" pitchFamily="18" charset="0"/>
                                      </a:rPr>
                                      <m:t>0</m:t>
                                    </m:r>
                                  </m:e>
                                </m:eqArr>
                              </m:e>
                              <m:e>
                                <m:eqArr>
                                  <m:eqArrPr>
                                    <m:ctrlPr>
                                      <a:rPr lang="en-IN" sz="2400" i="1">
                                        <a:solidFill>
                                          <a:srgbClr val="343434"/>
                                        </a:solidFill>
                                        <a:latin typeface="Cambria Math" panose="02040503050406030204" pitchFamily="18" charset="0"/>
                                      </a:rPr>
                                    </m:ctrlPr>
                                  </m:eqArrPr>
                                  <m:e>
                                    <m:r>
                                      <a:rPr lang="en-IN" sz="2400" i="1">
                                        <a:solidFill>
                                          <a:srgbClr val="343434"/>
                                        </a:solidFill>
                                        <a:latin typeface="Cambria Math" panose="02040503050406030204" pitchFamily="18" charset="0"/>
                                      </a:rPr>
                                      <m:t>−3      −6</m:t>
                                    </m:r>
                                  </m:e>
                                  <m:e>
                                    <m:r>
                                      <a:rPr lang="en-IN" sz="2400" i="1">
                                        <a:solidFill>
                                          <a:srgbClr val="343434"/>
                                        </a:solidFill>
                                        <a:latin typeface="Cambria Math" panose="02040503050406030204" pitchFamily="18" charset="0"/>
                                      </a:rPr>
                                      <m:t>  0         0</m:t>
                                    </m:r>
                                  </m:e>
                                </m:eqArr>
                              </m:e>
                            </m:mr>
                          </m:m>
                        </m:e>
                      </m:d>
                    </m:oMath>
                  </m:oMathPara>
                </a14:m>
                <a:endParaRPr lang="en-IN" sz="2400" dirty="0"/>
              </a:p>
            </p:txBody>
          </p:sp>
        </mc:Choice>
        <mc:Fallback xmlns="">
          <p:sp>
            <p:nvSpPr>
              <p:cNvPr id="2" name="Rectangle 1">
                <a:extLst>
                  <a:ext uri="{FF2B5EF4-FFF2-40B4-BE49-F238E27FC236}">
                    <a16:creationId xmlns:a16="http://schemas.microsoft.com/office/drawing/2014/main" id="{41DE65FF-B504-4250-91BD-89D0AE84EC39}"/>
                  </a:ext>
                </a:extLst>
              </p:cNvPr>
              <p:cNvSpPr>
                <a:spLocks noRot="1" noChangeAspect="1" noMove="1" noResize="1" noEditPoints="1" noAdjustHandles="1" noChangeArrowheads="1" noChangeShapeType="1" noTextEdit="1"/>
              </p:cNvSpPr>
              <p:nvPr/>
            </p:nvSpPr>
            <p:spPr>
              <a:xfrm>
                <a:off x="812800" y="1520786"/>
                <a:ext cx="10160000" cy="4593437"/>
              </a:xfrm>
              <a:prstGeom prst="rect">
                <a:avLst/>
              </a:prstGeom>
              <a:blipFill>
                <a:blip r:embed="rId2"/>
                <a:stretch>
                  <a:fillRect l="-900" t="-1061" r="-1440"/>
                </a:stretch>
              </a:blipFill>
            </p:spPr>
            <p:txBody>
              <a:bodyPr/>
              <a:lstStyle/>
              <a:p>
                <a:r>
                  <a:rPr lang="en-IN">
                    <a:noFill/>
                  </a:rPr>
                  <a:t> </a:t>
                </a:r>
              </a:p>
            </p:txBody>
          </p:sp>
        </mc:Fallback>
      </mc:AlternateContent>
    </p:spTree>
    <p:extLst>
      <p:ext uri="{BB962C8B-B14F-4D97-AF65-F5344CB8AC3E}">
        <p14:creationId xmlns:p14="http://schemas.microsoft.com/office/powerpoint/2010/main" val="7026625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63F474-1310-465D-A2AF-C9B40B8EE3F0}"/>
              </a:ext>
            </a:extLst>
          </p:cNvPr>
          <p:cNvSpPr/>
          <p:nvPr/>
        </p:nvSpPr>
        <p:spPr>
          <a:xfrm>
            <a:off x="1422400" y="2628780"/>
            <a:ext cx="9753600" cy="1569660"/>
          </a:xfrm>
          <a:prstGeom prst="rect">
            <a:avLst/>
          </a:prstGeom>
        </p:spPr>
        <p:txBody>
          <a:bodyPr wrap="square">
            <a:spAutoFit/>
          </a:bodyPr>
          <a:lstStyle/>
          <a:p>
            <a:r>
              <a:rPr lang="en-US" sz="2400" dirty="0">
                <a:solidFill>
                  <a:srgbClr val="343434"/>
                </a:solidFill>
                <a:latin typeface="Tahoma" panose="020B0604030504040204" pitchFamily="34" charset="0"/>
              </a:rPr>
              <a:t>Now, since it has been converted to row echelon form, we can find the rank of matrix. The matrix rank is 2 as the third row has zero for all the elements. Therefor, the rank can be found in simple steps using Gaussian Elimination method.</a:t>
            </a:r>
            <a:endParaRPr lang="en-IN" sz="2400" dirty="0"/>
          </a:p>
        </p:txBody>
      </p:sp>
    </p:spTree>
    <p:extLst>
      <p:ext uri="{BB962C8B-B14F-4D97-AF65-F5344CB8AC3E}">
        <p14:creationId xmlns:p14="http://schemas.microsoft.com/office/powerpoint/2010/main" val="41140642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812800" y="1905000"/>
            <a:ext cx="9652000" cy="3416320"/>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The number of non zero rows in an echelon form is called:</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Rank of a matrix</a:t>
            </a:r>
          </a:p>
          <a:p>
            <a:r>
              <a:rPr lang="en-US" sz="2400" dirty="0">
                <a:latin typeface="Century Gothic" panose="020B0502020202020204" pitchFamily="34" charset="0"/>
                <a:cs typeface="Arial" panose="020B0604020202020204" pitchFamily="34" charset="0"/>
              </a:rPr>
              <a:t>(ii) Cofactor of a matrix</a:t>
            </a:r>
          </a:p>
          <a:p>
            <a:r>
              <a:rPr lang="en-US" sz="2400" dirty="0">
                <a:latin typeface="Century Gothic" panose="020B0502020202020204" pitchFamily="34" charset="0"/>
                <a:cs typeface="Arial" panose="020B0604020202020204" pitchFamily="34" charset="0"/>
              </a:rPr>
              <a:t>(iii) Reduced echelon form</a:t>
            </a:r>
          </a:p>
          <a:p>
            <a:r>
              <a:rPr lang="en-US" sz="2400" dirty="0">
                <a:latin typeface="Century Gothic" panose="020B0502020202020204" pitchFamily="34" charset="0"/>
                <a:cs typeface="Arial" panose="020B0604020202020204" pitchFamily="34" charset="0"/>
              </a:rPr>
              <a:t>(iv) </a:t>
            </a:r>
            <a:r>
              <a:rPr lang="en-IN" sz="2400" dirty="0">
                <a:latin typeface="Century Gothic" panose="020B0502020202020204" pitchFamily="34" charset="0"/>
                <a:cs typeface="Arial" panose="020B0604020202020204" pitchFamily="34" charset="0"/>
              </a:rPr>
              <a:t>Conjugate of the matrix</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1</a:t>
            </a:r>
          </a:p>
        </p:txBody>
      </p:sp>
    </p:spTree>
    <p:extLst>
      <p:ext uri="{BB962C8B-B14F-4D97-AF65-F5344CB8AC3E}">
        <p14:creationId xmlns:p14="http://schemas.microsoft.com/office/powerpoint/2010/main" val="33411730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697963" y="2006600"/>
            <a:ext cx="10046237" cy="3046988"/>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The rank of an </a:t>
            </a:r>
            <a:r>
              <a:rPr lang="en-US" sz="2400" dirty="0" err="1">
                <a:latin typeface="Century Gothic" panose="020B0502020202020204" pitchFamily="34" charset="0"/>
                <a:cs typeface="Arial" panose="020B0604020202020204" pitchFamily="34" charset="0"/>
              </a:rPr>
              <a:t>mxn</a:t>
            </a:r>
            <a:r>
              <a:rPr lang="en-US" sz="2400" dirty="0">
                <a:latin typeface="Century Gothic" panose="020B0502020202020204" pitchFamily="34" charset="0"/>
                <a:cs typeface="Arial" panose="020B0604020202020204" pitchFamily="34" charset="0"/>
              </a:rPr>
              <a:t> matrix is 2. Which among the following is true:</a:t>
            </a:r>
          </a:p>
          <a:p>
            <a:endParaRPr lang="en-US" sz="2400" dirty="0">
              <a:latin typeface="Century Gothic" panose="020B0502020202020204" pitchFamily="34" charset="0"/>
              <a:cs typeface="Arial" panose="020B0604020202020204" pitchFamily="34" charset="0"/>
            </a:endParaRPr>
          </a:p>
          <a:p>
            <a:pPr marL="533387" indent="-533387">
              <a:buAutoNum type="romanLcParenBoth"/>
            </a:pPr>
            <a:r>
              <a:rPr lang="en-US" sz="2400" dirty="0">
                <a:latin typeface="Century Gothic" panose="020B0502020202020204" pitchFamily="34" charset="0"/>
                <a:cs typeface="Arial" panose="020B0604020202020204" pitchFamily="34" charset="0"/>
              </a:rPr>
              <a:t>Number of non zero rows is exactly 2</a:t>
            </a:r>
          </a:p>
          <a:p>
            <a:pPr marL="533387" indent="-533387">
              <a:buAutoNum type="romanLcParenBoth"/>
            </a:pPr>
            <a:r>
              <a:rPr lang="en-US" sz="2400" dirty="0">
                <a:latin typeface="Century Gothic" panose="020B0502020202020204" pitchFamily="34" charset="0"/>
                <a:cs typeface="Arial" panose="020B0604020202020204" pitchFamily="34" charset="0"/>
              </a:rPr>
              <a:t>Number of zero rows is exactly 2</a:t>
            </a:r>
          </a:p>
          <a:p>
            <a:pPr marL="533387" indent="-533387">
              <a:buAutoNum type="romanLcParenBoth"/>
            </a:pPr>
            <a:r>
              <a:rPr lang="en-US" sz="2400" dirty="0">
                <a:latin typeface="Century Gothic" panose="020B0502020202020204" pitchFamily="34" charset="0"/>
                <a:cs typeface="Arial" panose="020B0604020202020204" pitchFamily="34" charset="0"/>
              </a:rPr>
              <a:t>Number of non zero rows is greater than 2</a:t>
            </a:r>
          </a:p>
          <a:p>
            <a:r>
              <a:rPr lang="en-US" sz="2400" dirty="0">
                <a:latin typeface="Century Gothic" panose="020B0502020202020204" pitchFamily="34" charset="0"/>
                <a:cs typeface="Arial" panose="020B0604020202020204" pitchFamily="34" charset="0"/>
              </a:rPr>
              <a:t>(iv) Number of zero rows is greater than 2</a:t>
            </a:r>
            <a:endParaRPr lang="en-IN" sz="2400" dirty="0">
              <a:latin typeface="Century Gothic" panose="020B0502020202020204" pitchFamily="34" charset="0"/>
              <a:cs typeface="Arial" panose="020B0604020202020204" pitchFamily="34" charset="0"/>
            </a:endParaRP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a:t>
            </a:r>
            <a:r>
              <a:rPr lang="en-IN" sz="2400" dirty="0" err="1">
                <a:latin typeface="Century Gothic" panose="020B0502020202020204" pitchFamily="34" charset="0"/>
                <a:cs typeface="Arial" panose="020B0604020202020204" pitchFamily="34" charset="0"/>
              </a:rPr>
              <a:t>i</a:t>
            </a:r>
            <a:endParaRPr lang="en-IN" sz="2400" dirty="0">
              <a:latin typeface="Century Gothic" panose="020B0502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2</a:t>
            </a:r>
          </a:p>
        </p:txBody>
      </p:sp>
    </p:spTree>
    <p:extLst>
      <p:ext uri="{BB962C8B-B14F-4D97-AF65-F5344CB8AC3E}">
        <p14:creationId xmlns:p14="http://schemas.microsoft.com/office/powerpoint/2010/main" val="35448733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DC38FC2-38AE-4A98-82A1-B418EF9FE74F}"/>
                  </a:ext>
                </a:extLst>
              </p:cNvPr>
              <p:cNvSpPr txBox="1"/>
              <p:nvPr/>
            </p:nvSpPr>
            <p:spPr>
              <a:xfrm>
                <a:off x="1016001" y="1890118"/>
                <a:ext cx="10159999" cy="3266215"/>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Find the rank of the following matrix </a:t>
                </a:r>
                <a14:m>
                  <m:oMath xmlns:m="http://schemas.openxmlformats.org/officeDocument/2006/math">
                    <m:d>
                      <m:dPr>
                        <m:begChr m:val="["/>
                        <m:endChr m:val="]"/>
                        <m:ctrlPr>
                          <a:rPr lang="en-US" sz="2400" i="1">
                            <a:latin typeface="Cambria Math" panose="02040503050406030204" pitchFamily="18" charset="0"/>
                            <a:cs typeface="Arial" panose="020B0604020202020204" pitchFamily="34" charset="0"/>
                          </a:rPr>
                        </m:ctrlPr>
                      </m:dPr>
                      <m:e>
                        <m:m>
                          <m:mPr>
                            <m:mcs>
                              <m:mc>
                                <m:mcPr>
                                  <m:count m:val="2"/>
                                  <m:mcJc m:val="center"/>
                                </m:mcPr>
                              </m:mc>
                            </m:mcs>
                            <m:ctrlPr>
                              <a:rPr lang="en-US" sz="2400" i="1">
                                <a:latin typeface="Cambria Math" panose="02040503050406030204" pitchFamily="18" charset="0"/>
                                <a:cs typeface="Arial" panose="020B0604020202020204" pitchFamily="34" charset="0"/>
                              </a:rPr>
                            </m:ctrlPr>
                          </m:mPr>
                          <m:mr>
                            <m:e>
                              <m:r>
                                <m:rPr>
                                  <m:brk m:alnAt="7"/>
                                </m:rPr>
                                <a:rPr lang="en-US" sz="2400" i="1">
                                  <a:latin typeface="Cambria Math" panose="02040503050406030204" pitchFamily="18" charset="0"/>
                                  <a:cs typeface="Arial" panose="020B0604020202020204" pitchFamily="34" charset="0"/>
                                </a:rPr>
                                <m:t>1</m:t>
                              </m:r>
                            </m:e>
                            <m:e>
                              <m:r>
                                <a:rPr lang="en-US" sz="2400" i="1">
                                  <a:latin typeface="Cambria Math" panose="02040503050406030204" pitchFamily="18" charset="0"/>
                                  <a:cs typeface="Arial" panose="020B0604020202020204" pitchFamily="34" charset="0"/>
                                </a:rPr>
                                <m:t>1     −1</m:t>
                              </m:r>
                            </m:e>
                          </m:mr>
                          <m:mr>
                            <m:e>
                              <m:eqArr>
                                <m:eqArrPr>
                                  <m:ctrlPr>
                                    <a:rPr lang="en-US" sz="2400" i="1">
                                      <a:latin typeface="Cambria Math" panose="02040503050406030204" pitchFamily="18" charset="0"/>
                                      <a:cs typeface="Arial" panose="020B0604020202020204" pitchFamily="34" charset="0"/>
                                    </a:rPr>
                                  </m:ctrlPr>
                                </m:eqArrPr>
                                <m:e>
                                  <m:r>
                                    <a:rPr lang="en-US" sz="2400" i="1">
                                      <a:latin typeface="Cambria Math" panose="02040503050406030204" pitchFamily="18" charset="0"/>
                                      <a:cs typeface="Arial" panose="020B0604020202020204" pitchFamily="34" charset="0"/>
                                    </a:rPr>
                                    <m:t>3</m:t>
                                  </m:r>
                                </m:e>
                                <m:e>
                                  <m:r>
                                    <a:rPr lang="en-US" sz="2400" i="1">
                                      <a:latin typeface="Cambria Math" panose="02040503050406030204" pitchFamily="18" charset="0"/>
                                      <a:cs typeface="Arial" panose="020B0604020202020204" pitchFamily="34" charset="0"/>
                                    </a:rPr>
                                    <m:t>2</m:t>
                                  </m:r>
                                </m:e>
                              </m:eqArr>
                            </m:e>
                            <m:e>
                              <m:eqArr>
                                <m:eqArrPr>
                                  <m:ctrlPr>
                                    <a:rPr lang="en-US" sz="2400" i="1">
                                      <a:latin typeface="Cambria Math" panose="02040503050406030204" pitchFamily="18" charset="0"/>
                                      <a:cs typeface="Arial" panose="020B0604020202020204" pitchFamily="34" charset="0"/>
                                    </a:rPr>
                                  </m:ctrlPr>
                                </m:eqArrPr>
                                <m:e>
                                  <m:r>
                                    <a:rPr lang="en-US" sz="2400" i="1">
                                      <a:latin typeface="Cambria Math" panose="02040503050406030204" pitchFamily="18" charset="0"/>
                                      <a:cs typeface="Arial" panose="020B0604020202020204" pitchFamily="34" charset="0"/>
                                    </a:rPr>
                                    <m:t>−2      3</m:t>
                                  </m:r>
                                </m:e>
                                <m:e>
                                  <m:r>
                                    <a:rPr lang="en-US" sz="2400" i="1">
                                      <a:latin typeface="Cambria Math" panose="02040503050406030204" pitchFamily="18" charset="0"/>
                                      <a:cs typeface="Arial" panose="020B0604020202020204" pitchFamily="34" charset="0"/>
                                    </a:rPr>
                                    <m:t>−3      4</m:t>
                                  </m:r>
                                </m:e>
                              </m:eqArr>
                            </m:e>
                          </m:mr>
                        </m:m>
                      </m:e>
                    </m:d>
                  </m:oMath>
                </a14:m>
                <a:endParaRPr lang="en-US" sz="2400" dirty="0">
                  <a:latin typeface="Century Gothic" panose="020B0502020202020204" pitchFamily="34" charset="0"/>
                  <a:cs typeface="Arial" panose="020B0604020202020204" pitchFamily="34" charset="0"/>
                </a:endParaRPr>
              </a:p>
              <a:p>
                <a:pPr marL="533387" indent="-533387">
                  <a:buAutoNum type="romanLcParenBoth"/>
                </a:pPr>
                <a:r>
                  <a:rPr lang="en-US" sz="2400" dirty="0">
                    <a:latin typeface="Century Gothic" panose="020B0502020202020204" pitchFamily="34" charset="0"/>
                    <a:cs typeface="Arial" panose="020B0604020202020204" pitchFamily="34" charset="0"/>
                  </a:rPr>
                  <a:t>0</a:t>
                </a:r>
              </a:p>
              <a:p>
                <a:pPr marL="533387" indent="-533387">
                  <a:buAutoNum type="romanLcParenBoth"/>
                </a:pPr>
                <a:r>
                  <a:rPr lang="en-US" sz="2400" dirty="0">
                    <a:latin typeface="Century Gothic" panose="020B0502020202020204" pitchFamily="34" charset="0"/>
                    <a:cs typeface="Arial" panose="020B0604020202020204" pitchFamily="34" charset="0"/>
                  </a:rPr>
                  <a:t>1</a:t>
                </a:r>
              </a:p>
              <a:p>
                <a:r>
                  <a:rPr lang="en-US" sz="2400" dirty="0">
                    <a:latin typeface="Century Gothic" panose="020B0502020202020204" pitchFamily="34" charset="0"/>
                    <a:cs typeface="Arial" panose="020B0604020202020204" pitchFamily="34" charset="0"/>
                  </a:rPr>
                  <a:t>(iii)  2 </a:t>
                </a:r>
              </a:p>
              <a:p>
                <a:r>
                  <a:rPr lang="en-US" sz="2400" dirty="0">
                    <a:latin typeface="Century Gothic" panose="020B0502020202020204" pitchFamily="34" charset="0"/>
                    <a:cs typeface="Arial" panose="020B0604020202020204" pitchFamily="34" charset="0"/>
                  </a:rPr>
                  <a:t>(iv) 3</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iii</a:t>
                </a:r>
              </a:p>
            </p:txBody>
          </p:sp>
        </mc:Choice>
        <mc:Fallback xmlns="">
          <p:sp>
            <p:nvSpPr>
              <p:cNvPr id="4" name="TextBox 3">
                <a:extLst>
                  <a:ext uri="{FF2B5EF4-FFF2-40B4-BE49-F238E27FC236}">
                    <a16:creationId xmlns:a16="http://schemas.microsoft.com/office/drawing/2014/main" id="{DDC38FC2-38AE-4A98-82A1-B418EF9FE74F}"/>
                  </a:ext>
                </a:extLst>
              </p:cNvPr>
              <p:cNvSpPr txBox="1">
                <a:spLocks noRot="1" noChangeAspect="1" noMove="1" noResize="1" noEditPoints="1" noAdjustHandles="1" noChangeArrowheads="1" noChangeShapeType="1" noTextEdit="1"/>
              </p:cNvSpPr>
              <p:nvPr/>
            </p:nvSpPr>
            <p:spPr>
              <a:xfrm>
                <a:off x="1016001" y="1890118"/>
                <a:ext cx="10159999" cy="3266215"/>
              </a:xfrm>
              <a:prstGeom prst="rect">
                <a:avLst/>
              </a:prstGeom>
              <a:blipFill>
                <a:blip r:embed="rId2"/>
                <a:stretch>
                  <a:fillRect l="-960" b="-3358"/>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C2ED1AF7-2E15-4F91-A46B-3C77A3032F4C}"/>
              </a:ext>
            </a:extLst>
          </p:cNvPr>
          <p:cNvSpPr txBox="1"/>
          <p:nvPr/>
        </p:nvSpPr>
        <p:spPr>
          <a:xfrm>
            <a:off x="723363" y="1585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3</a:t>
            </a:r>
          </a:p>
        </p:txBody>
      </p:sp>
    </p:spTree>
    <p:extLst>
      <p:ext uri="{BB962C8B-B14F-4D97-AF65-F5344CB8AC3E}">
        <p14:creationId xmlns:p14="http://schemas.microsoft.com/office/powerpoint/2010/main" val="3380475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6" end="6"/>
                                            </p:txEl>
                                          </p:spTgt>
                                        </p:tgtEl>
                                        <p:attrNameLst>
                                          <p:attrName>style.visibility</p:attrName>
                                        </p:attrNameLst>
                                      </p:cBhvr>
                                      <p:to>
                                        <p:strVal val="visible"/>
                                      </p:to>
                                    </p:set>
                                    <p:animEffect transition="in" filter="fade">
                                      <p:cBhvr>
                                        <p:cTn id="7" dur="1000"/>
                                        <p:tgtEl>
                                          <p:spTgt spid="4">
                                            <p:txEl>
                                              <p:pRg st="6" end="6"/>
                                            </p:txEl>
                                          </p:spTgt>
                                        </p:tgtEl>
                                      </p:cBhvr>
                                    </p:animEffect>
                                    <p:anim calcmode="lin" valueType="num">
                                      <p:cBhvr>
                                        <p:cTn id="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DC38FC2-38AE-4A98-82A1-B418EF9FE74F}"/>
                  </a:ext>
                </a:extLst>
              </p:cNvPr>
              <p:cNvSpPr txBox="1"/>
              <p:nvPr/>
            </p:nvSpPr>
            <p:spPr>
              <a:xfrm>
                <a:off x="812800" y="889001"/>
                <a:ext cx="10566400" cy="4004879"/>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Find the rank </a:t>
                </a:r>
                <a14:m>
                  <m:oMath xmlns:m="http://schemas.openxmlformats.org/officeDocument/2006/math">
                    <m:d>
                      <m:dPr>
                        <m:begChr m:val="["/>
                        <m:endChr m:val="]"/>
                        <m:ctrlPr>
                          <a:rPr lang="en-US" sz="2400" i="1">
                            <a:latin typeface="Cambria Math" panose="02040503050406030204" pitchFamily="18" charset="0"/>
                            <a:cs typeface="Arial" panose="020B0604020202020204" pitchFamily="34" charset="0"/>
                          </a:rPr>
                        </m:ctrlPr>
                      </m:dPr>
                      <m:e>
                        <m:m>
                          <m:mPr>
                            <m:mcs>
                              <m:mc>
                                <m:mcPr>
                                  <m:count m:val="2"/>
                                  <m:mcJc m:val="center"/>
                                </m:mcPr>
                              </m:mc>
                            </m:mcs>
                            <m:ctrlPr>
                              <a:rPr lang="en-US" sz="2400" i="1">
                                <a:latin typeface="Cambria Math" panose="02040503050406030204" pitchFamily="18" charset="0"/>
                                <a:cs typeface="Arial" panose="020B0604020202020204" pitchFamily="34" charset="0"/>
                              </a:rPr>
                            </m:ctrlPr>
                          </m:mPr>
                          <m:mr>
                            <m:e>
                              <m:r>
                                <m:rPr>
                                  <m:brk m:alnAt="7"/>
                                </m:rPr>
                                <a:rPr lang="en-US" sz="2400" i="1">
                                  <a:latin typeface="Cambria Math" panose="02040503050406030204" pitchFamily="18" charset="0"/>
                                  <a:cs typeface="Arial" panose="020B0604020202020204" pitchFamily="34" charset="0"/>
                                </a:rPr>
                                <m:t>4</m:t>
                              </m:r>
                            </m:e>
                            <m:e>
                              <m:r>
                                <a:rPr lang="en-US" sz="2400" i="1">
                                  <a:latin typeface="Cambria Math" panose="02040503050406030204" pitchFamily="18" charset="0"/>
                                  <a:cs typeface="Arial" panose="020B0604020202020204" pitchFamily="34" charset="0"/>
                                </a:rPr>
                                <m:t>3      6     25</m:t>
                              </m:r>
                            </m:e>
                          </m:mr>
                          <m:mr>
                            <m:e>
                              <m:eqArr>
                                <m:eqArrPr>
                                  <m:ctrlPr>
                                    <a:rPr lang="en-US" sz="2400" i="1">
                                      <a:latin typeface="Cambria Math" panose="02040503050406030204" pitchFamily="18" charset="0"/>
                                      <a:cs typeface="Arial" panose="020B0604020202020204" pitchFamily="34" charset="0"/>
                                    </a:rPr>
                                  </m:ctrlPr>
                                </m:eqArrPr>
                                <m:e>
                                  <m:r>
                                    <a:rPr lang="en-US" sz="2400" i="1">
                                      <a:latin typeface="Cambria Math" panose="02040503050406030204" pitchFamily="18" charset="0"/>
                                      <a:cs typeface="Arial" panose="020B0604020202020204" pitchFamily="34" charset="0"/>
                                    </a:rPr>
                                    <m:t>1</m:t>
                                  </m:r>
                                </m:e>
                                <m:e>
                                  <m:r>
                                    <a:rPr lang="en-US" sz="2400" i="1">
                                      <a:latin typeface="Cambria Math" panose="02040503050406030204" pitchFamily="18" charset="0"/>
                                      <a:cs typeface="Arial" panose="020B0604020202020204" pitchFamily="34" charset="0"/>
                                    </a:rPr>
                                    <m:t>2</m:t>
                                  </m:r>
                                </m:e>
                              </m:eqArr>
                            </m:e>
                            <m:e>
                              <m:eqArr>
                                <m:eqArrPr>
                                  <m:ctrlPr>
                                    <a:rPr lang="en-US" sz="2400" i="1">
                                      <a:latin typeface="Cambria Math" panose="02040503050406030204" pitchFamily="18" charset="0"/>
                                      <a:cs typeface="Arial" panose="020B0604020202020204" pitchFamily="34" charset="0"/>
                                    </a:rPr>
                                  </m:ctrlPr>
                                </m:eqArrPr>
                                <m:e>
                                  <m:r>
                                    <a:rPr lang="en-US" sz="2400" i="1">
                                      <a:latin typeface="Cambria Math" panose="02040503050406030204" pitchFamily="18" charset="0"/>
                                      <a:cs typeface="Arial" panose="020B0604020202020204" pitchFamily="34" charset="0"/>
                                    </a:rPr>
                                    <m:t>5        7      13</m:t>
                                  </m:r>
                                </m:e>
                                <m:e>
                                  <m:r>
                                    <a:rPr lang="en-US" sz="2400" i="1">
                                      <a:latin typeface="Cambria Math" panose="02040503050406030204" pitchFamily="18" charset="0"/>
                                      <a:cs typeface="Arial" panose="020B0604020202020204" pitchFamily="34" charset="0"/>
                                    </a:rPr>
                                    <m:t>9        1        1</m:t>
                                  </m:r>
                                </m:e>
                              </m:eqArr>
                            </m:e>
                          </m:mr>
                        </m:m>
                      </m:e>
                    </m:d>
                  </m:oMath>
                </a14:m>
                <a:endParaRPr lang="en-US" sz="2400" dirty="0">
                  <a:latin typeface="Century Gothic" panose="020B0502020202020204" pitchFamily="34" charset="0"/>
                  <a:cs typeface="Arial" panose="020B0604020202020204" pitchFamily="34" charset="0"/>
                </a:endParaRP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0</a:t>
                </a:r>
              </a:p>
              <a:p>
                <a:r>
                  <a:rPr lang="en-US" sz="2400" dirty="0">
                    <a:latin typeface="Century Gothic" panose="020B0502020202020204" pitchFamily="34" charset="0"/>
                    <a:cs typeface="Arial" panose="020B0604020202020204" pitchFamily="34" charset="0"/>
                  </a:rPr>
                  <a:t>(ii) 1</a:t>
                </a:r>
              </a:p>
              <a:p>
                <a:r>
                  <a:rPr lang="en-US" sz="2400" dirty="0">
                    <a:latin typeface="Century Gothic" panose="020B0502020202020204" pitchFamily="34" charset="0"/>
                    <a:cs typeface="Arial" panose="020B0604020202020204" pitchFamily="34" charset="0"/>
                  </a:rPr>
                  <a:t>(iii) 2</a:t>
                </a:r>
              </a:p>
              <a:p>
                <a:r>
                  <a:rPr lang="en-US" sz="2400" dirty="0">
                    <a:latin typeface="Century Gothic" panose="020B0502020202020204" pitchFamily="34" charset="0"/>
                    <a:cs typeface="Arial" panose="020B0604020202020204" pitchFamily="34" charset="0"/>
                  </a:rPr>
                  <a:t>(iv) 3</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iii</a:t>
                </a:r>
              </a:p>
              <a:p>
                <a:endParaRPr lang="en-IN" sz="2400" dirty="0">
                  <a:latin typeface="Century Gothic" panose="020B0502020202020204" pitchFamily="34" charset="0"/>
                  <a:cs typeface="Arial" panose="020B0604020202020204" pitchFamily="34" charset="0"/>
                </a:endParaRPr>
              </a:p>
            </p:txBody>
          </p:sp>
        </mc:Choice>
        <mc:Fallback xmlns="">
          <p:sp>
            <p:nvSpPr>
              <p:cNvPr id="4" name="TextBox 3">
                <a:extLst>
                  <a:ext uri="{FF2B5EF4-FFF2-40B4-BE49-F238E27FC236}">
                    <a16:creationId xmlns:a16="http://schemas.microsoft.com/office/drawing/2014/main" id="{DDC38FC2-38AE-4A98-82A1-B418EF9FE74F}"/>
                  </a:ext>
                </a:extLst>
              </p:cNvPr>
              <p:cNvSpPr txBox="1">
                <a:spLocks noRot="1" noChangeAspect="1" noMove="1" noResize="1" noEditPoints="1" noAdjustHandles="1" noChangeArrowheads="1" noChangeShapeType="1" noTextEdit="1"/>
              </p:cNvSpPr>
              <p:nvPr/>
            </p:nvSpPr>
            <p:spPr>
              <a:xfrm>
                <a:off x="812800" y="889001"/>
                <a:ext cx="10566400" cy="4004879"/>
              </a:xfrm>
              <a:prstGeom prst="rect">
                <a:avLst/>
              </a:prstGeom>
              <a:blipFill>
                <a:blip r:embed="rId2"/>
                <a:stretch>
                  <a:fillRect l="-865"/>
                </a:stretch>
              </a:blipFill>
            </p:spPr>
            <p:txBody>
              <a:bodyPr/>
              <a:lstStyle/>
              <a:p>
                <a:r>
                  <a:rPr lang="en-IN">
                    <a:noFill/>
                  </a:rPr>
                  <a:t> </a:t>
                </a:r>
              </a:p>
            </p:txBody>
          </p:sp>
        </mc:Fallback>
      </mc:AlternateContent>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4</a:t>
            </a:r>
          </a:p>
        </p:txBody>
      </p:sp>
    </p:spTree>
    <p:extLst>
      <p:ext uri="{BB962C8B-B14F-4D97-AF65-F5344CB8AC3E}">
        <p14:creationId xmlns:p14="http://schemas.microsoft.com/office/powerpoint/2010/main" val="38219764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C38FC2-38AE-4A98-82A1-B418EF9FE74F}"/>
              </a:ext>
            </a:extLst>
          </p:cNvPr>
          <p:cNvSpPr txBox="1"/>
          <p:nvPr/>
        </p:nvSpPr>
        <p:spPr>
          <a:xfrm>
            <a:off x="660400" y="1701800"/>
            <a:ext cx="10871200" cy="3785652"/>
          </a:xfrm>
          <a:prstGeom prst="rect">
            <a:avLst/>
          </a:prstGeom>
          <a:noFill/>
        </p:spPr>
        <p:txBody>
          <a:bodyPr wrap="square" rtlCol="0">
            <a:spAutoFit/>
          </a:bodyPr>
          <a:lstStyle/>
          <a:p>
            <a:r>
              <a:rPr lang="en-US" sz="2400" dirty="0">
                <a:latin typeface="Century Gothic" panose="020B0502020202020204" pitchFamily="34" charset="0"/>
                <a:cs typeface="Arial" panose="020B0604020202020204" pitchFamily="34" charset="0"/>
              </a:rPr>
              <a:t>In row echelon form, which of the following is true:</a:t>
            </a:r>
          </a:p>
          <a:p>
            <a:endParaRPr lang="en-US" sz="2400" dirty="0">
              <a:latin typeface="Century Gothic" panose="020B0502020202020204" pitchFamily="34" charset="0"/>
              <a:cs typeface="Arial" panose="020B0604020202020204" pitchFamily="34" charset="0"/>
            </a:endParaRPr>
          </a:p>
          <a:p>
            <a:r>
              <a:rPr lang="en-US" sz="2400" dirty="0">
                <a:latin typeface="Century Gothic" panose="020B0502020202020204" pitchFamily="34" charset="0"/>
                <a:cs typeface="Arial" panose="020B0604020202020204" pitchFamily="34" charset="0"/>
              </a:rPr>
              <a:t>(</a:t>
            </a:r>
            <a:r>
              <a:rPr lang="en-US" sz="2400" dirty="0" err="1">
                <a:latin typeface="Century Gothic" panose="020B0502020202020204" pitchFamily="34" charset="0"/>
                <a:cs typeface="Arial" panose="020B0604020202020204" pitchFamily="34" charset="0"/>
              </a:rPr>
              <a:t>i</a:t>
            </a:r>
            <a:r>
              <a:rPr lang="en-US" sz="2400" dirty="0">
                <a:latin typeface="Century Gothic" panose="020B0502020202020204" pitchFamily="34" charset="0"/>
                <a:cs typeface="Arial" panose="020B0604020202020204" pitchFamily="34" charset="0"/>
              </a:rPr>
              <a:t>) First element of every non zero row is 1</a:t>
            </a:r>
          </a:p>
          <a:p>
            <a:r>
              <a:rPr lang="en-US" sz="2400" dirty="0">
                <a:latin typeface="Century Gothic" panose="020B0502020202020204" pitchFamily="34" charset="0"/>
                <a:cs typeface="Arial" panose="020B0604020202020204" pitchFamily="34" charset="0"/>
              </a:rPr>
              <a:t>(ii) The row which is having every element zero should be below the non zero row.</a:t>
            </a:r>
          </a:p>
          <a:p>
            <a:r>
              <a:rPr lang="en-US" sz="2400" dirty="0">
                <a:latin typeface="Century Gothic" panose="020B0502020202020204" pitchFamily="34" charset="0"/>
                <a:cs typeface="Arial" panose="020B0604020202020204" pitchFamily="34" charset="0"/>
              </a:rPr>
              <a:t>(iii) Number of zeroes in the next non zero row should be more than the number of zeroes in the previous non zero row.</a:t>
            </a:r>
          </a:p>
          <a:p>
            <a:r>
              <a:rPr lang="en-US" sz="2400" dirty="0">
                <a:latin typeface="Century Gothic" panose="020B0502020202020204" pitchFamily="34" charset="0"/>
                <a:cs typeface="Arial" panose="020B0604020202020204" pitchFamily="34" charset="0"/>
              </a:rPr>
              <a:t>(iv) All of them</a:t>
            </a:r>
          </a:p>
          <a:p>
            <a:endParaRPr lang="en-IN" sz="2400" dirty="0">
              <a:latin typeface="Century Gothic" panose="020B0502020202020204" pitchFamily="34" charset="0"/>
              <a:cs typeface="Arial" panose="020B0604020202020204" pitchFamily="34" charset="0"/>
            </a:endParaRPr>
          </a:p>
          <a:p>
            <a:r>
              <a:rPr lang="en-IN" sz="2400" dirty="0">
                <a:latin typeface="Century Gothic" panose="020B0502020202020204" pitchFamily="34" charset="0"/>
                <a:cs typeface="Arial" panose="020B0604020202020204" pitchFamily="34" charset="0"/>
              </a:rPr>
              <a:t>Answer:  iv</a:t>
            </a:r>
          </a:p>
        </p:txBody>
      </p:sp>
      <p:sp>
        <p:nvSpPr>
          <p:cNvPr id="6" name="TextBox 5">
            <a:extLst>
              <a:ext uri="{FF2B5EF4-FFF2-40B4-BE49-F238E27FC236}">
                <a16:creationId xmlns:a16="http://schemas.microsoft.com/office/drawing/2014/main" id="{C2ED1AF7-2E15-4F91-A46B-3C77A3032F4C}"/>
              </a:ext>
            </a:extLst>
          </p:cNvPr>
          <p:cNvSpPr txBox="1"/>
          <p:nvPr/>
        </p:nvSpPr>
        <p:spPr>
          <a:xfrm>
            <a:off x="723363" y="120413"/>
            <a:ext cx="1476686" cy="543675"/>
          </a:xfrm>
          <a:prstGeom prst="rect">
            <a:avLst/>
          </a:prstGeom>
          <a:noFill/>
        </p:spPr>
        <p:txBody>
          <a:bodyPr wrap="none" rtlCol="0">
            <a:spAutoFit/>
          </a:bodyPr>
          <a:lstStyle/>
          <a:p>
            <a:r>
              <a:rPr lang="en-US" sz="2933" dirty="0">
                <a:solidFill>
                  <a:schemeClr val="tx1">
                    <a:lumMod val="95000"/>
                    <a:lumOff val="5000"/>
                  </a:schemeClr>
                </a:solidFill>
                <a:latin typeface="Century Gothic" panose="020B0502020202020204" pitchFamily="34" charset="0"/>
                <a:cs typeface="Arial" pitchFamily="34" charset="0"/>
              </a:rPr>
              <a:t>MCQ 5</a:t>
            </a:r>
          </a:p>
        </p:txBody>
      </p:sp>
    </p:spTree>
    <p:extLst>
      <p:ext uri="{BB962C8B-B14F-4D97-AF65-F5344CB8AC3E}">
        <p14:creationId xmlns:p14="http://schemas.microsoft.com/office/powerpoint/2010/main" val="48817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Effect transition="in" filter="fade">
                                      <p:cBhvr>
                                        <p:cTn id="7" dur="1000"/>
                                        <p:tgtEl>
                                          <p:spTgt spid="4">
                                            <p:txEl>
                                              <p:pRg st="7" end="7"/>
                                            </p:txEl>
                                          </p:spTgt>
                                        </p:tgtEl>
                                      </p:cBhvr>
                                    </p:animEffect>
                                    <p:anim calcmode="lin" valueType="num">
                                      <p:cBhvr>
                                        <p:cTn id="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11102</TotalTime>
  <Words>3907</Words>
  <Application>Microsoft Office PowerPoint</Application>
  <PresentationFormat>Widescreen</PresentationFormat>
  <Paragraphs>442</Paragraphs>
  <Slides>49</Slides>
  <Notes>2</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49</vt:i4>
      </vt:variant>
    </vt:vector>
  </HeadingPairs>
  <TitlesOfParts>
    <vt:vector size="64" baseType="lpstr">
      <vt:lpstr>Arial</vt:lpstr>
      <vt:lpstr>Calibri</vt:lpstr>
      <vt:lpstr>Cambria Math</vt:lpstr>
      <vt:lpstr>Century Gothic</vt:lpstr>
      <vt:lpstr>KaTeX_Main</vt:lpstr>
      <vt:lpstr>Lucida Sans Unicode</vt:lpstr>
      <vt:lpstr>Minion Pro</vt:lpstr>
      <vt:lpstr>Open Sans</vt:lpstr>
      <vt:lpstr>Roboto</vt:lpstr>
      <vt:lpstr>Segoe UI</vt:lpstr>
      <vt:lpstr>Tahoma</vt:lpstr>
      <vt:lpstr>Times New Roman</vt:lpstr>
      <vt:lpstr>verdana</vt:lpstr>
      <vt:lpstr>verdana</vt:lpstr>
      <vt:lpstr>Default Design</vt:lpstr>
      <vt:lpstr>Amity Institute of Information Technology BCA , Ist Semester  Basic Mathematics- Matrices Dr Sarika Jain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Amity Institute of Information Technology MCA , Ist Semester  Graph Theory  Dr Sarika Jain</dc:title>
  <dc:creator>Lalit Kumar</dc:creator>
  <cp:lastModifiedBy>Sarika Jain</cp:lastModifiedBy>
  <cp:revision>40</cp:revision>
  <dcterms:created xsi:type="dcterms:W3CDTF">2020-09-10T06:54:54Z</dcterms:created>
  <dcterms:modified xsi:type="dcterms:W3CDTF">2025-01-29T06:22:30Z</dcterms:modified>
</cp:coreProperties>
</file>