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3"/>
  </p:notesMasterIdLst>
  <p:sldIdLst>
    <p:sldId id="257" r:id="rId2"/>
    <p:sldId id="494" r:id="rId3"/>
    <p:sldId id="495" r:id="rId4"/>
    <p:sldId id="496" r:id="rId5"/>
    <p:sldId id="497" r:id="rId6"/>
    <p:sldId id="498" r:id="rId7"/>
    <p:sldId id="499" r:id="rId8"/>
    <p:sldId id="501" r:id="rId9"/>
    <p:sldId id="502" r:id="rId10"/>
    <p:sldId id="466" r:id="rId11"/>
    <p:sldId id="479" r:id="rId12"/>
    <p:sldId id="478" r:id="rId13"/>
    <p:sldId id="484" r:id="rId14"/>
    <p:sldId id="485" r:id="rId15"/>
    <p:sldId id="486" r:id="rId16"/>
    <p:sldId id="480" r:id="rId17"/>
    <p:sldId id="487" r:id="rId18"/>
    <p:sldId id="488" r:id="rId19"/>
    <p:sldId id="489" r:id="rId20"/>
    <p:sldId id="490" r:id="rId21"/>
    <p:sldId id="491" r:id="rId22"/>
    <p:sldId id="492" r:id="rId23"/>
    <p:sldId id="493" r:id="rId24"/>
    <p:sldId id="482" r:id="rId25"/>
    <p:sldId id="483" r:id="rId26"/>
    <p:sldId id="503" r:id="rId27"/>
    <p:sldId id="504" r:id="rId28"/>
    <p:sldId id="505" r:id="rId29"/>
    <p:sldId id="506" r:id="rId30"/>
    <p:sldId id="507" r:id="rId31"/>
    <p:sldId id="508" r:id="rId32"/>
    <p:sldId id="509" r:id="rId33"/>
    <p:sldId id="510" r:id="rId34"/>
    <p:sldId id="511" r:id="rId35"/>
    <p:sldId id="512" r:id="rId36"/>
    <p:sldId id="513" r:id="rId37"/>
    <p:sldId id="514" r:id="rId38"/>
    <p:sldId id="515" r:id="rId39"/>
    <p:sldId id="516" r:id="rId40"/>
    <p:sldId id="517" r:id="rId41"/>
    <p:sldId id="519" r:id="rId42"/>
    <p:sldId id="521" r:id="rId43"/>
    <p:sldId id="522" r:id="rId44"/>
    <p:sldId id="524" r:id="rId45"/>
    <p:sldId id="523" r:id="rId46"/>
    <p:sldId id="525" r:id="rId47"/>
    <p:sldId id="526" r:id="rId48"/>
    <p:sldId id="527" r:id="rId49"/>
    <p:sldId id="528" r:id="rId50"/>
    <p:sldId id="529" r:id="rId51"/>
    <p:sldId id="530" r:id="rId52"/>
    <p:sldId id="531" r:id="rId53"/>
    <p:sldId id="532" r:id="rId54"/>
    <p:sldId id="533" r:id="rId55"/>
    <p:sldId id="534" r:id="rId56"/>
    <p:sldId id="535" r:id="rId57"/>
    <p:sldId id="536" r:id="rId58"/>
    <p:sldId id="537" r:id="rId59"/>
    <p:sldId id="538" r:id="rId60"/>
    <p:sldId id="539" r:id="rId61"/>
    <p:sldId id="540" r:id="rId62"/>
    <p:sldId id="541" r:id="rId63"/>
    <p:sldId id="542" r:id="rId64"/>
    <p:sldId id="543" r:id="rId65"/>
    <p:sldId id="544" r:id="rId66"/>
    <p:sldId id="545" r:id="rId67"/>
    <p:sldId id="546" r:id="rId68"/>
    <p:sldId id="547" r:id="rId69"/>
    <p:sldId id="548" r:id="rId70"/>
    <p:sldId id="549" r:id="rId71"/>
    <p:sldId id="550" r:id="rId7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78" autoAdjust="0"/>
    <p:restoredTop sz="94660"/>
  </p:normalViewPr>
  <p:slideViewPr>
    <p:cSldViewPr snapToGrid="0">
      <p:cViewPr varScale="1">
        <p:scale>
          <a:sx n="82" d="100"/>
          <a:sy n="82" d="100"/>
        </p:scale>
        <p:origin x="581"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922510-F597-4992-8D47-0586F8365CDA}" type="doc">
      <dgm:prSet loTypeId="urn:microsoft.com/office/officeart/2005/8/layout/hProcess9" loCatId="process" qsTypeId="urn:microsoft.com/office/officeart/2005/8/quickstyle/simple4" qsCatId="simple" csTypeId="urn:microsoft.com/office/officeart/2005/8/colors/accent1_2" csCatId="accent1" phldr="1"/>
      <dgm:spPr/>
    </dgm:pt>
    <dgm:pt modelId="{024BBD71-A6CC-400B-86DB-BB7A97B70CD5}">
      <dgm:prSet phldrT="[Text]" custT="1"/>
      <dgm:spPr>
        <a:solidFill>
          <a:schemeClr val="bg1"/>
        </a:solidFill>
        <a:ln w="19050">
          <a:solidFill>
            <a:srgbClr val="FCC800"/>
          </a:solidFill>
        </a:ln>
      </dgm:spPr>
      <dgm:t>
        <a:bodyPr/>
        <a:lstStyle/>
        <a:p>
          <a:pPr algn="just"/>
          <a:r>
            <a:rPr lang="en-US" sz="1500" dirty="0">
              <a:solidFill>
                <a:sysClr val="windowText" lastClr="000000"/>
              </a:solidFill>
              <a:latin typeface="Century Gothic" panose="020B0502020202020204" pitchFamily="34" charset="0"/>
            </a:rPr>
            <a:t>Logic  is concerned with methods of reasoning. Logical reasoning is the essence of mathematics and is therefore an important starting point for study of discrete mathematics. Logic among other things have provided the theoretical basis for many areas of computer science such as digital logic design, automata theory and computability, and artificial intelligence etc. One component of logic is proposition calculus which deals with statements with value true and false and is concerned with analysis of propositions.  The other component is predicate calculus which deals with the predicates which are propositions containing variables.</a:t>
          </a:r>
          <a:endParaRPr lang="en-IN" sz="1500" dirty="0">
            <a:solidFill>
              <a:sysClr val="windowText" lastClr="000000"/>
            </a:solidFill>
            <a:latin typeface="Century Gothic" panose="020B0502020202020204" pitchFamily="34" charset="0"/>
          </a:endParaRPr>
        </a:p>
      </dgm:t>
    </dgm:pt>
    <dgm:pt modelId="{37777BAB-EB02-4ADE-A7F2-244047ECA33B}" type="parTrans" cxnId="{90682070-BE02-4277-A67A-ACD751F7CFC3}">
      <dgm:prSet/>
      <dgm:spPr/>
      <dgm:t>
        <a:bodyPr/>
        <a:lstStyle/>
        <a:p>
          <a:endParaRPr lang="en-IN"/>
        </a:p>
      </dgm:t>
    </dgm:pt>
    <dgm:pt modelId="{D75BA25C-EF50-4C52-8479-C76B637313B6}" type="sibTrans" cxnId="{90682070-BE02-4277-A67A-ACD751F7CFC3}">
      <dgm:prSet/>
      <dgm:spPr/>
      <dgm:t>
        <a:bodyPr/>
        <a:lstStyle/>
        <a:p>
          <a:endParaRPr lang="en-IN"/>
        </a:p>
      </dgm:t>
    </dgm:pt>
    <dgm:pt modelId="{58046900-82F2-4E19-8847-DB407A1FEEE1}" type="pres">
      <dgm:prSet presAssocID="{84922510-F597-4992-8D47-0586F8365CDA}" presName="CompostProcess" presStyleCnt="0">
        <dgm:presLayoutVars>
          <dgm:dir/>
          <dgm:resizeHandles val="exact"/>
        </dgm:presLayoutVars>
      </dgm:prSet>
      <dgm:spPr/>
    </dgm:pt>
    <dgm:pt modelId="{BAE60E79-C556-4DFB-B96A-BDF9220ACAE2}" type="pres">
      <dgm:prSet presAssocID="{84922510-F597-4992-8D47-0586F8365CDA}" presName="arrow" presStyleLbl="bgShp" presStyleIdx="0" presStyleCnt="1"/>
      <dgm:spPr>
        <a:solidFill>
          <a:srgbClr val="2C2C2B"/>
        </a:solidFill>
      </dgm:spPr>
    </dgm:pt>
    <dgm:pt modelId="{6E99A79D-20CC-4127-B97C-2DD3FC4A38D6}" type="pres">
      <dgm:prSet presAssocID="{84922510-F597-4992-8D47-0586F8365CDA}" presName="linearProcess" presStyleCnt="0"/>
      <dgm:spPr/>
    </dgm:pt>
    <dgm:pt modelId="{7A9AEC6B-FBA2-4A76-B69B-C0EA825D7D85}" type="pres">
      <dgm:prSet presAssocID="{024BBD71-A6CC-400B-86DB-BB7A97B70CD5}" presName="textNode" presStyleLbl="node1" presStyleIdx="0" presStyleCnt="1" custScaleX="171123" custScaleY="146410">
        <dgm:presLayoutVars>
          <dgm:bulletEnabled val="1"/>
        </dgm:presLayoutVars>
      </dgm:prSet>
      <dgm:spPr/>
    </dgm:pt>
  </dgm:ptLst>
  <dgm:cxnLst>
    <dgm:cxn modelId="{68B35460-548E-4863-897D-58B75412369A}" type="presOf" srcId="{024BBD71-A6CC-400B-86DB-BB7A97B70CD5}" destId="{7A9AEC6B-FBA2-4A76-B69B-C0EA825D7D85}" srcOrd="0" destOrd="0" presId="urn:microsoft.com/office/officeart/2005/8/layout/hProcess9"/>
    <dgm:cxn modelId="{90682070-BE02-4277-A67A-ACD751F7CFC3}" srcId="{84922510-F597-4992-8D47-0586F8365CDA}" destId="{024BBD71-A6CC-400B-86DB-BB7A97B70CD5}" srcOrd="0" destOrd="0" parTransId="{37777BAB-EB02-4ADE-A7F2-244047ECA33B}" sibTransId="{D75BA25C-EF50-4C52-8479-C76B637313B6}"/>
    <dgm:cxn modelId="{742F7C55-BB9E-4561-A6FE-D4A2D68295D6}" type="presOf" srcId="{84922510-F597-4992-8D47-0586F8365CDA}" destId="{58046900-82F2-4E19-8847-DB407A1FEEE1}" srcOrd="0" destOrd="0" presId="urn:microsoft.com/office/officeart/2005/8/layout/hProcess9"/>
    <dgm:cxn modelId="{0663E198-20D6-40A2-9AFA-4A92D51A008C}" type="presParOf" srcId="{58046900-82F2-4E19-8847-DB407A1FEEE1}" destId="{BAE60E79-C556-4DFB-B96A-BDF9220ACAE2}" srcOrd="0" destOrd="0" presId="urn:microsoft.com/office/officeart/2005/8/layout/hProcess9"/>
    <dgm:cxn modelId="{40EADC2B-E11C-4D3A-A3AD-787EB28EA67D}" type="presParOf" srcId="{58046900-82F2-4E19-8847-DB407A1FEEE1}" destId="{6E99A79D-20CC-4127-B97C-2DD3FC4A38D6}" srcOrd="1" destOrd="0" presId="urn:microsoft.com/office/officeart/2005/8/layout/hProcess9"/>
    <dgm:cxn modelId="{C4277779-C424-4ACF-92F3-4AF32A04F4B5}" type="presParOf" srcId="{6E99A79D-20CC-4127-B97C-2DD3FC4A38D6}" destId="{7A9AEC6B-FBA2-4A76-B69B-C0EA825D7D85}" srcOrd="0"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305262E-CFE3-421C-8465-58CD0980D31D}" type="doc">
      <dgm:prSet loTypeId="urn:microsoft.com/office/officeart/2005/8/layout/process5" loCatId="process" qsTypeId="urn:microsoft.com/office/officeart/2005/8/quickstyle/simple1" qsCatId="simple" csTypeId="urn:microsoft.com/office/officeart/2005/8/colors/accent1_2" csCatId="accent1" phldr="1"/>
      <dgm:spPr/>
    </dgm:pt>
    <dgm:pt modelId="{2702E413-6A72-438D-952D-3FE22646688F}">
      <dgm:prSet phldrT="[Text]" custT="1"/>
      <dgm:spPr>
        <a:solidFill>
          <a:srgbClr val="2C2C2C"/>
        </a:solidFill>
        <a:ln>
          <a:noFill/>
        </a:ln>
      </dgm:spPr>
      <dgm:t>
        <a:bodyPr/>
        <a:lstStyle/>
        <a:p>
          <a:pPr algn="l"/>
          <a:r>
            <a:rPr lang="en-US" sz="1500" dirty="0">
              <a:latin typeface="Century Gothic" panose="020B0502020202020204" pitchFamily="34" charset="0"/>
            </a:rPr>
            <a:t>A proposition consisting of only a single propositional variable or a single propositional constant is called an atomic (primary, primitive) proposition or simply proposition, i.e. they can not be further subdivided.</a:t>
          </a:r>
          <a:endParaRPr lang="en-IN" sz="1500" dirty="0">
            <a:latin typeface="Century Gothic" panose="020B0502020202020204" pitchFamily="34" charset="0"/>
          </a:endParaRPr>
        </a:p>
      </dgm:t>
    </dgm:pt>
    <dgm:pt modelId="{8B629FC0-3695-4F03-BF5F-80D316FA2245}" type="parTrans" cxnId="{470D6089-51A7-4269-814D-70B187E4268A}">
      <dgm:prSet/>
      <dgm:spPr/>
      <dgm:t>
        <a:bodyPr/>
        <a:lstStyle/>
        <a:p>
          <a:endParaRPr lang="en-IN"/>
        </a:p>
      </dgm:t>
    </dgm:pt>
    <dgm:pt modelId="{690E82DA-A4CE-4F06-BE10-FEC2E32CBB76}" type="sibTrans" cxnId="{470D6089-51A7-4269-814D-70B187E4268A}">
      <dgm:prSet/>
      <dgm:spPr>
        <a:solidFill>
          <a:srgbClr val="FFCC01"/>
        </a:solidFill>
      </dgm:spPr>
      <dgm:t>
        <a:bodyPr/>
        <a:lstStyle/>
        <a:p>
          <a:endParaRPr lang="en-IN"/>
        </a:p>
      </dgm:t>
    </dgm:pt>
    <dgm:pt modelId="{EB220690-D34A-4210-BD92-7292B4ACC13B}">
      <dgm:prSet custT="1"/>
      <dgm:spPr>
        <a:solidFill>
          <a:srgbClr val="2C2C2C"/>
        </a:solidFill>
        <a:ln>
          <a:noFill/>
        </a:ln>
      </dgm:spPr>
      <dgm:t>
        <a:bodyPr/>
        <a:lstStyle/>
        <a:p>
          <a:pPr algn="l"/>
          <a:r>
            <a:rPr lang="en-US" sz="1500" dirty="0">
              <a:latin typeface="Century Gothic" panose="020B0502020202020204" pitchFamily="34" charset="0"/>
            </a:rPr>
            <a:t>A proposition obtained from the combinations of two or more propositions by means of logical operators or connectives of two or more propositions or by negating a single proposition is referred to molecular or composite or compound proposition.</a:t>
          </a:r>
          <a:endParaRPr lang="en-IN" sz="1500" dirty="0">
            <a:latin typeface="Century Gothic" panose="020B0502020202020204" pitchFamily="34" charset="0"/>
          </a:endParaRPr>
        </a:p>
      </dgm:t>
    </dgm:pt>
    <dgm:pt modelId="{99EFFC29-782B-40BD-B18A-00F9A1220307}" type="parTrans" cxnId="{6835106F-6D45-45F1-88F3-E365A5B50F56}">
      <dgm:prSet/>
      <dgm:spPr/>
      <dgm:t>
        <a:bodyPr/>
        <a:lstStyle/>
        <a:p>
          <a:endParaRPr lang="en-IN"/>
        </a:p>
      </dgm:t>
    </dgm:pt>
    <dgm:pt modelId="{012D6745-FD23-4DDB-B3FC-C56583188F16}" type="sibTrans" cxnId="{6835106F-6D45-45F1-88F3-E365A5B50F56}">
      <dgm:prSet/>
      <dgm:spPr/>
      <dgm:t>
        <a:bodyPr/>
        <a:lstStyle/>
        <a:p>
          <a:endParaRPr lang="en-IN"/>
        </a:p>
      </dgm:t>
    </dgm:pt>
    <dgm:pt modelId="{5F73B297-FD70-42B3-AF79-EBD5AEAD5E5B}" type="pres">
      <dgm:prSet presAssocID="{0305262E-CFE3-421C-8465-58CD0980D31D}" presName="diagram" presStyleCnt="0">
        <dgm:presLayoutVars>
          <dgm:dir/>
          <dgm:resizeHandles val="exact"/>
        </dgm:presLayoutVars>
      </dgm:prSet>
      <dgm:spPr/>
    </dgm:pt>
    <dgm:pt modelId="{CC17BBC1-252A-4835-A273-1054F37F6DF6}" type="pres">
      <dgm:prSet presAssocID="{2702E413-6A72-438D-952D-3FE22646688F}" presName="node" presStyleLbl="node1" presStyleIdx="0" presStyleCnt="2" custScaleX="131631" custScaleY="146410">
        <dgm:presLayoutVars>
          <dgm:bulletEnabled val="1"/>
        </dgm:presLayoutVars>
      </dgm:prSet>
      <dgm:spPr/>
    </dgm:pt>
    <dgm:pt modelId="{0CA4EF3D-3E01-4794-8B11-6CF6CB2A77D7}" type="pres">
      <dgm:prSet presAssocID="{690E82DA-A4CE-4F06-BE10-FEC2E32CBB76}" presName="sibTrans" presStyleLbl="sibTrans2D1" presStyleIdx="0" presStyleCnt="1" custScaleY="62093"/>
      <dgm:spPr/>
    </dgm:pt>
    <dgm:pt modelId="{E527B0C4-2B4A-4B40-88CC-96578955970B}" type="pres">
      <dgm:prSet presAssocID="{690E82DA-A4CE-4F06-BE10-FEC2E32CBB76}" presName="connectorText" presStyleLbl="sibTrans2D1" presStyleIdx="0" presStyleCnt="1"/>
      <dgm:spPr/>
    </dgm:pt>
    <dgm:pt modelId="{1D0BE04E-C26E-4A45-B3D3-A3A81F3707C3}" type="pres">
      <dgm:prSet presAssocID="{EB220690-D34A-4210-BD92-7292B4ACC13B}" presName="node" presStyleLbl="node1" presStyleIdx="1" presStyleCnt="2" custScaleX="119056" custScaleY="146410">
        <dgm:presLayoutVars>
          <dgm:bulletEnabled val="1"/>
        </dgm:presLayoutVars>
      </dgm:prSet>
      <dgm:spPr/>
    </dgm:pt>
  </dgm:ptLst>
  <dgm:cxnLst>
    <dgm:cxn modelId="{C1198A0A-FC5F-4812-B0B8-7519BC83990C}" type="presOf" srcId="{2702E413-6A72-438D-952D-3FE22646688F}" destId="{CC17BBC1-252A-4835-A273-1054F37F6DF6}" srcOrd="0" destOrd="0" presId="urn:microsoft.com/office/officeart/2005/8/layout/process5"/>
    <dgm:cxn modelId="{4EEC2512-85C0-43BB-B596-A68FC95CADE3}" type="presOf" srcId="{EB220690-D34A-4210-BD92-7292B4ACC13B}" destId="{1D0BE04E-C26E-4A45-B3D3-A3A81F3707C3}" srcOrd="0" destOrd="0" presId="urn:microsoft.com/office/officeart/2005/8/layout/process5"/>
    <dgm:cxn modelId="{1C0D5E19-3A15-429B-B334-8A9E77C85135}" type="presOf" srcId="{690E82DA-A4CE-4F06-BE10-FEC2E32CBB76}" destId="{0CA4EF3D-3E01-4794-8B11-6CF6CB2A77D7}" srcOrd="0" destOrd="0" presId="urn:microsoft.com/office/officeart/2005/8/layout/process5"/>
    <dgm:cxn modelId="{6835106F-6D45-45F1-88F3-E365A5B50F56}" srcId="{0305262E-CFE3-421C-8465-58CD0980D31D}" destId="{EB220690-D34A-4210-BD92-7292B4ACC13B}" srcOrd="1" destOrd="0" parTransId="{99EFFC29-782B-40BD-B18A-00F9A1220307}" sibTransId="{012D6745-FD23-4DDB-B3FC-C56583188F16}"/>
    <dgm:cxn modelId="{8E431887-D368-46B4-96E9-9440FF20A7A2}" type="presOf" srcId="{0305262E-CFE3-421C-8465-58CD0980D31D}" destId="{5F73B297-FD70-42B3-AF79-EBD5AEAD5E5B}" srcOrd="0" destOrd="0" presId="urn:microsoft.com/office/officeart/2005/8/layout/process5"/>
    <dgm:cxn modelId="{470D6089-51A7-4269-814D-70B187E4268A}" srcId="{0305262E-CFE3-421C-8465-58CD0980D31D}" destId="{2702E413-6A72-438D-952D-3FE22646688F}" srcOrd="0" destOrd="0" parTransId="{8B629FC0-3695-4F03-BF5F-80D316FA2245}" sibTransId="{690E82DA-A4CE-4F06-BE10-FEC2E32CBB76}"/>
    <dgm:cxn modelId="{B7C9B3DF-1792-4FA5-9518-B3E4870FA83C}" type="presOf" srcId="{690E82DA-A4CE-4F06-BE10-FEC2E32CBB76}" destId="{E527B0C4-2B4A-4B40-88CC-96578955970B}" srcOrd="1" destOrd="0" presId="urn:microsoft.com/office/officeart/2005/8/layout/process5"/>
    <dgm:cxn modelId="{EB5452D8-0E7A-4F40-9C04-31B8C5F54FB8}" type="presParOf" srcId="{5F73B297-FD70-42B3-AF79-EBD5AEAD5E5B}" destId="{CC17BBC1-252A-4835-A273-1054F37F6DF6}" srcOrd="0" destOrd="0" presId="urn:microsoft.com/office/officeart/2005/8/layout/process5"/>
    <dgm:cxn modelId="{CBFDB7F4-F8FF-4063-8C06-99A3F3FFFD46}" type="presParOf" srcId="{5F73B297-FD70-42B3-AF79-EBD5AEAD5E5B}" destId="{0CA4EF3D-3E01-4794-8B11-6CF6CB2A77D7}" srcOrd="1" destOrd="0" presId="urn:microsoft.com/office/officeart/2005/8/layout/process5"/>
    <dgm:cxn modelId="{B59AB7C5-3833-4156-BE18-EEB1507AE82E}" type="presParOf" srcId="{0CA4EF3D-3E01-4794-8B11-6CF6CB2A77D7}" destId="{E527B0C4-2B4A-4B40-88CC-96578955970B}" srcOrd="0" destOrd="0" presId="urn:microsoft.com/office/officeart/2005/8/layout/process5"/>
    <dgm:cxn modelId="{CC801E95-B263-43C4-B1A2-B858E7A45191}" type="presParOf" srcId="{5F73B297-FD70-42B3-AF79-EBD5AEAD5E5B}" destId="{1D0BE04E-C26E-4A45-B3D3-A3A81F3707C3}" srcOrd="2" destOrd="0" presId="urn:microsoft.com/office/officeart/2005/8/layout/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A72FA37-1246-41AA-8599-E5D619B2925C}" type="doc">
      <dgm:prSet loTypeId="urn:microsoft.com/office/officeart/2008/layout/PictureAccentList" loCatId="list" qsTypeId="urn:microsoft.com/office/officeart/2005/8/quickstyle/simple1" qsCatId="simple" csTypeId="urn:microsoft.com/office/officeart/2005/8/colors/accent1_2" csCatId="accent1" phldr="1"/>
      <dgm:spPr/>
      <dgm:t>
        <a:bodyPr/>
        <a:lstStyle/>
        <a:p>
          <a:endParaRPr lang="en-IN"/>
        </a:p>
      </dgm:t>
    </dgm:pt>
    <dgm:pt modelId="{E76620FC-A6B4-4D5F-B0A8-48E373900721}">
      <dgm:prSet phldrT="[Text]"/>
      <dgm:spPr>
        <a:solidFill>
          <a:srgbClr val="2C2C2C"/>
        </a:solidFill>
        <a:ln>
          <a:noFill/>
        </a:ln>
      </dgm:spPr>
      <dgm:t>
        <a:bodyPr/>
        <a:lstStyle/>
        <a:p>
          <a:r>
            <a:rPr lang="en-IN" dirty="0">
              <a:latin typeface="Century Gothic" panose="020B0502020202020204" pitchFamily="34" charset="0"/>
            </a:rPr>
            <a:t>Conjunction </a:t>
          </a:r>
          <a:r>
            <a:rPr lang="en-US" dirty="0">
              <a:latin typeface="Century Gothic" panose="020B0502020202020204" pitchFamily="34" charset="0"/>
            </a:rPr>
            <a:t>and </a:t>
          </a:r>
          <a:endParaRPr lang="en-IN" dirty="0">
            <a:latin typeface="Century Gothic" panose="020B0502020202020204" pitchFamily="34" charset="0"/>
          </a:endParaRPr>
        </a:p>
      </dgm:t>
    </dgm:pt>
    <dgm:pt modelId="{365B3B8B-9B8D-4B93-923A-1B4BC12A0050}" type="parTrans" cxnId="{611A3E23-539B-469C-B3A4-1F523069A12E}">
      <dgm:prSet/>
      <dgm:spPr/>
      <dgm:t>
        <a:bodyPr/>
        <a:lstStyle/>
        <a:p>
          <a:endParaRPr lang="en-IN"/>
        </a:p>
      </dgm:t>
    </dgm:pt>
    <dgm:pt modelId="{449330B5-0299-4567-BA78-4228C16DC3C2}" type="sibTrans" cxnId="{611A3E23-539B-469C-B3A4-1F523069A12E}">
      <dgm:prSet/>
      <dgm:spPr/>
      <dgm:t>
        <a:bodyPr/>
        <a:lstStyle/>
        <a:p>
          <a:endParaRPr lang="en-IN"/>
        </a:p>
      </dgm:t>
    </dgm:pt>
    <dgm:pt modelId="{ABFE560B-E646-4DFE-B470-846AE310AD56}">
      <dgm:prSet/>
      <dgm:spPr>
        <a:solidFill>
          <a:srgbClr val="2C2C2A"/>
        </a:solidFill>
        <a:ln>
          <a:noFill/>
        </a:ln>
      </dgm:spPr>
      <dgm:t>
        <a:bodyPr/>
        <a:lstStyle/>
        <a:p>
          <a:r>
            <a:rPr lang="en-IN" dirty="0">
              <a:latin typeface="Century Gothic" panose="020B0502020202020204" pitchFamily="34" charset="0"/>
            </a:rPr>
            <a:t>Disjunction</a:t>
          </a:r>
        </a:p>
      </dgm:t>
    </dgm:pt>
    <dgm:pt modelId="{242326AA-6783-4A56-B57A-70355B9A47CE}" type="sibTrans" cxnId="{F1157A2D-B3F0-4C6B-8E62-27EC0579A7F4}">
      <dgm:prSet/>
      <dgm:spPr/>
      <dgm:t>
        <a:bodyPr/>
        <a:lstStyle/>
        <a:p>
          <a:endParaRPr lang="en-IN"/>
        </a:p>
      </dgm:t>
    </dgm:pt>
    <dgm:pt modelId="{70E87B05-7538-4D80-B3F6-39796FC53A6B}" type="parTrans" cxnId="{F1157A2D-B3F0-4C6B-8E62-27EC0579A7F4}">
      <dgm:prSet/>
      <dgm:spPr/>
      <dgm:t>
        <a:bodyPr/>
        <a:lstStyle/>
        <a:p>
          <a:endParaRPr lang="en-IN"/>
        </a:p>
      </dgm:t>
    </dgm:pt>
    <dgm:pt modelId="{103AEA55-16F1-451F-82EE-A67B19084C85}" type="pres">
      <dgm:prSet presAssocID="{0A72FA37-1246-41AA-8599-E5D619B2925C}" presName="layout" presStyleCnt="0">
        <dgm:presLayoutVars>
          <dgm:chMax/>
          <dgm:chPref/>
          <dgm:dir/>
          <dgm:animOne val="branch"/>
          <dgm:animLvl val="lvl"/>
          <dgm:resizeHandles/>
        </dgm:presLayoutVars>
      </dgm:prSet>
      <dgm:spPr/>
    </dgm:pt>
    <dgm:pt modelId="{3262BBF3-50EC-4B88-8F75-134332989C5D}" type="pres">
      <dgm:prSet presAssocID="{E76620FC-A6B4-4D5F-B0A8-48E373900721}" presName="root" presStyleCnt="0">
        <dgm:presLayoutVars>
          <dgm:chMax/>
          <dgm:chPref val="4"/>
        </dgm:presLayoutVars>
      </dgm:prSet>
      <dgm:spPr/>
    </dgm:pt>
    <dgm:pt modelId="{2B9FD430-8ED2-490F-8387-993A37CDF196}" type="pres">
      <dgm:prSet presAssocID="{E76620FC-A6B4-4D5F-B0A8-48E373900721}" presName="rootComposite" presStyleCnt="0">
        <dgm:presLayoutVars/>
      </dgm:prSet>
      <dgm:spPr/>
    </dgm:pt>
    <dgm:pt modelId="{52E4AD81-3D33-4329-93D7-626DBF3CCB1A}" type="pres">
      <dgm:prSet presAssocID="{E76620FC-A6B4-4D5F-B0A8-48E373900721}" presName="rootText" presStyleLbl="node0" presStyleIdx="0" presStyleCnt="2">
        <dgm:presLayoutVars>
          <dgm:chMax/>
          <dgm:chPref val="4"/>
        </dgm:presLayoutVars>
      </dgm:prSet>
      <dgm:spPr/>
    </dgm:pt>
    <dgm:pt modelId="{9590917E-DE2D-45D0-AA6C-15892119E05A}" type="pres">
      <dgm:prSet presAssocID="{E76620FC-A6B4-4D5F-B0A8-48E373900721}" presName="childShape" presStyleCnt="0">
        <dgm:presLayoutVars>
          <dgm:chMax val="0"/>
          <dgm:chPref val="0"/>
        </dgm:presLayoutVars>
      </dgm:prSet>
      <dgm:spPr/>
    </dgm:pt>
    <dgm:pt modelId="{D21A9A33-ED6B-4B98-A549-D7D417453B78}" type="pres">
      <dgm:prSet presAssocID="{ABFE560B-E646-4DFE-B470-846AE310AD56}" presName="root" presStyleCnt="0">
        <dgm:presLayoutVars>
          <dgm:chMax/>
          <dgm:chPref val="4"/>
        </dgm:presLayoutVars>
      </dgm:prSet>
      <dgm:spPr/>
    </dgm:pt>
    <dgm:pt modelId="{C02CE2FE-14AF-46CC-8907-1DD8FA0A7B8E}" type="pres">
      <dgm:prSet presAssocID="{ABFE560B-E646-4DFE-B470-846AE310AD56}" presName="rootComposite" presStyleCnt="0">
        <dgm:presLayoutVars/>
      </dgm:prSet>
      <dgm:spPr/>
    </dgm:pt>
    <dgm:pt modelId="{5FB2F2F0-1E0A-444D-B9FF-37DEB06EF18C}" type="pres">
      <dgm:prSet presAssocID="{ABFE560B-E646-4DFE-B470-846AE310AD56}" presName="rootText" presStyleLbl="node0" presStyleIdx="1" presStyleCnt="2">
        <dgm:presLayoutVars>
          <dgm:chMax/>
          <dgm:chPref val="4"/>
        </dgm:presLayoutVars>
      </dgm:prSet>
      <dgm:spPr/>
    </dgm:pt>
    <dgm:pt modelId="{1EC0FE10-BC97-4DCF-8BC9-25E18523B2B9}" type="pres">
      <dgm:prSet presAssocID="{ABFE560B-E646-4DFE-B470-846AE310AD56}" presName="childShape" presStyleCnt="0">
        <dgm:presLayoutVars>
          <dgm:chMax val="0"/>
          <dgm:chPref val="0"/>
        </dgm:presLayoutVars>
      </dgm:prSet>
      <dgm:spPr/>
    </dgm:pt>
  </dgm:ptLst>
  <dgm:cxnLst>
    <dgm:cxn modelId="{611A3E23-539B-469C-B3A4-1F523069A12E}" srcId="{0A72FA37-1246-41AA-8599-E5D619B2925C}" destId="{E76620FC-A6B4-4D5F-B0A8-48E373900721}" srcOrd="0" destOrd="0" parTransId="{365B3B8B-9B8D-4B93-923A-1B4BC12A0050}" sibTransId="{449330B5-0299-4567-BA78-4228C16DC3C2}"/>
    <dgm:cxn modelId="{FA041B29-29A7-46F9-9DC7-4C8120DD9555}" type="presOf" srcId="{ABFE560B-E646-4DFE-B470-846AE310AD56}" destId="{5FB2F2F0-1E0A-444D-B9FF-37DEB06EF18C}" srcOrd="0" destOrd="0" presId="urn:microsoft.com/office/officeart/2008/layout/PictureAccentList"/>
    <dgm:cxn modelId="{F1157A2D-B3F0-4C6B-8E62-27EC0579A7F4}" srcId="{0A72FA37-1246-41AA-8599-E5D619B2925C}" destId="{ABFE560B-E646-4DFE-B470-846AE310AD56}" srcOrd="1" destOrd="0" parTransId="{70E87B05-7538-4D80-B3F6-39796FC53A6B}" sibTransId="{242326AA-6783-4A56-B57A-70355B9A47CE}"/>
    <dgm:cxn modelId="{E506D3C2-C801-4E45-935C-0D586903FEDA}" type="presOf" srcId="{E76620FC-A6B4-4D5F-B0A8-48E373900721}" destId="{52E4AD81-3D33-4329-93D7-626DBF3CCB1A}" srcOrd="0" destOrd="0" presId="urn:microsoft.com/office/officeart/2008/layout/PictureAccentList"/>
    <dgm:cxn modelId="{7AB3CBD6-B032-4C8D-B78C-CEC696ED82CA}" type="presOf" srcId="{0A72FA37-1246-41AA-8599-E5D619B2925C}" destId="{103AEA55-16F1-451F-82EE-A67B19084C85}" srcOrd="0" destOrd="0" presId="urn:microsoft.com/office/officeart/2008/layout/PictureAccentList"/>
    <dgm:cxn modelId="{3287AC7C-DE29-4D55-A70B-67BF247AA5EE}" type="presParOf" srcId="{103AEA55-16F1-451F-82EE-A67B19084C85}" destId="{3262BBF3-50EC-4B88-8F75-134332989C5D}" srcOrd="0" destOrd="0" presId="urn:microsoft.com/office/officeart/2008/layout/PictureAccentList"/>
    <dgm:cxn modelId="{09D320D6-9208-4135-B402-AD6201B7EBBC}" type="presParOf" srcId="{3262BBF3-50EC-4B88-8F75-134332989C5D}" destId="{2B9FD430-8ED2-490F-8387-993A37CDF196}" srcOrd="0" destOrd="0" presId="urn:microsoft.com/office/officeart/2008/layout/PictureAccentList"/>
    <dgm:cxn modelId="{5389AB6C-4835-4EB3-B180-395E211105E9}" type="presParOf" srcId="{2B9FD430-8ED2-490F-8387-993A37CDF196}" destId="{52E4AD81-3D33-4329-93D7-626DBF3CCB1A}" srcOrd="0" destOrd="0" presId="urn:microsoft.com/office/officeart/2008/layout/PictureAccentList"/>
    <dgm:cxn modelId="{9B752F01-4E94-4E50-8C74-1203319A19AC}" type="presParOf" srcId="{3262BBF3-50EC-4B88-8F75-134332989C5D}" destId="{9590917E-DE2D-45D0-AA6C-15892119E05A}" srcOrd="1" destOrd="0" presId="urn:microsoft.com/office/officeart/2008/layout/PictureAccentList"/>
    <dgm:cxn modelId="{544D2FFA-2341-4E2C-81B7-27DC9DF3E0F2}" type="presParOf" srcId="{103AEA55-16F1-451F-82EE-A67B19084C85}" destId="{D21A9A33-ED6B-4B98-A549-D7D417453B78}" srcOrd="1" destOrd="0" presId="urn:microsoft.com/office/officeart/2008/layout/PictureAccentList"/>
    <dgm:cxn modelId="{CEC100D9-1811-4883-92B1-72390BA42079}" type="presParOf" srcId="{D21A9A33-ED6B-4B98-A549-D7D417453B78}" destId="{C02CE2FE-14AF-46CC-8907-1DD8FA0A7B8E}" srcOrd="0" destOrd="0" presId="urn:microsoft.com/office/officeart/2008/layout/PictureAccentList"/>
    <dgm:cxn modelId="{008E8FF4-AB95-4898-ABA0-EE412525B062}" type="presParOf" srcId="{C02CE2FE-14AF-46CC-8907-1DD8FA0A7B8E}" destId="{5FB2F2F0-1E0A-444D-B9FF-37DEB06EF18C}" srcOrd="0" destOrd="0" presId="urn:microsoft.com/office/officeart/2008/layout/PictureAccentList"/>
    <dgm:cxn modelId="{A8765B0D-74FF-4DBA-95E2-011C82C28DA5}" type="presParOf" srcId="{D21A9A33-ED6B-4B98-A549-D7D417453B78}" destId="{1EC0FE10-BC97-4DCF-8BC9-25E18523B2B9}" srcOrd="1" destOrd="0" presId="urn:microsoft.com/office/officeart/2008/layout/PictureAccent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4922510-F597-4992-8D47-0586F8365CDA}" type="doc">
      <dgm:prSet loTypeId="urn:microsoft.com/office/officeart/2005/8/layout/hProcess9" loCatId="process" qsTypeId="urn:microsoft.com/office/officeart/2005/8/quickstyle/simple4" qsCatId="simple" csTypeId="urn:microsoft.com/office/officeart/2005/8/colors/accent1_2" csCatId="accent1" phldr="1"/>
      <dgm:spPr/>
    </dgm:pt>
    <dgm:pt modelId="{024BBD71-A6CC-400B-86DB-BB7A97B70CD5}">
      <dgm:prSet phldrT="[Text]" custT="1"/>
      <dgm:spPr>
        <a:solidFill>
          <a:schemeClr val="bg1"/>
        </a:solidFill>
        <a:ln w="19050">
          <a:solidFill>
            <a:srgbClr val="FCC800"/>
          </a:solidFill>
        </a:ln>
      </dgm:spPr>
      <dgm:t>
        <a:bodyPr/>
        <a:lstStyle/>
        <a:p>
          <a:pPr algn="just"/>
          <a:r>
            <a:rPr lang="en-US" sz="1500" dirty="0">
              <a:solidFill>
                <a:sysClr val="windowText" lastClr="000000"/>
              </a:solidFill>
              <a:latin typeface="Century Gothic" panose="020B0502020202020204" pitchFamily="34" charset="0"/>
            </a:rPr>
            <a:t>If p and q are two statements, then conjunction of p and q is the compound statement denoted by p  ⋀ q and read as </a:t>
          </a:r>
          <a:r>
            <a:rPr lang="en-US" sz="1500" b="1" dirty="0">
              <a:solidFill>
                <a:sysClr val="windowText" lastClr="000000"/>
              </a:solidFill>
              <a:latin typeface="Century Gothic" panose="020B0502020202020204" pitchFamily="34" charset="0"/>
            </a:rPr>
            <a:t>“p and q”. </a:t>
          </a:r>
          <a:r>
            <a:rPr lang="en-US" sz="1500" dirty="0">
              <a:solidFill>
                <a:sysClr val="windowText" lastClr="000000"/>
              </a:solidFill>
              <a:latin typeface="Century Gothic" panose="020B0502020202020204" pitchFamily="34" charset="0"/>
            </a:rPr>
            <a:t>The compound statement p ⋀ q is true when both p and q are true otherwise it is false. </a:t>
          </a:r>
          <a:endParaRPr lang="en-IN" sz="1500" dirty="0">
            <a:solidFill>
              <a:sysClr val="windowText" lastClr="000000"/>
            </a:solidFill>
            <a:latin typeface="Century Gothic" panose="020B0502020202020204" pitchFamily="34" charset="0"/>
          </a:endParaRPr>
        </a:p>
      </dgm:t>
    </dgm:pt>
    <dgm:pt modelId="{37777BAB-EB02-4ADE-A7F2-244047ECA33B}" type="parTrans" cxnId="{90682070-BE02-4277-A67A-ACD751F7CFC3}">
      <dgm:prSet/>
      <dgm:spPr/>
      <dgm:t>
        <a:bodyPr/>
        <a:lstStyle/>
        <a:p>
          <a:endParaRPr lang="en-IN"/>
        </a:p>
      </dgm:t>
    </dgm:pt>
    <dgm:pt modelId="{D75BA25C-EF50-4C52-8479-C76B637313B6}" type="sibTrans" cxnId="{90682070-BE02-4277-A67A-ACD751F7CFC3}">
      <dgm:prSet/>
      <dgm:spPr/>
      <dgm:t>
        <a:bodyPr/>
        <a:lstStyle/>
        <a:p>
          <a:endParaRPr lang="en-IN"/>
        </a:p>
      </dgm:t>
    </dgm:pt>
    <dgm:pt modelId="{58046900-82F2-4E19-8847-DB407A1FEEE1}" type="pres">
      <dgm:prSet presAssocID="{84922510-F597-4992-8D47-0586F8365CDA}" presName="CompostProcess" presStyleCnt="0">
        <dgm:presLayoutVars>
          <dgm:dir/>
          <dgm:resizeHandles val="exact"/>
        </dgm:presLayoutVars>
      </dgm:prSet>
      <dgm:spPr/>
    </dgm:pt>
    <dgm:pt modelId="{BAE60E79-C556-4DFB-B96A-BDF9220ACAE2}" type="pres">
      <dgm:prSet presAssocID="{84922510-F597-4992-8D47-0586F8365CDA}" presName="arrow" presStyleLbl="bgShp" presStyleIdx="0" presStyleCnt="1"/>
      <dgm:spPr>
        <a:solidFill>
          <a:srgbClr val="2C2C2B"/>
        </a:solidFill>
      </dgm:spPr>
    </dgm:pt>
    <dgm:pt modelId="{6E99A79D-20CC-4127-B97C-2DD3FC4A38D6}" type="pres">
      <dgm:prSet presAssocID="{84922510-F597-4992-8D47-0586F8365CDA}" presName="linearProcess" presStyleCnt="0"/>
      <dgm:spPr/>
    </dgm:pt>
    <dgm:pt modelId="{7A9AEC6B-FBA2-4A76-B69B-C0EA825D7D85}" type="pres">
      <dgm:prSet presAssocID="{024BBD71-A6CC-400B-86DB-BB7A97B70CD5}" presName="textNode" presStyleLbl="node1" presStyleIdx="0" presStyleCnt="1" custScaleX="171123">
        <dgm:presLayoutVars>
          <dgm:bulletEnabled val="1"/>
        </dgm:presLayoutVars>
      </dgm:prSet>
      <dgm:spPr/>
    </dgm:pt>
  </dgm:ptLst>
  <dgm:cxnLst>
    <dgm:cxn modelId="{68B35460-548E-4863-897D-58B75412369A}" type="presOf" srcId="{024BBD71-A6CC-400B-86DB-BB7A97B70CD5}" destId="{7A9AEC6B-FBA2-4A76-B69B-C0EA825D7D85}" srcOrd="0" destOrd="0" presId="urn:microsoft.com/office/officeart/2005/8/layout/hProcess9"/>
    <dgm:cxn modelId="{90682070-BE02-4277-A67A-ACD751F7CFC3}" srcId="{84922510-F597-4992-8D47-0586F8365CDA}" destId="{024BBD71-A6CC-400B-86DB-BB7A97B70CD5}" srcOrd="0" destOrd="0" parTransId="{37777BAB-EB02-4ADE-A7F2-244047ECA33B}" sibTransId="{D75BA25C-EF50-4C52-8479-C76B637313B6}"/>
    <dgm:cxn modelId="{742F7C55-BB9E-4561-A6FE-D4A2D68295D6}" type="presOf" srcId="{84922510-F597-4992-8D47-0586F8365CDA}" destId="{58046900-82F2-4E19-8847-DB407A1FEEE1}" srcOrd="0" destOrd="0" presId="urn:microsoft.com/office/officeart/2005/8/layout/hProcess9"/>
    <dgm:cxn modelId="{0663E198-20D6-40A2-9AFA-4A92D51A008C}" type="presParOf" srcId="{58046900-82F2-4E19-8847-DB407A1FEEE1}" destId="{BAE60E79-C556-4DFB-B96A-BDF9220ACAE2}" srcOrd="0" destOrd="0" presId="urn:microsoft.com/office/officeart/2005/8/layout/hProcess9"/>
    <dgm:cxn modelId="{40EADC2B-E11C-4D3A-A3AD-787EB28EA67D}" type="presParOf" srcId="{58046900-82F2-4E19-8847-DB407A1FEEE1}" destId="{6E99A79D-20CC-4127-B97C-2DD3FC4A38D6}" srcOrd="1" destOrd="0" presId="urn:microsoft.com/office/officeart/2005/8/layout/hProcess9"/>
    <dgm:cxn modelId="{C4277779-C424-4ACF-92F3-4AF32A04F4B5}" type="presParOf" srcId="{6E99A79D-20CC-4127-B97C-2DD3FC4A38D6}" destId="{7A9AEC6B-FBA2-4A76-B69B-C0EA825D7D85}" srcOrd="0"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4922510-F597-4992-8D47-0586F8365CDA}" type="doc">
      <dgm:prSet loTypeId="urn:microsoft.com/office/officeart/2005/8/layout/hProcess9" loCatId="process" qsTypeId="urn:microsoft.com/office/officeart/2005/8/quickstyle/simple4" qsCatId="simple" csTypeId="urn:microsoft.com/office/officeart/2005/8/colors/accent1_2" csCatId="accent1" phldr="1"/>
      <dgm:spPr/>
    </dgm:pt>
    <dgm:pt modelId="{024BBD71-A6CC-400B-86DB-BB7A97B70CD5}">
      <dgm:prSet phldrT="[Text]" custT="1"/>
      <dgm:spPr>
        <a:solidFill>
          <a:schemeClr val="bg1"/>
        </a:solidFill>
        <a:ln w="19050">
          <a:solidFill>
            <a:srgbClr val="FCC800"/>
          </a:solidFill>
        </a:ln>
      </dgm:spPr>
      <dgm:t>
        <a:bodyPr/>
        <a:lstStyle/>
        <a:p>
          <a:pPr algn="just"/>
          <a:r>
            <a:rPr lang="en-US" sz="1500" dirty="0">
              <a:solidFill>
                <a:sysClr val="windowText" lastClr="000000"/>
              </a:solidFill>
              <a:latin typeface="Century Gothic" panose="020B0502020202020204" pitchFamily="34" charset="0"/>
            </a:rPr>
            <a:t>If p and q are two statements, the disjunction of p and q is the compound statement denoted by p ⋁ q and is read as </a:t>
          </a:r>
          <a:r>
            <a:rPr lang="en-US" sz="1500" b="1" dirty="0">
              <a:solidFill>
                <a:sysClr val="windowText" lastClr="000000"/>
              </a:solidFill>
              <a:latin typeface="Century Gothic" panose="020B0502020202020204" pitchFamily="34" charset="0"/>
            </a:rPr>
            <a:t>“ p or q”</a:t>
          </a:r>
          <a:r>
            <a:rPr lang="en-US" sz="1500" dirty="0">
              <a:solidFill>
                <a:sysClr val="windowText" lastClr="000000"/>
              </a:solidFill>
              <a:latin typeface="Century Gothic" panose="020B0502020202020204" pitchFamily="34" charset="0"/>
            </a:rPr>
            <a:t>. The statement p ⋁ q is true if at least one of p or q is true.</a:t>
          </a:r>
          <a:endParaRPr lang="en-IN" sz="1500" dirty="0">
            <a:solidFill>
              <a:sysClr val="windowText" lastClr="000000"/>
            </a:solidFill>
            <a:latin typeface="Century Gothic" panose="020B0502020202020204" pitchFamily="34" charset="0"/>
          </a:endParaRPr>
        </a:p>
        <a:p>
          <a:r>
            <a:rPr lang="en-US" sz="1500" dirty="0">
              <a:solidFill>
                <a:sysClr val="windowText" lastClr="000000"/>
              </a:solidFill>
              <a:latin typeface="Century Gothic" panose="020B0502020202020204" pitchFamily="34" charset="0"/>
            </a:rPr>
            <a:t>In general, </a:t>
          </a:r>
          <a:r>
            <a:rPr lang="en-US" sz="1500" b="1" dirty="0">
              <a:solidFill>
                <a:sysClr val="windowText" lastClr="000000"/>
              </a:solidFill>
              <a:latin typeface="Century Gothic" panose="020B0502020202020204" pitchFamily="34" charset="0"/>
            </a:rPr>
            <a:t>“logical or” </a:t>
          </a:r>
          <a:r>
            <a:rPr lang="en-US" sz="1500" dirty="0">
              <a:solidFill>
                <a:sysClr val="windowText" lastClr="000000"/>
              </a:solidFill>
              <a:latin typeface="Century Gothic" panose="020B0502020202020204" pitchFamily="34" charset="0"/>
            </a:rPr>
            <a:t>is </a:t>
          </a:r>
          <a:r>
            <a:rPr lang="en-US" sz="1500" b="1" dirty="0">
              <a:solidFill>
                <a:sysClr val="windowText" lastClr="000000"/>
              </a:solidFill>
              <a:latin typeface="Century Gothic" panose="020B0502020202020204" pitchFamily="34" charset="0"/>
            </a:rPr>
            <a:t>“inclusive or” </a:t>
          </a:r>
          <a:r>
            <a:rPr lang="en-US" sz="1500" dirty="0">
              <a:solidFill>
                <a:sysClr val="windowText" lastClr="000000"/>
              </a:solidFill>
              <a:latin typeface="Century Gothic" panose="020B0502020202020204" pitchFamily="34" charset="0"/>
            </a:rPr>
            <a:t>when either p or q or both are true.</a:t>
          </a:r>
          <a:endParaRPr lang="en-IN" sz="1500" dirty="0">
            <a:solidFill>
              <a:sysClr val="windowText" lastClr="000000"/>
            </a:solidFill>
            <a:latin typeface="Century Gothic" panose="020B0502020202020204" pitchFamily="34" charset="0"/>
          </a:endParaRPr>
        </a:p>
      </dgm:t>
    </dgm:pt>
    <dgm:pt modelId="{37777BAB-EB02-4ADE-A7F2-244047ECA33B}" type="parTrans" cxnId="{90682070-BE02-4277-A67A-ACD751F7CFC3}">
      <dgm:prSet/>
      <dgm:spPr/>
      <dgm:t>
        <a:bodyPr/>
        <a:lstStyle/>
        <a:p>
          <a:endParaRPr lang="en-IN"/>
        </a:p>
      </dgm:t>
    </dgm:pt>
    <dgm:pt modelId="{D75BA25C-EF50-4C52-8479-C76B637313B6}" type="sibTrans" cxnId="{90682070-BE02-4277-A67A-ACD751F7CFC3}">
      <dgm:prSet/>
      <dgm:spPr/>
      <dgm:t>
        <a:bodyPr/>
        <a:lstStyle/>
        <a:p>
          <a:endParaRPr lang="en-IN"/>
        </a:p>
      </dgm:t>
    </dgm:pt>
    <dgm:pt modelId="{58046900-82F2-4E19-8847-DB407A1FEEE1}" type="pres">
      <dgm:prSet presAssocID="{84922510-F597-4992-8D47-0586F8365CDA}" presName="CompostProcess" presStyleCnt="0">
        <dgm:presLayoutVars>
          <dgm:dir/>
          <dgm:resizeHandles val="exact"/>
        </dgm:presLayoutVars>
      </dgm:prSet>
      <dgm:spPr/>
    </dgm:pt>
    <dgm:pt modelId="{BAE60E79-C556-4DFB-B96A-BDF9220ACAE2}" type="pres">
      <dgm:prSet presAssocID="{84922510-F597-4992-8D47-0586F8365CDA}" presName="arrow" presStyleLbl="bgShp" presStyleIdx="0" presStyleCnt="1"/>
      <dgm:spPr>
        <a:solidFill>
          <a:srgbClr val="2C2C2B"/>
        </a:solidFill>
      </dgm:spPr>
    </dgm:pt>
    <dgm:pt modelId="{6E99A79D-20CC-4127-B97C-2DD3FC4A38D6}" type="pres">
      <dgm:prSet presAssocID="{84922510-F597-4992-8D47-0586F8365CDA}" presName="linearProcess" presStyleCnt="0"/>
      <dgm:spPr/>
    </dgm:pt>
    <dgm:pt modelId="{7A9AEC6B-FBA2-4A76-B69B-C0EA825D7D85}" type="pres">
      <dgm:prSet presAssocID="{024BBD71-A6CC-400B-86DB-BB7A97B70CD5}" presName="textNode" presStyleLbl="node1" presStyleIdx="0" presStyleCnt="1" custScaleX="171123">
        <dgm:presLayoutVars>
          <dgm:bulletEnabled val="1"/>
        </dgm:presLayoutVars>
      </dgm:prSet>
      <dgm:spPr/>
    </dgm:pt>
  </dgm:ptLst>
  <dgm:cxnLst>
    <dgm:cxn modelId="{68B35460-548E-4863-897D-58B75412369A}" type="presOf" srcId="{024BBD71-A6CC-400B-86DB-BB7A97B70CD5}" destId="{7A9AEC6B-FBA2-4A76-B69B-C0EA825D7D85}" srcOrd="0" destOrd="0" presId="urn:microsoft.com/office/officeart/2005/8/layout/hProcess9"/>
    <dgm:cxn modelId="{90682070-BE02-4277-A67A-ACD751F7CFC3}" srcId="{84922510-F597-4992-8D47-0586F8365CDA}" destId="{024BBD71-A6CC-400B-86DB-BB7A97B70CD5}" srcOrd="0" destOrd="0" parTransId="{37777BAB-EB02-4ADE-A7F2-244047ECA33B}" sibTransId="{D75BA25C-EF50-4C52-8479-C76B637313B6}"/>
    <dgm:cxn modelId="{742F7C55-BB9E-4561-A6FE-D4A2D68295D6}" type="presOf" srcId="{84922510-F597-4992-8D47-0586F8365CDA}" destId="{58046900-82F2-4E19-8847-DB407A1FEEE1}" srcOrd="0" destOrd="0" presId="urn:microsoft.com/office/officeart/2005/8/layout/hProcess9"/>
    <dgm:cxn modelId="{0663E198-20D6-40A2-9AFA-4A92D51A008C}" type="presParOf" srcId="{58046900-82F2-4E19-8847-DB407A1FEEE1}" destId="{BAE60E79-C556-4DFB-B96A-BDF9220ACAE2}" srcOrd="0" destOrd="0" presId="urn:microsoft.com/office/officeart/2005/8/layout/hProcess9"/>
    <dgm:cxn modelId="{40EADC2B-E11C-4D3A-A3AD-787EB28EA67D}" type="presParOf" srcId="{58046900-82F2-4E19-8847-DB407A1FEEE1}" destId="{6E99A79D-20CC-4127-B97C-2DD3FC4A38D6}" srcOrd="1" destOrd="0" presId="urn:microsoft.com/office/officeart/2005/8/layout/hProcess9"/>
    <dgm:cxn modelId="{C4277779-C424-4ACF-92F3-4AF32A04F4B5}" type="presParOf" srcId="{6E99A79D-20CC-4127-B97C-2DD3FC4A38D6}" destId="{7A9AEC6B-FBA2-4A76-B69B-C0EA825D7D85}" srcOrd="0"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D594CFE2-E2A2-4ED2-AD22-625E26435E2D}" type="doc">
      <dgm:prSet loTypeId="urn:microsoft.com/office/officeart/2005/8/layout/vList2" loCatId="list" qsTypeId="urn:microsoft.com/office/officeart/2005/8/quickstyle/simple4" qsCatId="simple" csTypeId="urn:microsoft.com/office/officeart/2005/8/colors/accent0_1" csCatId="mainScheme"/>
      <dgm:spPr/>
      <dgm:t>
        <a:bodyPr/>
        <a:lstStyle/>
        <a:p>
          <a:endParaRPr lang="en-US"/>
        </a:p>
      </dgm:t>
    </dgm:pt>
    <dgm:pt modelId="{14AAF7C0-E20A-41A0-9FE3-CB24FC192634}">
      <dgm:prSet custT="1"/>
      <dgm:spPr/>
      <dgm:t>
        <a:bodyPr/>
        <a:lstStyle/>
        <a:p>
          <a:pPr rtl="0"/>
          <a:r>
            <a:rPr lang="en-US" sz="1600" dirty="0">
              <a:latin typeface="Century Gothic" panose="020B0502020202020204" pitchFamily="34" charset="0"/>
            </a:rPr>
            <a:t>In ordinary language, it is customary to assume some kind of relationship between the hypothesis and the conclusion in using the conditional, but in logic, the hypothesis and the conclusion are not required to refer to the same subject matter.</a:t>
          </a:r>
        </a:p>
      </dgm:t>
    </dgm:pt>
    <dgm:pt modelId="{1DC71C11-CBE8-434D-85CC-D88517AD8339}" type="parTrans" cxnId="{3166D4C7-EAD7-485B-B6D4-0415454B38D9}">
      <dgm:prSet/>
      <dgm:spPr/>
      <dgm:t>
        <a:bodyPr/>
        <a:lstStyle/>
        <a:p>
          <a:endParaRPr lang="en-US"/>
        </a:p>
      </dgm:t>
    </dgm:pt>
    <dgm:pt modelId="{EE104F02-1FFB-496E-AE9B-AEB70B4EA5E8}" type="sibTrans" cxnId="{3166D4C7-EAD7-485B-B6D4-0415454B38D9}">
      <dgm:prSet/>
      <dgm:spPr/>
      <dgm:t>
        <a:bodyPr/>
        <a:lstStyle/>
        <a:p>
          <a:endParaRPr lang="en-US"/>
        </a:p>
      </dgm:t>
    </dgm:pt>
    <dgm:pt modelId="{DCC7E1DB-703C-41A9-AF37-7EF12D69FAD3}">
      <dgm:prSet/>
      <dgm:spPr/>
      <dgm:t>
        <a:bodyPr/>
        <a:lstStyle/>
        <a:p>
          <a:pPr rtl="0"/>
          <a:r>
            <a:rPr lang="en-US" b="1">
              <a:latin typeface="Century Gothic" panose="020B0502020202020204" pitchFamily="34" charset="0"/>
            </a:rPr>
            <a:t>For example, </a:t>
          </a:r>
          <a:r>
            <a:rPr lang="en-US">
              <a:latin typeface="Century Gothic" panose="020B0502020202020204" pitchFamily="34" charset="0"/>
            </a:rPr>
            <a:t>The statement </a:t>
          </a:r>
          <a:r>
            <a:rPr lang="en-US" b="1">
              <a:latin typeface="Century Gothic" panose="020B0502020202020204" pitchFamily="34" charset="0"/>
            </a:rPr>
            <a:t>“If I get the money, then I will buy the computer” </a:t>
          </a:r>
          <a:r>
            <a:rPr lang="en-US">
              <a:latin typeface="Century Gothic" panose="020B0502020202020204" pitchFamily="34" charset="0"/>
            </a:rPr>
            <a:t>sounds reasonable. </a:t>
          </a:r>
        </a:p>
      </dgm:t>
    </dgm:pt>
    <dgm:pt modelId="{D15DD2AD-09A6-486E-85EF-D737B4220431}" type="parTrans" cxnId="{0875B89C-88C4-48F7-BB6D-B1739451D38B}">
      <dgm:prSet/>
      <dgm:spPr/>
      <dgm:t>
        <a:bodyPr/>
        <a:lstStyle/>
        <a:p>
          <a:endParaRPr lang="en-US"/>
        </a:p>
      </dgm:t>
    </dgm:pt>
    <dgm:pt modelId="{70E661E7-4BE8-40EF-A813-3FE7EB0B5753}" type="sibTrans" cxnId="{0875B89C-88C4-48F7-BB6D-B1739451D38B}">
      <dgm:prSet/>
      <dgm:spPr/>
      <dgm:t>
        <a:bodyPr/>
        <a:lstStyle/>
        <a:p>
          <a:endParaRPr lang="en-US"/>
        </a:p>
      </dgm:t>
    </dgm:pt>
    <dgm:pt modelId="{B3240E47-18DC-40D9-BFC8-4C46B626D0EB}">
      <dgm:prSet/>
      <dgm:spPr/>
      <dgm:t>
        <a:bodyPr/>
        <a:lstStyle/>
        <a:p>
          <a:pPr rtl="0"/>
          <a:r>
            <a:rPr lang="en-US" dirty="0">
              <a:latin typeface="Century Gothic" panose="020B0502020202020204" pitchFamily="34" charset="0"/>
            </a:rPr>
            <a:t>On the other hand, a statement such as </a:t>
          </a:r>
          <a:r>
            <a:rPr lang="en-US" b="1" dirty="0">
              <a:latin typeface="Century Gothic" panose="020B0502020202020204" pitchFamily="34" charset="0"/>
            </a:rPr>
            <a:t>“ If I get the money then this book is red” </a:t>
          </a:r>
          <a:r>
            <a:rPr lang="en-US" dirty="0">
              <a:latin typeface="Century Gothic" panose="020B0502020202020204" pitchFamily="34" charset="0"/>
            </a:rPr>
            <a:t>does not make sense to us in our convention language. </a:t>
          </a:r>
        </a:p>
      </dgm:t>
    </dgm:pt>
    <dgm:pt modelId="{B12D2EC9-A1D0-497D-AC29-1D9BFFEFAD20}" type="parTrans" cxnId="{DBF4A610-F497-4009-B8E7-49D68D58A4F7}">
      <dgm:prSet/>
      <dgm:spPr/>
      <dgm:t>
        <a:bodyPr/>
        <a:lstStyle/>
        <a:p>
          <a:endParaRPr lang="en-US"/>
        </a:p>
      </dgm:t>
    </dgm:pt>
    <dgm:pt modelId="{D2564042-5C44-4438-9925-B5F59ADEC85D}" type="sibTrans" cxnId="{DBF4A610-F497-4009-B8E7-49D68D58A4F7}">
      <dgm:prSet/>
      <dgm:spPr/>
      <dgm:t>
        <a:bodyPr/>
        <a:lstStyle/>
        <a:p>
          <a:endParaRPr lang="en-US"/>
        </a:p>
      </dgm:t>
    </dgm:pt>
    <dgm:pt modelId="{6C7B2234-AB1D-42A9-9A25-68E9C78E13FB}">
      <dgm:prSet/>
      <dgm:spPr/>
      <dgm:t>
        <a:bodyPr/>
        <a:lstStyle/>
        <a:p>
          <a:pPr rtl="0"/>
          <a:r>
            <a:rPr lang="en-US">
              <a:latin typeface="Century Gothic" panose="020B0502020202020204" pitchFamily="34" charset="0"/>
            </a:rPr>
            <a:t>But according to the definition of conditional, the statement is perfectly acceptable and has a truth value, which depends on the truth values of the statements being connected. </a:t>
          </a:r>
        </a:p>
      </dgm:t>
    </dgm:pt>
    <dgm:pt modelId="{7A9DF136-BC7C-4931-B7B9-67BCFDE655D6}" type="parTrans" cxnId="{A6CD57B0-6F5D-44FD-BC27-D3FE234C2348}">
      <dgm:prSet/>
      <dgm:spPr/>
      <dgm:t>
        <a:bodyPr/>
        <a:lstStyle/>
        <a:p>
          <a:endParaRPr lang="en-US"/>
        </a:p>
      </dgm:t>
    </dgm:pt>
    <dgm:pt modelId="{D832B71D-E754-4C54-AA3A-F85E09635265}" type="sibTrans" cxnId="{A6CD57B0-6F5D-44FD-BC27-D3FE234C2348}">
      <dgm:prSet/>
      <dgm:spPr/>
      <dgm:t>
        <a:bodyPr/>
        <a:lstStyle/>
        <a:p>
          <a:endParaRPr lang="en-US"/>
        </a:p>
      </dgm:t>
    </dgm:pt>
    <dgm:pt modelId="{50E8AD83-453B-4C71-9ECA-B6F234844125}">
      <dgm:prSet/>
      <dgm:spPr/>
      <dgm:t>
        <a:bodyPr/>
        <a:lstStyle/>
        <a:p>
          <a:pPr rtl="0"/>
          <a:r>
            <a:rPr lang="en-US" dirty="0">
              <a:latin typeface="Century Gothic" panose="020B0502020202020204" pitchFamily="34" charset="0"/>
            </a:rPr>
            <a:t>Thus the logic is concerned with the form of propositions to each other and not with the subject matter itself.</a:t>
          </a:r>
        </a:p>
      </dgm:t>
    </dgm:pt>
    <dgm:pt modelId="{601CF4A3-FD2D-4890-A8DC-BBAA4EF45627}" type="parTrans" cxnId="{E6AC65CC-93BB-4931-9799-E0E39BB41845}">
      <dgm:prSet/>
      <dgm:spPr/>
      <dgm:t>
        <a:bodyPr/>
        <a:lstStyle/>
        <a:p>
          <a:endParaRPr lang="en-US"/>
        </a:p>
      </dgm:t>
    </dgm:pt>
    <dgm:pt modelId="{3F7646E3-EF37-4BC1-AE1B-B168A55D2800}" type="sibTrans" cxnId="{E6AC65CC-93BB-4931-9799-E0E39BB41845}">
      <dgm:prSet/>
      <dgm:spPr/>
      <dgm:t>
        <a:bodyPr/>
        <a:lstStyle/>
        <a:p>
          <a:endParaRPr lang="en-US"/>
        </a:p>
      </dgm:t>
    </dgm:pt>
    <dgm:pt modelId="{774F8895-F0FA-48BC-BD86-E1168C305F2E}" type="pres">
      <dgm:prSet presAssocID="{D594CFE2-E2A2-4ED2-AD22-625E26435E2D}" presName="linear" presStyleCnt="0">
        <dgm:presLayoutVars>
          <dgm:animLvl val="lvl"/>
          <dgm:resizeHandles val="exact"/>
        </dgm:presLayoutVars>
      </dgm:prSet>
      <dgm:spPr/>
    </dgm:pt>
    <dgm:pt modelId="{C10DAB9C-4FAD-4D0A-8485-0CE4726ADA34}" type="pres">
      <dgm:prSet presAssocID="{14AAF7C0-E20A-41A0-9FE3-CB24FC192634}" presName="parentText" presStyleLbl="node1" presStyleIdx="0" presStyleCnt="1">
        <dgm:presLayoutVars>
          <dgm:chMax val="0"/>
          <dgm:bulletEnabled val="1"/>
        </dgm:presLayoutVars>
      </dgm:prSet>
      <dgm:spPr/>
    </dgm:pt>
    <dgm:pt modelId="{63302578-3131-4A61-8CEE-017C289905AE}" type="pres">
      <dgm:prSet presAssocID="{14AAF7C0-E20A-41A0-9FE3-CB24FC192634}" presName="childText" presStyleLbl="revTx" presStyleIdx="0" presStyleCnt="1">
        <dgm:presLayoutVars>
          <dgm:bulletEnabled val="1"/>
        </dgm:presLayoutVars>
      </dgm:prSet>
      <dgm:spPr/>
    </dgm:pt>
  </dgm:ptLst>
  <dgm:cxnLst>
    <dgm:cxn modelId="{DBF4A610-F497-4009-B8E7-49D68D58A4F7}" srcId="{14AAF7C0-E20A-41A0-9FE3-CB24FC192634}" destId="{B3240E47-18DC-40D9-BFC8-4C46B626D0EB}" srcOrd="1" destOrd="0" parTransId="{B12D2EC9-A1D0-497D-AC29-1D9BFFEFAD20}" sibTransId="{D2564042-5C44-4438-9925-B5F59ADEC85D}"/>
    <dgm:cxn modelId="{43D2A43C-63DA-408F-87F0-DDE3DF098EC5}" type="presOf" srcId="{50E8AD83-453B-4C71-9ECA-B6F234844125}" destId="{63302578-3131-4A61-8CEE-017C289905AE}" srcOrd="0" destOrd="3" presId="urn:microsoft.com/office/officeart/2005/8/layout/vList2"/>
    <dgm:cxn modelId="{14DF6549-57BB-4EA6-895E-521B9B822B3C}" type="presOf" srcId="{DCC7E1DB-703C-41A9-AF37-7EF12D69FAD3}" destId="{63302578-3131-4A61-8CEE-017C289905AE}" srcOrd="0" destOrd="0" presId="urn:microsoft.com/office/officeart/2005/8/layout/vList2"/>
    <dgm:cxn modelId="{F5C35B73-12A0-40A1-AB8D-3006043897E0}" type="presOf" srcId="{6C7B2234-AB1D-42A9-9A25-68E9C78E13FB}" destId="{63302578-3131-4A61-8CEE-017C289905AE}" srcOrd="0" destOrd="2" presId="urn:microsoft.com/office/officeart/2005/8/layout/vList2"/>
    <dgm:cxn modelId="{0875B89C-88C4-48F7-BB6D-B1739451D38B}" srcId="{14AAF7C0-E20A-41A0-9FE3-CB24FC192634}" destId="{DCC7E1DB-703C-41A9-AF37-7EF12D69FAD3}" srcOrd="0" destOrd="0" parTransId="{D15DD2AD-09A6-486E-85EF-D737B4220431}" sibTransId="{70E661E7-4BE8-40EF-A813-3FE7EB0B5753}"/>
    <dgm:cxn modelId="{A6CD57B0-6F5D-44FD-BC27-D3FE234C2348}" srcId="{14AAF7C0-E20A-41A0-9FE3-CB24FC192634}" destId="{6C7B2234-AB1D-42A9-9A25-68E9C78E13FB}" srcOrd="2" destOrd="0" parTransId="{7A9DF136-BC7C-4931-B7B9-67BCFDE655D6}" sibTransId="{D832B71D-E754-4C54-AA3A-F85E09635265}"/>
    <dgm:cxn modelId="{AB0241B7-EFFF-42EA-9C84-5B4EFB72AE23}" type="presOf" srcId="{B3240E47-18DC-40D9-BFC8-4C46B626D0EB}" destId="{63302578-3131-4A61-8CEE-017C289905AE}" srcOrd="0" destOrd="1" presId="urn:microsoft.com/office/officeart/2005/8/layout/vList2"/>
    <dgm:cxn modelId="{5F1DB0BC-E11A-438D-AE2B-8202BD432F63}" type="presOf" srcId="{14AAF7C0-E20A-41A0-9FE3-CB24FC192634}" destId="{C10DAB9C-4FAD-4D0A-8485-0CE4726ADA34}" srcOrd="0" destOrd="0" presId="urn:microsoft.com/office/officeart/2005/8/layout/vList2"/>
    <dgm:cxn modelId="{3166D4C7-EAD7-485B-B6D4-0415454B38D9}" srcId="{D594CFE2-E2A2-4ED2-AD22-625E26435E2D}" destId="{14AAF7C0-E20A-41A0-9FE3-CB24FC192634}" srcOrd="0" destOrd="0" parTransId="{1DC71C11-CBE8-434D-85CC-D88517AD8339}" sibTransId="{EE104F02-1FFB-496E-AE9B-AEB70B4EA5E8}"/>
    <dgm:cxn modelId="{E6AC65CC-93BB-4931-9799-E0E39BB41845}" srcId="{14AAF7C0-E20A-41A0-9FE3-CB24FC192634}" destId="{50E8AD83-453B-4C71-9ECA-B6F234844125}" srcOrd="3" destOrd="0" parTransId="{601CF4A3-FD2D-4890-A8DC-BBAA4EF45627}" sibTransId="{3F7646E3-EF37-4BC1-AE1B-B168A55D2800}"/>
    <dgm:cxn modelId="{C78FA6D4-B2FC-4636-80C9-B3975E50000A}" type="presOf" srcId="{D594CFE2-E2A2-4ED2-AD22-625E26435E2D}" destId="{774F8895-F0FA-48BC-BD86-E1168C305F2E}" srcOrd="0" destOrd="0" presId="urn:microsoft.com/office/officeart/2005/8/layout/vList2"/>
    <dgm:cxn modelId="{4BEB3B34-96B1-484B-8BA3-D86D41550E6E}" type="presParOf" srcId="{774F8895-F0FA-48BC-BD86-E1168C305F2E}" destId="{C10DAB9C-4FAD-4D0A-8485-0CE4726ADA34}" srcOrd="0" destOrd="0" presId="urn:microsoft.com/office/officeart/2005/8/layout/vList2"/>
    <dgm:cxn modelId="{08710481-52B7-428F-8BD7-CCA30EB4AF4D}" type="presParOf" srcId="{774F8895-F0FA-48BC-BD86-E1168C305F2E}" destId="{63302578-3131-4A61-8CEE-017C289905AE}"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27E43722-6B7C-4180-BD3C-D13166B7ADA8}" type="doc">
      <dgm:prSet loTypeId="urn:microsoft.com/office/officeart/2005/8/layout/hProcess9" loCatId="process" qsTypeId="urn:microsoft.com/office/officeart/2005/8/quickstyle/simple4" qsCatId="simple" csTypeId="urn:microsoft.com/office/officeart/2005/8/colors/accent1_2" csCatId="accent1" phldr="1"/>
      <dgm:spPr/>
    </dgm:pt>
    <dgm:pt modelId="{A7A67B85-ABDB-43F5-BBAD-923FB88B3290}">
      <dgm:prSet phldrT="[Text]" custT="1"/>
      <dgm:spPr>
        <a:solidFill>
          <a:schemeClr val="bg1"/>
        </a:solidFill>
        <a:ln w="28575">
          <a:solidFill>
            <a:srgbClr val="FFCC01"/>
          </a:solidFill>
        </a:ln>
      </dgm:spPr>
      <dgm:t>
        <a:bodyPr/>
        <a:lstStyle/>
        <a:p>
          <a:pPr algn="just"/>
          <a:r>
            <a:rPr lang="en-US" sz="1500" dirty="0">
              <a:solidFill>
                <a:schemeClr val="tx1"/>
              </a:solidFill>
              <a:latin typeface="Century Gothic" panose="020B0502020202020204" pitchFamily="34" charset="0"/>
            </a:rPr>
            <a:t>To understand better, implication can be looked as a conditional promise. If the promise is broken, the implication is false; otherwise it is true. For this reason, the only circumstance under which the implication p → q is false when p is true and q is false.</a:t>
          </a:r>
          <a:endParaRPr lang="en-IN" sz="1500" dirty="0">
            <a:solidFill>
              <a:schemeClr val="tx1"/>
            </a:solidFill>
            <a:latin typeface="Century Gothic" panose="020B0502020202020204" pitchFamily="34" charset="0"/>
          </a:endParaRPr>
        </a:p>
      </dgm:t>
    </dgm:pt>
    <dgm:pt modelId="{A7DF5904-3419-4A06-8067-F9D60A3C0A17}" type="parTrans" cxnId="{689F9A72-22F7-44EC-AAA3-92CE8D80049F}">
      <dgm:prSet/>
      <dgm:spPr/>
      <dgm:t>
        <a:bodyPr/>
        <a:lstStyle/>
        <a:p>
          <a:endParaRPr lang="en-IN"/>
        </a:p>
      </dgm:t>
    </dgm:pt>
    <dgm:pt modelId="{14269AC4-9AE2-40BC-959F-B510F60DAD16}" type="sibTrans" cxnId="{689F9A72-22F7-44EC-AAA3-92CE8D80049F}">
      <dgm:prSet/>
      <dgm:spPr/>
      <dgm:t>
        <a:bodyPr/>
        <a:lstStyle/>
        <a:p>
          <a:endParaRPr lang="en-IN"/>
        </a:p>
      </dgm:t>
    </dgm:pt>
    <dgm:pt modelId="{69579E4B-BFE5-4C78-86CA-3D6E56D47B30}" type="pres">
      <dgm:prSet presAssocID="{27E43722-6B7C-4180-BD3C-D13166B7ADA8}" presName="CompostProcess" presStyleCnt="0">
        <dgm:presLayoutVars>
          <dgm:dir/>
          <dgm:resizeHandles val="exact"/>
        </dgm:presLayoutVars>
      </dgm:prSet>
      <dgm:spPr/>
    </dgm:pt>
    <dgm:pt modelId="{BCEA0463-F665-4B33-A5F7-B6FF83A60FF7}" type="pres">
      <dgm:prSet presAssocID="{27E43722-6B7C-4180-BD3C-D13166B7ADA8}" presName="arrow" presStyleLbl="bgShp" presStyleIdx="0" presStyleCnt="1"/>
      <dgm:spPr>
        <a:solidFill>
          <a:srgbClr val="2C2C2C"/>
        </a:solidFill>
      </dgm:spPr>
    </dgm:pt>
    <dgm:pt modelId="{0C81770B-BF13-45A4-885F-8E50EFC15D86}" type="pres">
      <dgm:prSet presAssocID="{27E43722-6B7C-4180-BD3C-D13166B7ADA8}" presName="linearProcess" presStyleCnt="0"/>
      <dgm:spPr/>
    </dgm:pt>
    <dgm:pt modelId="{D1680804-83BD-445B-9BC5-AEC16AF4FDC2}" type="pres">
      <dgm:prSet presAssocID="{A7A67B85-ABDB-43F5-BBAD-923FB88B3290}" presName="textNode" presStyleLbl="node1" presStyleIdx="0" presStyleCnt="1" custScaleX="146410">
        <dgm:presLayoutVars>
          <dgm:bulletEnabled val="1"/>
        </dgm:presLayoutVars>
      </dgm:prSet>
      <dgm:spPr/>
    </dgm:pt>
  </dgm:ptLst>
  <dgm:cxnLst>
    <dgm:cxn modelId="{AF42EC32-CB83-487F-8342-23F94CB2427A}" type="presOf" srcId="{A7A67B85-ABDB-43F5-BBAD-923FB88B3290}" destId="{D1680804-83BD-445B-9BC5-AEC16AF4FDC2}" srcOrd="0" destOrd="0" presId="urn:microsoft.com/office/officeart/2005/8/layout/hProcess9"/>
    <dgm:cxn modelId="{689F9A72-22F7-44EC-AAA3-92CE8D80049F}" srcId="{27E43722-6B7C-4180-BD3C-D13166B7ADA8}" destId="{A7A67B85-ABDB-43F5-BBAD-923FB88B3290}" srcOrd="0" destOrd="0" parTransId="{A7DF5904-3419-4A06-8067-F9D60A3C0A17}" sibTransId="{14269AC4-9AE2-40BC-959F-B510F60DAD16}"/>
    <dgm:cxn modelId="{EF564A91-FEBD-4E24-B98E-3DFBAD6F9A99}" type="presOf" srcId="{27E43722-6B7C-4180-BD3C-D13166B7ADA8}" destId="{69579E4B-BFE5-4C78-86CA-3D6E56D47B30}" srcOrd="0" destOrd="0" presId="urn:microsoft.com/office/officeart/2005/8/layout/hProcess9"/>
    <dgm:cxn modelId="{319F53CB-1807-45A5-BB04-AE84B023AE6F}" type="presParOf" srcId="{69579E4B-BFE5-4C78-86CA-3D6E56D47B30}" destId="{BCEA0463-F665-4B33-A5F7-B6FF83A60FF7}" srcOrd="0" destOrd="0" presId="urn:microsoft.com/office/officeart/2005/8/layout/hProcess9"/>
    <dgm:cxn modelId="{8ED4CF68-99E0-46F1-B476-C38DE25A653A}" type="presParOf" srcId="{69579E4B-BFE5-4C78-86CA-3D6E56D47B30}" destId="{0C81770B-BF13-45A4-885F-8E50EFC15D86}" srcOrd="1" destOrd="0" presId="urn:microsoft.com/office/officeart/2005/8/layout/hProcess9"/>
    <dgm:cxn modelId="{53E11BE2-6A09-4792-81BD-B174B626F364}" type="presParOf" srcId="{0C81770B-BF13-45A4-885F-8E50EFC15D86}" destId="{D1680804-83BD-445B-9BC5-AEC16AF4FDC2}" srcOrd="0"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E60E79-C556-4DFB-B96A-BDF9220ACAE2}">
      <dsp:nvSpPr>
        <dsp:cNvPr id="0" name=""/>
        <dsp:cNvSpPr/>
      </dsp:nvSpPr>
      <dsp:spPr>
        <a:xfrm>
          <a:off x="800099" y="0"/>
          <a:ext cx="9067800" cy="4876800"/>
        </a:xfrm>
        <a:prstGeom prst="rightArrow">
          <a:avLst/>
        </a:prstGeom>
        <a:solidFill>
          <a:srgbClr val="2C2C2B"/>
        </a:solidFill>
        <a:ln>
          <a:noFill/>
        </a:ln>
        <a:effectLst/>
      </dsp:spPr>
      <dsp:style>
        <a:lnRef idx="0">
          <a:scrgbClr r="0" g="0" b="0"/>
        </a:lnRef>
        <a:fillRef idx="1">
          <a:scrgbClr r="0" g="0" b="0"/>
        </a:fillRef>
        <a:effectRef idx="2">
          <a:scrgbClr r="0" g="0" b="0"/>
        </a:effectRef>
        <a:fontRef idx="minor"/>
      </dsp:style>
    </dsp:sp>
    <dsp:sp modelId="{7A9AEC6B-FBA2-4A76-B69B-C0EA825D7D85}">
      <dsp:nvSpPr>
        <dsp:cNvPr id="0" name=""/>
        <dsp:cNvSpPr/>
      </dsp:nvSpPr>
      <dsp:spPr>
        <a:xfrm>
          <a:off x="199668" y="1010375"/>
          <a:ext cx="10268663" cy="2856049"/>
        </a:xfrm>
        <a:prstGeom prst="roundRect">
          <a:avLst/>
        </a:prstGeom>
        <a:solidFill>
          <a:schemeClr val="bg1"/>
        </a:solidFill>
        <a:ln w="19050">
          <a:solidFill>
            <a:srgbClr val="FCC800"/>
          </a:solidFill>
        </a:ln>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just" defTabSz="666750">
            <a:lnSpc>
              <a:spcPct val="90000"/>
            </a:lnSpc>
            <a:spcBef>
              <a:spcPct val="0"/>
            </a:spcBef>
            <a:spcAft>
              <a:spcPct val="35000"/>
            </a:spcAft>
            <a:buNone/>
          </a:pPr>
          <a:r>
            <a:rPr lang="en-US" sz="1500" kern="1200" dirty="0">
              <a:solidFill>
                <a:sysClr val="windowText" lastClr="000000"/>
              </a:solidFill>
              <a:latin typeface="Century Gothic" panose="020B0502020202020204" pitchFamily="34" charset="0"/>
            </a:rPr>
            <a:t>Logic  is concerned with methods of reasoning. Logical reasoning is the essence of mathematics and is therefore an important starting point for study of discrete mathematics. Logic among other things have provided the theoretical basis for many areas of computer science such as digital logic design, automata theory and computability, and artificial intelligence etc. One component of logic is proposition calculus which deals with statements with value true and false and is concerned with analysis of propositions.  The other component is predicate calculus which deals with the predicates which are propositions containing variables.</a:t>
          </a:r>
          <a:endParaRPr lang="en-IN" sz="1500" kern="1200" dirty="0">
            <a:solidFill>
              <a:sysClr val="windowText" lastClr="000000"/>
            </a:solidFill>
            <a:latin typeface="Century Gothic" panose="020B0502020202020204" pitchFamily="34" charset="0"/>
          </a:endParaRPr>
        </a:p>
      </dsp:txBody>
      <dsp:txXfrm>
        <a:off x="339089" y="1149796"/>
        <a:ext cx="9989821" cy="257720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C17BBC1-252A-4835-A273-1054F37F6DF6}">
      <dsp:nvSpPr>
        <dsp:cNvPr id="0" name=""/>
        <dsp:cNvSpPr/>
      </dsp:nvSpPr>
      <dsp:spPr>
        <a:xfrm>
          <a:off x="4072" y="830768"/>
          <a:ext cx="4827073" cy="3221422"/>
        </a:xfrm>
        <a:prstGeom prst="roundRect">
          <a:avLst>
            <a:gd name="adj" fmla="val 10000"/>
          </a:avLst>
        </a:prstGeom>
        <a:solidFill>
          <a:srgbClr val="2C2C2C"/>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dirty="0">
              <a:latin typeface="Century Gothic" panose="020B0502020202020204" pitchFamily="34" charset="0"/>
            </a:rPr>
            <a:t>A proposition consisting of only a single propositional variable or a single propositional constant is called an atomic (primary, primitive) proposition or simply proposition, i.e. they can not be further subdivided.</a:t>
          </a:r>
          <a:endParaRPr lang="en-IN" sz="1500" kern="1200" dirty="0">
            <a:latin typeface="Century Gothic" panose="020B0502020202020204" pitchFamily="34" charset="0"/>
          </a:endParaRPr>
        </a:p>
      </dsp:txBody>
      <dsp:txXfrm>
        <a:off x="98424" y="925120"/>
        <a:ext cx="4638369" cy="3032718"/>
      </dsp:txXfrm>
    </dsp:sp>
    <dsp:sp modelId="{0CA4EF3D-3E01-4794-8B11-6CF6CB2A77D7}">
      <dsp:nvSpPr>
        <dsp:cNvPr id="0" name=""/>
        <dsp:cNvSpPr/>
      </dsp:nvSpPr>
      <dsp:spPr>
        <a:xfrm>
          <a:off x="5153852" y="2159128"/>
          <a:ext cx="777430" cy="564702"/>
        </a:xfrm>
        <a:prstGeom prst="rightArrow">
          <a:avLst>
            <a:gd name="adj1" fmla="val 60000"/>
            <a:gd name="adj2" fmla="val 50000"/>
          </a:avLst>
        </a:prstGeom>
        <a:solidFill>
          <a:srgbClr val="FFCC0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111250">
            <a:lnSpc>
              <a:spcPct val="90000"/>
            </a:lnSpc>
            <a:spcBef>
              <a:spcPct val="0"/>
            </a:spcBef>
            <a:spcAft>
              <a:spcPct val="35000"/>
            </a:spcAft>
            <a:buNone/>
          </a:pPr>
          <a:endParaRPr lang="en-IN" sz="2500" kern="1200"/>
        </a:p>
      </dsp:txBody>
      <dsp:txXfrm>
        <a:off x="5153852" y="2272068"/>
        <a:ext cx="608019" cy="338822"/>
      </dsp:txXfrm>
    </dsp:sp>
    <dsp:sp modelId="{1D0BE04E-C26E-4A45-B3D3-A3A81F3707C3}">
      <dsp:nvSpPr>
        <dsp:cNvPr id="0" name=""/>
        <dsp:cNvSpPr/>
      </dsp:nvSpPr>
      <dsp:spPr>
        <a:xfrm>
          <a:off x="6297995" y="830768"/>
          <a:ext cx="4365932" cy="3221422"/>
        </a:xfrm>
        <a:prstGeom prst="roundRect">
          <a:avLst>
            <a:gd name="adj" fmla="val 10000"/>
          </a:avLst>
        </a:prstGeom>
        <a:solidFill>
          <a:srgbClr val="2C2C2C"/>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dirty="0">
              <a:latin typeface="Century Gothic" panose="020B0502020202020204" pitchFamily="34" charset="0"/>
            </a:rPr>
            <a:t>A proposition obtained from the combinations of two or more propositions by means of logical operators or connectives of two or more propositions or by negating a single proposition is referred to molecular or composite or compound proposition.</a:t>
          </a:r>
          <a:endParaRPr lang="en-IN" sz="1500" kern="1200" dirty="0">
            <a:latin typeface="Century Gothic" panose="020B0502020202020204" pitchFamily="34" charset="0"/>
          </a:endParaRPr>
        </a:p>
      </dsp:txBody>
      <dsp:txXfrm>
        <a:off x="6392347" y="925120"/>
        <a:ext cx="4177228" cy="303271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E4AD81-3D33-4329-93D7-626DBF3CCB1A}">
      <dsp:nvSpPr>
        <dsp:cNvPr id="0" name=""/>
        <dsp:cNvSpPr/>
      </dsp:nvSpPr>
      <dsp:spPr>
        <a:xfrm>
          <a:off x="1239" y="2148185"/>
          <a:ext cx="4835520" cy="580429"/>
        </a:xfrm>
        <a:prstGeom prst="roundRect">
          <a:avLst>
            <a:gd name="adj" fmla="val 10000"/>
          </a:avLst>
        </a:prstGeom>
        <a:solidFill>
          <a:srgbClr val="2C2C2C"/>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2865" tIns="41910" rIns="62865" bIns="41910" numCol="1" spcCol="1270" anchor="ctr" anchorCtr="0">
          <a:noAutofit/>
        </a:bodyPr>
        <a:lstStyle/>
        <a:p>
          <a:pPr marL="0" lvl="0" indent="0" algn="ctr" defTabSz="1466850">
            <a:lnSpc>
              <a:spcPct val="90000"/>
            </a:lnSpc>
            <a:spcBef>
              <a:spcPct val="0"/>
            </a:spcBef>
            <a:spcAft>
              <a:spcPct val="35000"/>
            </a:spcAft>
            <a:buNone/>
          </a:pPr>
          <a:r>
            <a:rPr lang="en-IN" sz="3300" kern="1200" dirty="0">
              <a:latin typeface="Century Gothic" panose="020B0502020202020204" pitchFamily="34" charset="0"/>
            </a:rPr>
            <a:t>Conjunction </a:t>
          </a:r>
          <a:r>
            <a:rPr lang="en-US" sz="3300" kern="1200" dirty="0">
              <a:latin typeface="Century Gothic" panose="020B0502020202020204" pitchFamily="34" charset="0"/>
            </a:rPr>
            <a:t>and </a:t>
          </a:r>
          <a:endParaRPr lang="en-IN" sz="3300" kern="1200" dirty="0">
            <a:latin typeface="Century Gothic" panose="020B0502020202020204" pitchFamily="34" charset="0"/>
          </a:endParaRPr>
        </a:p>
      </dsp:txBody>
      <dsp:txXfrm>
        <a:off x="18239" y="2165185"/>
        <a:ext cx="4801520" cy="546429"/>
      </dsp:txXfrm>
    </dsp:sp>
    <dsp:sp modelId="{5FB2F2F0-1E0A-444D-B9FF-37DEB06EF18C}">
      <dsp:nvSpPr>
        <dsp:cNvPr id="0" name=""/>
        <dsp:cNvSpPr/>
      </dsp:nvSpPr>
      <dsp:spPr>
        <a:xfrm>
          <a:off x="5320312" y="2148185"/>
          <a:ext cx="4835520" cy="580429"/>
        </a:xfrm>
        <a:prstGeom prst="roundRect">
          <a:avLst>
            <a:gd name="adj" fmla="val 10000"/>
          </a:avLst>
        </a:prstGeom>
        <a:solidFill>
          <a:srgbClr val="2C2C2A"/>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2865" tIns="41910" rIns="62865" bIns="41910" numCol="1" spcCol="1270" anchor="ctr" anchorCtr="0">
          <a:noAutofit/>
        </a:bodyPr>
        <a:lstStyle/>
        <a:p>
          <a:pPr marL="0" lvl="0" indent="0" algn="ctr" defTabSz="1466850">
            <a:lnSpc>
              <a:spcPct val="90000"/>
            </a:lnSpc>
            <a:spcBef>
              <a:spcPct val="0"/>
            </a:spcBef>
            <a:spcAft>
              <a:spcPct val="35000"/>
            </a:spcAft>
            <a:buNone/>
          </a:pPr>
          <a:r>
            <a:rPr lang="en-IN" sz="3300" kern="1200" dirty="0">
              <a:latin typeface="Century Gothic" panose="020B0502020202020204" pitchFamily="34" charset="0"/>
            </a:rPr>
            <a:t>Disjunction</a:t>
          </a:r>
        </a:p>
      </dsp:txBody>
      <dsp:txXfrm>
        <a:off x="5337312" y="2165185"/>
        <a:ext cx="4801520" cy="54642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E60E79-C556-4DFB-B96A-BDF9220ACAE2}">
      <dsp:nvSpPr>
        <dsp:cNvPr id="0" name=""/>
        <dsp:cNvSpPr/>
      </dsp:nvSpPr>
      <dsp:spPr>
        <a:xfrm>
          <a:off x="800099" y="0"/>
          <a:ext cx="9067800" cy="4876800"/>
        </a:xfrm>
        <a:prstGeom prst="rightArrow">
          <a:avLst/>
        </a:prstGeom>
        <a:solidFill>
          <a:srgbClr val="2C2C2B"/>
        </a:solidFill>
        <a:ln>
          <a:noFill/>
        </a:ln>
        <a:effectLst/>
      </dsp:spPr>
      <dsp:style>
        <a:lnRef idx="0">
          <a:scrgbClr r="0" g="0" b="0"/>
        </a:lnRef>
        <a:fillRef idx="1">
          <a:scrgbClr r="0" g="0" b="0"/>
        </a:fillRef>
        <a:effectRef idx="2">
          <a:scrgbClr r="0" g="0" b="0"/>
        </a:effectRef>
        <a:fontRef idx="minor"/>
      </dsp:style>
    </dsp:sp>
    <dsp:sp modelId="{7A9AEC6B-FBA2-4A76-B69B-C0EA825D7D85}">
      <dsp:nvSpPr>
        <dsp:cNvPr id="0" name=""/>
        <dsp:cNvSpPr/>
      </dsp:nvSpPr>
      <dsp:spPr>
        <a:xfrm>
          <a:off x="2196352" y="1463040"/>
          <a:ext cx="6275294" cy="1950720"/>
        </a:xfrm>
        <a:prstGeom prst="roundRect">
          <a:avLst/>
        </a:prstGeom>
        <a:solidFill>
          <a:schemeClr val="bg1"/>
        </a:solidFill>
        <a:ln w="19050">
          <a:solidFill>
            <a:srgbClr val="FCC800"/>
          </a:solidFill>
        </a:ln>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just" defTabSz="666750">
            <a:lnSpc>
              <a:spcPct val="90000"/>
            </a:lnSpc>
            <a:spcBef>
              <a:spcPct val="0"/>
            </a:spcBef>
            <a:spcAft>
              <a:spcPct val="35000"/>
            </a:spcAft>
            <a:buNone/>
          </a:pPr>
          <a:r>
            <a:rPr lang="en-US" sz="1500" kern="1200" dirty="0">
              <a:solidFill>
                <a:sysClr val="windowText" lastClr="000000"/>
              </a:solidFill>
              <a:latin typeface="Century Gothic" panose="020B0502020202020204" pitchFamily="34" charset="0"/>
            </a:rPr>
            <a:t>If p and q are two statements, then conjunction of p and q is the compound statement denoted by p  ⋀ q and read as </a:t>
          </a:r>
          <a:r>
            <a:rPr lang="en-US" sz="1500" b="1" kern="1200" dirty="0">
              <a:solidFill>
                <a:sysClr val="windowText" lastClr="000000"/>
              </a:solidFill>
              <a:latin typeface="Century Gothic" panose="020B0502020202020204" pitchFamily="34" charset="0"/>
            </a:rPr>
            <a:t>“p and q”. </a:t>
          </a:r>
          <a:r>
            <a:rPr lang="en-US" sz="1500" kern="1200" dirty="0">
              <a:solidFill>
                <a:sysClr val="windowText" lastClr="000000"/>
              </a:solidFill>
              <a:latin typeface="Century Gothic" panose="020B0502020202020204" pitchFamily="34" charset="0"/>
            </a:rPr>
            <a:t>The compound statement p ⋀ q is true when both p and q are true otherwise it is false. </a:t>
          </a:r>
          <a:endParaRPr lang="en-IN" sz="1500" kern="1200" dirty="0">
            <a:solidFill>
              <a:sysClr val="windowText" lastClr="000000"/>
            </a:solidFill>
            <a:latin typeface="Century Gothic" panose="020B0502020202020204" pitchFamily="34" charset="0"/>
          </a:endParaRPr>
        </a:p>
      </dsp:txBody>
      <dsp:txXfrm>
        <a:off x="2291578" y="1558266"/>
        <a:ext cx="6084842" cy="176026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E60E79-C556-4DFB-B96A-BDF9220ACAE2}">
      <dsp:nvSpPr>
        <dsp:cNvPr id="0" name=""/>
        <dsp:cNvSpPr/>
      </dsp:nvSpPr>
      <dsp:spPr>
        <a:xfrm>
          <a:off x="800099" y="0"/>
          <a:ext cx="9067800" cy="4876800"/>
        </a:xfrm>
        <a:prstGeom prst="rightArrow">
          <a:avLst/>
        </a:prstGeom>
        <a:solidFill>
          <a:srgbClr val="2C2C2B"/>
        </a:solidFill>
        <a:ln>
          <a:noFill/>
        </a:ln>
        <a:effectLst/>
      </dsp:spPr>
      <dsp:style>
        <a:lnRef idx="0">
          <a:scrgbClr r="0" g="0" b="0"/>
        </a:lnRef>
        <a:fillRef idx="1">
          <a:scrgbClr r="0" g="0" b="0"/>
        </a:fillRef>
        <a:effectRef idx="2">
          <a:scrgbClr r="0" g="0" b="0"/>
        </a:effectRef>
        <a:fontRef idx="minor"/>
      </dsp:style>
    </dsp:sp>
    <dsp:sp modelId="{7A9AEC6B-FBA2-4A76-B69B-C0EA825D7D85}">
      <dsp:nvSpPr>
        <dsp:cNvPr id="0" name=""/>
        <dsp:cNvSpPr/>
      </dsp:nvSpPr>
      <dsp:spPr>
        <a:xfrm>
          <a:off x="1797015" y="1463040"/>
          <a:ext cx="7073968" cy="1950720"/>
        </a:xfrm>
        <a:prstGeom prst="roundRect">
          <a:avLst/>
        </a:prstGeom>
        <a:solidFill>
          <a:schemeClr val="bg1"/>
        </a:solidFill>
        <a:ln w="19050">
          <a:solidFill>
            <a:srgbClr val="FCC800"/>
          </a:solidFill>
        </a:ln>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just" defTabSz="666750">
            <a:lnSpc>
              <a:spcPct val="90000"/>
            </a:lnSpc>
            <a:spcBef>
              <a:spcPct val="0"/>
            </a:spcBef>
            <a:spcAft>
              <a:spcPct val="35000"/>
            </a:spcAft>
            <a:buNone/>
          </a:pPr>
          <a:r>
            <a:rPr lang="en-US" sz="1500" kern="1200" dirty="0">
              <a:solidFill>
                <a:sysClr val="windowText" lastClr="000000"/>
              </a:solidFill>
              <a:latin typeface="Century Gothic" panose="020B0502020202020204" pitchFamily="34" charset="0"/>
            </a:rPr>
            <a:t>If p and q are two statements, the disjunction of p and q is the compound statement denoted by p ⋁ q and is read as </a:t>
          </a:r>
          <a:r>
            <a:rPr lang="en-US" sz="1500" b="1" kern="1200" dirty="0">
              <a:solidFill>
                <a:sysClr val="windowText" lastClr="000000"/>
              </a:solidFill>
              <a:latin typeface="Century Gothic" panose="020B0502020202020204" pitchFamily="34" charset="0"/>
            </a:rPr>
            <a:t>“ p or q”</a:t>
          </a:r>
          <a:r>
            <a:rPr lang="en-US" sz="1500" kern="1200" dirty="0">
              <a:solidFill>
                <a:sysClr val="windowText" lastClr="000000"/>
              </a:solidFill>
              <a:latin typeface="Century Gothic" panose="020B0502020202020204" pitchFamily="34" charset="0"/>
            </a:rPr>
            <a:t>. The statement p ⋁ q is true if at least one of p or q is true.</a:t>
          </a:r>
          <a:endParaRPr lang="en-IN" sz="1500" kern="1200" dirty="0">
            <a:solidFill>
              <a:sysClr val="windowText" lastClr="000000"/>
            </a:solidFill>
            <a:latin typeface="Century Gothic" panose="020B0502020202020204" pitchFamily="34" charset="0"/>
          </a:endParaRPr>
        </a:p>
        <a:p>
          <a:pPr marL="0" lvl="0" indent="0" defTabSz="666750">
            <a:lnSpc>
              <a:spcPct val="90000"/>
            </a:lnSpc>
            <a:spcBef>
              <a:spcPct val="0"/>
            </a:spcBef>
            <a:spcAft>
              <a:spcPct val="35000"/>
            </a:spcAft>
            <a:buNone/>
          </a:pPr>
          <a:r>
            <a:rPr lang="en-US" sz="1500" kern="1200" dirty="0">
              <a:solidFill>
                <a:sysClr val="windowText" lastClr="000000"/>
              </a:solidFill>
              <a:latin typeface="Century Gothic" panose="020B0502020202020204" pitchFamily="34" charset="0"/>
            </a:rPr>
            <a:t>In general, </a:t>
          </a:r>
          <a:r>
            <a:rPr lang="en-US" sz="1500" b="1" kern="1200" dirty="0">
              <a:solidFill>
                <a:sysClr val="windowText" lastClr="000000"/>
              </a:solidFill>
              <a:latin typeface="Century Gothic" panose="020B0502020202020204" pitchFamily="34" charset="0"/>
            </a:rPr>
            <a:t>“logical or” </a:t>
          </a:r>
          <a:r>
            <a:rPr lang="en-US" sz="1500" kern="1200" dirty="0">
              <a:solidFill>
                <a:sysClr val="windowText" lastClr="000000"/>
              </a:solidFill>
              <a:latin typeface="Century Gothic" panose="020B0502020202020204" pitchFamily="34" charset="0"/>
            </a:rPr>
            <a:t>is </a:t>
          </a:r>
          <a:r>
            <a:rPr lang="en-US" sz="1500" b="1" kern="1200" dirty="0">
              <a:solidFill>
                <a:sysClr val="windowText" lastClr="000000"/>
              </a:solidFill>
              <a:latin typeface="Century Gothic" panose="020B0502020202020204" pitchFamily="34" charset="0"/>
            </a:rPr>
            <a:t>“inclusive or” </a:t>
          </a:r>
          <a:r>
            <a:rPr lang="en-US" sz="1500" kern="1200" dirty="0">
              <a:solidFill>
                <a:sysClr val="windowText" lastClr="000000"/>
              </a:solidFill>
              <a:latin typeface="Century Gothic" panose="020B0502020202020204" pitchFamily="34" charset="0"/>
            </a:rPr>
            <a:t>when either p or q or both are true.</a:t>
          </a:r>
          <a:endParaRPr lang="en-IN" sz="1500" kern="1200" dirty="0">
            <a:solidFill>
              <a:sysClr val="windowText" lastClr="000000"/>
            </a:solidFill>
            <a:latin typeface="Century Gothic" panose="020B0502020202020204" pitchFamily="34" charset="0"/>
          </a:endParaRPr>
        </a:p>
      </dsp:txBody>
      <dsp:txXfrm>
        <a:off x="1892241" y="1558266"/>
        <a:ext cx="6883516" cy="176026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0DAB9C-4FAD-4D0A-8485-0CE4726ADA34}">
      <dsp:nvSpPr>
        <dsp:cNvPr id="0" name=""/>
        <dsp:cNvSpPr/>
      </dsp:nvSpPr>
      <dsp:spPr>
        <a:xfrm>
          <a:off x="0" y="202"/>
          <a:ext cx="10655837" cy="882180"/>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rtl="0">
            <a:lnSpc>
              <a:spcPct val="90000"/>
            </a:lnSpc>
            <a:spcBef>
              <a:spcPct val="0"/>
            </a:spcBef>
            <a:spcAft>
              <a:spcPct val="35000"/>
            </a:spcAft>
            <a:buNone/>
          </a:pPr>
          <a:r>
            <a:rPr lang="en-US" sz="1600" kern="1200" dirty="0">
              <a:latin typeface="Century Gothic" panose="020B0502020202020204" pitchFamily="34" charset="0"/>
            </a:rPr>
            <a:t>In ordinary language, it is customary to assume some kind of relationship between the hypothesis and the conclusion in using the conditional, but in logic, the hypothesis and the conclusion are not required to refer to the same subject matter.</a:t>
          </a:r>
        </a:p>
      </dsp:txBody>
      <dsp:txXfrm>
        <a:off x="43064" y="43266"/>
        <a:ext cx="10569709" cy="796052"/>
      </dsp:txXfrm>
    </dsp:sp>
    <dsp:sp modelId="{63302578-3131-4A61-8CEE-017C289905AE}">
      <dsp:nvSpPr>
        <dsp:cNvPr id="0" name=""/>
        <dsp:cNvSpPr/>
      </dsp:nvSpPr>
      <dsp:spPr>
        <a:xfrm>
          <a:off x="0" y="882382"/>
          <a:ext cx="10655837" cy="32416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8323" tIns="36830" rIns="206248" bIns="36830" numCol="1" spcCol="1270" anchor="t" anchorCtr="0">
          <a:noAutofit/>
        </a:bodyPr>
        <a:lstStyle/>
        <a:p>
          <a:pPr marL="228600" lvl="1" indent="-228600" algn="l" defTabSz="1022350" rtl="0">
            <a:lnSpc>
              <a:spcPct val="90000"/>
            </a:lnSpc>
            <a:spcBef>
              <a:spcPct val="0"/>
            </a:spcBef>
            <a:spcAft>
              <a:spcPct val="20000"/>
            </a:spcAft>
            <a:buChar char="•"/>
          </a:pPr>
          <a:r>
            <a:rPr lang="en-US" sz="2300" b="1" kern="1200">
              <a:latin typeface="Century Gothic" panose="020B0502020202020204" pitchFamily="34" charset="0"/>
            </a:rPr>
            <a:t>For example, </a:t>
          </a:r>
          <a:r>
            <a:rPr lang="en-US" sz="2300" kern="1200">
              <a:latin typeface="Century Gothic" panose="020B0502020202020204" pitchFamily="34" charset="0"/>
            </a:rPr>
            <a:t>The statement </a:t>
          </a:r>
          <a:r>
            <a:rPr lang="en-US" sz="2300" b="1" kern="1200">
              <a:latin typeface="Century Gothic" panose="020B0502020202020204" pitchFamily="34" charset="0"/>
            </a:rPr>
            <a:t>“If I get the money, then I will buy the computer” </a:t>
          </a:r>
          <a:r>
            <a:rPr lang="en-US" sz="2300" kern="1200">
              <a:latin typeface="Century Gothic" panose="020B0502020202020204" pitchFamily="34" charset="0"/>
            </a:rPr>
            <a:t>sounds reasonable. </a:t>
          </a:r>
        </a:p>
        <a:p>
          <a:pPr marL="228600" lvl="1" indent="-228600" algn="l" defTabSz="1022350" rtl="0">
            <a:lnSpc>
              <a:spcPct val="90000"/>
            </a:lnSpc>
            <a:spcBef>
              <a:spcPct val="0"/>
            </a:spcBef>
            <a:spcAft>
              <a:spcPct val="20000"/>
            </a:spcAft>
            <a:buChar char="•"/>
          </a:pPr>
          <a:r>
            <a:rPr lang="en-US" sz="2300" kern="1200" dirty="0">
              <a:latin typeface="Century Gothic" panose="020B0502020202020204" pitchFamily="34" charset="0"/>
            </a:rPr>
            <a:t>On the other hand, a statement such as </a:t>
          </a:r>
          <a:r>
            <a:rPr lang="en-US" sz="2300" b="1" kern="1200" dirty="0">
              <a:latin typeface="Century Gothic" panose="020B0502020202020204" pitchFamily="34" charset="0"/>
            </a:rPr>
            <a:t>“ If I get the money then this book is red” </a:t>
          </a:r>
          <a:r>
            <a:rPr lang="en-US" sz="2300" kern="1200" dirty="0">
              <a:latin typeface="Century Gothic" panose="020B0502020202020204" pitchFamily="34" charset="0"/>
            </a:rPr>
            <a:t>does not make sense to us in our convention language. </a:t>
          </a:r>
        </a:p>
        <a:p>
          <a:pPr marL="228600" lvl="1" indent="-228600" algn="l" defTabSz="1022350" rtl="0">
            <a:lnSpc>
              <a:spcPct val="90000"/>
            </a:lnSpc>
            <a:spcBef>
              <a:spcPct val="0"/>
            </a:spcBef>
            <a:spcAft>
              <a:spcPct val="20000"/>
            </a:spcAft>
            <a:buChar char="•"/>
          </a:pPr>
          <a:r>
            <a:rPr lang="en-US" sz="2300" kern="1200">
              <a:latin typeface="Century Gothic" panose="020B0502020202020204" pitchFamily="34" charset="0"/>
            </a:rPr>
            <a:t>But according to the definition of conditional, the statement is perfectly acceptable and has a truth value, which depends on the truth values of the statements being connected. </a:t>
          </a:r>
        </a:p>
        <a:p>
          <a:pPr marL="228600" lvl="1" indent="-228600" algn="l" defTabSz="1022350" rtl="0">
            <a:lnSpc>
              <a:spcPct val="90000"/>
            </a:lnSpc>
            <a:spcBef>
              <a:spcPct val="0"/>
            </a:spcBef>
            <a:spcAft>
              <a:spcPct val="20000"/>
            </a:spcAft>
            <a:buChar char="•"/>
          </a:pPr>
          <a:r>
            <a:rPr lang="en-US" sz="2300" kern="1200" dirty="0">
              <a:latin typeface="Century Gothic" panose="020B0502020202020204" pitchFamily="34" charset="0"/>
            </a:rPr>
            <a:t>Thus the logic is concerned with the form of propositions to each other and not with the subject matter itself.</a:t>
          </a:r>
        </a:p>
      </dsp:txBody>
      <dsp:txXfrm>
        <a:off x="0" y="882382"/>
        <a:ext cx="10655837" cy="324161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EA0463-F665-4B33-A5F7-B6FF83A60FF7}">
      <dsp:nvSpPr>
        <dsp:cNvPr id="0" name=""/>
        <dsp:cNvSpPr/>
      </dsp:nvSpPr>
      <dsp:spPr>
        <a:xfrm>
          <a:off x="799187" y="0"/>
          <a:ext cx="9057461" cy="4876800"/>
        </a:xfrm>
        <a:prstGeom prst="rightArrow">
          <a:avLst/>
        </a:prstGeom>
        <a:solidFill>
          <a:srgbClr val="2C2C2C"/>
        </a:solidFill>
        <a:ln>
          <a:noFill/>
        </a:ln>
        <a:effectLst/>
      </dsp:spPr>
      <dsp:style>
        <a:lnRef idx="0">
          <a:scrgbClr r="0" g="0" b="0"/>
        </a:lnRef>
        <a:fillRef idx="1">
          <a:scrgbClr r="0" g="0" b="0"/>
        </a:fillRef>
        <a:effectRef idx="2">
          <a:scrgbClr r="0" g="0" b="0"/>
        </a:effectRef>
        <a:fontRef idx="minor"/>
      </dsp:style>
    </dsp:sp>
    <dsp:sp modelId="{D1680804-83BD-445B-9BC5-AEC16AF4FDC2}">
      <dsp:nvSpPr>
        <dsp:cNvPr id="0" name=""/>
        <dsp:cNvSpPr/>
      </dsp:nvSpPr>
      <dsp:spPr>
        <a:xfrm>
          <a:off x="2475822" y="1463040"/>
          <a:ext cx="5704192" cy="1950720"/>
        </a:xfrm>
        <a:prstGeom prst="roundRect">
          <a:avLst/>
        </a:prstGeom>
        <a:solidFill>
          <a:schemeClr val="bg1"/>
        </a:solidFill>
        <a:ln w="28575">
          <a:solidFill>
            <a:srgbClr val="FFCC01"/>
          </a:solidFill>
        </a:ln>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just" defTabSz="666750">
            <a:lnSpc>
              <a:spcPct val="90000"/>
            </a:lnSpc>
            <a:spcBef>
              <a:spcPct val="0"/>
            </a:spcBef>
            <a:spcAft>
              <a:spcPct val="35000"/>
            </a:spcAft>
            <a:buNone/>
          </a:pPr>
          <a:r>
            <a:rPr lang="en-US" sz="1500" kern="1200" dirty="0">
              <a:solidFill>
                <a:schemeClr val="tx1"/>
              </a:solidFill>
              <a:latin typeface="Century Gothic" panose="020B0502020202020204" pitchFamily="34" charset="0"/>
            </a:rPr>
            <a:t>To understand better, implication can be looked as a conditional promise. If the promise is broken, the implication is false; otherwise it is true. For this reason, the only circumstance under which the implication p → q is false when p is true and q is false.</a:t>
          </a:r>
          <a:endParaRPr lang="en-IN" sz="1500" kern="1200" dirty="0">
            <a:solidFill>
              <a:schemeClr val="tx1"/>
            </a:solidFill>
            <a:latin typeface="Century Gothic" panose="020B0502020202020204" pitchFamily="34" charset="0"/>
          </a:endParaRPr>
        </a:p>
      </dsp:txBody>
      <dsp:txXfrm>
        <a:off x="2571048" y="1558266"/>
        <a:ext cx="5513740" cy="1760268"/>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PictureAccentList">
  <dgm:title val=""/>
  <dgm:desc val=""/>
  <dgm:catLst>
    <dgm:cat type="picture" pri="14000"/>
    <dgm:cat type="list" pri="14500"/>
  </dgm:catLst>
  <dgm:sampData>
    <dgm:dataModel>
      <dgm:ptLst>
        <dgm:pt modelId="0" type="doc"/>
        <dgm:pt modelId="1">
          <dgm:prSet phldr="1"/>
        </dgm:pt>
        <dgm:pt modelId="11">
          <dgm:prSet phldr="1"/>
        </dgm:pt>
        <dgm:pt modelId="12">
          <dgm:prSet phldr="1"/>
        </dgm:pt>
      </dgm:ptLst>
      <dgm:cxnLst>
        <dgm:cxn modelId="4" srcId="0" destId="1" srcOrd="0" destOrd="0"/>
        <dgm:cxn modelId="5" srcId="1" destId="11" srcOrd="0" destOrd="0"/>
        <dgm:cxn modelId="6" srcId="1" destId="12" srcOrd="1" destOrd="0"/>
      </dgm:cxnLst>
      <dgm:bg/>
      <dgm:whole/>
    </dgm:dataModel>
  </dgm:sampData>
  <dgm:styleData>
    <dgm:dataModel>
      <dgm:ptLst>
        <dgm:pt modelId="0" type="doc"/>
        <dgm:pt modelId="1"/>
        <dgm:pt modelId="11"/>
        <dgm:pt modelId="12"/>
        <dgm:pt modelId="13"/>
      </dgm:ptLst>
      <dgm:cxnLst>
        <dgm:cxn modelId="4" srcId="0" destId="1" srcOrd="0" destOrd="0"/>
        <dgm:cxn modelId="5" srcId="1" destId="11" srcOrd="0" destOrd="0"/>
        <dgm:cxn modelId="6" srcId="1" destId="12" srcOrd="0" destOrd="0"/>
        <dgm:cxn modelId="14" srcId="1" destId="13" srcOrd="0" destOrd="0"/>
      </dgm:cxnLst>
      <dgm:bg/>
      <dgm:whole/>
    </dgm:dataModel>
  </dgm:styleData>
  <dgm:clrData>
    <dgm:dataModel>
      <dgm:ptLst>
        <dgm:pt modelId="0" type="doc"/>
        <dgm:pt modelId="1"/>
        <dgm:pt modelId="11"/>
        <dgm:pt modelId="12"/>
        <dgm:pt modelId="13"/>
      </dgm:ptLst>
      <dgm:cxnLst>
        <dgm:cxn modelId="4" srcId="0" destId="1" srcOrd="0" destOrd="0"/>
        <dgm:cxn modelId="5" srcId="1" destId="11" srcOrd="0" destOrd="0"/>
        <dgm:cxn modelId="6" srcId="1" destId="12" srcOrd="0" destOrd="0"/>
        <dgm:cxn modelId="14" srcId="1" destId="13" srcOrd="0" destOrd="0"/>
      </dgm:cxnLst>
      <dgm:bg/>
      <dgm:whole/>
    </dgm:dataModel>
  </dgm:clrData>
  <dgm:layoutNode name="layout">
    <dgm:varLst>
      <dgm:chMax/>
      <dgm:chPref/>
      <dgm:dir/>
      <dgm:animOne val="branch"/>
      <dgm:animLvl val="lvl"/>
      <dgm:resizeHandles/>
    </dgm:varLst>
    <dgm:choose name="Name0">
      <dgm:if name="Name1" func="var" arg="dir" op="equ" val="norm">
        <dgm:alg type="hierChild">
          <dgm:param type="linDir" val="fromL"/>
        </dgm:alg>
      </dgm:if>
      <dgm:else name="Name2">
        <dgm:alg type="hierChild">
          <dgm:param type="linDir" val="fromL"/>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primFontSz" for="des" forName="childText" refType="primFontSz" refFor="des" refForName="rootText" op="lte"/>
      <dgm:constr type="w" for="des" forName="rootComposite" refType="w" fact="4"/>
      <dgm:constr type="h" for="des" forName="rootComposite" refType="h"/>
      <dgm:constr type="w" for="des" forName="childComposite" refType="w" refFor="des" refForName="rootComposite"/>
      <dgm:constr type="h" for="des" forName="childComposite" refType="h" refFor="des" refForName="rootComposite"/>
      <dgm:constr type="sibSp" refType="w" refFor="des" refForName="rootComposite" fact="0.1"/>
      <dgm:constr type="sibSp" for="des" forName="childShape" refType="h" refFor="des" refForName="rootComposite" fact="0.12"/>
      <dgm:constr type="sp" for="des" forName="root" refType="h" refFor="des" refForName="rootComposite" fact="0.18"/>
    </dgm:constrLst>
    <dgm:ruleLst/>
    <dgm:forEach name="Name3" axis="ch">
      <dgm:forEach name="Name4" axis="self" ptType="node" cnt="1">
        <dgm:layoutNode name="root">
          <dgm:varLst>
            <dgm:chMax/>
            <dgm:chPref val="4"/>
          </dgm:varLst>
          <dgm:alg type="hierRoot"/>
          <dgm:shape xmlns:r="http://schemas.openxmlformats.org/officeDocument/2006/relationships" r:blip="">
            <dgm:adjLst/>
          </dgm:shape>
          <dgm:presOf/>
          <dgm:constrLst/>
          <dgm:ruleLst/>
          <dgm:layoutNode name="rootComposite">
            <dgm:varLst/>
            <dgm:alg type="composite"/>
            <dgm:shape xmlns:r="http://schemas.openxmlformats.org/officeDocument/2006/relationships" r:blip="">
              <dgm:adjLst/>
            </dgm:shape>
            <dgm:presOf axis="self" ptType="node" cnt="1"/>
            <dgm:constrLst>
              <dgm:constr type="l" for="ch" forName="rootText"/>
              <dgm:constr type="t" for="ch" forName="rootText"/>
              <dgm:constr type="w" for="ch" forName="rootText" refType="w"/>
              <dgm:constr type="h" for="ch" forName="rootText" refType="h"/>
            </dgm:constrLst>
            <dgm:ruleLst/>
            <dgm:layoutNode name="rootText" styleLbl="node0">
              <dgm:varLst>
                <dgm:chMax/>
                <dgm:chPref val="4"/>
              </dgm:varLst>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 type="primFontSz" val="65" fact="NaN" max="NaN"/>
              </dgm:ruleLst>
            </dgm:layoutNode>
          </dgm:layoutNode>
          <dgm:layoutNode name="childShape">
            <dgm:varLst>
              <dgm:chMax val="0"/>
              <dgm:chPref val="0"/>
            </dgm:varLst>
            <dgm:alg type="hierChild">
              <dgm:param type="chAlign" val="r"/>
              <dgm:param type="linDir" val="fromT"/>
              <dgm:param type="fallback" val="2D"/>
            </dgm:alg>
            <dgm:shape xmlns:r="http://schemas.openxmlformats.org/officeDocument/2006/relationships" r:blip="">
              <dgm:adjLst/>
            </dgm:shape>
            <dgm:presOf/>
            <dgm:constrLst/>
            <dgm:ruleLst/>
            <dgm:forEach name="Name5" axis="ch">
              <dgm:forEach name="Name6" axis="self" ptType="node">
                <dgm:layoutNode name="childComposite">
                  <dgm:varLst>
                    <dgm:chMax val="0"/>
                    <dgm:chPref val="0"/>
                  </dgm:varLst>
                  <dgm:alg type="composite"/>
                  <dgm:shape xmlns:r="http://schemas.openxmlformats.org/officeDocument/2006/relationships" r:blip="">
                    <dgm:adjLst/>
                  </dgm:shape>
                  <dgm:presOf/>
                  <dgm:choose name="Name7">
                    <dgm:if name="Name8" func="var" arg="dir" op="equ" val="norm">
                      <dgm:constrLst>
                        <dgm:constr type="w" for="ch" forName="Image" refType="h"/>
                        <dgm:constr type="h" for="ch" forName="Image" refType="h"/>
                        <dgm:constr type="l" for="ch" forName="Image"/>
                        <dgm:constr type="t" for="ch" forName="Image"/>
                        <dgm:constr type="h" for="ch" forName="childText" refType="h"/>
                        <dgm:constr type="l" for="ch" forName="childText" refType="w" refFor="ch" refForName="Image" fact="1.06"/>
                        <dgm:constr type="t" for="ch" forName="childText"/>
                      </dgm:constrLst>
                    </dgm:if>
                    <dgm:else name="Name9">
                      <dgm:constrLst>
                        <dgm:constr type="w" for="ch" forName="Image" refType="h"/>
                        <dgm:constr type="h" for="ch" forName="Image" refType="h"/>
                        <dgm:constr type="r" for="ch" forName="Image" refType="w"/>
                        <dgm:constr type="t" for="ch" forName="Image"/>
                        <dgm:constr type="h" for="ch" forName="childText" refType="h"/>
                        <dgm:constr type="t" for="ch" forName="childText"/>
                        <dgm:constr type="wOff" for="ch" forName="childText" refType="w" refFor="ch" refForName="Image" fact="-1.06"/>
                      </dgm:constrLst>
                    </dgm:else>
                  </dgm:choose>
                  <dgm:ruleLst/>
                  <dgm:layoutNode name="Image" styleLbl="node1">
                    <dgm:alg type="sp"/>
                    <dgm:shape xmlns:r="http://schemas.openxmlformats.org/officeDocument/2006/relationships" type="roundRect" r:blip="" blipPhldr="1">
                      <dgm:adjLst>
                        <dgm:adj idx="1" val="0.1667"/>
                      </dgm:adjLst>
                    </dgm:shape>
                    <dgm:presOf/>
                  </dgm:layoutNode>
                  <dgm:layoutNode name="childText" styleLbl="lnNode1">
                    <dgm:varLst>
                      <dgm:chMax val="0"/>
                      <dgm:chPref val="0"/>
                      <dgm:bulletEnabled val="1"/>
                    </dgm:varLst>
                    <dgm:alg type="tx"/>
                    <dgm:shape xmlns:r="http://schemas.openxmlformats.org/officeDocument/2006/relationships" type="roundRect" r:blip="">
                      <dgm:adjLst>
                        <dgm:adj idx="1" val="0.1667"/>
                      </dgm:adjLst>
                    </dgm:shape>
                    <dgm:presOf axis="self desOrSelf" ptType="node node" st="1 1" cnt="1 0"/>
                    <dgm:ruleLst>
                      <dgm:rule type="primFontSz" val="5" fact="NaN" max="NaN"/>
                    </dgm:ruleLst>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5.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C6D4FF-DEA4-4892-92B1-559585551894}" type="datetimeFigureOut">
              <a:rPr lang="en-IN" smtClean="0"/>
              <a:t>28-01-2025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D3A5FB5-0710-47CC-8F83-FD860005E88A}" type="slidenum">
              <a:rPr lang="en-IN" smtClean="0"/>
              <a:t>‹#›</a:t>
            </a:fld>
            <a:endParaRPr lang="en-IN"/>
          </a:p>
        </p:txBody>
      </p:sp>
    </p:spTree>
    <p:extLst>
      <p:ext uri="{BB962C8B-B14F-4D97-AF65-F5344CB8AC3E}">
        <p14:creationId xmlns:p14="http://schemas.microsoft.com/office/powerpoint/2010/main" val="24181035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FB8F9BCF-6C3B-4706-A57E-62DF77EB85B1}"/>
              </a:ext>
            </a:extLst>
          </p:cNvPr>
          <p:cNvSpPr>
            <a:spLocks noGrp="1" noChangeArrowheads="1"/>
          </p:cNvSpPr>
          <p:nvPr>
            <p:ph type="hdr" sz="quarter"/>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rPr>
              <a:t>Amity Institute of Information Technology</a:t>
            </a:r>
          </a:p>
        </p:txBody>
      </p:sp>
      <p:sp>
        <p:nvSpPr>
          <p:cNvPr id="5123" name="Rectangle 7">
            <a:extLst>
              <a:ext uri="{FF2B5EF4-FFF2-40B4-BE49-F238E27FC236}">
                <a16:creationId xmlns:a16="http://schemas.microsoft.com/office/drawing/2014/main" id="{A9643575-2427-488D-9ACC-8601D357AE22}"/>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4B0C161-B90F-4386-A4C0-CF9C7E8033D3}"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5124" name="Rectangle 2">
            <a:extLst>
              <a:ext uri="{FF2B5EF4-FFF2-40B4-BE49-F238E27FC236}">
                <a16:creationId xmlns:a16="http://schemas.microsoft.com/office/drawing/2014/main" id="{4B098021-E45A-46DC-8FB4-8B7C02CA01AE}"/>
              </a:ext>
            </a:extLst>
          </p:cNvPr>
          <p:cNvSpPr>
            <a:spLocks noGrp="1" noRot="1" noChangeAspect="1" noChangeArrowheads="1" noTextEdit="1"/>
          </p:cNvSpPr>
          <p:nvPr>
            <p:ph type="sldImg"/>
          </p:nvPr>
        </p:nvSpPr>
        <p:spPr>
          <a:ln/>
        </p:spPr>
      </p:sp>
      <p:sp>
        <p:nvSpPr>
          <p:cNvPr id="5125" name="Rectangle 3">
            <a:extLst>
              <a:ext uri="{FF2B5EF4-FFF2-40B4-BE49-F238E27FC236}">
                <a16:creationId xmlns:a16="http://schemas.microsoft.com/office/drawing/2014/main" id="{5DDACB0A-87E8-404A-9A9D-CEBF51E825E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dirty="0"/>
              <a:t>Click to edit Master title style</a:t>
            </a:r>
            <a:endParaRPr lang="en-IN" dirty="0"/>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Rectangle 6">
            <a:extLst>
              <a:ext uri="{FF2B5EF4-FFF2-40B4-BE49-F238E27FC236}">
                <a16:creationId xmlns:a16="http://schemas.microsoft.com/office/drawing/2014/main" id="{697815AB-70D8-49EB-A36D-D442E40DD67F}"/>
              </a:ext>
            </a:extLst>
          </p:cNvPr>
          <p:cNvSpPr>
            <a:spLocks noGrp="1" noChangeArrowheads="1"/>
          </p:cNvSpPr>
          <p:nvPr>
            <p:ph type="sldNum" sz="quarter" idx="10"/>
          </p:nvPr>
        </p:nvSpPr>
        <p:spPr>
          <a:ln/>
        </p:spPr>
        <p:txBody>
          <a:bodyPr/>
          <a:lstStyle>
            <a:lvl1pPr>
              <a:defRPr/>
            </a:lvl1pPr>
          </a:lstStyle>
          <a:p>
            <a:pPr>
              <a:defRPr/>
            </a:pPr>
            <a:fld id="{2DBB581B-2F53-4A21-A360-4A739774B45E}" type="slidenum">
              <a:rPr lang="en-US" altLang="en-US"/>
              <a:pPr>
                <a:defRPr/>
              </a:pPr>
              <a:t>‹#›</a:t>
            </a:fld>
            <a:endParaRPr lang="en-US" altLang="en-US"/>
          </a:p>
        </p:txBody>
      </p:sp>
    </p:spTree>
    <p:extLst>
      <p:ext uri="{BB962C8B-B14F-4D97-AF65-F5344CB8AC3E}">
        <p14:creationId xmlns:p14="http://schemas.microsoft.com/office/powerpoint/2010/main" val="15877856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endParaRPr lang="en-IN"/>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6">
            <a:extLst>
              <a:ext uri="{FF2B5EF4-FFF2-40B4-BE49-F238E27FC236}">
                <a16:creationId xmlns:a16="http://schemas.microsoft.com/office/drawing/2014/main" id="{DADD6217-5E64-455F-8FDC-A22BBF22A3A9}"/>
              </a:ext>
            </a:extLst>
          </p:cNvPr>
          <p:cNvSpPr>
            <a:spLocks noGrp="1" noChangeArrowheads="1"/>
          </p:cNvSpPr>
          <p:nvPr>
            <p:ph type="sldNum" sz="quarter" idx="10"/>
          </p:nvPr>
        </p:nvSpPr>
        <p:spPr>
          <a:ln/>
        </p:spPr>
        <p:txBody>
          <a:bodyPr/>
          <a:lstStyle>
            <a:lvl1pPr>
              <a:defRPr/>
            </a:lvl1pPr>
          </a:lstStyle>
          <a:p>
            <a:pPr>
              <a:defRPr/>
            </a:pPr>
            <a:fld id="{941F7A49-95A6-4D3E-8239-B64543B8D690}" type="slidenum">
              <a:rPr lang="en-US" altLang="en-US"/>
              <a:pPr>
                <a:defRPr/>
              </a:pPr>
              <a:t>‹#›</a:t>
            </a:fld>
            <a:endParaRPr lang="en-US" altLang="en-US"/>
          </a:p>
        </p:txBody>
      </p:sp>
    </p:spTree>
    <p:extLst>
      <p:ext uri="{BB962C8B-B14F-4D97-AF65-F5344CB8AC3E}">
        <p14:creationId xmlns:p14="http://schemas.microsoft.com/office/powerpoint/2010/main" val="18919588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2852737"/>
          </a:xfrm>
          <a:prstGeom prst="rect">
            <a:avLst/>
          </a:prstGeo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1" y="4589464"/>
            <a:ext cx="10515600" cy="1500187"/>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6">
            <a:extLst>
              <a:ext uri="{FF2B5EF4-FFF2-40B4-BE49-F238E27FC236}">
                <a16:creationId xmlns:a16="http://schemas.microsoft.com/office/drawing/2014/main" id="{140E1339-A830-4559-98A3-35372A9481FD}"/>
              </a:ext>
            </a:extLst>
          </p:cNvPr>
          <p:cNvSpPr>
            <a:spLocks noGrp="1" noChangeArrowheads="1"/>
          </p:cNvSpPr>
          <p:nvPr>
            <p:ph type="sldNum" sz="quarter" idx="10"/>
          </p:nvPr>
        </p:nvSpPr>
        <p:spPr>
          <a:ln/>
        </p:spPr>
        <p:txBody>
          <a:bodyPr/>
          <a:lstStyle>
            <a:lvl1pPr>
              <a:defRPr/>
            </a:lvl1pPr>
          </a:lstStyle>
          <a:p>
            <a:pPr>
              <a:defRPr/>
            </a:pPr>
            <a:fld id="{27EC55A9-C5C2-4034-8C68-E5E00DA01365}" type="slidenum">
              <a:rPr lang="en-US" altLang="en-US"/>
              <a:pPr>
                <a:defRPr/>
              </a:pPr>
              <a:t>‹#›</a:t>
            </a:fld>
            <a:endParaRPr lang="en-US" altLang="en-US"/>
          </a:p>
        </p:txBody>
      </p:sp>
    </p:spTree>
    <p:extLst>
      <p:ext uri="{BB962C8B-B14F-4D97-AF65-F5344CB8AC3E}">
        <p14:creationId xmlns:p14="http://schemas.microsoft.com/office/powerpoint/2010/main" val="12815151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562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97600" y="1825625"/>
            <a:ext cx="51562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Rectangle 6">
            <a:extLst>
              <a:ext uri="{FF2B5EF4-FFF2-40B4-BE49-F238E27FC236}">
                <a16:creationId xmlns:a16="http://schemas.microsoft.com/office/drawing/2014/main" id="{2E924A73-6C50-4AC3-9D70-9BF5CD770347}"/>
              </a:ext>
            </a:extLst>
          </p:cNvPr>
          <p:cNvSpPr>
            <a:spLocks noGrp="1" noChangeArrowheads="1"/>
          </p:cNvSpPr>
          <p:nvPr>
            <p:ph type="sldNum" sz="quarter" idx="10"/>
          </p:nvPr>
        </p:nvSpPr>
        <p:spPr>
          <a:ln/>
        </p:spPr>
        <p:txBody>
          <a:bodyPr/>
          <a:lstStyle>
            <a:lvl1pPr>
              <a:defRPr/>
            </a:lvl1pPr>
          </a:lstStyle>
          <a:p>
            <a:pPr>
              <a:defRPr/>
            </a:pPr>
            <a:fld id="{BC88B6BB-978E-4895-9FE3-804546364DB5}" type="slidenum">
              <a:rPr lang="en-US" altLang="en-US"/>
              <a:pPr>
                <a:defRPr/>
              </a:pPr>
              <a:t>‹#›</a:t>
            </a:fld>
            <a:endParaRPr lang="en-US" altLang="en-US"/>
          </a:p>
        </p:txBody>
      </p:sp>
    </p:spTree>
    <p:extLst>
      <p:ext uri="{BB962C8B-B14F-4D97-AF65-F5344CB8AC3E}">
        <p14:creationId xmlns:p14="http://schemas.microsoft.com/office/powerpoint/2010/main" val="11123414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6"/>
            <a:ext cx="10515600" cy="1325563"/>
          </a:xfrm>
          <a:prstGeom prst="rect">
            <a:avLst/>
          </a:prstGeom>
        </p:spPr>
        <p:txBody>
          <a:bodyPr/>
          <a:lstStyle/>
          <a:p>
            <a:r>
              <a:rPr lang="en-US"/>
              <a:t>Click to edit Master title style</a:t>
            </a:r>
            <a:endParaRPr lang="en-IN"/>
          </a:p>
        </p:txBody>
      </p:sp>
      <p:sp>
        <p:nvSpPr>
          <p:cNvPr id="3" name="Text Placeholder 2"/>
          <p:cNvSpPr>
            <a:spLocks noGrp="1"/>
          </p:cNvSpPr>
          <p:nvPr>
            <p:ph type="body" idx="1"/>
          </p:nvPr>
        </p:nvSpPr>
        <p:spPr>
          <a:xfrm>
            <a:off x="840318" y="1681163"/>
            <a:ext cx="5158316"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318" y="2505075"/>
            <a:ext cx="5158316"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71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71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Rectangle 6">
            <a:extLst>
              <a:ext uri="{FF2B5EF4-FFF2-40B4-BE49-F238E27FC236}">
                <a16:creationId xmlns:a16="http://schemas.microsoft.com/office/drawing/2014/main" id="{56EA8121-B2D3-41F8-8E89-A3FE9A413EE6}"/>
              </a:ext>
            </a:extLst>
          </p:cNvPr>
          <p:cNvSpPr>
            <a:spLocks noGrp="1" noChangeArrowheads="1"/>
          </p:cNvSpPr>
          <p:nvPr>
            <p:ph type="sldNum" sz="quarter" idx="10"/>
          </p:nvPr>
        </p:nvSpPr>
        <p:spPr>
          <a:ln/>
        </p:spPr>
        <p:txBody>
          <a:bodyPr/>
          <a:lstStyle>
            <a:lvl1pPr>
              <a:defRPr/>
            </a:lvl1pPr>
          </a:lstStyle>
          <a:p>
            <a:pPr>
              <a:defRPr/>
            </a:pPr>
            <a:fld id="{A5E00F77-6DD8-4988-B35E-0535D76BCEF6}" type="slidenum">
              <a:rPr lang="en-US" altLang="en-US"/>
              <a:pPr>
                <a:defRPr/>
              </a:pPr>
              <a:t>‹#›</a:t>
            </a:fld>
            <a:endParaRPr lang="en-US" altLang="en-US"/>
          </a:p>
        </p:txBody>
      </p:sp>
    </p:spTree>
    <p:extLst>
      <p:ext uri="{BB962C8B-B14F-4D97-AF65-F5344CB8AC3E}">
        <p14:creationId xmlns:p14="http://schemas.microsoft.com/office/powerpoint/2010/main" val="34716029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endParaRPr lang="en-IN"/>
          </a:p>
        </p:txBody>
      </p:sp>
      <p:sp>
        <p:nvSpPr>
          <p:cNvPr id="3" name="Rectangle 6">
            <a:extLst>
              <a:ext uri="{FF2B5EF4-FFF2-40B4-BE49-F238E27FC236}">
                <a16:creationId xmlns:a16="http://schemas.microsoft.com/office/drawing/2014/main" id="{9A4A9970-884C-47F6-8626-E1D4CD9DE41A}"/>
              </a:ext>
            </a:extLst>
          </p:cNvPr>
          <p:cNvSpPr>
            <a:spLocks noGrp="1" noChangeArrowheads="1"/>
          </p:cNvSpPr>
          <p:nvPr>
            <p:ph type="sldNum" sz="quarter" idx="10"/>
          </p:nvPr>
        </p:nvSpPr>
        <p:spPr>
          <a:ln/>
        </p:spPr>
        <p:txBody>
          <a:bodyPr/>
          <a:lstStyle>
            <a:lvl1pPr>
              <a:defRPr/>
            </a:lvl1pPr>
          </a:lstStyle>
          <a:p>
            <a:pPr>
              <a:defRPr/>
            </a:pPr>
            <a:fld id="{4FFCD857-033F-41E3-AE3F-066F8AF172C6}" type="slidenum">
              <a:rPr lang="en-US" altLang="en-US"/>
              <a:pPr>
                <a:defRPr/>
              </a:pPr>
              <a:t>‹#›</a:t>
            </a:fld>
            <a:endParaRPr lang="en-US" altLang="en-US"/>
          </a:p>
        </p:txBody>
      </p:sp>
    </p:spTree>
    <p:extLst>
      <p:ext uri="{BB962C8B-B14F-4D97-AF65-F5344CB8AC3E}">
        <p14:creationId xmlns:p14="http://schemas.microsoft.com/office/powerpoint/2010/main" val="10272651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3EEFACFA-D5B0-4964-A16D-E8A4CBC7117D}"/>
              </a:ext>
            </a:extLst>
          </p:cNvPr>
          <p:cNvSpPr>
            <a:spLocks noGrp="1" noChangeArrowheads="1"/>
          </p:cNvSpPr>
          <p:nvPr>
            <p:ph type="sldNum" sz="quarter" idx="10"/>
          </p:nvPr>
        </p:nvSpPr>
        <p:spPr>
          <a:ln/>
        </p:spPr>
        <p:txBody>
          <a:bodyPr/>
          <a:lstStyle>
            <a:lvl1pPr>
              <a:defRPr/>
            </a:lvl1pPr>
          </a:lstStyle>
          <a:p>
            <a:pPr>
              <a:defRPr/>
            </a:pPr>
            <a:fld id="{40CE7F4D-6297-41C0-ACE0-955D72B832BD}" type="slidenum">
              <a:rPr lang="en-US" altLang="en-US"/>
              <a:pPr>
                <a:defRPr/>
              </a:pPr>
              <a:t>‹#›</a:t>
            </a:fld>
            <a:endParaRPr lang="en-US" altLang="en-US"/>
          </a:p>
        </p:txBody>
      </p:sp>
    </p:spTree>
    <p:extLst>
      <p:ext uri="{BB962C8B-B14F-4D97-AF65-F5344CB8AC3E}">
        <p14:creationId xmlns:p14="http://schemas.microsoft.com/office/powerpoint/2010/main" val="20787774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a:prstGeom prst="rect">
            <a:avLst/>
          </a:prstGeo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717" y="987426"/>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40318" y="2057400"/>
            <a:ext cx="393276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6">
            <a:extLst>
              <a:ext uri="{FF2B5EF4-FFF2-40B4-BE49-F238E27FC236}">
                <a16:creationId xmlns:a16="http://schemas.microsoft.com/office/drawing/2014/main" id="{8EB96FA9-73D7-4AB6-8917-C92D30A6B63A}"/>
              </a:ext>
            </a:extLst>
          </p:cNvPr>
          <p:cNvSpPr>
            <a:spLocks noGrp="1" noChangeArrowheads="1"/>
          </p:cNvSpPr>
          <p:nvPr>
            <p:ph type="sldNum" sz="quarter" idx="10"/>
          </p:nvPr>
        </p:nvSpPr>
        <p:spPr>
          <a:ln/>
        </p:spPr>
        <p:txBody>
          <a:bodyPr/>
          <a:lstStyle>
            <a:lvl1pPr>
              <a:defRPr/>
            </a:lvl1pPr>
          </a:lstStyle>
          <a:p>
            <a:pPr>
              <a:defRPr/>
            </a:pPr>
            <a:fld id="{69B29622-9F7E-4FEE-927C-378CA5783F19}" type="slidenum">
              <a:rPr lang="en-US" altLang="en-US"/>
              <a:pPr>
                <a:defRPr/>
              </a:pPr>
              <a:t>‹#›</a:t>
            </a:fld>
            <a:endParaRPr lang="en-US" altLang="en-US"/>
          </a:p>
        </p:txBody>
      </p:sp>
    </p:spTree>
    <p:extLst>
      <p:ext uri="{BB962C8B-B14F-4D97-AF65-F5344CB8AC3E}">
        <p14:creationId xmlns:p14="http://schemas.microsoft.com/office/powerpoint/2010/main" val="4776808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a:prstGeom prst="rect">
            <a:avLst/>
          </a:prstGeo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717" y="987426"/>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a:p>
        </p:txBody>
      </p:sp>
      <p:sp>
        <p:nvSpPr>
          <p:cNvPr id="4" name="Text Placeholder 3"/>
          <p:cNvSpPr>
            <a:spLocks noGrp="1"/>
          </p:cNvSpPr>
          <p:nvPr>
            <p:ph type="body" sz="half" idx="2"/>
          </p:nvPr>
        </p:nvSpPr>
        <p:spPr>
          <a:xfrm>
            <a:off x="840318" y="2057400"/>
            <a:ext cx="393276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6">
            <a:extLst>
              <a:ext uri="{FF2B5EF4-FFF2-40B4-BE49-F238E27FC236}">
                <a16:creationId xmlns:a16="http://schemas.microsoft.com/office/drawing/2014/main" id="{CF7CD70D-4D46-46B4-BEE2-A008FF3640C8}"/>
              </a:ext>
            </a:extLst>
          </p:cNvPr>
          <p:cNvSpPr>
            <a:spLocks noGrp="1" noChangeArrowheads="1"/>
          </p:cNvSpPr>
          <p:nvPr>
            <p:ph type="sldNum" sz="quarter" idx="10"/>
          </p:nvPr>
        </p:nvSpPr>
        <p:spPr>
          <a:ln/>
        </p:spPr>
        <p:txBody>
          <a:bodyPr/>
          <a:lstStyle>
            <a:lvl1pPr>
              <a:defRPr/>
            </a:lvl1pPr>
          </a:lstStyle>
          <a:p>
            <a:pPr>
              <a:defRPr/>
            </a:pPr>
            <a:fld id="{EF827498-146B-4988-8324-4FDA45D96EE1}" type="slidenum">
              <a:rPr lang="en-US" altLang="en-US"/>
              <a:pPr>
                <a:defRPr/>
              </a:pPr>
              <a:t>‹#›</a:t>
            </a:fld>
            <a:endParaRPr lang="en-US" altLang="en-US"/>
          </a:p>
        </p:txBody>
      </p:sp>
    </p:spTree>
    <p:extLst>
      <p:ext uri="{BB962C8B-B14F-4D97-AF65-F5344CB8AC3E}">
        <p14:creationId xmlns:p14="http://schemas.microsoft.com/office/powerpoint/2010/main" val="23018450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endParaRPr lang="en-IN"/>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6">
            <a:extLst>
              <a:ext uri="{FF2B5EF4-FFF2-40B4-BE49-F238E27FC236}">
                <a16:creationId xmlns:a16="http://schemas.microsoft.com/office/drawing/2014/main" id="{A8968565-86CB-4886-8DC6-AAC02891B8FB}"/>
              </a:ext>
            </a:extLst>
          </p:cNvPr>
          <p:cNvSpPr>
            <a:spLocks noGrp="1" noChangeArrowheads="1"/>
          </p:cNvSpPr>
          <p:nvPr>
            <p:ph type="sldNum" sz="quarter" idx="10"/>
          </p:nvPr>
        </p:nvSpPr>
        <p:spPr>
          <a:ln/>
        </p:spPr>
        <p:txBody>
          <a:bodyPr/>
          <a:lstStyle>
            <a:lvl1pPr>
              <a:defRPr/>
            </a:lvl1pPr>
          </a:lstStyle>
          <a:p>
            <a:pPr>
              <a:defRPr/>
            </a:pPr>
            <a:fld id="{1CF355AD-7026-4A51-92AC-BDE138BCA4A8}" type="slidenum">
              <a:rPr lang="en-US" altLang="en-US"/>
              <a:pPr>
                <a:defRPr/>
              </a:pPr>
              <a:t>‹#›</a:t>
            </a:fld>
            <a:endParaRPr lang="en-US" altLang="en-US"/>
          </a:p>
        </p:txBody>
      </p:sp>
    </p:spTree>
    <p:extLst>
      <p:ext uri="{BB962C8B-B14F-4D97-AF65-F5344CB8AC3E}">
        <p14:creationId xmlns:p14="http://schemas.microsoft.com/office/powerpoint/2010/main" val="12380905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a:prstGeom prst="rect">
            <a:avLst/>
          </a:prstGeo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1" y="365125"/>
            <a:ext cx="76835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6">
            <a:extLst>
              <a:ext uri="{FF2B5EF4-FFF2-40B4-BE49-F238E27FC236}">
                <a16:creationId xmlns:a16="http://schemas.microsoft.com/office/drawing/2014/main" id="{A125B6C0-0E44-4A4E-819E-36CEE900B639}"/>
              </a:ext>
            </a:extLst>
          </p:cNvPr>
          <p:cNvSpPr>
            <a:spLocks noGrp="1" noChangeArrowheads="1"/>
          </p:cNvSpPr>
          <p:nvPr>
            <p:ph type="sldNum" sz="quarter" idx="10"/>
          </p:nvPr>
        </p:nvSpPr>
        <p:spPr>
          <a:ln/>
        </p:spPr>
        <p:txBody>
          <a:bodyPr/>
          <a:lstStyle>
            <a:lvl1pPr>
              <a:defRPr/>
            </a:lvl1pPr>
          </a:lstStyle>
          <a:p>
            <a:pPr>
              <a:defRPr/>
            </a:pPr>
            <a:fld id="{52F2FCC7-3B50-42FE-BACC-7717F049D3C3}" type="slidenum">
              <a:rPr lang="en-US" altLang="en-US"/>
              <a:pPr>
                <a:defRPr/>
              </a:pPr>
              <a:t>‹#›</a:t>
            </a:fld>
            <a:endParaRPr lang="en-US" altLang="en-US"/>
          </a:p>
        </p:txBody>
      </p:sp>
    </p:spTree>
    <p:extLst>
      <p:ext uri="{BB962C8B-B14F-4D97-AF65-F5344CB8AC3E}">
        <p14:creationId xmlns:p14="http://schemas.microsoft.com/office/powerpoint/2010/main" val="16954849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3978681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7">
            <a:extLst>
              <a:ext uri="{FF2B5EF4-FFF2-40B4-BE49-F238E27FC236}">
                <a16:creationId xmlns:a16="http://schemas.microsoft.com/office/drawing/2014/main" id="{8449A887-5DE0-4487-B255-3AF567F9C735}"/>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b="83365"/>
          <a:stretch>
            <a:fillRect/>
          </a:stretch>
        </p:blipFill>
        <p:spPr bwMode="auto">
          <a:xfrm>
            <a:off x="0" y="76201"/>
            <a:ext cx="12183533"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0" name="Rectangle 6">
            <a:extLst>
              <a:ext uri="{FF2B5EF4-FFF2-40B4-BE49-F238E27FC236}">
                <a16:creationId xmlns:a16="http://schemas.microsoft.com/office/drawing/2014/main" id="{3725FC8C-A2FB-4E54-9109-26A80C5FA7A2}"/>
              </a:ext>
            </a:extLst>
          </p:cNvPr>
          <p:cNvSpPr>
            <a:spLocks noGrp="1" noChangeArrowheads="1"/>
          </p:cNvSpPr>
          <p:nvPr>
            <p:ph type="sldNum" sz="quarter" idx="4"/>
          </p:nvPr>
        </p:nvSpPr>
        <p:spPr bwMode="auto">
          <a:xfrm>
            <a:off x="9065684" y="6400800"/>
            <a:ext cx="28448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100" smtClean="0"/>
            </a:lvl1pPr>
          </a:lstStyle>
          <a:p>
            <a:pPr>
              <a:defRPr/>
            </a:pPr>
            <a:fld id="{87D83082-6E93-47F3-BCEC-6D6F7AC7DA64}" type="slidenum">
              <a:rPr lang="en-US" altLang="en-US"/>
              <a:pPr>
                <a:defRPr/>
              </a:pPr>
              <a:t>‹#›</a:t>
            </a:fld>
            <a:endParaRPr lang="en-US" altLang="en-US"/>
          </a:p>
        </p:txBody>
      </p:sp>
      <p:sp>
        <p:nvSpPr>
          <p:cNvPr id="1028" name="Rectangle 8">
            <a:extLst>
              <a:ext uri="{FF2B5EF4-FFF2-40B4-BE49-F238E27FC236}">
                <a16:creationId xmlns:a16="http://schemas.microsoft.com/office/drawing/2014/main" id="{F2006CED-6E1C-4C80-84FC-50B3EA341DF5}"/>
              </a:ext>
            </a:extLst>
          </p:cNvPr>
          <p:cNvSpPr>
            <a:spLocks noChangeArrowheads="1"/>
          </p:cNvSpPr>
          <p:nvPr/>
        </p:nvSpPr>
        <p:spPr bwMode="auto">
          <a:xfrm>
            <a:off x="4656667" y="611188"/>
            <a:ext cx="7213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lang="en-US" altLang="en-US" sz="1600" b="1">
                <a:solidFill>
                  <a:schemeClr val="accent2"/>
                </a:solidFill>
              </a:rPr>
              <a:t>Amity Institute of Information Technology</a:t>
            </a:r>
          </a:p>
        </p:txBody>
      </p:sp>
      <p:sp>
        <p:nvSpPr>
          <p:cNvPr id="1029" name="Rectangle 10">
            <a:extLst>
              <a:ext uri="{FF2B5EF4-FFF2-40B4-BE49-F238E27FC236}">
                <a16:creationId xmlns:a16="http://schemas.microsoft.com/office/drawing/2014/main" id="{85D5D199-E1F6-467A-A88F-299499A5AE56}"/>
              </a:ext>
            </a:extLst>
          </p:cNvPr>
          <p:cNvSpPr>
            <a:spLocks noChangeArrowheads="1"/>
          </p:cNvSpPr>
          <p:nvPr userDrawn="1"/>
        </p:nvSpPr>
        <p:spPr bwMode="auto">
          <a:xfrm>
            <a:off x="3251200" y="6705600"/>
            <a:ext cx="8940800" cy="152400"/>
          </a:xfrm>
          <a:prstGeom prst="rect">
            <a:avLst/>
          </a:prstGeom>
          <a:solidFill>
            <a:srgbClr val="F1B43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sz="1800"/>
          </a:p>
        </p:txBody>
      </p:sp>
    </p:spTree>
    <p:extLst>
      <p:ext uri="{BB962C8B-B14F-4D97-AF65-F5344CB8AC3E}">
        <p14:creationId xmlns:p14="http://schemas.microsoft.com/office/powerpoint/2010/main" val="6945666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defRPr>
      </a:lvl2pPr>
      <a:lvl3pPr algn="ctr" rtl="0" eaLnBrk="0" fontAlgn="base" hangingPunct="0">
        <a:spcBef>
          <a:spcPct val="0"/>
        </a:spcBef>
        <a:spcAft>
          <a:spcPct val="0"/>
        </a:spcAft>
        <a:defRPr sz="4400">
          <a:solidFill>
            <a:schemeClr val="tx2"/>
          </a:solidFill>
          <a:latin typeface="Arial" panose="020B0604020202020204" pitchFamily="34" charset="0"/>
        </a:defRPr>
      </a:lvl3pPr>
      <a:lvl4pPr algn="ctr" rtl="0" eaLnBrk="0" fontAlgn="base" hangingPunct="0">
        <a:spcBef>
          <a:spcPct val="0"/>
        </a:spcBef>
        <a:spcAft>
          <a:spcPct val="0"/>
        </a:spcAft>
        <a:defRPr sz="4400">
          <a:solidFill>
            <a:schemeClr val="tx2"/>
          </a:solidFill>
          <a:latin typeface="Arial" panose="020B0604020202020204" pitchFamily="34" charset="0"/>
        </a:defRPr>
      </a:lvl4pPr>
      <a:lvl5pPr algn="ctr" rtl="0" eaLnBrk="0" fontAlgn="base" hangingPunct="0">
        <a:spcBef>
          <a:spcPct val="0"/>
        </a:spcBef>
        <a:spcAft>
          <a:spcPct val="0"/>
        </a:spcAft>
        <a:defRPr sz="4400">
          <a:solidFill>
            <a:schemeClr val="tx2"/>
          </a:solidFill>
          <a:latin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1.bin"/><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1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1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1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1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12.xml"/><Relationship Id="rId5" Type="http://schemas.microsoft.com/office/2007/relationships/hdphoto" Target="../media/hdphoto2.wdp"/><Relationship Id="rId4" Type="http://schemas.openxmlformats.org/officeDocument/2006/relationships/image" Target="../media/image4.png"/></Relationships>
</file>

<file path=ppt/slides/_rels/slide63.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7.png"/><Relationship Id="rId1" Type="http://schemas.openxmlformats.org/officeDocument/2006/relationships/slideLayout" Target="../slideLayouts/slideLayout12.xml"/><Relationship Id="rId5" Type="http://schemas.microsoft.com/office/2007/relationships/hdphoto" Target="../media/hdphoto6.wdp"/><Relationship Id="rId4" Type="http://schemas.openxmlformats.org/officeDocument/2006/relationships/image" Target="../media/image8.png"/></Relationships>
</file>

<file path=ppt/slides/_rels/slide66.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Number Placeholder 3">
            <a:extLst>
              <a:ext uri="{FF2B5EF4-FFF2-40B4-BE49-F238E27FC236}">
                <a16:creationId xmlns:a16="http://schemas.microsoft.com/office/drawing/2014/main" id="{8469C9C1-BD22-4CF2-9C58-53B367FE92B2}"/>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fld id="{48AB5C7E-C987-4B17-8B6C-FB2215A95668}" type="slidenum">
              <a:rPr lang="en-US" altLang="en-US">
                <a:solidFill>
                  <a:srgbClr val="000000"/>
                </a:solidFill>
              </a:rPr>
              <a:pPr fontAlgn="base">
                <a:spcBef>
                  <a:spcPct val="0"/>
                </a:spcBef>
                <a:spcAft>
                  <a:spcPct val="0"/>
                </a:spcAft>
              </a:pPr>
              <a:t>1</a:t>
            </a:fld>
            <a:endParaRPr lang="en-US" altLang="en-US">
              <a:solidFill>
                <a:srgbClr val="000000"/>
              </a:solidFill>
            </a:endParaRPr>
          </a:p>
        </p:txBody>
      </p:sp>
      <p:sp>
        <p:nvSpPr>
          <p:cNvPr id="4099" name="Rectangle 4">
            <a:extLst>
              <a:ext uri="{FF2B5EF4-FFF2-40B4-BE49-F238E27FC236}">
                <a16:creationId xmlns:a16="http://schemas.microsoft.com/office/drawing/2014/main" id="{A377AE03-F191-4623-A034-86DA79FC7120}"/>
              </a:ext>
            </a:extLst>
          </p:cNvPr>
          <p:cNvSpPr>
            <a:spLocks noGrp="1" noChangeArrowheads="1"/>
          </p:cNvSpPr>
          <p:nvPr>
            <p:ph type="ctrTitle"/>
          </p:nvPr>
        </p:nvSpPr>
        <p:spPr bwMode="auto">
          <a:xfrm>
            <a:off x="2209800" y="2130426"/>
            <a:ext cx="7772400" cy="14700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150000"/>
              </a:lnSpc>
            </a:pPr>
            <a:r>
              <a:rPr lang="en-US" altLang="en-US" sz="4500" dirty="0">
                <a:solidFill>
                  <a:schemeClr val="tx1"/>
                </a:solidFill>
                <a:latin typeface="Times New Roman" panose="02020603050405020304" pitchFamily="18" charset="0"/>
              </a:rPr>
              <a:t>Amity Institute of Information Technology</a:t>
            </a:r>
            <a:br>
              <a:rPr lang="en-US" altLang="en-US" sz="4500" b="1" dirty="0">
                <a:solidFill>
                  <a:schemeClr val="tx1"/>
                </a:solidFill>
                <a:latin typeface="Times New Roman" panose="02020603050405020304" pitchFamily="18" charset="0"/>
              </a:rPr>
            </a:br>
            <a:r>
              <a:rPr lang="en-US" altLang="en-US" sz="2500" b="1" dirty="0">
                <a:solidFill>
                  <a:schemeClr val="tx1"/>
                </a:solidFill>
                <a:latin typeface="Times New Roman" panose="02020603050405020304" pitchFamily="18" charset="0"/>
              </a:rPr>
              <a:t>BCA </a:t>
            </a:r>
            <a:r>
              <a:rPr lang="en-US" altLang="en-US" sz="2500" dirty="0">
                <a:solidFill>
                  <a:schemeClr val="tx1"/>
                </a:solidFill>
                <a:latin typeface="Times New Roman" panose="02020603050405020304" pitchFamily="18" charset="0"/>
              </a:rPr>
              <a:t>, </a:t>
            </a:r>
            <a:r>
              <a:rPr lang="en-US" altLang="en-US" sz="2500" dirty="0" err="1">
                <a:solidFill>
                  <a:schemeClr val="tx1"/>
                </a:solidFill>
                <a:latin typeface="Times New Roman" panose="02020603050405020304" pitchFamily="18" charset="0"/>
              </a:rPr>
              <a:t>Ist</a:t>
            </a:r>
            <a:r>
              <a:rPr lang="en-US" altLang="en-US" sz="2500" dirty="0">
                <a:solidFill>
                  <a:schemeClr val="tx1"/>
                </a:solidFill>
                <a:latin typeface="Times New Roman" panose="02020603050405020304" pitchFamily="18" charset="0"/>
              </a:rPr>
              <a:t> Semester </a:t>
            </a:r>
            <a:br>
              <a:rPr lang="en-US" altLang="en-US" sz="2500" dirty="0">
                <a:solidFill>
                  <a:schemeClr val="tx1"/>
                </a:solidFill>
                <a:latin typeface="Times New Roman" panose="02020603050405020304" pitchFamily="18" charset="0"/>
              </a:rPr>
            </a:br>
            <a:r>
              <a:rPr lang="en-US" altLang="en-US" sz="2500" dirty="0">
                <a:solidFill>
                  <a:schemeClr val="tx1"/>
                </a:solidFill>
                <a:latin typeface="Times New Roman" panose="02020603050405020304" pitchFamily="18" charset="0"/>
              </a:rPr>
              <a:t>Basic Mathematics- Mathematical Logic</a:t>
            </a:r>
            <a:br>
              <a:rPr lang="en-US" altLang="en-US" sz="2500" dirty="0">
                <a:solidFill>
                  <a:schemeClr val="tx1"/>
                </a:solidFill>
                <a:latin typeface="Times New Roman" panose="02020603050405020304" pitchFamily="18" charset="0"/>
              </a:rPr>
            </a:br>
            <a:r>
              <a:rPr lang="en-US" altLang="en-US" sz="2500" dirty="0">
                <a:solidFill>
                  <a:schemeClr val="tx1"/>
                </a:solidFill>
                <a:latin typeface="Times New Roman" panose="02020603050405020304" pitchFamily="18" charset="0"/>
              </a:rPr>
              <a:t>Dr Sarika Jain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11EAED7-C8F9-45D8-A96E-859AC6FA8DAD}"/>
              </a:ext>
            </a:extLst>
          </p:cNvPr>
          <p:cNvSpPr txBox="1"/>
          <p:nvPr/>
        </p:nvSpPr>
        <p:spPr>
          <a:xfrm>
            <a:off x="4159021" y="1056525"/>
            <a:ext cx="2398413" cy="543675"/>
          </a:xfrm>
          <a:prstGeom prst="rect">
            <a:avLst/>
          </a:prstGeom>
          <a:noFill/>
        </p:spPr>
        <p:txBody>
          <a:bodyPr wrap="none" rtlCol="0">
            <a:spAutoFit/>
          </a:bodyPr>
          <a:lstStyle/>
          <a:p>
            <a:r>
              <a:rPr lang="en-US" altLang="en-US" sz="2933" dirty="0">
                <a:solidFill>
                  <a:schemeClr val="tx1">
                    <a:lumMod val="95000"/>
                    <a:lumOff val="5000"/>
                  </a:schemeClr>
                </a:solidFill>
                <a:latin typeface="Century Gothic" panose="020B0502020202020204" pitchFamily="34" charset="0"/>
                <a:cs typeface="Arial" pitchFamily="34" charset="0"/>
              </a:rPr>
              <a:t>Introduction</a:t>
            </a:r>
          </a:p>
        </p:txBody>
      </p:sp>
      <p:graphicFrame>
        <p:nvGraphicFramePr>
          <p:cNvPr id="2" name="Diagram 1">
            <a:extLst>
              <a:ext uri="{FF2B5EF4-FFF2-40B4-BE49-F238E27FC236}">
                <a16:creationId xmlns:a16="http://schemas.microsoft.com/office/drawing/2014/main" id="{EF34758D-E66F-4511-9DA4-848C6E35662D}"/>
              </a:ext>
            </a:extLst>
          </p:cNvPr>
          <p:cNvGraphicFramePr/>
          <p:nvPr/>
        </p:nvGraphicFramePr>
        <p:xfrm>
          <a:off x="711200" y="1600200"/>
          <a:ext cx="10668000" cy="4876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9422405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graphicEl>
                                              <a:dgm id="{BAE60E79-C556-4DFB-B96A-BDF9220ACAE2}"/>
                                            </p:graphicEl>
                                          </p:spTgt>
                                        </p:tgtEl>
                                        <p:attrNameLst>
                                          <p:attrName>style.visibility</p:attrName>
                                        </p:attrNameLst>
                                      </p:cBhvr>
                                      <p:to>
                                        <p:strVal val="visible"/>
                                      </p:to>
                                    </p:set>
                                    <p:animEffect transition="in" filter="wipe(left)">
                                      <p:cBhvr>
                                        <p:cTn id="7" dur="500"/>
                                        <p:tgtEl>
                                          <p:spTgt spid="2">
                                            <p:graphicEl>
                                              <a:dgm id="{BAE60E79-C556-4DFB-B96A-BDF9220ACAE2}"/>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graphicEl>
                                              <a:dgm id="{7A9AEC6B-FBA2-4A76-B69B-C0EA825D7D85}"/>
                                            </p:graphicEl>
                                          </p:spTgt>
                                        </p:tgtEl>
                                        <p:attrNameLst>
                                          <p:attrName>style.visibility</p:attrName>
                                        </p:attrNameLst>
                                      </p:cBhvr>
                                      <p:to>
                                        <p:strVal val="visible"/>
                                      </p:to>
                                    </p:set>
                                    <p:animEffect transition="in" filter="wipe(left)">
                                      <p:cBhvr>
                                        <p:cTn id="12" dur="500"/>
                                        <p:tgtEl>
                                          <p:spTgt spid="2">
                                            <p:graphicEl>
                                              <a:dgm id="{7A9AEC6B-FBA2-4A76-B69B-C0EA825D7D85}"/>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Sub>
          <a:bldDgm bld="one"/>
        </p:bldSub>
      </p:bldGraphic>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11EAED7-C8F9-45D8-A96E-859AC6FA8DAD}"/>
              </a:ext>
            </a:extLst>
          </p:cNvPr>
          <p:cNvSpPr txBox="1"/>
          <p:nvPr/>
        </p:nvSpPr>
        <p:spPr>
          <a:xfrm>
            <a:off x="3555340" y="1068047"/>
            <a:ext cx="4169731" cy="543675"/>
          </a:xfrm>
          <a:prstGeom prst="rect">
            <a:avLst/>
          </a:prstGeom>
          <a:noFill/>
        </p:spPr>
        <p:txBody>
          <a:bodyPr wrap="none" rtlCol="0">
            <a:spAutoFit/>
          </a:bodyPr>
          <a:lstStyle/>
          <a:p>
            <a:r>
              <a:rPr lang="en-US" altLang="en-US" sz="2933" dirty="0">
                <a:solidFill>
                  <a:schemeClr val="tx1">
                    <a:lumMod val="95000"/>
                    <a:lumOff val="5000"/>
                  </a:schemeClr>
                </a:solidFill>
                <a:latin typeface="Century Gothic" panose="020B0502020202020204" pitchFamily="34" charset="0"/>
                <a:cs typeface="Arial" pitchFamily="34" charset="0"/>
              </a:rPr>
              <a:t>Propositional Calculus</a:t>
            </a:r>
          </a:p>
        </p:txBody>
      </p:sp>
      <p:sp>
        <p:nvSpPr>
          <p:cNvPr id="5" name="TextBox 4">
            <a:extLst>
              <a:ext uri="{FF2B5EF4-FFF2-40B4-BE49-F238E27FC236}">
                <a16:creationId xmlns:a16="http://schemas.microsoft.com/office/drawing/2014/main" id="{01B16CEC-5382-4936-91C2-86CA7AF3650A}"/>
              </a:ext>
            </a:extLst>
          </p:cNvPr>
          <p:cNvSpPr txBox="1"/>
          <p:nvPr/>
        </p:nvSpPr>
        <p:spPr>
          <a:xfrm>
            <a:off x="723363" y="1611722"/>
            <a:ext cx="10655837" cy="2246769"/>
          </a:xfrm>
          <a:prstGeom prst="rect">
            <a:avLst/>
          </a:prstGeom>
          <a:noFill/>
        </p:spPr>
        <p:txBody>
          <a:bodyPr wrap="square">
            <a:spAutoFit/>
          </a:bodyPr>
          <a:lstStyle/>
          <a:p>
            <a:r>
              <a:rPr lang="en-US" altLang="en-US" sz="2000" b="1" dirty="0">
                <a:latin typeface="Century Gothic" panose="020B0502020202020204" pitchFamily="34" charset="0"/>
                <a:cs typeface="Times New Roman" panose="02020603050405020304" pitchFamily="18" charset="0"/>
              </a:rPr>
              <a:t>Propositions</a:t>
            </a:r>
          </a:p>
          <a:p>
            <a:endParaRPr lang="en-US" altLang="en-US" sz="2000" dirty="0">
              <a:latin typeface="Century Gothic" panose="020B0502020202020204" pitchFamily="34" charset="0"/>
              <a:cs typeface="Times New Roman" panose="02020603050405020304" pitchFamily="18" charset="0"/>
            </a:endParaRPr>
          </a:p>
          <a:p>
            <a:r>
              <a:rPr lang="en-US" altLang="en-US" sz="2000" dirty="0">
                <a:latin typeface="Century Gothic" panose="020B0502020202020204" pitchFamily="34" charset="0"/>
                <a:cs typeface="Times New Roman" panose="02020603050405020304" pitchFamily="18" charset="0"/>
              </a:rPr>
              <a:t>A number of words making a complete grammatical structure having a sense and meaning and also meant an assertion in logic or mathematics is called a sentence. This assertion may be of two types- declarative and non-declarative.</a:t>
            </a:r>
          </a:p>
          <a:p>
            <a:endParaRPr lang="en-US" altLang="en-US" sz="2000" dirty="0">
              <a:latin typeface="Century Gothic" panose="020B0502020202020204" pitchFamily="34" charset="0"/>
              <a:cs typeface="Times New Roman" panose="02020603050405020304" pitchFamily="18" charset="0"/>
            </a:endParaRPr>
          </a:p>
          <a:p>
            <a:r>
              <a:rPr lang="en-US" altLang="en-US" sz="2000" dirty="0">
                <a:latin typeface="Century Gothic" panose="020B0502020202020204" pitchFamily="34" charset="0"/>
                <a:cs typeface="Times New Roman" panose="02020603050405020304" pitchFamily="18" charset="0"/>
              </a:rPr>
              <a:t>A </a:t>
            </a:r>
            <a:r>
              <a:rPr lang="en-US" altLang="en-US" sz="2000" b="1" dirty="0">
                <a:latin typeface="Century Gothic" panose="020B0502020202020204" pitchFamily="34" charset="0"/>
                <a:cs typeface="Times New Roman" panose="02020603050405020304" pitchFamily="18" charset="0"/>
              </a:rPr>
              <a:t>proposition</a:t>
            </a:r>
            <a:r>
              <a:rPr lang="en-US" altLang="en-US" sz="2000" dirty="0">
                <a:latin typeface="Century Gothic" panose="020B0502020202020204" pitchFamily="34" charset="0"/>
                <a:cs typeface="Times New Roman" panose="02020603050405020304" pitchFamily="18" charset="0"/>
              </a:rPr>
              <a:t> or </a:t>
            </a:r>
            <a:r>
              <a:rPr lang="en-US" altLang="en-US" sz="2000" b="1" dirty="0">
                <a:latin typeface="Century Gothic" panose="020B0502020202020204" pitchFamily="34" charset="0"/>
                <a:cs typeface="Times New Roman" panose="02020603050405020304" pitchFamily="18" charset="0"/>
              </a:rPr>
              <a:t>statement</a:t>
            </a:r>
            <a:r>
              <a:rPr lang="en-US" altLang="en-US" sz="2000" dirty="0">
                <a:latin typeface="Century Gothic" panose="020B0502020202020204" pitchFamily="34" charset="0"/>
                <a:cs typeface="Times New Roman" panose="02020603050405020304" pitchFamily="18" charset="0"/>
              </a:rPr>
              <a:t> is a declarative sentence that is either true or false.</a:t>
            </a:r>
          </a:p>
        </p:txBody>
      </p:sp>
    </p:spTree>
    <p:extLst>
      <p:ext uri="{BB962C8B-B14F-4D97-AF65-F5344CB8AC3E}">
        <p14:creationId xmlns:p14="http://schemas.microsoft.com/office/powerpoint/2010/main" val="90599564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wipe(left)">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wipe(left)">
                                      <p:cBhvr>
                                        <p:cTn id="17"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11EAED7-C8F9-45D8-A96E-859AC6FA8DAD}"/>
              </a:ext>
            </a:extLst>
          </p:cNvPr>
          <p:cNvSpPr txBox="1"/>
          <p:nvPr/>
        </p:nvSpPr>
        <p:spPr>
          <a:xfrm>
            <a:off x="4718316" y="984137"/>
            <a:ext cx="2318263" cy="543675"/>
          </a:xfrm>
          <a:prstGeom prst="rect">
            <a:avLst/>
          </a:prstGeom>
          <a:noFill/>
        </p:spPr>
        <p:txBody>
          <a:bodyPr wrap="none" rtlCol="0">
            <a:spAutoFit/>
          </a:bodyPr>
          <a:lstStyle/>
          <a:p>
            <a:r>
              <a:rPr lang="en-US" altLang="en-US" sz="2933" dirty="0">
                <a:solidFill>
                  <a:schemeClr val="tx1">
                    <a:lumMod val="95000"/>
                    <a:lumOff val="5000"/>
                  </a:schemeClr>
                </a:solidFill>
                <a:latin typeface="Century Gothic" panose="020B0502020202020204" pitchFamily="34" charset="0"/>
                <a:cs typeface="Arial" pitchFamily="34" charset="0"/>
              </a:rPr>
              <a:t>Propositions</a:t>
            </a:r>
          </a:p>
        </p:txBody>
      </p:sp>
      <p:sp>
        <p:nvSpPr>
          <p:cNvPr id="5" name="TextBox 4">
            <a:extLst>
              <a:ext uri="{FF2B5EF4-FFF2-40B4-BE49-F238E27FC236}">
                <a16:creationId xmlns:a16="http://schemas.microsoft.com/office/drawing/2014/main" id="{01B16CEC-5382-4936-91C2-86CA7AF3650A}"/>
              </a:ext>
            </a:extLst>
          </p:cNvPr>
          <p:cNvSpPr txBox="1"/>
          <p:nvPr/>
        </p:nvSpPr>
        <p:spPr>
          <a:xfrm>
            <a:off x="723363" y="1611721"/>
            <a:ext cx="10655837" cy="3170099"/>
          </a:xfrm>
          <a:prstGeom prst="rect">
            <a:avLst/>
          </a:prstGeom>
          <a:noFill/>
        </p:spPr>
        <p:txBody>
          <a:bodyPr wrap="square">
            <a:spAutoFit/>
          </a:bodyPr>
          <a:lstStyle/>
          <a:p>
            <a:r>
              <a:rPr lang="en-US" altLang="en-US" sz="2000" dirty="0">
                <a:latin typeface="Century Gothic" panose="020B0502020202020204" pitchFamily="34" charset="0"/>
                <a:cs typeface="Times New Roman" panose="02020603050405020304" pitchFamily="18" charset="0"/>
              </a:rPr>
              <a:t>For example,  </a:t>
            </a:r>
            <a:r>
              <a:rPr lang="en-US" altLang="en-US" sz="2000" b="1" dirty="0">
                <a:latin typeface="Century Gothic" panose="020B0502020202020204" pitchFamily="34" charset="0"/>
                <a:cs typeface="Times New Roman" panose="02020603050405020304" pitchFamily="18" charset="0"/>
              </a:rPr>
              <a:t>“Three plus three equals six.” </a:t>
            </a:r>
            <a:r>
              <a:rPr lang="en-US" altLang="en-US" sz="2000" dirty="0">
                <a:latin typeface="Century Gothic" panose="020B0502020202020204" pitchFamily="34" charset="0"/>
                <a:cs typeface="Times New Roman" panose="02020603050405020304" pitchFamily="18" charset="0"/>
              </a:rPr>
              <a:t>and </a:t>
            </a:r>
            <a:r>
              <a:rPr lang="en-US" altLang="en-US" sz="2000" b="1" dirty="0">
                <a:latin typeface="Century Gothic" panose="020B0502020202020204" pitchFamily="34" charset="0"/>
                <a:cs typeface="Times New Roman" panose="02020603050405020304" pitchFamily="18" charset="0"/>
              </a:rPr>
              <a:t>“Three plus three equals seven.” </a:t>
            </a:r>
            <a:r>
              <a:rPr lang="en-US" altLang="en-US" sz="2000" dirty="0">
                <a:latin typeface="Century Gothic" panose="020B0502020202020204" pitchFamily="34" charset="0"/>
                <a:cs typeface="Times New Roman" panose="02020603050405020304" pitchFamily="18" charset="0"/>
              </a:rPr>
              <a:t>are both statements.  The first because it is true and second because it is false.</a:t>
            </a:r>
          </a:p>
          <a:p>
            <a:endParaRPr lang="en-US" altLang="en-US" sz="2000" dirty="0">
              <a:latin typeface="Century Gothic" panose="020B0502020202020204" pitchFamily="34" charset="0"/>
              <a:cs typeface="Times New Roman" panose="02020603050405020304" pitchFamily="18" charset="0"/>
            </a:endParaRPr>
          </a:p>
          <a:p>
            <a:r>
              <a:rPr lang="en-US" altLang="en-US" sz="2000" dirty="0">
                <a:latin typeface="Century Gothic" panose="020B0502020202020204" pitchFamily="34" charset="0"/>
                <a:cs typeface="Times New Roman" panose="02020603050405020304" pitchFamily="18" charset="0"/>
              </a:rPr>
              <a:t>Similarly, </a:t>
            </a:r>
            <a:r>
              <a:rPr lang="en-US" altLang="en-US" sz="2000" b="1" dirty="0">
                <a:latin typeface="Century Gothic" panose="020B0502020202020204" pitchFamily="34" charset="0"/>
                <a:cs typeface="Times New Roman" panose="02020603050405020304" pitchFamily="18" charset="0"/>
              </a:rPr>
              <a:t>“x + y &gt;1” </a:t>
            </a:r>
            <a:r>
              <a:rPr lang="en-US" altLang="en-US" sz="2000" dirty="0">
                <a:latin typeface="Century Gothic" panose="020B0502020202020204" pitchFamily="34" charset="0"/>
                <a:cs typeface="Times New Roman" panose="02020603050405020304" pitchFamily="18" charset="0"/>
              </a:rPr>
              <a:t>is not a statement because for some values of x and y the sentence is true, whereas for others it is false</a:t>
            </a:r>
          </a:p>
          <a:p>
            <a:endParaRPr lang="en-US" altLang="en-US" sz="2000" dirty="0">
              <a:latin typeface="Century Gothic" panose="020B0502020202020204" pitchFamily="34" charset="0"/>
              <a:cs typeface="Times New Roman" panose="02020603050405020304" pitchFamily="18" charset="0"/>
            </a:endParaRPr>
          </a:p>
          <a:p>
            <a:r>
              <a:rPr lang="en-US" altLang="en-US" sz="2000" dirty="0">
                <a:latin typeface="Century Gothic" panose="020B0502020202020204" pitchFamily="34" charset="0"/>
                <a:cs typeface="Times New Roman" panose="02020603050405020304" pitchFamily="18" charset="0"/>
              </a:rPr>
              <a:t>The truth or falsity of a statement is called its </a:t>
            </a:r>
            <a:r>
              <a:rPr lang="en-US" altLang="en-US" sz="2000" b="1" dirty="0">
                <a:latin typeface="Century Gothic" panose="020B0502020202020204" pitchFamily="34" charset="0"/>
                <a:cs typeface="Times New Roman" panose="02020603050405020304" pitchFamily="18" charset="0"/>
              </a:rPr>
              <a:t>truth value.  </a:t>
            </a:r>
            <a:r>
              <a:rPr lang="en-US" altLang="en-US" sz="2000" dirty="0">
                <a:latin typeface="Century Gothic" panose="020B0502020202020204" pitchFamily="34" charset="0"/>
                <a:cs typeface="Times New Roman" panose="02020603050405020304" pitchFamily="18" charset="0"/>
              </a:rPr>
              <a:t>Since only two possible truth values are admitted, this logic is also sometimes called as </a:t>
            </a:r>
            <a:r>
              <a:rPr lang="en-US" altLang="en-US" sz="2000" b="1" dirty="0">
                <a:latin typeface="Century Gothic" panose="020B0502020202020204" pitchFamily="34" charset="0"/>
                <a:cs typeface="Times New Roman" panose="02020603050405020304" pitchFamily="18" charset="0"/>
              </a:rPr>
              <a:t>two-valued logic. </a:t>
            </a:r>
          </a:p>
          <a:p>
            <a:endParaRPr lang="en-US" altLang="en-US" sz="2000" dirty="0">
              <a:latin typeface="Century Gothic" panose="020B0502020202020204" pitchFamily="34" charset="0"/>
              <a:cs typeface="Times New Roman" panose="02020603050405020304" pitchFamily="18" charset="0"/>
            </a:endParaRPr>
          </a:p>
          <a:p>
            <a:r>
              <a:rPr lang="en-US" altLang="en-US" sz="2000" b="1" dirty="0">
                <a:latin typeface="Century Gothic" panose="020B0502020202020204" pitchFamily="34" charset="0"/>
                <a:cs typeface="Times New Roman" panose="02020603050405020304" pitchFamily="18" charset="0"/>
              </a:rPr>
              <a:t>Questions, exclamations and commands are not propositions.</a:t>
            </a:r>
          </a:p>
        </p:txBody>
      </p:sp>
    </p:spTree>
    <p:extLst>
      <p:ext uri="{BB962C8B-B14F-4D97-AF65-F5344CB8AC3E}">
        <p14:creationId xmlns:p14="http://schemas.microsoft.com/office/powerpoint/2010/main" val="120907901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wipe(left)">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wipe(left)">
                                      <p:cBhvr>
                                        <p:cTn id="17" dur="500"/>
                                        <p:tgtEl>
                                          <p:spTgt spid="5">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txEl>
                                              <p:pRg st="6" end="6"/>
                                            </p:txEl>
                                          </p:spTgt>
                                        </p:tgtEl>
                                        <p:attrNameLst>
                                          <p:attrName>style.visibility</p:attrName>
                                        </p:attrNameLst>
                                      </p:cBhvr>
                                      <p:to>
                                        <p:strVal val="visible"/>
                                      </p:to>
                                    </p:set>
                                    <p:animEffect transition="in" filter="wipe(left)">
                                      <p:cBhvr>
                                        <p:cTn id="22"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11EAED7-C8F9-45D8-A96E-859AC6FA8DAD}"/>
              </a:ext>
            </a:extLst>
          </p:cNvPr>
          <p:cNvSpPr txBox="1"/>
          <p:nvPr/>
        </p:nvSpPr>
        <p:spPr>
          <a:xfrm>
            <a:off x="4585149" y="1068047"/>
            <a:ext cx="1898277" cy="543675"/>
          </a:xfrm>
          <a:prstGeom prst="rect">
            <a:avLst/>
          </a:prstGeom>
          <a:noFill/>
        </p:spPr>
        <p:txBody>
          <a:bodyPr wrap="none" rtlCol="0">
            <a:spAutoFit/>
          </a:bodyPr>
          <a:lstStyle/>
          <a:p>
            <a:r>
              <a:rPr lang="en-US" altLang="en-US" sz="2933" dirty="0">
                <a:solidFill>
                  <a:schemeClr val="tx1">
                    <a:lumMod val="95000"/>
                    <a:lumOff val="5000"/>
                  </a:schemeClr>
                </a:solidFill>
                <a:latin typeface="Century Gothic" panose="020B0502020202020204" pitchFamily="34" charset="0"/>
                <a:cs typeface="Arial" pitchFamily="34" charset="0"/>
              </a:rPr>
              <a:t>Examples</a:t>
            </a:r>
          </a:p>
        </p:txBody>
      </p:sp>
      <p:sp>
        <p:nvSpPr>
          <p:cNvPr id="5" name="TextBox 4">
            <a:extLst>
              <a:ext uri="{FF2B5EF4-FFF2-40B4-BE49-F238E27FC236}">
                <a16:creationId xmlns:a16="http://schemas.microsoft.com/office/drawing/2014/main" id="{01B16CEC-5382-4936-91C2-86CA7AF3650A}"/>
              </a:ext>
            </a:extLst>
          </p:cNvPr>
          <p:cNvSpPr txBox="1"/>
          <p:nvPr/>
        </p:nvSpPr>
        <p:spPr>
          <a:xfrm>
            <a:off x="723363" y="1611722"/>
            <a:ext cx="10655837" cy="4708981"/>
          </a:xfrm>
          <a:prstGeom prst="rect">
            <a:avLst/>
          </a:prstGeom>
          <a:noFill/>
        </p:spPr>
        <p:txBody>
          <a:bodyPr wrap="square">
            <a:spAutoFit/>
          </a:bodyPr>
          <a:lstStyle/>
          <a:p>
            <a:pPr marL="457189" indent="-457189">
              <a:buFont typeface="+mj-lt"/>
              <a:buAutoNum type="arabicPeriod"/>
            </a:pPr>
            <a:r>
              <a:rPr lang="en-US" altLang="en-US" sz="2000" dirty="0">
                <a:latin typeface="Century Gothic" panose="020B0502020202020204" pitchFamily="34" charset="0"/>
                <a:cs typeface="Times New Roman" panose="02020603050405020304" pitchFamily="18" charset="0"/>
              </a:rPr>
              <a:t>The sun rises in the west.</a:t>
            </a:r>
          </a:p>
          <a:p>
            <a:pPr marL="457189" indent="-457189">
              <a:buFont typeface="+mj-lt"/>
              <a:buAutoNum type="arabicPeriod"/>
            </a:pPr>
            <a:endParaRPr lang="en-US" altLang="en-US" sz="2000" dirty="0">
              <a:latin typeface="Century Gothic" panose="020B0502020202020204" pitchFamily="34" charset="0"/>
              <a:cs typeface="Times New Roman" panose="02020603050405020304" pitchFamily="18" charset="0"/>
            </a:endParaRPr>
          </a:p>
          <a:p>
            <a:pPr marL="457189" indent="-457189">
              <a:buFont typeface="+mj-lt"/>
              <a:buAutoNum type="arabicPeriod"/>
            </a:pPr>
            <a:r>
              <a:rPr lang="en-US" altLang="en-US" sz="2000" dirty="0">
                <a:latin typeface="Century Gothic" panose="020B0502020202020204" pitchFamily="34" charset="0"/>
                <a:cs typeface="Times New Roman" panose="02020603050405020304" pitchFamily="18" charset="0"/>
              </a:rPr>
              <a:t>2 + 4 = 6</a:t>
            </a:r>
          </a:p>
          <a:p>
            <a:pPr marL="457189" indent="-457189">
              <a:buFont typeface="+mj-lt"/>
              <a:buAutoNum type="arabicPeriod"/>
            </a:pPr>
            <a:endParaRPr lang="en-US" altLang="en-US" sz="2000" dirty="0">
              <a:latin typeface="Century Gothic" panose="020B0502020202020204" pitchFamily="34" charset="0"/>
              <a:cs typeface="Times New Roman" panose="02020603050405020304" pitchFamily="18" charset="0"/>
            </a:endParaRPr>
          </a:p>
          <a:p>
            <a:pPr marL="457189" indent="-457189">
              <a:buFont typeface="+mj-lt"/>
              <a:buAutoNum type="arabicPeriod"/>
            </a:pPr>
            <a:r>
              <a:rPr lang="en-US" altLang="en-US" sz="2000" dirty="0">
                <a:latin typeface="Century Gothic" panose="020B0502020202020204" pitchFamily="34" charset="0"/>
                <a:cs typeface="Times New Roman" panose="02020603050405020304" pitchFamily="18" charset="0"/>
              </a:rPr>
              <a:t>{5, 6}      {7, 6, 5}</a:t>
            </a:r>
          </a:p>
          <a:p>
            <a:endParaRPr lang="en-US" altLang="en-US" sz="2000" dirty="0">
              <a:latin typeface="Century Gothic" panose="020B0502020202020204" pitchFamily="34" charset="0"/>
              <a:cs typeface="Times New Roman" panose="02020603050405020304" pitchFamily="18" charset="0"/>
            </a:endParaRPr>
          </a:p>
          <a:p>
            <a:r>
              <a:rPr lang="en-US" altLang="en-US" sz="2000" dirty="0">
                <a:latin typeface="Century Gothic" panose="020B0502020202020204" pitchFamily="34" charset="0"/>
                <a:cs typeface="Times New Roman" panose="02020603050405020304" pitchFamily="18" charset="0"/>
              </a:rPr>
              <a:t>The sentences (1), (2) and (3) are statements, the first is false and second and third are true.</a:t>
            </a:r>
          </a:p>
          <a:p>
            <a:pPr marL="457189" indent="-457189">
              <a:buFont typeface="+mj-lt"/>
              <a:buAutoNum type="arabicPeriod" startAt="4"/>
            </a:pPr>
            <a:r>
              <a:rPr lang="en-US" altLang="en-US" sz="2000" dirty="0">
                <a:latin typeface="Century Gothic" panose="020B0502020202020204" pitchFamily="34" charset="0"/>
                <a:cs typeface="Times New Roman" panose="02020603050405020304" pitchFamily="18" charset="0"/>
              </a:rPr>
              <a:t>Do you speak English?  </a:t>
            </a:r>
          </a:p>
          <a:p>
            <a:r>
              <a:rPr lang="en-US" altLang="en-US" sz="2000" dirty="0">
                <a:latin typeface="Century Gothic" panose="020B0502020202020204" pitchFamily="34" charset="0"/>
                <a:cs typeface="Times New Roman" panose="02020603050405020304" pitchFamily="18" charset="0"/>
              </a:rPr>
              <a:t>  (is a question, hence not a statement)</a:t>
            </a:r>
          </a:p>
          <a:p>
            <a:r>
              <a:rPr lang="en-US" altLang="en-US" sz="2000" dirty="0">
                <a:latin typeface="Century Gothic" panose="020B0502020202020204" pitchFamily="34" charset="0"/>
                <a:cs typeface="Times New Roman" panose="02020603050405020304" pitchFamily="18" charset="0"/>
              </a:rPr>
              <a:t>5.   4 – x = 8  </a:t>
            </a:r>
          </a:p>
          <a:p>
            <a:r>
              <a:rPr lang="en-US" altLang="en-US" sz="2000" dirty="0">
                <a:latin typeface="Century Gothic" panose="020B0502020202020204" pitchFamily="34" charset="0"/>
                <a:cs typeface="Times New Roman" panose="02020603050405020304" pitchFamily="18" charset="0"/>
              </a:rPr>
              <a:t>   (is a declarative sentence, but not a statement, since it is  true or 			false, depends on the value of x)</a:t>
            </a:r>
          </a:p>
          <a:p>
            <a:pPr marL="457189" indent="-457189">
              <a:buAutoNum type="arabicPeriod" startAt="6"/>
            </a:pPr>
            <a:r>
              <a:rPr lang="en-US" altLang="en-US" sz="2000" dirty="0">
                <a:latin typeface="Century Gothic" panose="020B0502020202020204" pitchFamily="34" charset="0"/>
                <a:cs typeface="Times New Roman" panose="02020603050405020304" pitchFamily="18" charset="0"/>
              </a:rPr>
              <a:t>Close the door.   </a:t>
            </a:r>
          </a:p>
          <a:p>
            <a:r>
              <a:rPr lang="en-US" altLang="en-US" sz="2000" dirty="0">
                <a:latin typeface="Century Gothic" panose="020B0502020202020204" pitchFamily="34" charset="0"/>
                <a:cs typeface="Times New Roman" panose="02020603050405020304" pitchFamily="18" charset="0"/>
              </a:rPr>
              <a:t> (It is a command, so not a statement)</a:t>
            </a:r>
          </a:p>
        </p:txBody>
      </p:sp>
      <p:graphicFrame>
        <p:nvGraphicFramePr>
          <p:cNvPr id="2" name="Object 8">
            <a:extLst>
              <a:ext uri="{FF2B5EF4-FFF2-40B4-BE49-F238E27FC236}">
                <a16:creationId xmlns:a16="http://schemas.microsoft.com/office/drawing/2014/main" id="{5BD9DB6B-56A5-4192-AE69-098825BCE3CA}"/>
              </a:ext>
            </a:extLst>
          </p:cNvPr>
          <p:cNvGraphicFramePr>
            <a:graphicFrameLocks noChangeAspect="1"/>
          </p:cNvGraphicFramePr>
          <p:nvPr/>
        </p:nvGraphicFramePr>
        <p:xfrm>
          <a:off x="2004296" y="2961413"/>
          <a:ext cx="228600" cy="190500"/>
        </p:xfrm>
        <a:graphic>
          <a:graphicData uri="http://schemas.openxmlformats.org/presentationml/2006/ole">
            <mc:AlternateContent xmlns:mc="http://schemas.openxmlformats.org/markup-compatibility/2006">
              <mc:Choice xmlns:v="urn:schemas-microsoft-com:vml" Requires="v">
                <p:oleObj name="Equation" r:id="rId2" imgW="152280" imgH="126720" progId="Equation.3">
                  <p:embed/>
                </p:oleObj>
              </mc:Choice>
              <mc:Fallback>
                <p:oleObj name="Equation" r:id="rId2" imgW="152280" imgH="126720" progId="Equation.3">
                  <p:embed/>
                  <p:pic>
                    <p:nvPicPr>
                      <p:cNvPr id="2" name="Object 8">
                        <a:extLst>
                          <a:ext uri="{FF2B5EF4-FFF2-40B4-BE49-F238E27FC236}">
                            <a16:creationId xmlns:a16="http://schemas.microsoft.com/office/drawing/2014/main" id="{5BD9DB6B-56A5-4192-AE69-098825BCE3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04296" y="2961413"/>
                        <a:ext cx="228600" cy="190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67643250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wipe(left)">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wipe(left)">
                                      <p:cBhvr>
                                        <p:cTn id="17" dur="500"/>
                                        <p:tgtEl>
                                          <p:spTgt spid="5">
                                            <p:txEl>
                                              <p:pRg st="4" end="4"/>
                                            </p:txEl>
                                          </p:spTgt>
                                        </p:tgtEl>
                                      </p:cBhvr>
                                    </p:animEffect>
                                  </p:childTnLst>
                                </p:cTn>
                              </p:par>
                              <p:par>
                                <p:cTn id="18" presetID="22" presetClass="entr" presetSubtype="8" fill="hold" nodeType="with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wipe(left)">
                                      <p:cBhvr>
                                        <p:cTn id="20" dur="500"/>
                                        <p:tgtEl>
                                          <p:spTgt spid="2"/>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5">
                                            <p:txEl>
                                              <p:pRg st="6" end="6"/>
                                            </p:txEl>
                                          </p:spTgt>
                                        </p:tgtEl>
                                        <p:attrNameLst>
                                          <p:attrName>style.visibility</p:attrName>
                                        </p:attrNameLst>
                                      </p:cBhvr>
                                      <p:to>
                                        <p:strVal val="visible"/>
                                      </p:to>
                                    </p:set>
                                    <p:animEffect transition="in" filter="wipe(left)">
                                      <p:cBhvr>
                                        <p:cTn id="25" dur="500"/>
                                        <p:tgtEl>
                                          <p:spTgt spid="5">
                                            <p:txEl>
                                              <p:pRg st="6" end="6"/>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5">
                                            <p:txEl>
                                              <p:pRg st="7" end="7"/>
                                            </p:txEl>
                                          </p:spTgt>
                                        </p:tgtEl>
                                        <p:attrNameLst>
                                          <p:attrName>style.visibility</p:attrName>
                                        </p:attrNameLst>
                                      </p:cBhvr>
                                      <p:to>
                                        <p:strVal val="visible"/>
                                      </p:to>
                                    </p:set>
                                    <p:animEffect transition="in" filter="wipe(left)">
                                      <p:cBhvr>
                                        <p:cTn id="30" dur="500"/>
                                        <p:tgtEl>
                                          <p:spTgt spid="5">
                                            <p:txEl>
                                              <p:pRg st="7" end="7"/>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5">
                                            <p:txEl>
                                              <p:pRg st="8" end="8"/>
                                            </p:txEl>
                                          </p:spTgt>
                                        </p:tgtEl>
                                        <p:attrNameLst>
                                          <p:attrName>style.visibility</p:attrName>
                                        </p:attrNameLst>
                                      </p:cBhvr>
                                      <p:to>
                                        <p:strVal val="visible"/>
                                      </p:to>
                                    </p:set>
                                    <p:animEffect transition="in" filter="wipe(left)">
                                      <p:cBhvr>
                                        <p:cTn id="35" dur="500"/>
                                        <p:tgtEl>
                                          <p:spTgt spid="5">
                                            <p:txEl>
                                              <p:pRg st="8" end="8"/>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5">
                                            <p:txEl>
                                              <p:pRg st="9" end="9"/>
                                            </p:txEl>
                                          </p:spTgt>
                                        </p:tgtEl>
                                        <p:attrNameLst>
                                          <p:attrName>style.visibility</p:attrName>
                                        </p:attrNameLst>
                                      </p:cBhvr>
                                      <p:to>
                                        <p:strVal val="visible"/>
                                      </p:to>
                                    </p:set>
                                    <p:animEffect transition="in" filter="wipe(left)">
                                      <p:cBhvr>
                                        <p:cTn id="40" dur="500"/>
                                        <p:tgtEl>
                                          <p:spTgt spid="5">
                                            <p:txEl>
                                              <p:pRg st="9" end="9"/>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5">
                                            <p:txEl>
                                              <p:pRg st="10" end="10"/>
                                            </p:txEl>
                                          </p:spTgt>
                                        </p:tgtEl>
                                        <p:attrNameLst>
                                          <p:attrName>style.visibility</p:attrName>
                                        </p:attrNameLst>
                                      </p:cBhvr>
                                      <p:to>
                                        <p:strVal val="visible"/>
                                      </p:to>
                                    </p:set>
                                    <p:animEffect transition="in" filter="wipe(left)">
                                      <p:cBhvr>
                                        <p:cTn id="45" dur="500"/>
                                        <p:tgtEl>
                                          <p:spTgt spid="5">
                                            <p:txEl>
                                              <p:pRg st="10" end="10"/>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5">
                                            <p:txEl>
                                              <p:pRg st="11" end="11"/>
                                            </p:txEl>
                                          </p:spTgt>
                                        </p:tgtEl>
                                        <p:attrNameLst>
                                          <p:attrName>style.visibility</p:attrName>
                                        </p:attrNameLst>
                                      </p:cBhvr>
                                      <p:to>
                                        <p:strVal val="visible"/>
                                      </p:to>
                                    </p:set>
                                    <p:animEffect transition="in" filter="wipe(left)">
                                      <p:cBhvr>
                                        <p:cTn id="50" dur="500"/>
                                        <p:tgtEl>
                                          <p:spTgt spid="5">
                                            <p:txEl>
                                              <p:pRg st="11" end="11"/>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5">
                                            <p:txEl>
                                              <p:pRg st="12" end="12"/>
                                            </p:txEl>
                                          </p:spTgt>
                                        </p:tgtEl>
                                        <p:attrNameLst>
                                          <p:attrName>style.visibility</p:attrName>
                                        </p:attrNameLst>
                                      </p:cBhvr>
                                      <p:to>
                                        <p:strVal val="visible"/>
                                      </p:to>
                                    </p:set>
                                    <p:animEffect transition="in" filter="wipe(left)">
                                      <p:cBhvr>
                                        <p:cTn id="55" dur="500"/>
                                        <p:tgtEl>
                                          <p:spTgt spid="5">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11EAED7-C8F9-45D8-A96E-859AC6FA8DAD}"/>
              </a:ext>
            </a:extLst>
          </p:cNvPr>
          <p:cNvSpPr txBox="1"/>
          <p:nvPr/>
        </p:nvSpPr>
        <p:spPr>
          <a:xfrm>
            <a:off x="4549639" y="1068047"/>
            <a:ext cx="2483372" cy="543675"/>
          </a:xfrm>
          <a:prstGeom prst="rect">
            <a:avLst/>
          </a:prstGeom>
          <a:noFill/>
        </p:spPr>
        <p:txBody>
          <a:bodyPr wrap="none" rtlCol="0">
            <a:spAutoFit/>
          </a:bodyPr>
          <a:lstStyle/>
          <a:p>
            <a:r>
              <a:rPr lang="en-US" altLang="en-US" sz="2933" dirty="0">
                <a:solidFill>
                  <a:schemeClr val="tx1">
                    <a:lumMod val="95000"/>
                    <a:lumOff val="5000"/>
                  </a:schemeClr>
                </a:solidFill>
                <a:latin typeface="Century Gothic" panose="020B0502020202020204" pitchFamily="34" charset="0"/>
                <a:cs typeface="Arial" pitchFamily="34" charset="0"/>
              </a:rPr>
              <a:t>Examples…..</a:t>
            </a:r>
          </a:p>
        </p:txBody>
      </p:sp>
      <p:sp>
        <p:nvSpPr>
          <p:cNvPr id="5" name="TextBox 4">
            <a:extLst>
              <a:ext uri="{FF2B5EF4-FFF2-40B4-BE49-F238E27FC236}">
                <a16:creationId xmlns:a16="http://schemas.microsoft.com/office/drawing/2014/main" id="{01B16CEC-5382-4936-91C2-86CA7AF3650A}"/>
              </a:ext>
            </a:extLst>
          </p:cNvPr>
          <p:cNvSpPr txBox="1"/>
          <p:nvPr/>
        </p:nvSpPr>
        <p:spPr>
          <a:xfrm>
            <a:off x="723363" y="1611722"/>
            <a:ext cx="10655837" cy="1938992"/>
          </a:xfrm>
          <a:prstGeom prst="rect">
            <a:avLst/>
          </a:prstGeom>
          <a:noFill/>
        </p:spPr>
        <p:txBody>
          <a:bodyPr wrap="square">
            <a:spAutoFit/>
          </a:bodyPr>
          <a:lstStyle/>
          <a:p>
            <a:pPr marL="457189" indent="-457189">
              <a:buFont typeface="+mj-lt"/>
              <a:buAutoNum type="arabicPeriod" startAt="7"/>
            </a:pPr>
            <a:r>
              <a:rPr lang="en-US" altLang="en-US" sz="2000" dirty="0">
                <a:latin typeface="Century Gothic" panose="020B0502020202020204" pitchFamily="34" charset="0"/>
                <a:cs typeface="Times New Roman" panose="02020603050405020304" pitchFamily="18" charset="0"/>
              </a:rPr>
              <a:t>What a hot day?  </a:t>
            </a:r>
          </a:p>
          <a:p>
            <a:r>
              <a:rPr lang="en-US" altLang="en-US" sz="2000" dirty="0">
                <a:latin typeface="Century Gothic" panose="020B0502020202020204" pitchFamily="34" charset="0"/>
                <a:cs typeface="Times New Roman" panose="02020603050405020304" pitchFamily="18" charset="0"/>
              </a:rPr>
              <a:t> (It is exclamation, so not a statement)</a:t>
            </a:r>
          </a:p>
          <a:p>
            <a:pPr marL="457189" indent="-457189">
              <a:buFont typeface="+mj-lt"/>
              <a:buAutoNum type="arabicPeriod" startAt="7"/>
            </a:pPr>
            <a:endParaRPr lang="en-US" altLang="en-US" sz="2000" dirty="0">
              <a:latin typeface="Century Gothic" panose="020B0502020202020204" pitchFamily="34" charset="0"/>
              <a:cs typeface="Times New Roman" panose="02020603050405020304" pitchFamily="18" charset="0"/>
            </a:endParaRPr>
          </a:p>
          <a:p>
            <a:r>
              <a:rPr lang="en-US" altLang="en-US" sz="2000" dirty="0">
                <a:latin typeface="Century Gothic" panose="020B0502020202020204" pitchFamily="34" charset="0"/>
                <a:cs typeface="Times New Roman" panose="02020603050405020304" pitchFamily="18" charset="0"/>
              </a:rPr>
              <a:t>8.   We shall have chicken for dinner.   </a:t>
            </a:r>
          </a:p>
          <a:p>
            <a:r>
              <a:rPr lang="en-US" altLang="en-US" sz="2000" dirty="0">
                <a:latin typeface="Century Gothic" panose="020B0502020202020204" pitchFamily="34" charset="0"/>
                <a:cs typeface="Times New Roman" panose="02020603050405020304" pitchFamily="18" charset="0"/>
              </a:rPr>
              <a:t>(is a statement, since it is either true or false but not both, although one has to wait until dinner to find out if it is true or false)</a:t>
            </a:r>
          </a:p>
        </p:txBody>
      </p:sp>
    </p:spTree>
    <p:extLst>
      <p:ext uri="{BB962C8B-B14F-4D97-AF65-F5344CB8AC3E}">
        <p14:creationId xmlns:p14="http://schemas.microsoft.com/office/powerpoint/2010/main" val="175503149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wipe(left)">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Effect transition="in" filter="wipe(left)">
                                      <p:cBhvr>
                                        <p:cTn id="17" dur="500"/>
                                        <p:tgtEl>
                                          <p:spTgt spid="5">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
                                            <p:txEl>
                                              <p:pRg st="4" end="4"/>
                                            </p:txEl>
                                          </p:spTgt>
                                        </p:tgtEl>
                                        <p:attrNameLst>
                                          <p:attrName>style.visibility</p:attrName>
                                        </p:attrNameLst>
                                      </p:cBhvr>
                                      <p:to>
                                        <p:strVal val="visible"/>
                                      </p:to>
                                    </p:set>
                                    <p:animEffect transition="in" filter="wipe(left)">
                                      <p:cBhvr>
                                        <p:cTn id="22"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1B16CEC-5382-4936-91C2-86CA7AF3650A}"/>
              </a:ext>
            </a:extLst>
          </p:cNvPr>
          <p:cNvSpPr txBox="1"/>
          <p:nvPr/>
        </p:nvSpPr>
        <p:spPr>
          <a:xfrm>
            <a:off x="723363" y="1611722"/>
            <a:ext cx="10655837" cy="5016758"/>
          </a:xfrm>
          <a:prstGeom prst="rect">
            <a:avLst/>
          </a:prstGeom>
          <a:noFill/>
        </p:spPr>
        <p:txBody>
          <a:bodyPr wrap="square">
            <a:spAutoFit/>
          </a:bodyPr>
          <a:lstStyle/>
          <a:p>
            <a:r>
              <a:rPr lang="en-US" altLang="en-US" sz="2000" dirty="0">
                <a:latin typeface="Century Gothic" panose="020B0502020202020204" pitchFamily="34" charset="0"/>
                <a:cs typeface="Times New Roman" panose="02020603050405020304" pitchFamily="18" charset="0"/>
              </a:rPr>
              <a:t>Simple statements are represented by small letters p, q, r,….. Known as proposition variables.</a:t>
            </a:r>
          </a:p>
          <a:p>
            <a:endParaRPr lang="en-US" altLang="en-US" sz="2000" dirty="0">
              <a:latin typeface="Century Gothic" panose="020B0502020202020204" pitchFamily="34" charset="0"/>
              <a:cs typeface="Times New Roman" panose="02020603050405020304" pitchFamily="18" charset="0"/>
            </a:endParaRPr>
          </a:p>
          <a:p>
            <a:r>
              <a:rPr lang="en-US" altLang="en-US" sz="2000" dirty="0">
                <a:latin typeface="Century Gothic" panose="020B0502020202020204" pitchFamily="34" charset="0"/>
                <a:cs typeface="Times New Roman" panose="02020603050405020304" pitchFamily="18" charset="0"/>
              </a:rPr>
              <a:t>For example, usually a real variable is represented by the symbol x. This means that x is not a real number but can take a real value.</a:t>
            </a:r>
          </a:p>
          <a:p>
            <a:endParaRPr lang="en-US" altLang="en-US" sz="2000" dirty="0">
              <a:latin typeface="Century Gothic" panose="020B0502020202020204" pitchFamily="34" charset="0"/>
              <a:cs typeface="Times New Roman" panose="02020603050405020304" pitchFamily="18" charset="0"/>
            </a:endParaRPr>
          </a:p>
          <a:p>
            <a:r>
              <a:rPr lang="en-US" altLang="en-US" sz="2000" dirty="0">
                <a:latin typeface="Century Gothic" panose="020B0502020202020204" pitchFamily="34" charset="0"/>
                <a:cs typeface="Times New Roman" panose="02020603050405020304" pitchFamily="18" charset="0"/>
              </a:rPr>
              <a:t>Similarly, a propositional variable is not a proposition but can be replaced by a proposition.</a:t>
            </a:r>
          </a:p>
          <a:p>
            <a:endParaRPr lang="en-US" altLang="en-US" sz="2000" dirty="0">
              <a:latin typeface="Century Gothic" panose="020B0502020202020204" pitchFamily="34" charset="0"/>
              <a:cs typeface="Times New Roman" panose="02020603050405020304" pitchFamily="18" charset="0"/>
            </a:endParaRPr>
          </a:p>
          <a:p>
            <a:r>
              <a:rPr lang="en-US" altLang="en-US" sz="2000" dirty="0">
                <a:latin typeface="Century Gothic" panose="020B0502020202020204" pitchFamily="34" charset="0"/>
                <a:cs typeface="Times New Roman" panose="02020603050405020304" pitchFamily="18" charset="0"/>
              </a:rPr>
              <a:t>Propositional variables can only assume two values, true or false. </a:t>
            </a:r>
          </a:p>
          <a:p>
            <a:endParaRPr lang="en-US" altLang="en-US" sz="2000" dirty="0">
              <a:latin typeface="Century Gothic" panose="020B0502020202020204" pitchFamily="34" charset="0"/>
              <a:cs typeface="Times New Roman" panose="02020603050405020304" pitchFamily="18" charset="0"/>
            </a:endParaRPr>
          </a:p>
          <a:p>
            <a:r>
              <a:rPr lang="en-US" altLang="en-US" sz="2000" dirty="0">
                <a:latin typeface="Century Gothic" panose="020B0502020202020204" pitchFamily="34" charset="0"/>
                <a:cs typeface="Times New Roman" panose="02020603050405020304" pitchFamily="18" charset="0"/>
              </a:rPr>
              <a:t>There are also two propositional constants, T and F, that represent true and false, respectively.</a:t>
            </a:r>
          </a:p>
          <a:p>
            <a:endParaRPr lang="en-US" altLang="en-US" sz="2000" dirty="0">
              <a:latin typeface="Century Gothic" panose="020B0502020202020204" pitchFamily="34" charset="0"/>
              <a:cs typeface="Times New Roman" panose="02020603050405020304" pitchFamily="18" charset="0"/>
            </a:endParaRPr>
          </a:p>
          <a:p>
            <a:r>
              <a:rPr lang="en-US" altLang="en-US" sz="2000" dirty="0">
                <a:latin typeface="Century Gothic" panose="020B0502020202020204" pitchFamily="34" charset="0"/>
                <a:cs typeface="Times New Roman" panose="02020603050405020304" pitchFamily="18" charset="0"/>
              </a:rPr>
              <a:t>If p denotes the proposition </a:t>
            </a:r>
            <a:r>
              <a:rPr lang="en-US" altLang="en-US" sz="2000" b="1" dirty="0">
                <a:latin typeface="Century Gothic" panose="020B0502020202020204" pitchFamily="34" charset="0"/>
                <a:cs typeface="Times New Roman" panose="02020603050405020304" pitchFamily="18" charset="0"/>
              </a:rPr>
              <a:t>“The sun sets in the west.” </a:t>
            </a:r>
            <a:r>
              <a:rPr lang="en-US" altLang="en-US" sz="2000" dirty="0">
                <a:latin typeface="Century Gothic" panose="020B0502020202020204" pitchFamily="34" charset="0"/>
                <a:cs typeface="Times New Roman" panose="02020603050405020304" pitchFamily="18" charset="0"/>
              </a:rPr>
              <a:t>, then instead of saying the proposition </a:t>
            </a:r>
            <a:r>
              <a:rPr lang="en-US" altLang="en-US" sz="2000" b="1" dirty="0">
                <a:latin typeface="Century Gothic" panose="020B0502020202020204" pitchFamily="34" charset="0"/>
                <a:cs typeface="Times New Roman" panose="02020603050405020304" pitchFamily="18" charset="0"/>
              </a:rPr>
              <a:t>“The sun sets in the west”</a:t>
            </a:r>
            <a:r>
              <a:rPr lang="en-US" altLang="en-US" sz="2000" dirty="0">
                <a:latin typeface="Century Gothic" panose="020B0502020202020204" pitchFamily="34" charset="0"/>
                <a:cs typeface="Times New Roman" panose="02020603050405020304" pitchFamily="18" charset="0"/>
              </a:rPr>
              <a:t> is true , one can simply say the value of p is T. </a:t>
            </a:r>
          </a:p>
        </p:txBody>
      </p:sp>
      <p:sp>
        <p:nvSpPr>
          <p:cNvPr id="2" name="TextBox 1">
            <a:extLst>
              <a:ext uri="{FF2B5EF4-FFF2-40B4-BE49-F238E27FC236}">
                <a16:creationId xmlns:a16="http://schemas.microsoft.com/office/drawing/2014/main" id="{EBF9559D-A794-451D-860D-0A1F88CE133C}"/>
              </a:ext>
            </a:extLst>
          </p:cNvPr>
          <p:cNvSpPr txBox="1"/>
          <p:nvPr/>
        </p:nvSpPr>
        <p:spPr>
          <a:xfrm>
            <a:off x="4451984" y="984136"/>
            <a:ext cx="2483372" cy="543675"/>
          </a:xfrm>
          <a:prstGeom prst="rect">
            <a:avLst/>
          </a:prstGeom>
          <a:noFill/>
        </p:spPr>
        <p:txBody>
          <a:bodyPr wrap="none" rtlCol="0">
            <a:spAutoFit/>
          </a:bodyPr>
          <a:lstStyle/>
          <a:p>
            <a:r>
              <a:rPr lang="en-US" altLang="en-US" sz="2933" dirty="0">
                <a:solidFill>
                  <a:schemeClr val="tx1">
                    <a:lumMod val="95000"/>
                    <a:lumOff val="5000"/>
                  </a:schemeClr>
                </a:solidFill>
                <a:latin typeface="Century Gothic" panose="020B0502020202020204" pitchFamily="34" charset="0"/>
                <a:cs typeface="Arial" pitchFamily="34" charset="0"/>
              </a:rPr>
              <a:t>Examples…..</a:t>
            </a:r>
          </a:p>
        </p:txBody>
      </p:sp>
    </p:spTree>
    <p:extLst>
      <p:ext uri="{BB962C8B-B14F-4D97-AF65-F5344CB8AC3E}">
        <p14:creationId xmlns:p14="http://schemas.microsoft.com/office/powerpoint/2010/main" val="391495173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wipe(left)">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wipe(left)">
                                      <p:cBhvr>
                                        <p:cTn id="17" dur="500"/>
                                        <p:tgtEl>
                                          <p:spTgt spid="5">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
                                            <p:txEl>
                                              <p:pRg st="6" end="6"/>
                                            </p:txEl>
                                          </p:spTgt>
                                        </p:tgtEl>
                                        <p:attrNameLst>
                                          <p:attrName>style.visibility</p:attrName>
                                        </p:attrNameLst>
                                      </p:cBhvr>
                                      <p:to>
                                        <p:strVal val="visible"/>
                                      </p:to>
                                    </p:set>
                                    <p:animEffect transition="in" filter="wipe(left)">
                                      <p:cBhvr>
                                        <p:cTn id="22" dur="500"/>
                                        <p:tgtEl>
                                          <p:spTgt spid="5">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
                                            <p:txEl>
                                              <p:pRg st="8" end="8"/>
                                            </p:txEl>
                                          </p:spTgt>
                                        </p:tgtEl>
                                        <p:attrNameLst>
                                          <p:attrName>style.visibility</p:attrName>
                                        </p:attrNameLst>
                                      </p:cBhvr>
                                      <p:to>
                                        <p:strVal val="visible"/>
                                      </p:to>
                                    </p:set>
                                    <p:animEffect transition="in" filter="wipe(left)">
                                      <p:cBhvr>
                                        <p:cTn id="27" dur="500"/>
                                        <p:tgtEl>
                                          <p:spTgt spid="5">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5">
                                            <p:txEl>
                                              <p:pRg st="10" end="10"/>
                                            </p:txEl>
                                          </p:spTgt>
                                        </p:tgtEl>
                                        <p:attrNameLst>
                                          <p:attrName>style.visibility</p:attrName>
                                        </p:attrNameLst>
                                      </p:cBhvr>
                                      <p:to>
                                        <p:strVal val="visible"/>
                                      </p:to>
                                    </p:set>
                                    <p:animEffect transition="in" filter="wipe(left)">
                                      <p:cBhvr>
                                        <p:cTn id="32" dur="500"/>
                                        <p:tgtEl>
                                          <p:spTgt spid="5">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2ED1AF7-2E15-4F91-A46B-3C77A3032F4C}"/>
              </a:ext>
            </a:extLst>
          </p:cNvPr>
          <p:cNvSpPr txBox="1"/>
          <p:nvPr/>
        </p:nvSpPr>
        <p:spPr>
          <a:xfrm>
            <a:off x="4363209" y="1065762"/>
            <a:ext cx="1810111" cy="543675"/>
          </a:xfrm>
          <a:prstGeom prst="rect">
            <a:avLst/>
          </a:prstGeom>
          <a:noFill/>
        </p:spPr>
        <p:txBody>
          <a:bodyPr wrap="none" rtlCol="0">
            <a:spAutoFit/>
          </a:bodyPr>
          <a:lstStyle/>
          <a:p>
            <a:r>
              <a:rPr lang="en-US" sz="2933" dirty="0">
                <a:solidFill>
                  <a:schemeClr val="tx1">
                    <a:lumMod val="95000"/>
                    <a:lumOff val="5000"/>
                  </a:schemeClr>
                </a:solidFill>
                <a:latin typeface="Century Gothic" panose="020B0502020202020204" pitchFamily="34" charset="0"/>
                <a:cs typeface="Arial" pitchFamily="34" charset="0"/>
              </a:rPr>
              <a:t>MCQ - 1 </a:t>
            </a:r>
          </a:p>
        </p:txBody>
      </p:sp>
      <p:sp>
        <p:nvSpPr>
          <p:cNvPr id="2" name="TextBox 2">
            <a:extLst>
              <a:ext uri="{FF2B5EF4-FFF2-40B4-BE49-F238E27FC236}">
                <a16:creationId xmlns:a16="http://schemas.microsoft.com/office/drawing/2014/main" id="{7FC0A8A0-F297-4146-9D7D-E2940EEC9D83}"/>
              </a:ext>
            </a:extLst>
          </p:cNvPr>
          <p:cNvSpPr txBox="1"/>
          <p:nvPr/>
        </p:nvSpPr>
        <p:spPr>
          <a:xfrm>
            <a:off x="726253" y="1609437"/>
            <a:ext cx="10652948" cy="489364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b="1" dirty="0">
                <a:latin typeface="Century Gothic" panose="020B0502020202020204" pitchFamily="34" charset="0"/>
                <a:cs typeface="Arial" panose="020B0604020202020204" pitchFamily="34" charset="0"/>
              </a:rPr>
              <a:t>Identify which of the following statements are propositions-</a:t>
            </a:r>
          </a:p>
          <a:p>
            <a:endParaRPr lang="en-US" sz="2400" b="1" dirty="0">
              <a:latin typeface="Century Gothic" panose="020B0502020202020204" pitchFamily="34" charset="0"/>
              <a:cs typeface="Arial" panose="020B0604020202020204" pitchFamily="34" charset="0"/>
            </a:endParaRPr>
          </a:p>
          <a:p>
            <a:pPr marL="533387" indent="-533387">
              <a:buFont typeface="+mj-lt"/>
              <a:buAutoNum type="romanLcPeriod"/>
            </a:pPr>
            <a:r>
              <a:rPr lang="en-US" sz="2400" dirty="0">
                <a:latin typeface="Century Gothic" panose="020B0502020202020204" pitchFamily="34" charset="0"/>
                <a:cs typeface="Arial" panose="020B0604020202020204" pitchFamily="34" charset="0"/>
              </a:rPr>
              <a:t>France is a country.</a:t>
            </a:r>
          </a:p>
          <a:p>
            <a:pPr marL="533387" indent="-533387">
              <a:buFont typeface="+mj-lt"/>
              <a:buAutoNum type="romanLcPeriod"/>
            </a:pPr>
            <a:r>
              <a:rPr lang="en-US" sz="2400" dirty="0">
                <a:latin typeface="Century Gothic" panose="020B0502020202020204" pitchFamily="34" charset="0"/>
                <a:cs typeface="Arial" panose="020B0604020202020204" pitchFamily="34" charset="0"/>
              </a:rPr>
              <a:t>2020 will be a leap year.</a:t>
            </a:r>
          </a:p>
          <a:p>
            <a:pPr marL="533387" indent="-533387">
              <a:buFont typeface="+mj-lt"/>
              <a:buAutoNum type="romanLcPeriod"/>
            </a:pPr>
            <a:r>
              <a:rPr lang="en-US" sz="2400" dirty="0">
                <a:latin typeface="Century Gothic" panose="020B0502020202020204" pitchFamily="34" charset="0"/>
                <a:cs typeface="Arial" panose="020B0604020202020204" pitchFamily="34" charset="0"/>
              </a:rPr>
              <a:t>Sun rises in the west.</a:t>
            </a:r>
          </a:p>
          <a:p>
            <a:pPr marL="533387" indent="-533387">
              <a:buFont typeface="+mj-lt"/>
              <a:buAutoNum type="romanLcPeriod"/>
            </a:pPr>
            <a:r>
              <a:rPr lang="en-US" sz="2400" dirty="0">
                <a:latin typeface="Century Gothic" panose="020B0502020202020204" pitchFamily="34" charset="0"/>
                <a:cs typeface="Arial" panose="020B0604020202020204" pitchFamily="34" charset="0"/>
              </a:rPr>
              <a:t>: x + 6 = 7</a:t>
            </a:r>
          </a:p>
          <a:p>
            <a:pPr marL="457189" indent="-457189">
              <a:buFont typeface="+mj-lt"/>
              <a:buAutoNum type="alphaUcPeriod"/>
            </a:pPr>
            <a:endParaRPr lang="en-US" sz="2400" dirty="0">
              <a:latin typeface="Century Gothic" panose="020B0502020202020204" pitchFamily="34" charset="0"/>
              <a:cs typeface="Arial" panose="020B0604020202020204" pitchFamily="34" charset="0"/>
            </a:endParaRPr>
          </a:p>
          <a:p>
            <a:r>
              <a:rPr lang="en-US" sz="2400" b="1" dirty="0">
                <a:latin typeface="Century Gothic" panose="020B0502020202020204" pitchFamily="34" charset="0"/>
                <a:cs typeface="Arial" panose="020B0604020202020204" pitchFamily="34" charset="0"/>
              </a:rPr>
              <a:t>Answer:</a:t>
            </a:r>
          </a:p>
          <a:p>
            <a:endParaRPr lang="en-US" sz="2400" b="1" dirty="0">
              <a:latin typeface="Century Gothic" panose="020B0502020202020204" pitchFamily="34" charset="0"/>
              <a:cs typeface="Arial" panose="020B0604020202020204" pitchFamily="34" charset="0"/>
            </a:endParaRPr>
          </a:p>
          <a:p>
            <a:pPr marL="533387" indent="-533387">
              <a:buFont typeface="+mj-lt"/>
              <a:buAutoNum type="romanLcPeriod"/>
            </a:pPr>
            <a:r>
              <a:rPr lang="en-US" sz="2400" dirty="0">
                <a:latin typeface="Century Gothic" panose="020B0502020202020204" pitchFamily="34" charset="0"/>
                <a:cs typeface="Arial" panose="020B0604020202020204" pitchFamily="34" charset="0"/>
              </a:rPr>
              <a:t>Proposition (True)</a:t>
            </a:r>
          </a:p>
          <a:p>
            <a:pPr marL="533387" indent="-533387">
              <a:buFont typeface="+mj-lt"/>
              <a:buAutoNum type="romanLcPeriod"/>
            </a:pPr>
            <a:r>
              <a:rPr lang="en-US" sz="2400" dirty="0">
                <a:latin typeface="Century Gothic" panose="020B0502020202020204" pitchFamily="34" charset="0"/>
                <a:cs typeface="Arial" panose="020B0604020202020204" pitchFamily="34" charset="0"/>
              </a:rPr>
              <a:t>Proposition (True)</a:t>
            </a:r>
          </a:p>
          <a:p>
            <a:pPr marL="533387" indent="-533387">
              <a:buFont typeface="+mj-lt"/>
              <a:buAutoNum type="romanLcPeriod"/>
            </a:pPr>
            <a:r>
              <a:rPr lang="en-US" sz="2400" dirty="0">
                <a:latin typeface="Century Gothic" panose="020B0502020202020204" pitchFamily="34" charset="0"/>
                <a:cs typeface="Arial" panose="020B0604020202020204" pitchFamily="34" charset="0"/>
              </a:rPr>
              <a:t>Proposition (False)</a:t>
            </a:r>
          </a:p>
          <a:p>
            <a:pPr marL="533387" indent="-533387">
              <a:buFont typeface="+mj-lt"/>
              <a:buAutoNum type="romanLcPeriod"/>
            </a:pPr>
            <a:r>
              <a:rPr lang="en-US" sz="2400" dirty="0">
                <a:latin typeface="Century Gothic" panose="020B0502020202020204" pitchFamily="34" charset="0"/>
                <a:cs typeface="Arial" panose="020B0604020202020204" pitchFamily="34" charset="0"/>
              </a:rPr>
              <a:t>Not a proposition (Predicate)</a:t>
            </a:r>
          </a:p>
        </p:txBody>
      </p:sp>
    </p:spTree>
    <p:extLst>
      <p:ext uri="{BB962C8B-B14F-4D97-AF65-F5344CB8AC3E}">
        <p14:creationId xmlns:p14="http://schemas.microsoft.com/office/powerpoint/2010/main" val="130636761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wipe(left)">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wipe(left)">
                                      <p:cBhvr>
                                        <p:cTn id="17" dur="5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wipe(left)">
                                      <p:cBhvr>
                                        <p:cTn id="22" dur="500"/>
                                        <p:tgtEl>
                                          <p:spTgt spid="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animEffect transition="in" filter="wipe(left)">
                                      <p:cBhvr>
                                        <p:cTn id="27" dur="500"/>
                                        <p:tgtEl>
                                          <p:spTgt spid="2">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
                                            <p:txEl>
                                              <p:pRg st="7" end="7"/>
                                            </p:txEl>
                                          </p:spTgt>
                                        </p:tgtEl>
                                        <p:attrNameLst>
                                          <p:attrName>style.visibility</p:attrName>
                                        </p:attrNameLst>
                                      </p:cBhvr>
                                      <p:to>
                                        <p:strVal val="visible"/>
                                      </p:to>
                                    </p:set>
                                    <p:animEffect transition="in" filter="wipe(left)">
                                      <p:cBhvr>
                                        <p:cTn id="32" dur="500"/>
                                        <p:tgtEl>
                                          <p:spTgt spid="2">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
                                            <p:txEl>
                                              <p:pRg st="9" end="9"/>
                                            </p:txEl>
                                          </p:spTgt>
                                        </p:tgtEl>
                                        <p:attrNameLst>
                                          <p:attrName>style.visibility</p:attrName>
                                        </p:attrNameLst>
                                      </p:cBhvr>
                                      <p:to>
                                        <p:strVal val="visible"/>
                                      </p:to>
                                    </p:set>
                                    <p:animEffect transition="in" filter="wipe(left)">
                                      <p:cBhvr>
                                        <p:cTn id="37" dur="500"/>
                                        <p:tgtEl>
                                          <p:spTgt spid="2">
                                            <p:txEl>
                                              <p:pRg st="9" end="9"/>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
                                            <p:txEl>
                                              <p:pRg st="10" end="10"/>
                                            </p:txEl>
                                          </p:spTgt>
                                        </p:tgtEl>
                                        <p:attrNameLst>
                                          <p:attrName>style.visibility</p:attrName>
                                        </p:attrNameLst>
                                      </p:cBhvr>
                                      <p:to>
                                        <p:strVal val="visible"/>
                                      </p:to>
                                    </p:set>
                                    <p:animEffect transition="in" filter="wipe(left)">
                                      <p:cBhvr>
                                        <p:cTn id="42" dur="500"/>
                                        <p:tgtEl>
                                          <p:spTgt spid="2">
                                            <p:txEl>
                                              <p:pRg st="10" end="1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
                                            <p:txEl>
                                              <p:pRg st="11" end="11"/>
                                            </p:txEl>
                                          </p:spTgt>
                                        </p:tgtEl>
                                        <p:attrNameLst>
                                          <p:attrName>style.visibility</p:attrName>
                                        </p:attrNameLst>
                                      </p:cBhvr>
                                      <p:to>
                                        <p:strVal val="visible"/>
                                      </p:to>
                                    </p:set>
                                    <p:animEffect transition="in" filter="wipe(left)">
                                      <p:cBhvr>
                                        <p:cTn id="47" dur="500"/>
                                        <p:tgtEl>
                                          <p:spTgt spid="2">
                                            <p:txEl>
                                              <p:pRg st="11" end="11"/>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
                                            <p:txEl>
                                              <p:pRg st="12" end="12"/>
                                            </p:txEl>
                                          </p:spTgt>
                                        </p:tgtEl>
                                        <p:attrNameLst>
                                          <p:attrName>style.visibility</p:attrName>
                                        </p:attrNameLst>
                                      </p:cBhvr>
                                      <p:to>
                                        <p:strVal val="visible"/>
                                      </p:to>
                                    </p:set>
                                    <p:animEffect transition="in" filter="wipe(left)">
                                      <p:cBhvr>
                                        <p:cTn id="52" dur="500"/>
                                        <p:tgtEl>
                                          <p:spTgt spid="2">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2ED1AF7-2E15-4F91-A46B-3C77A3032F4C}"/>
              </a:ext>
            </a:extLst>
          </p:cNvPr>
          <p:cNvSpPr txBox="1"/>
          <p:nvPr/>
        </p:nvSpPr>
        <p:spPr>
          <a:xfrm>
            <a:off x="4691682" y="1001892"/>
            <a:ext cx="1810111" cy="543675"/>
          </a:xfrm>
          <a:prstGeom prst="rect">
            <a:avLst/>
          </a:prstGeom>
          <a:noFill/>
        </p:spPr>
        <p:txBody>
          <a:bodyPr wrap="none" rtlCol="0">
            <a:spAutoFit/>
          </a:bodyPr>
          <a:lstStyle/>
          <a:p>
            <a:r>
              <a:rPr lang="en-US" sz="2933" dirty="0">
                <a:solidFill>
                  <a:schemeClr val="tx1">
                    <a:lumMod val="95000"/>
                    <a:lumOff val="5000"/>
                  </a:schemeClr>
                </a:solidFill>
                <a:latin typeface="Century Gothic" panose="020B0502020202020204" pitchFamily="34" charset="0"/>
                <a:cs typeface="Arial" pitchFamily="34" charset="0"/>
              </a:rPr>
              <a:t>MCQ - 2 </a:t>
            </a:r>
          </a:p>
        </p:txBody>
      </p:sp>
      <p:sp>
        <p:nvSpPr>
          <p:cNvPr id="2" name="TextBox 2">
            <a:extLst>
              <a:ext uri="{FF2B5EF4-FFF2-40B4-BE49-F238E27FC236}">
                <a16:creationId xmlns:a16="http://schemas.microsoft.com/office/drawing/2014/main" id="{7FC0A8A0-F297-4146-9D7D-E2940EEC9D83}"/>
              </a:ext>
            </a:extLst>
          </p:cNvPr>
          <p:cNvSpPr txBox="1"/>
          <p:nvPr/>
        </p:nvSpPr>
        <p:spPr>
          <a:xfrm>
            <a:off x="726253" y="1609437"/>
            <a:ext cx="10652948" cy="489364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b="1" dirty="0">
                <a:latin typeface="Century Gothic" panose="020B0502020202020204" pitchFamily="34" charset="0"/>
                <a:cs typeface="Arial" panose="020B0604020202020204" pitchFamily="34" charset="0"/>
              </a:rPr>
              <a:t>Identify which of the following statements are propositions-</a:t>
            </a:r>
          </a:p>
          <a:p>
            <a:endParaRPr lang="en-US" sz="2400" b="1" dirty="0">
              <a:latin typeface="Century Gothic" panose="020B0502020202020204" pitchFamily="34" charset="0"/>
              <a:cs typeface="Arial" panose="020B0604020202020204" pitchFamily="34" charset="0"/>
            </a:endParaRPr>
          </a:p>
          <a:p>
            <a:pPr marL="533387" indent="-533387">
              <a:buFont typeface="+mj-lt"/>
              <a:buAutoNum type="romanLcPeriod"/>
            </a:pPr>
            <a:r>
              <a:rPr lang="en-US" sz="2400" dirty="0">
                <a:latin typeface="Century Gothic" panose="020B0502020202020204" pitchFamily="34" charset="0"/>
                <a:cs typeface="Arial" panose="020B0604020202020204" pitchFamily="34" charset="0"/>
              </a:rPr>
              <a:t>This sentence is true.</a:t>
            </a:r>
          </a:p>
          <a:p>
            <a:pPr marL="533387" indent="-533387">
              <a:buFont typeface="+mj-lt"/>
              <a:buAutoNum type="romanLcPeriod"/>
            </a:pPr>
            <a:r>
              <a:rPr lang="en-US" sz="2400" dirty="0">
                <a:latin typeface="Century Gothic" panose="020B0502020202020204" pitchFamily="34" charset="0"/>
                <a:cs typeface="Arial" panose="020B0604020202020204" pitchFamily="34" charset="0"/>
              </a:rPr>
              <a:t>This sentence is false.</a:t>
            </a:r>
          </a:p>
          <a:p>
            <a:pPr marL="533387" indent="-533387">
              <a:buFont typeface="+mj-lt"/>
              <a:buAutoNum type="romanLcPeriod"/>
            </a:pPr>
            <a:r>
              <a:rPr lang="en-US" sz="2400" dirty="0">
                <a:latin typeface="Century Gothic" panose="020B0502020202020204" pitchFamily="34" charset="0"/>
                <a:cs typeface="Arial" panose="020B0604020202020204" pitchFamily="34" charset="0"/>
              </a:rPr>
              <a:t>It will rain tomorrow.</a:t>
            </a:r>
          </a:p>
          <a:p>
            <a:pPr marL="533387" indent="-533387">
              <a:buFont typeface="+mj-lt"/>
              <a:buAutoNum type="romanLcPeriod"/>
            </a:pPr>
            <a:r>
              <a:rPr lang="en-US" sz="2400" dirty="0">
                <a:latin typeface="Century Gothic" panose="020B0502020202020204" pitchFamily="34" charset="0"/>
                <a:cs typeface="Arial" panose="020B0604020202020204" pitchFamily="34" charset="0"/>
              </a:rPr>
              <a:t>Fan is rotating.</a:t>
            </a:r>
          </a:p>
          <a:p>
            <a:pPr marL="457189" indent="-457189">
              <a:buFont typeface="+mj-lt"/>
              <a:buAutoNum type="alphaUcPeriod"/>
            </a:pPr>
            <a:endParaRPr lang="en-US" sz="2400" dirty="0">
              <a:latin typeface="Century Gothic" panose="020B0502020202020204" pitchFamily="34" charset="0"/>
              <a:cs typeface="Arial" panose="020B0604020202020204" pitchFamily="34" charset="0"/>
            </a:endParaRPr>
          </a:p>
          <a:p>
            <a:r>
              <a:rPr lang="en-US" sz="2400" b="1" dirty="0">
                <a:latin typeface="Century Gothic" panose="020B0502020202020204" pitchFamily="34" charset="0"/>
                <a:cs typeface="Arial" panose="020B0604020202020204" pitchFamily="34" charset="0"/>
              </a:rPr>
              <a:t>Answer:</a:t>
            </a:r>
          </a:p>
          <a:p>
            <a:endParaRPr lang="en-US" sz="2400" b="1" dirty="0">
              <a:latin typeface="Century Gothic" panose="020B0502020202020204" pitchFamily="34" charset="0"/>
              <a:cs typeface="Arial" panose="020B0604020202020204" pitchFamily="34" charset="0"/>
            </a:endParaRPr>
          </a:p>
          <a:p>
            <a:pPr marL="533387" indent="-533387">
              <a:buFont typeface="+mj-lt"/>
              <a:buAutoNum type="romanLcPeriod"/>
            </a:pPr>
            <a:r>
              <a:rPr lang="en-US" sz="2400" dirty="0">
                <a:latin typeface="Century Gothic" panose="020B0502020202020204" pitchFamily="34" charset="0"/>
                <a:cs typeface="Arial" panose="020B0604020202020204" pitchFamily="34" charset="0"/>
              </a:rPr>
              <a:t>Proposition (True)</a:t>
            </a:r>
          </a:p>
          <a:p>
            <a:pPr marL="533387" indent="-533387">
              <a:buFont typeface="+mj-lt"/>
              <a:buAutoNum type="romanLcPeriod"/>
            </a:pPr>
            <a:r>
              <a:rPr lang="en-US" sz="2400" dirty="0">
                <a:latin typeface="Century Gothic" panose="020B0502020202020204" pitchFamily="34" charset="0"/>
                <a:cs typeface="Arial" panose="020B0604020202020204" pitchFamily="34" charset="0"/>
              </a:rPr>
              <a:t>Not a proposition (Inconsistent)</a:t>
            </a:r>
          </a:p>
          <a:p>
            <a:pPr marL="533387" indent="-533387">
              <a:buFont typeface="+mj-lt"/>
              <a:buAutoNum type="romanLcPeriod"/>
            </a:pPr>
            <a:r>
              <a:rPr lang="en-US" sz="2400" dirty="0">
                <a:latin typeface="Century Gothic" panose="020B0502020202020204" pitchFamily="34" charset="0"/>
                <a:cs typeface="Arial" panose="020B0604020202020204" pitchFamily="34" charset="0"/>
              </a:rPr>
              <a:t>Proposition (Will be confirmed tomorrow whether true or false)</a:t>
            </a:r>
          </a:p>
          <a:p>
            <a:pPr marL="533387" indent="-533387">
              <a:buFont typeface="+mj-lt"/>
              <a:buAutoNum type="romanLcPeriod"/>
            </a:pPr>
            <a:r>
              <a:rPr lang="en-US" sz="2400" dirty="0">
                <a:latin typeface="Century Gothic" panose="020B0502020202020204" pitchFamily="34" charset="0"/>
                <a:cs typeface="Arial" panose="020B0604020202020204" pitchFamily="34" charset="0"/>
              </a:rPr>
              <a:t>Proposition (True if fan is rotating otherwise false)</a:t>
            </a:r>
          </a:p>
        </p:txBody>
      </p:sp>
    </p:spTree>
    <p:extLst>
      <p:ext uri="{BB962C8B-B14F-4D97-AF65-F5344CB8AC3E}">
        <p14:creationId xmlns:p14="http://schemas.microsoft.com/office/powerpoint/2010/main" val="246299242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wipe(left)">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wipe(left)">
                                      <p:cBhvr>
                                        <p:cTn id="17" dur="5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wipe(left)">
                                      <p:cBhvr>
                                        <p:cTn id="22" dur="500"/>
                                        <p:tgtEl>
                                          <p:spTgt spid="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animEffect transition="in" filter="wipe(left)">
                                      <p:cBhvr>
                                        <p:cTn id="27" dur="500"/>
                                        <p:tgtEl>
                                          <p:spTgt spid="2">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
                                            <p:txEl>
                                              <p:pRg st="7" end="7"/>
                                            </p:txEl>
                                          </p:spTgt>
                                        </p:tgtEl>
                                        <p:attrNameLst>
                                          <p:attrName>style.visibility</p:attrName>
                                        </p:attrNameLst>
                                      </p:cBhvr>
                                      <p:to>
                                        <p:strVal val="visible"/>
                                      </p:to>
                                    </p:set>
                                    <p:animEffect transition="in" filter="wipe(left)">
                                      <p:cBhvr>
                                        <p:cTn id="32" dur="500"/>
                                        <p:tgtEl>
                                          <p:spTgt spid="2">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
                                            <p:txEl>
                                              <p:pRg st="9" end="9"/>
                                            </p:txEl>
                                          </p:spTgt>
                                        </p:tgtEl>
                                        <p:attrNameLst>
                                          <p:attrName>style.visibility</p:attrName>
                                        </p:attrNameLst>
                                      </p:cBhvr>
                                      <p:to>
                                        <p:strVal val="visible"/>
                                      </p:to>
                                    </p:set>
                                    <p:animEffect transition="in" filter="wipe(left)">
                                      <p:cBhvr>
                                        <p:cTn id="37" dur="500"/>
                                        <p:tgtEl>
                                          <p:spTgt spid="2">
                                            <p:txEl>
                                              <p:pRg st="9" end="9"/>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
                                            <p:txEl>
                                              <p:pRg st="10" end="10"/>
                                            </p:txEl>
                                          </p:spTgt>
                                        </p:tgtEl>
                                        <p:attrNameLst>
                                          <p:attrName>style.visibility</p:attrName>
                                        </p:attrNameLst>
                                      </p:cBhvr>
                                      <p:to>
                                        <p:strVal val="visible"/>
                                      </p:to>
                                    </p:set>
                                    <p:animEffect transition="in" filter="wipe(left)">
                                      <p:cBhvr>
                                        <p:cTn id="42" dur="500"/>
                                        <p:tgtEl>
                                          <p:spTgt spid="2">
                                            <p:txEl>
                                              <p:pRg st="10" end="1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
                                            <p:txEl>
                                              <p:pRg st="11" end="11"/>
                                            </p:txEl>
                                          </p:spTgt>
                                        </p:tgtEl>
                                        <p:attrNameLst>
                                          <p:attrName>style.visibility</p:attrName>
                                        </p:attrNameLst>
                                      </p:cBhvr>
                                      <p:to>
                                        <p:strVal val="visible"/>
                                      </p:to>
                                    </p:set>
                                    <p:animEffect transition="in" filter="wipe(left)">
                                      <p:cBhvr>
                                        <p:cTn id="47" dur="500"/>
                                        <p:tgtEl>
                                          <p:spTgt spid="2">
                                            <p:txEl>
                                              <p:pRg st="11" end="11"/>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
                                            <p:txEl>
                                              <p:pRg st="12" end="12"/>
                                            </p:txEl>
                                          </p:spTgt>
                                        </p:tgtEl>
                                        <p:attrNameLst>
                                          <p:attrName>style.visibility</p:attrName>
                                        </p:attrNameLst>
                                      </p:cBhvr>
                                      <p:to>
                                        <p:strVal val="visible"/>
                                      </p:to>
                                    </p:set>
                                    <p:animEffect transition="in" filter="wipe(left)">
                                      <p:cBhvr>
                                        <p:cTn id="52" dur="500"/>
                                        <p:tgtEl>
                                          <p:spTgt spid="2">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11EAED7-C8F9-45D8-A96E-859AC6FA8DAD}"/>
              </a:ext>
            </a:extLst>
          </p:cNvPr>
          <p:cNvSpPr txBox="1"/>
          <p:nvPr/>
        </p:nvSpPr>
        <p:spPr>
          <a:xfrm>
            <a:off x="3484318" y="1188323"/>
            <a:ext cx="4402167" cy="543675"/>
          </a:xfrm>
          <a:prstGeom prst="rect">
            <a:avLst/>
          </a:prstGeom>
          <a:noFill/>
        </p:spPr>
        <p:txBody>
          <a:bodyPr wrap="none" rtlCol="0">
            <a:spAutoFit/>
          </a:bodyPr>
          <a:lstStyle/>
          <a:p>
            <a:r>
              <a:rPr lang="en-US" altLang="en-US" sz="2933" dirty="0">
                <a:solidFill>
                  <a:schemeClr val="tx1">
                    <a:lumMod val="95000"/>
                    <a:lumOff val="5000"/>
                  </a:schemeClr>
                </a:solidFill>
                <a:latin typeface="Century Gothic" panose="020B0502020202020204" pitchFamily="34" charset="0"/>
                <a:cs typeface="Arial" pitchFamily="34" charset="0"/>
              </a:rPr>
              <a:t>Compound Proposition</a:t>
            </a:r>
          </a:p>
        </p:txBody>
      </p:sp>
      <p:graphicFrame>
        <p:nvGraphicFramePr>
          <p:cNvPr id="3" name="Diagram 2">
            <a:extLst>
              <a:ext uri="{FF2B5EF4-FFF2-40B4-BE49-F238E27FC236}">
                <a16:creationId xmlns:a16="http://schemas.microsoft.com/office/drawing/2014/main" id="{A8449505-5020-458E-9A77-F2531F9A9797}"/>
              </a:ext>
            </a:extLst>
          </p:cNvPr>
          <p:cNvGraphicFramePr/>
          <p:nvPr/>
        </p:nvGraphicFramePr>
        <p:xfrm>
          <a:off x="711200" y="1594040"/>
          <a:ext cx="10668000" cy="48829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4657053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graphicEl>
                                              <a:dgm id="{CC17BBC1-252A-4835-A273-1054F37F6DF6}"/>
                                            </p:graphicEl>
                                          </p:spTgt>
                                        </p:tgtEl>
                                        <p:attrNameLst>
                                          <p:attrName>style.visibility</p:attrName>
                                        </p:attrNameLst>
                                      </p:cBhvr>
                                      <p:to>
                                        <p:strVal val="visible"/>
                                      </p:to>
                                    </p:set>
                                    <p:animEffect transition="in" filter="wipe(left)">
                                      <p:cBhvr>
                                        <p:cTn id="7" dur="500"/>
                                        <p:tgtEl>
                                          <p:spTgt spid="3">
                                            <p:graphicEl>
                                              <a:dgm id="{CC17BBC1-252A-4835-A273-1054F37F6DF6}"/>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graphicEl>
                                              <a:dgm id="{0CA4EF3D-3E01-4794-8B11-6CF6CB2A77D7}"/>
                                            </p:graphicEl>
                                          </p:spTgt>
                                        </p:tgtEl>
                                        <p:attrNameLst>
                                          <p:attrName>style.visibility</p:attrName>
                                        </p:attrNameLst>
                                      </p:cBhvr>
                                      <p:to>
                                        <p:strVal val="visible"/>
                                      </p:to>
                                    </p:set>
                                    <p:animEffect transition="in" filter="wipe(left)">
                                      <p:cBhvr>
                                        <p:cTn id="12" dur="500"/>
                                        <p:tgtEl>
                                          <p:spTgt spid="3">
                                            <p:graphicEl>
                                              <a:dgm id="{0CA4EF3D-3E01-4794-8B11-6CF6CB2A77D7}"/>
                                            </p:graphicEl>
                                          </p:spTgt>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3">
                                            <p:graphicEl>
                                              <a:dgm id="{1D0BE04E-C26E-4A45-B3D3-A3A81F3707C3}"/>
                                            </p:graphicEl>
                                          </p:spTgt>
                                        </p:tgtEl>
                                        <p:attrNameLst>
                                          <p:attrName>style.visibility</p:attrName>
                                        </p:attrNameLst>
                                      </p:cBhvr>
                                      <p:to>
                                        <p:strVal val="visible"/>
                                      </p:to>
                                    </p:set>
                                    <p:animEffect transition="in" filter="wipe(left)">
                                      <p:cBhvr>
                                        <p:cTn id="15" dur="500"/>
                                        <p:tgtEl>
                                          <p:spTgt spid="3">
                                            <p:graphicEl>
                                              <a:dgm id="{1D0BE04E-C26E-4A45-B3D3-A3A81F3707C3}"/>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Sub>
          <a:bldDgm bld="one"/>
        </p:bldSub>
      </p:bldGraphic>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11EAED7-C8F9-45D8-A96E-859AC6FA8DAD}"/>
              </a:ext>
            </a:extLst>
          </p:cNvPr>
          <p:cNvSpPr txBox="1"/>
          <p:nvPr/>
        </p:nvSpPr>
        <p:spPr>
          <a:xfrm>
            <a:off x="4185654" y="987228"/>
            <a:ext cx="2484976" cy="543675"/>
          </a:xfrm>
          <a:prstGeom prst="rect">
            <a:avLst/>
          </a:prstGeom>
          <a:noFill/>
        </p:spPr>
        <p:txBody>
          <a:bodyPr wrap="none" rtlCol="0">
            <a:spAutoFit/>
          </a:bodyPr>
          <a:lstStyle/>
          <a:p>
            <a:r>
              <a:rPr lang="en-US" altLang="en-US" sz="2933" dirty="0">
                <a:solidFill>
                  <a:schemeClr val="tx1">
                    <a:lumMod val="95000"/>
                    <a:lumOff val="5000"/>
                  </a:schemeClr>
                </a:solidFill>
                <a:latin typeface="Century Gothic" panose="020B0502020202020204" pitchFamily="34" charset="0"/>
                <a:cs typeface="Arial" pitchFamily="34" charset="0"/>
              </a:rPr>
              <a:t>Connectives</a:t>
            </a:r>
          </a:p>
        </p:txBody>
      </p:sp>
      <p:sp>
        <p:nvSpPr>
          <p:cNvPr id="5" name="TextBox 4">
            <a:extLst>
              <a:ext uri="{FF2B5EF4-FFF2-40B4-BE49-F238E27FC236}">
                <a16:creationId xmlns:a16="http://schemas.microsoft.com/office/drawing/2014/main" id="{01B16CEC-5382-4936-91C2-86CA7AF3650A}"/>
              </a:ext>
            </a:extLst>
          </p:cNvPr>
          <p:cNvSpPr txBox="1"/>
          <p:nvPr/>
        </p:nvSpPr>
        <p:spPr>
          <a:xfrm>
            <a:off x="723363" y="1611722"/>
            <a:ext cx="10655837" cy="2246769"/>
          </a:xfrm>
          <a:prstGeom prst="rect">
            <a:avLst/>
          </a:prstGeom>
          <a:noFill/>
        </p:spPr>
        <p:txBody>
          <a:bodyPr wrap="square">
            <a:spAutoFit/>
          </a:bodyPr>
          <a:lstStyle/>
          <a:p>
            <a:r>
              <a:rPr lang="en-US" altLang="en-US" sz="2000" dirty="0">
                <a:latin typeface="Century Gothic" panose="020B0502020202020204" pitchFamily="34" charset="0"/>
                <a:cs typeface="Times New Roman" panose="02020603050405020304" pitchFamily="18" charset="0"/>
              </a:rPr>
              <a:t>The word and phrases (or symbols) used to form compound propositions are called connectives. </a:t>
            </a:r>
          </a:p>
          <a:p>
            <a:endParaRPr lang="en-US" altLang="en-US" sz="2000" dirty="0">
              <a:latin typeface="Century Gothic" panose="020B0502020202020204" pitchFamily="34" charset="0"/>
              <a:cs typeface="Times New Roman" panose="02020603050405020304" pitchFamily="18" charset="0"/>
            </a:endParaRPr>
          </a:p>
          <a:p>
            <a:r>
              <a:rPr lang="en-US" altLang="en-US" sz="2000" dirty="0">
                <a:latin typeface="Century Gothic" panose="020B0502020202020204" pitchFamily="34" charset="0"/>
                <a:cs typeface="Times New Roman" panose="02020603050405020304" pitchFamily="18" charset="0"/>
              </a:rPr>
              <a:t>There are five basic connectives called negation, conjunction, disjunction, implication or conditional and equivalence or biconditional.</a:t>
            </a:r>
          </a:p>
          <a:p>
            <a:endParaRPr lang="en-US" altLang="en-US" sz="2000" dirty="0">
              <a:latin typeface="Century Gothic" panose="020B0502020202020204" pitchFamily="34" charset="0"/>
              <a:cs typeface="Times New Roman" panose="02020603050405020304" pitchFamily="18" charset="0"/>
            </a:endParaRPr>
          </a:p>
          <a:p>
            <a:r>
              <a:rPr lang="en-US" altLang="en-US" sz="2000" b="1" dirty="0">
                <a:latin typeface="Century Gothic" panose="020B0502020202020204" pitchFamily="34" charset="0"/>
                <a:cs typeface="Times New Roman" panose="02020603050405020304" pitchFamily="18" charset="0"/>
              </a:rPr>
              <a:t>The following symbols are used to represent connectives.</a:t>
            </a:r>
          </a:p>
        </p:txBody>
      </p:sp>
      <p:graphicFrame>
        <p:nvGraphicFramePr>
          <p:cNvPr id="2" name="Table 1">
            <a:extLst>
              <a:ext uri="{FF2B5EF4-FFF2-40B4-BE49-F238E27FC236}">
                <a16:creationId xmlns:a16="http://schemas.microsoft.com/office/drawing/2014/main" id="{51218389-5BA0-48CB-B9B8-44CE61C334BE}"/>
              </a:ext>
            </a:extLst>
          </p:cNvPr>
          <p:cNvGraphicFramePr>
            <a:graphicFrameLocks noGrp="1"/>
          </p:cNvGraphicFramePr>
          <p:nvPr/>
        </p:nvGraphicFramePr>
        <p:xfrm>
          <a:off x="711200" y="4020128"/>
          <a:ext cx="10668000" cy="2460135"/>
        </p:xfrm>
        <a:graphic>
          <a:graphicData uri="http://schemas.openxmlformats.org/drawingml/2006/table">
            <a:tbl>
              <a:tblPr/>
              <a:tblGrid>
                <a:gridCol w="1524000">
                  <a:extLst>
                    <a:ext uri="{9D8B030D-6E8A-4147-A177-3AD203B41FA5}">
                      <a16:colId xmlns:a16="http://schemas.microsoft.com/office/drawing/2014/main" val="420244987"/>
                    </a:ext>
                  </a:extLst>
                </a:gridCol>
                <a:gridCol w="2540000">
                  <a:extLst>
                    <a:ext uri="{9D8B030D-6E8A-4147-A177-3AD203B41FA5}">
                      <a16:colId xmlns:a16="http://schemas.microsoft.com/office/drawing/2014/main" val="2353416201"/>
                    </a:ext>
                  </a:extLst>
                </a:gridCol>
                <a:gridCol w="4470400">
                  <a:extLst>
                    <a:ext uri="{9D8B030D-6E8A-4147-A177-3AD203B41FA5}">
                      <a16:colId xmlns:a16="http://schemas.microsoft.com/office/drawing/2014/main" val="4250975473"/>
                    </a:ext>
                  </a:extLst>
                </a:gridCol>
                <a:gridCol w="2133600">
                  <a:extLst>
                    <a:ext uri="{9D8B030D-6E8A-4147-A177-3AD203B41FA5}">
                      <a16:colId xmlns:a16="http://schemas.microsoft.com/office/drawing/2014/main" val="976435591"/>
                    </a:ext>
                  </a:extLst>
                </a:gridCol>
              </a:tblGrid>
              <a:tr h="423805">
                <a:tc>
                  <a:txBody>
                    <a:bodyPr/>
                    <a:lstStyle>
                      <a:lvl1pPr eaLnBrk="0" hangingPunct="0">
                        <a:spcBef>
                          <a:spcPct val="20000"/>
                        </a:spcBef>
                        <a:defRPr sz="2800">
                          <a:solidFill>
                            <a:schemeClr val="tx1"/>
                          </a:solidFill>
                          <a:latin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1" i="0" u="none" strike="noStrike" cap="none" normalizeH="0" baseline="0" dirty="0">
                          <a:ln>
                            <a:noFill/>
                          </a:ln>
                          <a:solidFill>
                            <a:sysClr val="windowText" lastClr="000000"/>
                          </a:solidFill>
                          <a:effectLst/>
                          <a:latin typeface="Century Gothic" panose="020B0502020202020204" pitchFamily="34" charset="0"/>
                        </a:rPr>
                        <a:t>Symbol</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1"/>
                    </a:solidFill>
                  </a:tcPr>
                </a:tc>
                <a:tc>
                  <a:txBody>
                    <a:bodyPr/>
                    <a:lstStyle>
                      <a:lvl1pPr eaLnBrk="0" hangingPunct="0">
                        <a:spcBef>
                          <a:spcPct val="20000"/>
                        </a:spcBef>
                        <a:defRPr sz="2800">
                          <a:solidFill>
                            <a:schemeClr val="tx1"/>
                          </a:solidFill>
                          <a:latin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1" i="0" u="none" strike="noStrike" cap="none" normalizeH="0" baseline="0" dirty="0">
                          <a:ln>
                            <a:noFill/>
                          </a:ln>
                          <a:solidFill>
                            <a:sysClr val="windowText" lastClr="000000"/>
                          </a:solidFill>
                          <a:effectLst/>
                          <a:latin typeface="Century Gothic" panose="020B0502020202020204" pitchFamily="34" charset="0"/>
                        </a:rPr>
                        <a:t>Connective word</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1"/>
                    </a:solidFill>
                  </a:tcPr>
                </a:tc>
                <a:tc>
                  <a:txBody>
                    <a:bodyPr/>
                    <a:lstStyle>
                      <a:lvl1pPr eaLnBrk="0" hangingPunct="0">
                        <a:spcBef>
                          <a:spcPct val="20000"/>
                        </a:spcBef>
                        <a:defRPr sz="2800">
                          <a:solidFill>
                            <a:schemeClr val="tx1"/>
                          </a:solidFill>
                          <a:latin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1" i="0" u="none" strike="noStrike" cap="none" normalizeH="0" baseline="0" dirty="0">
                          <a:ln>
                            <a:noFill/>
                          </a:ln>
                          <a:solidFill>
                            <a:sysClr val="windowText" lastClr="000000"/>
                          </a:solidFill>
                          <a:effectLst/>
                          <a:latin typeface="Century Gothic" panose="020B0502020202020204" pitchFamily="34" charset="0"/>
                        </a:rPr>
                        <a:t>Nature of the statement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1"/>
                    </a:solidFill>
                  </a:tcPr>
                </a:tc>
                <a:tc>
                  <a:txBody>
                    <a:bodyPr/>
                    <a:lstStyle>
                      <a:lvl1pPr eaLnBrk="0" hangingPunct="0">
                        <a:spcBef>
                          <a:spcPct val="20000"/>
                        </a:spcBef>
                        <a:defRPr sz="2800">
                          <a:solidFill>
                            <a:schemeClr val="tx1"/>
                          </a:solidFill>
                          <a:latin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1" i="0" u="none" strike="noStrike" cap="none" normalizeH="0" baseline="0" dirty="0">
                          <a:ln>
                            <a:noFill/>
                          </a:ln>
                          <a:solidFill>
                            <a:sysClr val="windowText" lastClr="000000"/>
                          </a:solidFill>
                          <a:effectLst/>
                          <a:latin typeface="Century Gothic" panose="020B0502020202020204" pitchFamily="34" charset="0"/>
                        </a:rPr>
                        <a:t>Symbolic form</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1"/>
                    </a:solidFill>
                  </a:tcPr>
                </a:tc>
                <a:extLst>
                  <a:ext uri="{0D108BD9-81ED-4DB2-BD59-A6C34878D82A}">
                    <a16:rowId xmlns:a16="http://schemas.microsoft.com/office/drawing/2014/main" val="3230963807"/>
                  </a:ext>
                </a:extLst>
              </a:tr>
              <a:tr h="396240">
                <a:tc>
                  <a:txBody>
                    <a:bodyPr/>
                    <a:lstStyle>
                      <a:lvl1pPr eaLnBrk="0" hangingPunct="0">
                        <a:spcBef>
                          <a:spcPct val="20000"/>
                        </a:spcBef>
                        <a:defRPr sz="2800">
                          <a:solidFill>
                            <a:schemeClr val="tx1"/>
                          </a:solidFill>
                          <a:latin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rgbClr val="000000"/>
                          </a:solidFill>
                          <a:effectLst/>
                          <a:latin typeface="Century Gothic" panose="020B0502020202020204" pitchFamily="34" charset="0"/>
                        </a:rPr>
                        <a:t>~, ¬</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rgbClr val="000000"/>
                          </a:solidFill>
                          <a:effectLst/>
                          <a:latin typeface="Century Gothic" panose="020B0502020202020204" pitchFamily="34" charset="0"/>
                        </a:rPr>
                        <a:t>Not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108000" marR="0" lvl="0" indent="0" algn="l"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Century Gothic" panose="020B0502020202020204" pitchFamily="34" charset="0"/>
                        </a:rPr>
                        <a:t>Negation</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rgbClr val="000000"/>
                          </a:solidFill>
                          <a:effectLst/>
                          <a:latin typeface="Century Gothic" panose="020B0502020202020204" pitchFamily="34" charset="0"/>
                        </a:rPr>
                        <a:t>~p</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132449703"/>
                  </a:ext>
                </a:extLst>
              </a:tr>
              <a:tr h="396240">
                <a:tc>
                  <a:txBody>
                    <a:bodyPr/>
                    <a:lstStyle>
                      <a:lvl1pPr eaLnBrk="0" hangingPunct="0">
                        <a:spcBef>
                          <a:spcPct val="20000"/>
                        </a:spcBef>
                        <a:defRPr sz="2800">
                          <a:solidFill>
                            <a:schemeClr val="tx1"/>
                          </a:solidFill>
                          <a:latin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rgbClr val="000000"/>
                          </a:solidFill>
                          <a:effectLst/>
                          <a:latin typeface="Century Gothic" panose="020B0502020202020204" pitchFamily="34" charset="0"/>
                        </a:rPr>
                        <a: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rgbClr val="000000"/>
                          </a:solidFill>
                          <a:effectLst/>
                          <a:latin typeface="Century Gothic" panose="020B0502020202020204" pitchFamily="34" charset="0"/>
                        </a:rPr>
                        <a:t>And</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108000" marR="0" lvl="0" indent="0" algn="l"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Century Gothic" panose="020B0502020202020204" pitchFamily="34" charset="0"/>
                        </a:rPr>
                        <a:t>Conjunction</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rgbClr val="000000"/>
                          </a:solidFill>
                          <a:effectLst/>
                          <a:latin typeface="Century Gothic" panose="020B0502020202020204" pitchFamily="34" charset="0"/>
                        </a:rPr>
                        <a:t>p ⋀ q</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139646066"/>
                  </a:ext>
                </a:extLst>
              </a:tr>
              <a:tr h="396240">
                <a:tc>
                  <a:txBody>
                    <a:bodyPr/>
                    <a:lstStyle>
                      <a:lvl1pPr eaLnBrk="0" hangingPunct="0">
                        <a:spcBef>
                          <a:spcPct val="20000"/>
                        </a:spcBef>
                        <a:defRPr sz="2800">
                          <a:solidFill>
                            <a:schemeClr val="tx1"/>
                          </a:solidFill>
                          <a:latin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rgbClr val="000000"/>
                          </a:solidFill>
                          <a:effectLst/>
                          <a:latin typeface="Century Gothic" panose="020B0502020202020204" pitchFamily="34" charset="0"/>
                        </a:rPr>
                        <a: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rgbClr val="000000"/>
                          </a:solidFill>
                          <a:effectLst/>
                          <a:latin typeface="Century Gothic" panose="020B0502020202020204" pitchFamily="34" charset="0"/>
                        </a:rPr>
                        <a:t>Or</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108000" marR="0" lvl="0" indent="0" algn="l"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Century Gothic" panose="020B0502020202020204" pitchFamily="34" charset="0"/>
                        </a:rPr>
                        <a:t>Disjunction</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rgbClr val="000000"/>
                          </a:solidFill>
                          <a:effectLst/>
                          <a:latin typeface="Century Gothic" panose="020B0502020202020204" pitchFamily="34" charset="0"/>
                        </a:rPr>
                        <a:t>p ⋁ q</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35607891"/>
                  </a:ext>
                </a:extLst>
              </a:tr>
              <a:tr h="423805">
                <a:tc>
                  <a:txBody>
                    <a:bodyPr/>
                    <a:lstStyle>
                      <a:lvl1pPr eaLnBrk="0" hangingPunct="0">
                        <a:spcBef>
                          <a:spcPct val="20000"/>
                        </a:spcBef>
                        <a:defRPr sz="2800">
                          <a:solidFill>
                            <a:schemeClr val="tx1"/>
                          </a:solidFill>
                          <a:latin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rgbClr val="000000"/>
                          </a:solidFill>
                          <a:effectLst/>
                          <a:latin typeface="Century Gothic" panose="020B0502020202020204" pitchFamily="34" charset="0"/>
                        </a:rPr>
                        <a:t>→, ⟹</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rgbClr val="000000"/>
                          </a:solidFill>
                          <a:effectLst/>
                          <a:latin typeface="Century Gothic" panose="020B0502020202020204" pitchFamily="34" charset="0"/>
                        </a:rPr>
                        <a:t>If…..then</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108000" marR="0" lvl="0" indent="0" algn="l"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Century Gothic" panose="020B0502020202020204" pitchFamily="34" charset="0"/>
                        </a:rPr>
                        <a:t>Implication or conditional</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rgbClr val="000000"/>
                          </a:solidFill>
                          <a:effectLst/>
                          <a:latin typeface="Century Gothic" panose="020B0502020202020204" pitchFamily="34" charset="0"/>
                        </a:rPr>
                        <a:t>p ⟹ q</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320185389"/>
                  </a:ext>
                </a:extLst>
              </a:tr>
              <a:tr h="423805">
                <a:tc>
                  <a:txBody>
                    <a:bodyPr/>
                    <a:lstStyle>
                      <a:lvl1pPr eaLnBrk="0" hangingPunct="0">
                        <a:spcBef>
                          <a:spcPct val="20000"/>
                        </a:spcBef>
                        <a:defRPr sz="2800">
                          <a:solidFill>
                            <a:schemeClr val="tx1"/>
                          </a:solidFill>
                          <a:latin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rgbClr val="000000"/>
                          </a:solidFill>
                          <a:effectLst/>
                          <a:latin typeface="Century Gothic" panose="020B0502020202020204" pitchFamily="34" charset="0"/>
                        </a:rPr>
                        <a:t>⟺, &lt; -- &gt;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rgbClr val="000000"/>
                          </a:solidFill>
                          <a:effectLst/>
                          <a:latin typeface="Century Gothic" panose="020B0502020202020204" pitchFamily="34" charset="0"/>
                        </a:rPr>
                        <a:t>If and only if </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108000" marR="0" lvl="0" indent="0" algn="l"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Century Gothic" panose="020B0502020202020204" pitchFamily="34" charset="0"/>
                        </a:rPr>
                        <a:t>Equivalence or biconditional</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Century Gothic" panose="020B0502020202020204" pitchFamily="34" charset="0"/>
                        </a:rPr>
                        <a:t>p ⟺ q</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34719584"/>
                  </a:ext>
                </a:extLst>
              </a:tr>
            </a:tbl>
          </a:graphicData>
        </a:graphic>
      </p:graphicFrame>
    </p:spTree>
    <p:extLst>
      <p:ext uri="{BB962C8B-B14F-4D97-AF65-F5344CB8AC3E}">
        <p14:creationId xmlns:p14="http://schemas.microsoft.com/office/powerpoint/2010/main" val="30864527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wipe(left)">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wipe(left)">
                                      <p:cBhvr>
                                        <p:cTn id="17" dur="500"/>
                                        <p:tgtEl>
                                          <p:spTgt spid="5">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11EAED7-C8F9-45D8-A96E-859AC6FA8DAD}"/>
              </a:ext>
            </a:extLst>
          </p:cNvPr>
          <p:cNvSpPr txBox="1"/>
          <p:nvPr/>
        </p:nvSpPr>
        <p:spPr>
          <a:xfrm>
            <a:off x="4691682" y="966381"/>
            <a:ext cx="1896673" cy="543675"/>
          </a:xfrm>
          <a:prstGeom prst="rect">
            <a:avLst/>
          </a:prstGeom>
          <a:noFill/>
        </p:spPr>
        <p:txBody>
          <a:bodyPr wrap="none" rtlCol="0">
            <a:spAutoFit/>
          </a:bodyPr>
          <a:lstStyle/>
          <a:p>
            <a:r>
              <a:rPr lang="en-US" altLang="en-US" sz="2933" dirty="0">
                <a:solidFill>
                  <a:schemeClr val="tx1">
                    <a:lumMod val="95000"/>
                    <a:lumOff val="5000"/>
                  </a:schemeClr>
                </a:solidFill>
                <a:latin typeface="Century Gothic" panose="020B0502020202020204" pitchFamily="34" charset="0"/>
                <a:cs typeface="Arial" pitchFamily="34" charset="0"/>
              </a:rPr>
              <a:t>Negation</a:t>
            </a:r>
          </a:p>
        </p:txBody>
      </p:sp>
      <p:sp>
        <p:nvSpPr>
          <p:cNvPr id="5" name="TextBox 4">
            <a:extLst>
              <a:ext uri="{FF2B5EF4-FFF2-40B4-BE49-F238E27FC236}">
                <a16:creationId xmlns:a16="http://schemas.microsoft.com/office/drawing/2014/main" id="{01B16CEC-5382-4936-91C2-86CA7AF3650A}"/>
              </a:ext>
            </a:extLst>
          </p:cNvPr>
          <p:cNvSpPr txBox="1"/>
          <p:nvPr/>
        </p:nvSpPr>
        <p:spPr>
          <a:xfrm>
            <a:off x="723363" y="1611722"/>
            <a:ext cx="10655837" cy="4401205"/>
          </a:xfrm>
          <a:prstGeom prst="rect">
            <a:avLst/>
          </a:prstGeom>
          <a:noFill/>
        </p:spPr>
        <p:txBody>
          <a:bodyPr wrap="square">
            <a:spAutoFit/>
          </a:bodyPr>
          <a:lstStyle/>
          <a:p>
            <a:r>
              <a:rPr lang="en-US" altLang="en-US" sz="2000" dirty="0">
                <a:latin typeface="Century Gothic" panose="020B0502020202020204" pitchFamily="34" charset="0"/>
                <a:cs typeface="Times New Roman" panose="02020603050405020304" pitchFamily="18" charset="0"/>
              </a:rPr>
              <a:t>If p is any proposition, the negation of p, denoted by ~p or  ¬p and read as </a:t>
            </a:r>
            <a:r>
              <a:rPr lang="en-US" altLang="en-US" sz="2000" b="1" dirty="0">
                <a:latin typeface="Century Gothic" panose="020B0502020202020204" pitchFamily="34" charset="0"/>
                <a:cs typeface="Times New Roman" panose="02020603050405020304" pitchFamily="18" charset="0"/>
              </a:rPr>
              <a:t>“not p”,</a:t>
            </a:r>
            <a:r>
              <a:rPr lang="en-US" altLang="en-US" sz="2000" dirty="0">
                <a:latin typeface="Century Gothic" panose="020B0502020202020204" pitchFamily="34" charset="0"/>
                <a:cs typeface="Times New Roman" panose="02020603050405020304" pitchFamily="18" charset="0"/>
              </a:rPr>
              <a:t> is a proposition which is false when p is true and true when p is false.</a:t>
            </a:r>
          </a:p>
          <a:p>
            <a:endParaRPr lang="en-US" altLang="en-US" sz="2000" dirty="0">
              <a:latin typeface="Century Gothic" panose="020B0502020202020204" pitchFamily="34" charset="0"/>
              <a:cs typeface="Times New Roman" panose="02020603050405020304" pitchFamily="18" charset="0"/>
            </a:endParaRPr>
          </a:p>
          <a:p>
            <a:r>
              <a:rPr lang="en-US" altLang="en-US" sz="2000" dirty="0">
                <a:latin typeface="Century Gothic" panose="020B0502020202020204" pitchFamily="34" charset="0"/>
                <a:cs typeface="Times New Roman" panose="02020603050405020304" pitchFamily="18" charset="0"/>
              </a:rPr>
              <a:t>Consider the statement</a:t>
            </a:r>
          </a:p>
          <a:p>
            <a:endParaRPr lang="en-US" altLang="en-US" sz="2000" dirty="0">
              <a:latin typeface="Century Gothic" panose="020B0502020202020204" pitchFamily="34" charset="0"/>
              <a:cs typeface="Times New Roman" panose="02020603050405020304" pitchFamily="18" charset="0"/>
            </a:endParaRPr>
          </a:p>
          <a:p>
            <a:r>
              <a:rPr lang="en-US" altLang="en-US" sz="2000" dirty="0">
                <a:latin typeface="Century Gothic" panose="020B0502020202020204" pitchFamily="34" charset="0"/>
                <a:cs typeface="Times New Roman" panose="02020603050405020304" pitchFamily="18" charset="0"/>
              </a:rPr>
              <a:t>p: Paris is in France.</a:t>
            </a:r>
          </a:p>
          <a:p>
            <a:endParaRPr lang="en-US" altLang="en-US" sz="2000" dirty="0">
              <a:latin typeface="Century Gothic" panose="020B0502020202020204" pitchFamily="34" charset="0"/>
              <a:cs typeface="Times New Roman" panose="02020603050405020304" pitchFamily="18" charset="0"/>
            </a:endParaRPr>
          </a:p>
          <a:p>
            <a:r>
              <a:rPr lang="en-US" altLang="en-US" sz="2000" dirty="0">
                <a:latin typeface="Century Gothic" panose="020B0502020202020204" pitchFamily="34" charset="0"/>
                <a:cs typeface="Times New Roman" panose="02020603050405020304" pitchFamily="18" charset="0"/>
              </a:rPr>
              <a:t>Then the negation of p is the statement</a:t>
            </a:r>
          </a:p>
          <a:p>
            <a:endParaRPr lang="en-US" altLang="en-US" sz="2000" dirty="0">
              <a:latin typeface="Century Gothic" panose="020B0502020202020204" pitchFamily="34" charset="0"/>
              <a:cs typeface="Times New Roman" panose="02020603050405020304" pitchFamily="18" charset="0"/>
            </a:endParaRPr>
          </a:p>
          <a:p>
            <a:r>
              <a:rPr lang="en-US" altLang="en-US" sz="2000" dirty="0">
                <a:latin typeface="Century Gothic" panose="020B0502020202020204" pitchFamily="34" charset="0"/>
                <a:cs typeface="Times New Roman" panose="02020603050405020304" pitchFamily="18" charset="0"/>
              </a:rPr>
              <a:t>~p: It is not the case that Paris is in France.</a:t>
            </a:r>
          </a:p>
          <a:p>
            <a:endParaRPr lang="en-US" altLang="en-US" sz="2000" dirty="0">
              <a:latin typeface="Century Gothic" panose="020B0502020202020204" pitchFamily="34" charset="0"/>
              <a:cs typeface="Times New Roman" panose="02020603050405020304" pitchFamily="18" charset="0"/>
            </a:endParaRPr>
          </a:p>
          <a:p>
            <a:r>
              <a:rPr lang="en-US" altLang="en-US" sz="2000" dirty="0">
                <a:latin typeface="Century Gothic" panose="020B0502020202020204" pitchFamily="34" charset="0"/>
                <a:cs typeface="Times New Roman" panose="02020603050405020304" pitchFamily="18" charset="0"/>
              </a:rPr>
              <a:t>Normally it is written as</a:t>
            </a:r>
          </a:p>
          <a:p>
            <a:endParaRPr lang="en-US" altLang="en-US" sz="2000" dirty="0">
              <a:latin typeface="Century Gothic" panose="020B0502020202020204" pitchFamily="34" charset="0"/>
              <a:cs typeface="Times New Roman" panose="02020603050405020304" pitchFamily="18" charset="0"/>
            </a:endParaRPr>
          </a:p>
          <a:p>
            <a:r>
              <a:rPr lang="en-US" altLang="en-US" sz="2000" dirty="0">
                <a:latin typeface="Century Gothic" panose="020B0502020202020204" pitchFamily="34" charset="0"/>
                <a:cs typeface="Times New Roman" panose="02020603050405020304" pitchFamily="18" charset="0"/>
              </a:rPr>
              <a:t>~p: Paris is not in France.</a:t>
            </a:r>
          </a:p>
        </p:txBody>
      </p:sp>
    </p:spTree>
    <p:extLst>
      <p:ext uri="{BB962C8B-B14F-4D97-AF65-F5344CB8AC3E}">
        <p14:creationId xmlns:p14="http://schemas.microsoft.com/office/powerpoint/2010/main" val="288444851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wipe(left)">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wipe(left)">
                                      <p:cBhvr>
                                        <p:cTn id="17" dur="500"/>
                                        <p:tgtEl>
                                          <p:spTgt spid="5">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
                                            <p:txEl>
                                              <p:pRg st="6" end="6"/>
                                            </p:txEl>
                                          </p:spTgt>
                                        </p:tgtEl>
                                        <p:attrNameLst>
                                          <p:attrName>style.visibility</p:attrName>
                                        </p:attrNameLst>
                                      </p:cBhvr>
                                      <p:to>
                                        <p:strVal val="visible"/>
                                      </p:to>
                                    </p:set>
                                    <p:animEffect transition="in" filter="wipe(left)">
                                      <p:cBhvr>
                                        <p:cTn id="22" dur="500"/>
                                        <p:tgtEl>
                                          <p:spTgt spid="5">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
                                            <p:txEl>
                                              <p:pRg st="8" end="8"/>
                                            </p:txEl>
                                          </p:spTgt>
                                        </p:tgtEl>
                                        <p:attrNameLst>
                                          <p:attrName>style.visibility</p:attrName>
                                        </p:attrNameLst>
                                      </p:cBhvr>
                                      <p:to>
                                        <p:strVal val="visible"/>
                                      </p:to>
                                    </p:set>
                                    <p:animEffect transition="in" filter="wipe(left)">
                                      <p:cBhvr>
                                        <p:cTn id="27" dur="500"/>
                                        <p:tgtEl>
                                          <p:spTgt spid="5">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5">
                                            <p:txEl>
                                              <p:pRg st="10" end="10"/>
                                            </p:txEl>
                                          </p:spTgt>
                                        </p:tgtEl>
                                        <p:attrNameLst>
                                          <p:attrName>style.visibility</p:attrName>
                                        </p:attrNameLst>
                                      </p:cBhvr>
                                      <p:to>
                                        <p:strVal val="visible"/>
                                      </p:to>
                                    </p:set>
                                    <p:animEffect transition="in" filter="wipe(left)">
                                      <p:cBhvr>
                                        <p:cTn id="32" dur="500"/>
                                        <p:tgtEl>
                                          <p:spTgt spid="5">
                                            <p:txEl>
                                              <p:pRg st="10" end="1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5">
                                            <p:txEl>
                                              <p:pRg st="12" end="12"/>
                                            </p:txEl>
                                          </p:spTgt>
                                        </p:tgtEl>
                                        <p:attrNameLst>
                                          <p:attrName>style.visibility</p:attrName>
                                        </p:attrNameLst>
                                      </p:cBhvr>
                                      <p:to>
                                        <p:strVal val="visible"/>
                                      </p:to>
                                    </p:set>
                                    <p:animEffect transition="in" filter="wipe(left)">
                                      <p:cBhvr>
                                        <p:cTn id="37" dur="500"/>
                                        <p:tgtEl>
                                          <p:spTgt spid="5">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11EAED7-C8F9-45D8-A96E-859AC6FA8DAD}"/>
              </a:ext>
            </a:extLst>
          </p:cNvPr>
          <p:cNvSpPr txBox="1"/>
          <p:nvPr/>
        </p:nvSpPr>
        <p:spPr>
          <a:xfrm>
            <a:off x="4221165" y="993014"/>
            <a:ext cx="2481770" cy="543675"/>
          </a:xfrm>
          <a:prstGeom prst="rect">
            <a:avLst/>
          </a:prstGeom>
          <a:noFill/>
        </p:spPr>
        <p:txBody>
          <a:bodyPr wrap="none" rtlCol="0">
            <a:spAutoFit/>
          </a:bodyPr>
          <a:lstStyle/>
          <a:p>
            <a:r>
              <a:rPr lang="en-US" altLang="en-US" sz="2933" dirty="0">
                <a:solidFill>
                  <a:schemeClr val="tx1">
                    <a:lumMod val="95000"/>
                    <a:lumOff val="5000"/>
                  </a:schemeClr>
                </a:solidFill>
                <a:latin typeface="Century Gothic" panose="020B0502020202020204" pitchFamily="34" charset="0"/>
                <a:cs typeface="Arial" pitchFamily="34" charset="0"/>
              </a:rPr>
              <a:t>Negation…..</a:t>
            </a:r>
          </a:p>
        </p:txBody>
      </p:sp>
      <p:sp>
        <p:nvSpPr>
          <p:cNvPr id="5" name="TextBox 4">
            <a:extLst>
              <a:ext uri="{FF2B5EF4-FFF2-40B4-BE49-F238E27FC236}">
                <a16:creationId xmlns:a16="http://schemas.microsoft.com/office/drawing/2014/main" id="{01B16CEC-5382-4936-91C2-86CA7AF3650A}"/>
              </a:ext>
            </a:extLst>
          </p:cNvPr>
          <p:cNvSpPr txBox="1"/>
          <p:nvPr/>
        </p:nvSpPr>
        <p:spPr>
          <a:xfrm>
            <a:off x="723363" y="1611722"/>
            <a:ext cx="10655837" cy="4093428"/>
          </a:xfrm>
          <a:prstGeom prst="rect">
            <a:avLst/>
          </a:prstGeom>
          <a:noFill/>
        </p:spPr>
        <p:txBody>
          <a:bodyPr wrap="square">
            <a:spAutoFit/>
          </a:bodyPr>
          <a:lstStyle/>
          <a:p>
            <a:r>
              <a:rPr lang="en-US" altLang="en-US" sz="2000" dirty="0">
                <a:latin typeface="Century Gothic" panose="020B0502020202020204" pitchFamily="34" charset="0"/>
                <a:cs typeface="Times New Roman" panose="02020603050405020304" pitchFamily="18" charset="0"/>
              </a:rPr>
              <a:t>“not” is a unary operation, since it does not join two statements.</a:t>
            </a:r>
          </a:p>
          <a:p>
            <a:endParaRPr lang="en-US" altLang="en-US" sz="2000" dirty="0">
              <a:latin typeface="Century Gothic" panose="020B0502020202020204" pitchFamily="34" charset="0"/>
              <a:cs typeface="Times New Roman" panose="02020603050405020304" pitchFamily="18" charset="0"/>
            </a:endParaRPr>
          </a:p>
          <a:p>
            <a:r>
              <a:rPr lang="en-US" altLang="en-US" sz="2000" dirty="0">
                <a:latin typeface="Century Gothic" panose="020B0502020202020204" pitchFamily="34" charset="0"/>
                <a:cs typeface="Times New Roman" panose="02020603050405020304" pitchFamily="18" charset="0"/>
              </a:rPr>
              <a:t>~p is a statement if p is a statement.</a:t>
            </a:r>
          </a:p>
          <a:p>
            <a:endParaRPr lang="en-US" altLang="en-US" sz="2000" dirty="0">
              <a:latin typeface="Century Gothic" panose="020B0502020202020204" pitchFamily="34" charset="0"/>
              <a:cs typeface="Times New Roman" panose="02020603050405020304" pitchFamily="18" charset="0"/>
            </a:endParaRPr>
          </a:p>
          <a:p>
            <a:r>
              <a:rPr lang="en-US" altLang="en-US" sz="2000" b="1" dirty="0">
                <a:latin typeface="Century Gothic" panose="020B0502020202020204" pitchFamily="34" charset="0"/>
                <a:cs typeface="Times New Roman" panose="02020603050405020304" pitchFamily="18" charset="0"/>
              </a:rPr>
              <a:t>The following propositions all have the same meaning:</a:t>
            </a:r>
          </a:p>
          <a:p>
            <a:endParaRPr lang="en-US" altLang="en-US" sz="2000" dirty="0">
              <a:latin typeface="Century Gothic" panose="020B0502020202020204" pitchFamily="34" charset="0"/>
              <a:cs typeface="Times New Roman" panose="02020603050405020304" pitchFamily="18" charset="0"/>
            </a:endParaRPr>
          </a:p>
          <a:p>
            <a:r>
              <a:rPr lang="en-US" altLang="en-US" sz="2000" b="1" dirty="0">
                <a:latin typeface="Century Gothic" panose="020B0502020202020204" pitchFamily="34" charset="0"/>
                <a:cs typeface="Times New Roman" panose="02020603050405020304" pitchFamily="18" charset="0"/>
              </a:rPr>
              <a:t>p:</a:t>
            </a:r>
            <a:r>
              <a:rPr lang="en-US" altLang="en-US" sz="2000" dirty="0">
                <a:latin typeface="Century Gothic" panose="020B0502020202020204" pitchFamily="34" charset="0"/>
                <a:cs typeface="Times New Roman" panose="02020603050405020304" pitchFamily="18" charset="0"/>
              </a:rPr>
              <a:t>  All people are intelligent.</a:t>
            </a:r>
          </a:p>
          <a:p>
            <a:endParaRPr lang="en-US" altLang="en-US" sz="2000" dirty="0">
              <a:latin typeface="Century Gothic" panose="020B0502020202020204" pitchFamily="34" charset="0"/>
              <a:cs typeface="Times New Roman" panose="02020603050405020304" pitchFamily="18" charset="0"/>
            </a:endParaRPr>
          </a:p>
          <a:p>
            <a:r>
              <a:rPr lang="en-US" altLang="en-US" sz="2000" b="1" dirty="0">
                <a:latin typeface="Century Gothic" panose="020B0502020202020204" pitchFamily="34" charset="0"/>
                <a:cs typeface="Times New Roman" panose="02020603050405020304" pitchFamily="18" charset="0"/>
              </a:rPr>
              <a:t>q:</a:t>
            </a:r>
            <a:r>
              <a:rPr lang="en-US" altLang="en-US" sz="2000" dirty="0">
                <a:latin typeface="Century Gothic" panose="020B0502020202020204" pitchFamily="34" charset="0"/>
                <a:cs typeface="Times New Roman" panose="02020603050405020304" pitchFamily="18" charset="0"/>
              </a:rPr>
              <a:t>  Every person is intelligent.</a:t>
            </a:r>
          </a:p>
          <a:p>
            <a:endParaRPr lang="en-US" altLang="en-US" sz="2000" dirty="0">
              <a:latin typeface="Century Gothic" panose="020B0502020202020204" pitchFamily="34" charset="0"/>
              <a:cs typeface="Times New Roman" panose="02020603050405020304" pitchFamily="18" charset="0"/>
            </a:endParaRPr>
          </a:p>
          <a:p>
            <a:r>
              <a:rPr lang="en-US" altLang="en-US" sz="2000" b="1" dirty="0">
                <a:latin typeface="Century Gothic" panose="020B0502020202020204" pitchFamily="34" charset="0"/>
                <a:cs typeface="Times New Roman" panose="02020603050405020304" pitchFamily="18" charset="0"/>
              </a:rPr>
              <a:t>r:  </a:t>
            </a:r>
            <a:r>
              <a:rPr lang="en-US" altLang="en-US" sz="2000" dirty="0">
                <a:latin typeface="Century Gothic" panose="020B0502020202020204" pitchFamily="34" charset="0"/>
                <a:cs typeface="Times New Roman" panose="02020603050405020304" pitchFamily="18" charset="0"/>
              </a:rPr>
              <a:t>Each person is intelligent.</a:t>
            </a:r>
          </a:p>
          <a:p>
            <a:endParaRPr lang="en-US" altLang="en-US" sz="2000" dirty="0">
              <a:latin typeface="Century Gothic" panose="020B0502020202020204" pitchFamily="34" charset="0"/>
              <a:cs typeface="Times New Roman" panose="02020603050405020304" pitchFamily="18" charset="0"/>
            </a:endParaRPr>
          </a:p>
          <a:p>
            <a:r>
              <a:rPr lang="en-US" altLang="en-US" sz="2000" b="1" dirty="0">
                <a:latin typeface="Century Gothic" panose="020B0502020202020204" pitchFamily="34" charset="0"/>
                <a:cs typeface="Times New Roman" panose="02020603050405020304" pitchFamily="18" charset="0"/>
              </a:rPr>
              <a:t>s:  </a:t>
            </a:r>
            <a:r>
              <a:rPr lang="en-US" altLang="en-US" sz="2000" dirty="0">
                <a:latin typeface="Century Gothic" panose="020B0502020202020204" pitchFamily="34" charset="0"/>
                <a:cs typeface="Times New Roman" panose="02020603050405020304" pitchFamily="18" charset="0"/>
              </a:rPr>
              <a:t>Any person is intelligent</a:t>
            </a:r>
          </a:p>
        </p:txBody>
      </p:sp>
    </p:spTree>
    <p:extLst>
      <p:ext uri="{BB962C8B-B14F-4D97-AF65-F5344CB8AC3E}">
        <p14:creationId xmlns:p14="http://schemas.microsoft.com/office/powerpoint/2010/main" val="6873933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wipe(left)">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wipe(left)">
                                      <p:cBhvr>
                                        <p:cTn id="17" dur="500"/>
                                        <p:tgtEl>
                                          <p:spTgt spid="5">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txEl>
                                              <p:pRg st="6" end="6"/>
                                            </p:txEl>
                                          </p:spTgt>
                                        </p:tgtEl>
                                        <p:attrNameLst>
                                          <p:attrName>style.visibility</p:attrName>
                                        </p:attrNameLst>
                                      </p:cBhvr>
                                      <p:to>
                                        <p:strVal val="visible"/>
                                      </p:to>
                                    </p:set>
                                    <p:animEffect transition="in" filter="wipe(left)">
                                      <p:cBhvr>
                                        <p:cTn id="22" dur="500"/>
                                        <p:tgtEl>
                                          <p:spTgt spid="5">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
                                            <p:txEl>
                                              <p:pRg st="8" end="8"/>
                                            </p:txEl>
                                          </p:spTgt>
                                        </p:tgtEl>
                                        <p:attrNameLst>
                                          <p:attrName>style.visibility</p:attrName>
                                        </p:attrNameLst>
                                      </p:cBhvr>
                                      <p:to>
                                        <p:strVal val="visible"/>
                                      </p:to>
                                    </p:set>
                                    <p:animEffect transition="in" filter="wipe(left)">
                                      <p:cBhvr>
                                        <p:cTn id="27" dur="500"/>
                                        <p:tgtEl>
                                          <p:spTgt spid="5">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
                                            <p:txEl>
                                              <p:pRg st="10" end="10"/>
                                            </p:txEl>
                                          </p:spTgt>
                                        </p:tgtEl>
                                        <p:attrNameLst>
                                          <p:attrName>style.visibility</p:attrName>
                                        </p:attrNameLst>
                                      </p:cBhvr>
                                      <p:to>
                                        <p:strVal val="visible"/>
                                      </p:to>
                                    </p:set>
                                    <p:animEffect transition="in" filter="wipe(left)">
                                      <p:cBhvr>
                                        <p:cTn id="32" dur="500"/>
                                        <p:tgtEl>
                                          <p:spTgt spid="5">
                                            <p:txEl>
                                              <p:pRg st="10" end="1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5">
                                            <p:txEl>
                                              <p:pRg st="12" end="12"/>
                                            </p:txEl>
                                          </p:spTgt>
                                        </p:tgtEl>
                                        <p:attrNameLst>
                                          <p:attrName>style.visibility</p:attrName>
                                        </p:attrNameLst>
                                      </p:cBhvr>
                                      <p:to>
                                        <p:strVal val="visible"/>
                                      </p:to>
                                    </p:set>
                                    <p:animEffect transition="in" filter="wipe(left)">
                                      <p:cBhvr>
                                        <p:cTn id="37" dur="500"/>
                                        <p:tgtEl>
                                          <p:spTgt spid="5">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11EAED7-C8F9-45D8-A96E-859AC6FA8DAD}"/>
              </a:ext>
            </a:extLst>
          </p:cNvPr>
          <p:cNvSpPr txBox="1"/>
          <p:nvPr/>
        </p:nvSpPr>
        <p:spPr>
          <a:xfrm>
            <a:off x="4620660" y="1001892"/>
            <a:ext cx="2481770" cy="543675"/>
          </a:xfrm>
          <a:prstGeom prst="rect">
            <a:avLst/>
          </a:prstGeom>
          <a:noFill/>
        </p:spPr>
        <p:txBody>
          <a:bodyPr wrap="none" rtlCol="0">
            <a:spAutoFit/>
          </a:bodyPr>
          <a:lstStyle/>
          <a:p>
            <a:r>
              <a:rPr lang="en-US" altLang="en-US" sz="2933" dirty="0">
                <a:solidFill>
                  <a:schemeClr val="tx1">
                    <a:lumMod val="95000"/>
                    <a:lumOff val="5000"/>
                  </a:schemeClr>
                </a:solidFill>
                <a:latin typeface="Century Gothic" panose="020B0502020202020204" pitchFamily="34" charset="0"/>
                <a:cs typeface="Arial" pitchFamily="34" charset="0"/>
              </a:rPr>
              <a:t>Negation…..</a:t>
            </a:r>
          </a:p>
        </p:txBody>
      </p:sp>
      <p:sp>
        <p:nvSpPr>
          <p:cNvPr id="5" name="TextBox 4">
            <a:extLst>
              <a:ext uri="{FF2B5EF4-FFF2-40B4-BE49-F238E27FC236}">
                <a16:creationId xmlns:a16="http://schemas.microsoft.com/office/drawing/2014/main" id="{01B16CEC-5382-4936-91C2-86CA7AF3650A}"/>
              </a:ext>
            </a:extLst>
          </p:cNvPr>
          <p:cNvSpPr txBox="1"/>
          <p:nvPr/>
        </p:nvSpPr>
        <p:spPr>
          <a:xfrm>
            <a:off x="723363" y="1611721"/>
            <a:ext cx="10655837" cy="4093428"/>
          </a:xfrm>
          <a:prstGeom prst="rect">
            <a:avLst/>
          </a:prstGeom>
          <a:noFill/>
        </p:spPr>
        <p:txBody>
          <a:bodyPr wrap="square">
            <a:spAutoFit/>
          </a:bodyPr>
          <a:lstStyle/>
          <a:p>
            <a:r>
              <a:rPr lang="en-US" altLang="en-US" sz="2000" dirty="0">
                <a:latin typeface="Century Gothic" panose="020B0502020202020204" pitchFamily="34" charset="0"/>
                <a:cs typeface="Times New Roman" panose="02020603050405020304" pitchFamily="18" charset="0"/>
              </a:rPr>
              <a:t>The negation of the proposition:</a:t>
            </a:r>
          </a:p>
          <a:p>
            <a:endParaRPr lang="en-US" altLang="en-US" sz="2000" dirty="0">
              <a:latin typeface="Century Gothic" panose="020B0502020202020204" pitchFamily="34" charset="0"/>
              <a:cs typeface="Times New Roman" panose="02020603050405020304" pitchFamily="18" charset="0"/>
            </a:endParaRPr>
          </a:p>
          <a:p>
            <a:r>
              <a:rPr lang="en-US" altLang="en-US" sz="2000" dirty="0">
                <a:latin typeface="Century Gothic" panose="020B0502020202020204" pitchFamily="34" charset="0"/>
                <a:cs typeface="Times New Roman" panose="02020603050405020304" pitchFamily="18" charset="0"/>
              </a:rPr>
              <a:t>p:  All students are intelligent.</a:t>
            </a:r>
          </a:p>
          <a:p>
            <a:endParaRPr lang="en-US" altLang="en-US" sz="2000" dirty="0">
              <a:latin typeface="Century Gothic" panose="020B0502020202020204" pitchFamily="34" charset="0"/>
              <a:cs typeface="Times New Roman" panose="02020603050405020304" pitchFamily="18" charset="0"/>
            </a:endParaRPr>
          </a:p>
          <a:p>
            <a:r>
              <a:rPr lang="en-US" altLang="en-US" sz="2000" dirty="0">
                <a:latin typeface="Century Gothic" panose="020B0502020202020204" pitchFamily="34" charset="0"/>
                <a:cs typeface="Times New Roman" panose="02020603050405020304" pitchFamily="18" charset="0"/>
              </a:rPr>
              <a:t>~ p:   Some students are not intelligent.</a:t>
            </a:r>
          </a:p>
          <a:p>
            <a:endParaRPr lang="en-US" altLang="en-US" sz="2000" dirty="0">
              <a:latin typeface="Century Gothic" panose="020B0502020202020204" pitchFamily="34" charset="0"/>
              <a:cs typeface="Times New Roman" panose="02020603050405020304" pitchFamily="18" charset="0"/>
            </a:endParaRPr>
          </a:p>
          <a:p>
            <a:r>
              <a:rPr lang="en-US" altLang="en-US" sz="2000" dirty="0">
                <a:latin typeface="Century Gothic" panose="020B0502020202020204" pitchFamily="34" charset="0"/>
                <a:cs typeface="Times New Roman" panose="02020603050405020304" pitchFamily="18" charset="0"/>
              </a:rPr>
              <a:t>~ p:   There exists a student who is  not intelligent.</a:t>
            </a:r>
          </a:p>
          <a:p>
            <a:endParaRPr lang="en-US" altLang="en-US" sz="2000" dirty="0">
              <a:latin typeface="Century Gothic" panose="020B0502020202020204" pitchFamily="34" charset="0"/>
              <a:cs typeface="Times New Roman" panose="02020603050405020304" pitchFamily="18" charset="0"/>
            </a:endParaRPr>
          </a:p>
          <a:p>
            <a:r>
              <a:rPr lang="en-US" altLang="en-US" sz="2000" dirty="0">
                <a:latin typeface="Century Gothic" panose="020B0502020202020204" pitchFamily="34" charset="0"/>
                <a:cs typeface="Times New Roman" panose="02020603050405020304" pitchFamily="18" charset="0"/>
              </a:rPr>
              <a:t>~ p:   There exist  students who  are not intelligent.</a:t>
            </a:r>
          </a:p>
          <a:p>
            <a:endParaRPr lang="en-US" altLang="en-US" sz="2000" dirty="0">
              <a:latin typeface="Century Gothic" panose="020B0502020202020204" pitchFamily="34" charset="0"/>
              <a:cs typeface="Times New Roman" panose="02020603050405020304" pitchFamily="18" charset="0"/>
            </a:endParaRPr>
          </a:p>
          <a:p>
            <a:r>
              <a:rPr lang="en-US" altLang="en-US" sz="2000" dirty="0">
                <a:latin typeface="Century Gothic" panose="020B0502020202020204" pitchFamily="34" charset="0"/>
                <a:cs typeface="Times New Roman" panose="02020603050405020304" pitchFamily="18" charset="0"/>
              </a:rPr>
              <a:t>~ p:   At least one  student is  not intelligent.</a:t>
            </a:r>
          </a:p>
          <a:p>
            <a:pPr marL="380990" indent="-380990">
              <a:buFont typeface="Arial" panose="020B0604020202020204" pitchFamily="34" charset="0"/>
              <a:buChar char="•"/>
            </a:pPr>
            <a:endParaRPr lang="en-US" altLang="en-US" sz="2000" dirty="0">
              <a:latin typeface="Century Gothic" panose="020B0502020202020204" pitchFamily="34" charset="0"/>
              <a:cs typeface="Times New Roman" panose="02020603050405020304" pitchFamily="18" charset="0"/>
            </a:endParaRPr>
          </a:p>
          <a:p>
            <a:r>
              <a:rPr lang="en-US" altLang="en-US" sz="2000" dirty="0">
                <a:latin typeface="Century Gothic" panose="020B0502020202020204" pitchFamily="34" charset="0"/>
                <a:cs typeface="Times New Roman" panose="02020603050405020304" pitchFamily="18" charset="0"/>
              </a:rPr>
              <a:t>Note that </a:t>
            </a:r>
            <a:r>
              <a:rPr lang="en-US" altLang="en-US" sz="2000" b="1" dirty="0">
                <a:latin typeface="Century Gothic" panose="020B0502020202020204" pitchFamily="34" charset="0"/>
                <a:cs typeface="Times New Roman" panose="02020603050405020304" pitchFamily="18" charset="0"/>
              </a:rPr>
              <a:t>“No student is intelligent.” </a:t>
            </a:r>
            <a:r>
              <a:rPr lang="en-US" altLang="en-US" sz="2000" dirty="0">
                <a:latin typeface="Century Gothic" panose="020B0502020202020204" pitchFamily="34" charset="0"/>
                <a:cs typeface="Times New Roman" panose="02020603050405020304" pitchFamily="18" charset="0"/>
              </a:rPr>
              <a:t>is not the negation of p.</a:t>
            </a:r>
          </a:p>
        </p:txBody>
      </p:sp>
    </p:spTree>
    <p:extLst>
      <p:ext uri="{BB962C8B-B14F-4D97-AF65-F5344CB8AC3E}">
        <p14:creationId xmlns:p14="http://schemas.microsoft.com/office/powerpoint/2010/main" val="350981422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wipe(left)">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wipe(left)">
                                      <p:cBhvr>
                                        <p:cTn id="17" dur="500"/>
                                        <p:tgtEl>
                                          <p:spTgt spid="5">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
                                            <p:txEl>
                                              <p:pRg st="6" end="6"/>
                                            </p:txEl>
                                          </p:spTgt>
                                        </p:tgtEl>
                                        <p:attrNameLst>
                                          <p:attrName>style.visibility</p:attrName>
                                        </p:attrNameLst>
                                      </p:cBhvr>
                                      <p:to>
                                        <p:strVal val="visible"/>
                                      </p:to>
                                    </p:set>
                                    <p:animEffect transition="in" filter="wipe(left)">
                                      <p:cBhvr>
                                        <p:cTn id="22" dur="500"/>
                                        <p:tgtEl>
                                          <p:spTgt spid="5">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
                                            <p:txEl>
                                              <p:pRg st="8" end="8"/>
                                            </p:txEl>
                                          </p:spTgt>
                                        </p:tgtEl>
                                        <p:attrNameLst>
                                          <p:attrName>style.visibility</p:attrName>
                                        </p:attrNameLst>
                                      </p:cBhvr>
                                      <p:to>
                                        <p:strVal val="visible"/>
                                      </p:to>
                                    </p:set>
                                    <p:animEffect transition="in" filter="wipe(left)">
                                      <p:cBhvr>
                                        <p:cTn id="27" dur="500"/>
                                        <p:tgtEl>
                                          <p:spTgt spid="5">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5">
                                            <p:txEl>
                                              <p:pRg st="10" end="10"/>
                                            </p:txEl>
                                          </p:spTgt>
                                        </p:tgtEl>
                                        <p:attrNameLst>
                                          <p:attrName>style.visibility</p:attrName>
                                        </p:attrNameLst>
                                      </p:cBhvr>
                                      <p:to>
                                        <p:strVal val="visible"/>
                                      </p:to>
                                    </p:set>
                                    <p:animEffect transition="in" filter="wipe(left)">
                                      <p:cBhvr>
                                        <p:cTn id="32" dur="500"/>
                                        <p:tgtEl>
                                          <p:spTgt spid="5">
                                            <p:txEl>
                                              <p:pRg st="10" end="1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5">
                                            <p:txEl>
                                              <p:pRg st="12" end="12"/>
                                            </p:txEl>
                                          </p:spTgt>
                                        </p:tgtEl>
                                        <p:attrNameLst>
                                          <p:attrName>style.visibility</p:attrName>
                                        </p:attrNameLst>
                                      </p:cBhvr>
                                      <p:to>
                                        <p:strVal val="visible"/>
                                      </p:to>
                                    </p:set>
                                    <p:animEffect transition="in" filter="wipe(left)">
                                      <p:cBhvr>
                                        <p:cTn id="37" dur="500"/>
                                        <p:tgtEl>
                                          <p:spTgt spid="5">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11EAED7-C8F9-45D8-A96E-859AC6FA8DAD}"/>
              </a:ext>
            </a:extLst>
          </p:cNvPr>
          <p:cNvSpPr txBox="1"/>
          <p:nvPr/>
        </p:nvSpPr>
        <p:spPr>
          <a:xfrm>
            <a:off x="4443107" y="1068047"/>
            <a:ext cx="2481770" cy="543675"/>
          </a:xfrm>
          <a:prstGeom prst="rect">
            <a:avLst/>
          </a:prstGeom>
          <a:noFill/>
        </p:spPr>
        <p:txBody>
          <a:bodyPr wrap="none" rtlCol="0">
            <a:spAutoFit/>
          </a:bodyPr>
          <a:lstStyle/>
          <a:p>
            <a:r>
              <a:rPr lang="en-US" altLang="en-US" sz="2933" dirty="0">
                <a:solidFill>
                  <a:schemeClr val="tx1">
                    <a:lumMod val="95000"/>
                    <a:lumOff val="5000"/>
                  </a:schemeClr>
                </a:solidFill>
                <a:latin typeface="Century Gothic" panose="020B0502020202020204" pitchFamily="34" charset="0"/>
                <a:cs typeface="Arial" pitchFamily="34" charset="0"/>
              </a:rPr>
              <a:t>Negation…..</a:t>
            </a:r>
          </a:p>
        </p:txBody>
      </p:sp>
      <p:sp>
        <p:nvSpPr>
          <p:cNvPr id="5" name="TextBox 4">
            <a:extLst>
              <a:ext uri="{FF2B5EF4-FFF2-40B4-BE49-F238E27FC236}">
                <a16:creationId xmlns:a16="http://schemas.microsoft.com/office/drawing/2014/main" id="{01B16CEC-5382-4936-91C2-86CA7AF3650A}"/>
              </a:ext>
            </a:extLst>
          </p:cNvPr>
          <p:cNvSpPr txBox="1"/>
          <p:nvPr/>
        </p:nvSpPr>
        <p:spPr>
          <a:xfrm>
            <a:off x="723363" y="1611722"/>
            <a:ext cx="10655837" cy="2246769"/>
          </a:xfrm>
          <a:prstGeom prst="rect">
            <a:avLst/>
          </a:prstGeom>
          <a:noFill/>
        </p:spPr>
        <p:txBody>
          <a:bodyPr wrap="square">
            <a:spAutoFit/>
          </a:bodyPr>
          <a:lstStyle/>
          <a:p>
            <a:r>
              <a:rPr lang="en-US" altLang="en-US" sz="2000" dirty="0">
                <a:latin typeface="Century Gothic" panose="020B0502020202020204" pitchFamily="34" charset="0"/>
                <a:cs typeface="Times New Roman" panose="02020603050405020304" pitchFamily="18" charset="0"/>
              </a:rPr>
              <a:t>The negation of the proposition:</a:t>
            </a:r>
          </a:p>
          <a:p>
            <a:endParaRPr lang="en-US" altLang="en-US" sz="2000" dirty="0">
              <a:latin typeface="Century Gothic" panose="020B0502020202020204" pitchFamily="34" charset="0"/>
              <a:cs typeface="Times New Roman" panose="02020603050405020304" pitchFamily="18" charset="0"/>
            </a:endParaRPr>
          </a:p>
          <a:p>
            <a:r>
              <a:rPr lang="en-US" altLang="en-US" sz="2000" dirty="0">
                <a:latin typeface="Century Gothic" panose="020B0502020202020204" pitchFamily="34" charset="0"/>
                <a:cs typeface="Times New Roman" panose="02020603050405020304" pitchFamily="18" charset="0"/>
              </a:rPr>
              <a:t>q:  No student is intelligent.</a:t>
            </a:r>
          </a:p>
          <a:p>
            <a:endParaRPr lang="en-US" altLang="en-US" sz="2000" dirty="0">
              <a:latin typeface="Century Gothic" panose="020B0502020202020204" pitchFamily="34" charset="0"/>
              <a:cs typeface="Times New Roman" panose="02020603050405020304" pitchFamily="18" charset="0"/>
            </a:endParaRPr>
          </a:p>
          <a:p>
            <a:r>
              <a:rPr lang="en-US" altLang="en-US" sz="2000" dirty="0">
                <a:latin typeface="Century Gothic" panose="020B0502020202020204" pitchFamily="34" charset="0"/>
                <a:cs typeface="Times New Roman" panose="02020603050405020304" pitchFamily="18" charset="0"/>
              </a:rPr>
              <a:t>~ q:   Some students are  intelligent.</a:t>
            </a:r>
          </a:p>
          <a:p>
            <a:endParaRPr lang="en-US" altLang="en-US" sz="2000" dirty="0">
              <a:latin typeface="Century Gothic" panose="020B0502020202020204" pitchFamily="34" charset="0"/>
              <a:cs typeface="Times New Roman" panose="02020603050405020304" pitchFamily="18" charset="0"/>
            </a:endParaRPr>
          </a:p>
          <a:p>
            <a:r>
              <a:rPr lang="en-US" altLang="en-US" sz="2000" dirty="0">
                <a:latin typeface="Century Gothic" panose="020B0502020202020204" pitchFamily="34" charset="0"/>
                <a:cs typeface="Times New Roman" panose="02020603050405020304" pitchFamily="18" charset="0"/>
              </a:rPr>
              <a:t>Note that </a:t>
            </a:r>
            <a:r>
              <a:rPr lang="en-US" altLang="en-US" sz="2000" b="1" dirty="0">
                <a:latin typeface="Century Gothic" panose="020B0502020202020204" pitchFamily="34" charset="0"/>
                <a:cs typeface="Times New Roman" panose="02020603050405020304" pitchFamily="18" charset="0"/>
              </a:rPr>
              <a:t>“All students are intelligent.” </a:t>
            </a:r>
            <a:r>
              <a:rPr lang="en-US" altLang="en-US" sz="2000" dirty="0">
                <a:latin typeface="Century Gothic" panose="020B0502020202020204" pitchFamily="34" charset="0"/>
                <a:cs typeface="Times New Roman" panose="02020603050405020304" pitchFamily="18" charset="0"/>
              </a:rPr>
              <a:t>is not the negation of q.</a:t>
            </a:r>
          </a:p>
        </p:txBody>
      </p:sp>
    </p:spTree>
    <p:extLst>
      <p:ext uri="{BB962C8B-B14F-4D97-AF65-F5344CB8AC3E}">
        <p14:creationId xmlns:p14="http://schemas.microsoft.com/office/powerpoint/2010/main" val="201103476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wipe(left)">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wipe(left)">
                                      <p:cBhvr>
                                        <p:cTn id="17" dur="500"/>
                                        <p:tgtEl>
                                          <p:spTgt spid="5">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
                                            <p:txEl>
                                              <p:pRg st="6" end="6"/>
                                            </p:txEl>
                                          </p:spTgt>
                                        </p:tgtEl>
                                        <p:attrNameLst>
                                          <p:attrName>style.visibility</p:attrName>
                                        </p:attrNameLst>
                                      </p:cBhvr>
                                      <p:to>
                                        <p:strVal val="visible"/>
                                      </p:to>
                                    </p:set>
                                    <p:animEffect transition="in" filter="wipe(left)">
                                      <p:cBhvr>
                                        <p:cTn id="22"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Diagram 7">
            <a:extLst>
              <a:ext uri="{FF2B5EF4-FFF2-40B4-BE49-F238E27FC236}">
                <a16:creationId xmlns:a16="http://schemas.microsoft.com/office/drawing/2014/main" id="{497EAE62-4F43-4F12-B9CE-1D11CE8F5C7C}"/>
              </a:ext>
            </a:extLst>
          </p:cNvPr>
          <p:cNvGraphicFramePr/>
          <p:nvPr/>
        </p:nvGraphicFramePr>
        <p:xfrm>
          <a:off x="1219200" y="1600201"/>
          <a:ext cx="10157073" cy="4876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extBox 2">
            <a:extLst>
              <a:ext uri="{FF2B5EF4-FFF2-40B4-BE49-F238E27FC236}">
                <a16:creationId xmlns:a16="http://schemas.microsoft.com/office/drawing/2014/main" id="{0B050F7C-B2E2-447D-9565-BDE17700D16D}"/>
              </a:ext>
            </a:extLst>
          </p:cNvPr>
          <p:cNvSpPr txBox="1"/>
          <p:nvPr/>
        </p:nvSpPr>
        <p:spPr>
          <a:xfrm>
            <a:off x="3120335" y="1188322"/>
            <a:ext cx="5338321" cy="543675"/>
          </a:xfrm>
          <a:prstGeom prst="rect">
            <a:avLst/>
          </a:prstGeom>
          <a:noFill/>
        </p:spPr>
        <p:txBody>
          <a:bodyPr wrap="none" rtlCol="0">
            <a:spAutoFit/>
          </a:bodyPr>
          <a:lstStyle/>
          <a:p>
            <a:r>
              <a:rPr lang="en-US" altLang="en-US" sz="2933" dirty="0">
                <a:solidFill>
                  <a:schemeClr val="tx1">
                    <a:lumMod val="95000"/>
                    <a:lumOff val="5000"/>
                  </a:schemeClr>
                </a:solidFill>
                <a:latin typeface="Century Gothic" panose="020B0502020202020204" pitchFamily="34" charset="0"/>
                <a:cs typeface="Arial" pitchFamily="34" charset="0"/>
              </a:rPr>
              <a:t>Conjunction and Disjunction</a:t>
            </a:r>
          </a:p>
        </p:txBody>
      </p:sp>
    </p:spTree>
    <p:extLst>
      <p:ext uri="{BB962C8B-B14F-4D97-AF65-F5344CB8AC3E}">
        <p14:creationId xmlns:p14="http://schemas.microsoft.com/office/powerpoint/2010/main" val="332370337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graphicEl>
                                              <a:dgm id="{52E4AD81-3D33-4329-93D7-626DBF3CCB1A}"/>
                                            </p:graphicEl>
                                          </p:spTgt>
                                        </p:tgtEl>
                                        <p:attrNameLst>
                                          <p:attrName>style.visibility</p:attrName>
                                        </p:attrNameLst>
                                      </p:cBhvr>
                                      <p:to>
                                        <p:strVal val="visible"/>
                                      </p:to>
                                    </p:set>
                                    <p:animEffect transition="in" filter="wipe(left)">
                                      <p:cBhvr>
                                        <p:cTn id="7" dur="500"/>
                                        <p:tgtEl>
                                          <p:spTgt spid="8">
                                            <p:graphicEl>
                                              <a:dgm id="{52E4AD81-3D33-4329-93D7-626DBF3CCB1A}"/>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graphicEl>
                                              <a:dgm id="{5FB2F2F0-1E0A-444D-B9FF-37DEB06EF18C}"/>
                                            </p:graphicEl>
                                          </p:spTgt>
                                        </p:tgtEl>
                                        <p:attrNameLst>
                                          <p:attrName>style.visibility</p:attrName>
                                        </p:attrNameLst>
                                      </p:cBhvr>
                                      <p:to>
                                        <p:strVal val="visible"/>
                                      </p:to>
                                    </p:set>
                                    <p:animEffect transition="in" filter="wipe(left)">
                                      <p:cBhvr>
                                        <p:cTn id="12" dur="500"/>
                                        <p:tgtEl>
                                          <p:spTgt spid="8">
                                            <p:graphicEl>
                                              <a:dgm id="{5FB2F2F0-1E0A-444D-B9FF-37DEB06EF18C}"/>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8" grpId="0" uiExpand="1">
        <p:bldSub>
          <a:bldDgm bld="one"/>
        </p:bldSub>
      </p:bldGraphic>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11EAED7-C8F9-45D8-A96E-859AC6FA8DAD}"/>
              </a:ext>
            </a:extLst>
          </p:cNvPr>
          <p:cNvSpPr txBox="1"/>
          <p:nvPr/>
        </p:nvSpPr>
        <p:spPr>
          <a:xfrm>
            <a:off x="4443106" y="1056525"/>
            <a:ext cx="2425664" cy="543675"/>
          </a:xfrm>
          <a:prstGeom prst="rect">
            <a:avLst/>
          </a:prstGeom>
          <a:noFill/>
        </p:spPr>
        <p:txBody>
          <a:bodyPr wrap="none" rtlCol="0">
            <a:spAutoFit/>
          </a:bodyPr>
          <a:lstStyle/>
          <a:p>
            <a:r>
              <a:rPr lang="en-US" altLang="en-US" sz="2933" dirty="0">
                <a:solidFill>
                  <a:schemeClr val="tx1">
                    <a:lumMod val="95000"/>
                    <a:lumOff val="5000"/>
                  </a:schemeClr>
                </a:solidFill>
                <a:latin typeface="Century Gothic" panose="020B0502020202020204" pitchFamily="34" charset="0"/>
                <a:cs typeface="Arial" pitchFamily="34" charset="0"/>
              </a:rPr>
              <a:t>Conjunction</a:t>
            </a:r>
          </a:p>
        </p:txBody>
      </p:sp>
      <p:graphicFrame>
        <p:nvGraphicFramePr>
          <p:cNvPr id="2" name="Diagram 1">
            <a:extLst>
              <a:ext uri="{FF2B5EF4-FFF2-40B4-BE49-F238E27FC236}">
                <a16:creationId xmlns:a16="http://schemas.microsoft.com/office/drawing/2014/main" id="{EF34758D-E66F-4511-9DA4-848C6E35662D}"/>
              </a:ext>
            </a:extLst>
          </p:cNvPr>
          <p:cNvGraphicFramePr/>
          <p:nvPr/>
        </p:nvGraphicFramePr>
        <p:xfrm>
          <a:off x="711200" y="1600200"/>
          <a:ext cx="10668000" cy="4876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8950383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graphicEl>
                                              <a:dgm id="{BAE60E79-C556-4DFB-B96A-BDF9220ACAE2}"/>
                                            </p:graphicEl>
                                          </p:spTgt>
                                        </p:tgtEl>
                                        <p:attrNameLst>
                                          <p:attrName>style.visibility</p:attrName>
                                        </p:attrNameLst>
                                      </p:cBhvr>
                                      <p:to>
                                        <p:strVal val="visible"/>
                                      </p:to>
                                    </p:set>
                                    <p:animEffect transition="in" filter="wipe(left)">
                                      <p:cBhvr>
                                        <p:cTn id="7" dur="500"/>
                                        <p:tgtEl>
                                          <p:spTgt spid="2">
                                            <p:graphicEl>
                                              <a:dgm id="{BAE60E79-C556-4DFB-B96A-BDF9220ACAE2}"/>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graphicEl>
                                              <a:dgm id="{7A9AEC6B-FBA2-4A76-B69B-C0EA825D7D85}"/>
                                            </p:graphicEl>
                                          </p:spTgt>
                                        </p:tgtEl>
                                        <p:attrNameLst>
                                          <p:attrName>style.visibility</p:attrName>
                                        </p:attrNameLst>
                                      </p:cBhvr>
                                      <p:to>
                                        <p:strVal val="visible"/>
                                      </p:to>
                                    </p:set>
                                    <p:animEffect transition="in" filter="wipe(left)">
                                      <p:cBhvr>
                                        <p:cTn id="12" dur="500"/>
                                        <p:tgtEl>
                                          <p:spTgt spid="2">
                                            <p:graphicEl>
                                              <a:dgm id="{7A9AEC6B-FBA2-4A76-B69B-C0EA825D7D85}"/>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Sub>
          <a:bldDgm bld="one"/>
        </p:bldSub>
      </p:bldGraphic>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11EAED7-C8F9-45D8-A96E-859AC6FA8DAD}"/>
              </a:ext>
            </a:extLst>
          </p:cNvPr>
          <p:cNvSpPr txBox="1"/>
          <p:nvPr/>
        </p:nvSpPr>
        <p:spPr>
          <a:xfrm>
            <a:off x="4789336" y="1068046"/>
            <a:ext cx="3010761" cy="543675"/>
          </a:xfrm>
          <a:prstGeom prst="rect">
            <a:avLst/>
          </a:prstGeom>
          <a:noFill/>
        </p:spPr>
        <p:txBody>
          <a:bodyPr wrap="none" rtlCol="0">
            <a:spAutoFit/>
          </a:bodyPr>
          <a:lstStyle/>
          <a:p>
            <a:r>
              <a:rPr lang="en-US" altLang="en-US" sz="2933" dirty="0">
                <a:solidFill>
                  <a:schemeClr val="tx1">
                    <a:lumMod val="95000"/>
                    <a:lumOff val="5000"/>
                  </a:schemeClr>
                </a:solidFill>
                <a:latin typeface="Century Gothic" panose="020B0502020202020204" pitchFamily="34" charset="0"/>
                <a:cs typeface="Arial" pitchFamily="34" charset="0"/>
              </a:rPr>
              <a:t>Conjunction…..</a:t>
            </a:r>
          </a:p>
        </p:txBody>
      </p:sp>
      <p:sp>
        <p:nvSpPr>
          <p:cNvPr id="5" name="TextBox 4">
            <a:extLst>
              <a:ext uri="{FF2B5EF4-FFF2-40B4-BE49-F238E27FC236}">
                <a16:creationId xmlns:a16="http://schemas.microsoft.com/office/drawing/2014/main" id="{01B16CEC-5382-4936-91C2-86CA7AF3650A}"/>
              </a:ext>
            </a:extLst>
          </p:cNvPr>
          <p:cNvSpPr txBox="1"/>
          <p:nvPr/>
        </p:nvSpPr>
        <p:spPr>
          <a:xfrm>
            <a:off x="723363" y="1611721"/>
            <a:ext cx="10655837" cy="4708981"/>
          </a:xfrm>
          <a:prstGeom prst="rect">
            <a:avLst/>
          </a:prstGeom>
          <a:noFill/>
        </p:spPr>
        <p:txBody>
          <a:bodyPr wrap="square">
            <a:spAutoFit/>
          </a:bodyPr>
          <a:lstStyle/>
          <a:p>
            <a:pPr algn="just"/>
            <a:r>
              <a:rPr lang="en-US" altLang="en-US" sz="2000" b="1" dirty="0">
                <a:latin typeface="Century Gothic" panose="020B0502020202020204" pitchFamily="34" charset="0"/>
                <a:cs typeface="Times New Roman" panose="02020603050405020304" pitchFamily="18" charset="0"/>
              </a:rPr>
              <a:t>Example</a:t>
            </a:r>
          </a:p>
          <a:p>
            <a:pPr algn="just"/>
            <a:endParaRPr lang="en-US" altLang="en-US" sz="2000" dirty="0">
              <a:latin typeface="Century Gothic" panose="020B0502020202020204" pitchFamily="34" charset="0"/>
              <a:cs typeface="Times New Roman" panose="02020603050405020304" pitchFamily="18" charset="0"/>
            </a:endParaRPr>
          </a:p>
          <a:p>
            <a:pPr algn="just"/>
            <a:r>
              <a:rPr lang="en-US" altLang="en-US" sz="2000" dirty="0">
                <a:latin typeface="Century Gothic" panose="020B0502020202020204" pitchFamily="34" charset="0"/>
                <a:cs typeface="Times New Roman" panose="02020603050405020304" pitchFamily="18" charset="0"/>
              </a:rPr>
              <a:t>p: Ram is healthy.</a:t>
            </a:r>
          </a:p>
          <a:p>
            <a:pPr algn="just"/>
            <a:r>
              <a:rPr lang="en-US" altLang="en-US" sz="2000" dirty="0">
                <a:latin typeface="Century Gothic" panose="020B0502020202020204" pitchFamily="34" charset="0"/>
                <a:cs typeface="Times New Roman" panose="02020603050405020304" pitchFamily="18" charset="0"/>
              </a:rPr>
              <a:t>q: He has blue eyes.</a:t>
            </a:r>
          </a:p>
          <a:p>
            <a:pPr algn="just"/>
            <a:r>
              <a:rPr lang="en-US" altLang="en-US" sz="2000" dirty="0">
                <a:latin typeface="Century Gothic" panose="020B0502020202020204" pitchFamily="34" charset="0"/>
                <a:cs typeface="Times New Roman" panose="02020603050405020304" pitchFamily="18" charset="0"/>
              </a:rPr>
              <a:t>p ⋀ q: Ram is healthy and he has blue eyes.</a:t>
            </a:r>
          </a:p>
          <a:p>
            <a:pPr algn="just"/>
            <a:endParaRPr lang="en-US" altLang="en-US" sz="2000" dirty="0">
              <a:latin typeface="Century Gothic" panose="020B0502020202020204" pitchFamily="34" charset="0"/>
              <a:cs typeface="Times New Roman" panose="02020603050405020304" pitchFamily="18" charset="0"/>
            </a:endParaRPr>
          </a:p>
          <a:p>
            <a:pPr algn="just"/>
            <a:r>
              <a:rPr lang="en-US" altLang="en-US" sz="2000" dirty="0">
                <a:latin typeface="Century Gothic" panose="020B0502020202020204" pitchFamily="34" charset="0"/>
                <a:cs typeface="Times New Roman" panose="02020603050405020304" pitchFamily="18" charset="0"/>
              </a:rPr>
              <a:t>p:  It is cold.</a:t>
            </a:r>
          </a:p>
          <a:p>
            <a:pPr algn="just"/>
            <a:r>
              <a:rPr lang="en-US" altLang="en-US" sz="2000" dirty="0">
                <a:latin typeface="Century Gothic" panose="020B0502020202020204" pitchFamily="34" charset="0"/>
                <a:cs typeface="Times New Roman" panose="02020603050405020304" pitchFamily="18" charset="0"/>
              </a:rPr>
              <a:t>q:  It is raining.</a:t>
            </a:r>
          </a:p>
          <a:p>
            <a:pPr algn="just"/>
            <a:r>
              <a:rPr lang="en-US" altLang="en-US" sz="2000" dirty="0">
                <a:latin typeface="Century Gothic" panose="020B0502020202020204" pitchFamily="34" charset="0"/>
                <a:cs typeface="Times New Roman" panose="02020603050405020304" pitchFamily="18" charset="0"/>
              </a:rPr>
              <a:t>p ⋀ q: It is cold and it is raining.</a:t>
            </a:r>
          </a:p>
          <a:p>
            <a:pPr algn="just"/>
            <a:endParaRPr lang="en-US" altLang="en-US" sz="2000" dirty="0">
              <a:latin typeface="Century Gothic" panose="020B0502020202020204" pitchFamily="34" charset="0"/>
              <a:cs typeface="Times New Roman" panose="02020603050405020304" pitchFamily="18" charset="0"/>
            </a:endParaRPr>
          </a:p>
          <a:p>
            <a:pPr algn="just"/>
            <a:r>
              <a:rPr lang="en-US" altLang="en-US" sz="2000" dirty="0">
                <a:latin typeface="Century Gothic" panose="020B0502020202020204" pitchFamily="34" charset="0"/>
                <a:cs typeface="Times New Roman" panose="02020603050405020304" pitchFamily="18" charset="0"/>
              </a:rPr>
              <a:t>p: 5x + 6 = 26</a:t>
            </a:r>
          </a:p>
          <a:p>
            <a:pPr algn="just"/>
            <a:r>
              <a:rPr lang="en-US" altLang="en-US" sz="2000" dirty="0">
                <a:latin typeface="Century Gothic" panose="020B0502020202020204" pitchFamily="34" charset="0"/>
                <a:cs typeface="Times New Roman" panose="02020603050405020304" pitchFamily="18" charset="0"/>
              </a:rPr>
              <a:t>q: x &gt; 3</a:t>
            </a:r>
          </a:p>
          <a:p>
            <a:pPr algn="just"/>
            <a:r>
              <a:rPr lang="en-US" altLang="en-US" sz="2000" dirty="0">
                <a:latin typeface="Century Gothic" panose="020B0502020202020204" pitchFamily="34" charset="0"/>
                <a:cs typeface="Times New Roman" panose="02020603050405020304" pitchFamily="18" charset="0"/>
              </a:rPr>
              <a:t>p ⋀ q: 5x + 6 = 26 and x &gt; 3.</a:t>
            </a:r>
          </a:p>
          <a:p>
            <a:pPr algn="just"/>
            <a:endParaRPr lang="en-US" altLang="en-US" sz="2000" dirty="0">
              <a:latin typeface="Century Gothic" panose="020B0502020202020204" pitchFamily="34" charset="0"/>
              <a:cs typeface="Times New Roman" panose="02020603050405020304" pitchFamily="18" charset="0"/>
            </a:endParaRPr>
          </a:p>
          <a:p>
            <a:pPr algn="just"/>
            <a:r>
              <a:rPr lang="en-US" altLang="en-US" sz="2000" dirty="0">
                <a:latin typeface="Century Gothic" panose="020B0502020202020204" pitchFamily="34" charset="0"/>
                <a:cs typeface="Times New Roman" panose="02020603050405020304" pitchFamily="18" charset="0"/>
              </a:rPr>
              <a:t>The connective </a:t>
            </a:r>
            <a:r>
              <a:rPr lang="en-US" altLang="en-US" sz="2000" b="1" dirty="0">
                <a:latin typeface="Century Gothic" panose="020B0502020202020204" pitchFamily="34" charset="0"/>
                <a:cs typeface="Times New Roman" panose="02020603050405020304" pitchFamily="18" charset="0"/>
              </a:rPr>
              <a:t>‘and ‘ </a:t>
            </a:r>
            <a:r>
              <a:rPr lang="en-US" altLang="en-US" sz="2000" dirty="0">
                <a:latin typeface="Century Gothic" panose="020B0502020202020204" pitchFamily="34" charset="0"/>
                <a:cs typeface="Times New Roman" panose="02020603050405020304" pitchFamily="18" charset="0"/>
              </a:rPr>
              <a:t>is used in the same sense as the symbol </a:t>
            </a:r>
            <a:r>
              <a:rPr lang="en-US" altLang="en-US" sz="2000" b="1" dirty="0">
                <a:latin typeface="Century Gothic" panose="020B0502020202020204" pitchFamily="34" charset="0"/>
                <a:cs typeface="Times New Roman" panose="02020603050405020304" pitchFamily="18" charset="0"/>
              </a:rPr>
              <a:t>‘⋀ ‘.</a:t>
            </a:r>
          </a:p>
        </p:txBody>
      </p:sp>
    </p:spTree>
    <p:extLst>
      <p:ext uri="{BB962C8B-B14F-4D97-AF65-F5344CB8AC3E}">
        <p14:creationId xmlns:p14="http://schemas.microsoft.com/office/powerpoint/2010/main" val="363282071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wipe(left)">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Effect transition="in" filter="wipe(left)">
                                      <p:cBhvr>
                                        <p:cTn id="17" dur="500"/>
                                        <p:tgtEl>
                                          <p:spTgt spid="5">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
                                            <p:txEl>
                                              <p:pRg st="4" end="4"/>
                                            </p:txEl>
                                          </p:spTgt>
                                        </p:tgtEl>
                                        <p:attrNameLst>
                                          <p:attrName>style.visibility</p:attrName>
                                        </p:attrNameLst>
                                      </p:cBhvr>
                                      <p:to>
                                        <p:strVal val="visible"/>
                                      </p:to>
                                    </p:set>
                                    <p:animEffect transition="in" filter="wipe(left)">
                                      <p:cBhvr>
                                        <p:cTn id="22" dur="500"/>
                                        <p:tgtEl>
                                          <p:spTgt spid="5">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animEffect transition="in" filter="wipe(left)">
                                      <p:cBhvr>
                                        <p:cTn id="27" dur="500"/>
                                        <p:tgtEl>
                                          <p:spTgt spid="5">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5">
                                            <p:txEl>
                                              <p:pRg st="7" end="7"/>
                                            </p:txEl>
                                          </p:spTgt>
                                        </p:tgtEl>
                                        <p:attrNameLst>
                                          <p:attrName>style.visibility</p:attrName>
                                        </p:attrNameLst>
                                      </p:cBhvr>
                                      <p:to>
                                        <p:strVal val="visible"/>
                                      </p:to>
                                    </p:set>
                                    <p:animEffect transition="in" filter="wipe(left)">
                                      <p:cBhvr>
                                        <p:cTn id="32" dur="500"/>
                                        <p:tgtEl>
                                          <p:spTgt spid="5">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5">
                                            <p:txEl>
                                              <p:pRg st="8" end="8"/>
                                            </p:txEl>
                                          </p:spTgt>
                                        </p:tgtEl>
                                        <p:attrNameLst>
                                          <p:attrName>style.visibility</p:attrName>
                                        </p:attrNameLst>
                                      </p:cBhvr>
                                      <p:to>
                                        <p:strVal val="visible"/>
                                      </p:to>
                                    </p:set>
                                    <p:animEffect transition="in" filter="wipe(left)">
                                      <p:cBhvr>
                                        <p:cTn id="37" dur="500"/>
                                        <p:tgtEl>
                                          <p:spTgt spid="5">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5">
                                            <p:txEl>
                                              <p:pRg st="10" end="10"/>
                                            </p:txEl>
                                          </p:spTgt>
                                        </p:tgtEl>
                                        <p:attrNameLst>
                                          <p:attrName>style.visibility</p:attrName>
                                        </p:attrNameLst>
                                      </p:cBhvr>
                                      <p:to>
                                        <p:strVal val="visible"/>
                                      </p:to>
                                    </p:set>
                                    <p:animEffect transition="in" filter="wipe(left)">
                                      <p:cBhvr>
                                        <p:cTn id="42" dur="500"/>
                                        <p:tgtEl>
                                          <p:spTgt spid="5">
                                            <p:txEl>
                                              <p:pRg st="10" end="1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5">
                                            <p:txEl>
                                              <p:pRg st="11" end="11"/>
                                            </p:txEl>
                                          </p:spTgt>
                                        </p:tgtEl>
                                        <p:attrNameLst>
                                          <p:attrName>style.visibility</p:attrName>
                                        </p:attrNameLst>
                                      </p:cBhvr>
                                      <p:to>
                                        <p:strVal val="visible"/>
                                      </p:to>
                                    </p:set>
                                    <p:animEffect transition="in" filter="wipe(left)">
                                      <p:cBhvr>
                                        <p:cTn id="47" dur="500"/>
                                        <p:tgtEl>
                                          <p:spTgt spid="5">
                                            <p:txEl>
                                              <p:pRg st="11" end="11"/>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5">
                                            <p:txEl>
                                              <p:pRg st="12" end="12"/>
                                            </p:txEl>
                                          </p:spTgt>
                                        </p:tgtEl>
                                        <p:attrNameLst>
                                          <p:attrName>style.visibility</p:attrName>
                                        </p:attrNameLst>
                                      </p:cBhvr>
                                      <p:to>
                                        <p:strVal val="visible"/>
                                      </p:to>
                                    </p:set>
                                    <p:animEffect transition="in" filter="wipe(left)">
                                      <p:cBhvr>
                                        <p:cTn id="52" dur="500"/>
                                        <p:tgtEl>
                                          <p:spTgt spid="5">
                                            <p:txEl>
                                              <p:pRg st="12" end="12"/>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5">
                                            <p:txEl>
                                              <p:pRg st="14" end="14"/>
                                            </p:txEl>
                                          </p:spTgt>
                                        </p:tgtEl>
                                        <p:attrNameLst>
                                          <p:attrName>style.visibility</p:attrName>
                                        </p:attrNameLst>
                                      </p:cBhvr>
                                      <p:to>
                                        <p:strVal val="visible"/>
                                      </p:to>
                                    </p:set>
                                    <p:animEffect transition="in" filter="wipe(left)">
                                      <p:cBhvr>
                                        <p:cTn id="57" dur="500"/>
                                        <p:tgtEl>
                                          <p:spTgt spid="5">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11EAED7-C8F9-45D8-A96E-859AC6FA8DAD}"/>
              </a:ext>
            </a:extLst>
          </p:cNvPr>
          <p:cNvSpPr txBox="1"/>
          <p:nvPr/>
        </p:nvSpPr>
        <p:spPr>
          <a:xfrm>
            <a:off x="4256676" y="1093621"/>
            <a:ext cx="3010761" cy="543675"/>
          </a:xfrm>
          <a:prstGeom prst="rect">
            <a:avLst/>
          </a:prstGeom>
          <a:noFill/>
        </p:spPr>
        <p:txBody>
          <a:bodyPr wrap="none" rtlCol="0">
            <a:spAutoFit/>
          </a:bodyPr>
          <a:lstStyle/>
          <a:p>
            <a:r>
              <a:rPr lang="en-US" altLang="en-US" sz="2933" dirty="0">
                <a:solidFill>
                  <a:schemeClr val="tx1">
                    <a:lumMod val="95000"/>
                    <a:lumOff val="5000"/>
                  </a:schemeClr>
                </a:solidFill>
                <a:latin typeface="Century Gothic" panose="020B0502020202020204" pitchFamily="34" charset="0"/>
                <a:cs typeface="Arial" pitchFamily="34" charset="0"/>
              </a:rPr>
              <a:t>Conjunction…..</a:t>
            </a:r>
          </a:p>
        </p:txBody>
      </p:sp>
      <p:graphicFrame>
        <p:nvGraphicFramePr>
          <p:cNvPr id="2" name="Group 43">
            <a:extLst>
              <a:ext uri="{FF2B5EF4-FFF2-40B4-BE49-F238E27FC236}">
                <a16:creationId xmlns:a16="http://schemas.microsoft.com/office/drawing/2014/main" id="{1448A245-D78D-47CD-AAEC-2D8D1559AC06}"/>
              </a:ext>
            </a:extLst>
          </p:cNvPr>
          <p:cNvGraphicFramePr>
            <a:graphicFrameLocks noGrp="1"/>
          </p:cNvGraphicFramePr>
          <p:nvPr/>
        </p:nvGraphicFramePr>
        <p:xfrm>
          <a:off x="1371247" y="2819401"/>
          <a:ext cx="9449511" cy="2944978"/>
        </p:xfrm>
        <a:graphic>
          <a:graphicData uri="http://schemas.openxmlformats.org/drawingml/2006/table">
            <a:tbl>
              <a:tblPr/>
              <a:tblGrid>
                <a:gridCol w="3149837">
                  <a:extLst>
                    <a:ext uri="{9D8B030D-6E8A-4147-A177-3AD203B41FA5}">
                      <a16:colId xmlns:a16="http://schemas.microsoft.com/office/drawing/2014/main" val="233371722"/>
                    </a:ext>
                  </a:extLst>
                </a:gridCol>
                <a:gridCol w="3149837">
                  <a:extLst>
                    <a:ext uri="{9D8B030D-6E8A-4147-A177-3AD203B41FA5}">
                      <a16:colId xmlns:a16="http://schemas.microsoft.com/office/drawing/2014/main" val="2750716706"/>
                    </a:ext>
                  </a:extLst>
                </a:gridCol>
                <a:gridCol w="3149837">
                  <a:extLst>
                    <a:ext uri="{9D8B030D-6E8A-4147-A177-3AD203B41FA5}">
                      <a16:colId xmlns:a16="http://schemas.microsoft.com/office/drawing/2014/main" val="1412317682"/>
                    </a:ext>
                  </a:extLst>
                </a:gridCol>
              </a:tblGrid>
              <a:tr h="689671">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p</a:t>
                      </a:r>
                    </a:p>
                  </a:txBody>
                  <a:tcPr marL="147265" marR="147265" marT="60853" marB="6085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1"/>
                    </a:solid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q</a:t>
                      </a:r>
                    </a:p>
                  </a:txBody>
                  <a:tcPr marL="147265" marR="147265" marT="60853" marB="6085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1"/>
                    </a:solid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p </a:t>
                      </a:r>
                      <a:r>
                        <a:rPr kumimoji="0" lang="en-US" altLang="en-US" sz="2000" b="0" i="0" u="none" strike="noStrike" cap="none" normalizeH="0" baseline="0" dirty="0">
                          <a:ln>
                            <a:noFill/>
                          </a:ln>
                          <a:solidFill>
                            <a:srgbClr val="000000"/>
                          </a:solidFill>
                          <a:effectLst/>
                          <a:latin typeface="Century Gothic" panose="020B0502020202020204" pitchFamily="34" charset="0"/>
                          <a:ea typeface="Calibri" panose="020F0502020204030204" pitchFamily="34" charset="0"/>
                          <a:cs typeface="Times New Roman" panose="02020603050405020304" pitchFamily="18" charset="0"/>
                        </a:rPr>
                        <a:t>⋀</a:t>
                      </a:r>
                      <a:r>
                        <a:rPr kumimoji="0" lang="en-US" altLang="en-US" sz="2000" b="0"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 q</a:t>
                      </a:r>
                    </a:p>
                  </a:txBody>
                  <a:tcPr marL="147265" marR="147265" marT="60853" marB="6085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1"/>
                    </a:solidFill>
                  </a:tcPr>
                </a:tc>
                <a:extLst>
                  <a:ext uri="{0D108BD9-81ED-4DB2-BD59-A6C34878D82A}">
                    <a16:rowId xmlns:a16="http://schemas.microsoft.com/office/drawing/2014/main" val="2962504043"/>
                  </a:ext>
                </a:extLst>
              </a:tr>
              <a:tr h="2255307">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F</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F</a:t>
                      </a:r>
                    </a:p>
                  </a:txBody>
                  <a:tcPr marL="147265" marR="147265" marT="60853" marB="6085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F</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F</a:t>
                      </a:r>
                    </a:p>
                  </a:txBody>
                  <a:tcPr marL="147265" marR="147265" marT="60853" marB="6085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F</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F</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F</a:t>
                      </a:r>
                    </a:p>
                  </a:txBody>
                  <a:tcPr marL="147265" marR="147265" marT="60853" marB="6085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276316075"/>
                  </a:ext>
                </a:extLst>
              </a:tr>
            </a:tbl>
          </a:graphicData>
        </a:graphic>
      </p:graphicFrame>
    </p:spTree>
    <p:extLst>
      <p:ext uri="{BB962C8B-B14F-4D97-AF65-F5344CB8AC3E}">
        <p14:creationId xmlns:p14="http://schemas.microsoft.com/office/powerpoint/2010/main" val="178006800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11EAED7-C8F9-45D8-A96E-859AC6FA8DAD}"/>
              </a:ext>
            </a:extLst>
          </p:cNvPr>
          <p:cNvSpPr txBox="1"/>
          <p:nvPr/>
        </p:nvSpPr>
        <p:spPr>
          <a:xfrm>
            <a:off x="4833725" y="1056525"/>
            <a:ext cx="2145139" cy="543675"/>
          </a:xfrm>
          <a:prstGeom prst="rect">
            <a:avLst/>
          </a:prstGeom>
          <a:noFill/>
        </p:spPr>
        <p:txBody>
          <a:bodyPr wrap="none" rtlCol="0">
            <a:spAutoFit/>
          </a:bodyPr>
          <a:lstStyle/>
          <a:p>
            <a:r>
              <a:rPr lang="en-US" altLang="en-US" sz="2933" dirty="0">
                <a:solidFill>
                  <a:schemeClr val="tx1">
                    <a:lumMod val="95000"/>
                    <a:lumOff val="5000"/>
                  </a:schemeClr>
                </a:solidFill>
                <a:latin typeface="Century Gothic" panose="020B0502020202020204" pitchFamily="34" charset="0"/>
                <a:cs typeface="Arial" pitchFamily="34" charset="0"/>
              </a:rPr>
              <a:t>Disjunction</a:t>
            </a:r>
          </a:p>
        </p:txBody>
      </p:sp>
      <p:graphicFrame>
        <p:nvGraphicFramePr>
          <p:cNvPr id="2" name="Diagram 1">
            <a:extLst>
              <a:ext uri="{FF2B5EF4-FFF2-40B4-BE49-F238E27FC236}">
                <a16:creationId xmlns:a16="http://schemas.microsoft.com/office/drawing/2014/main" id="{EF34758D-E66F-4511-9DA4-848C6E35662D}"/>
              </a:ext>
            </a:extLst>
          </p:cNvPr>
          <p:cNvGraphicFramePr/>
          <p:nvPr/>
        </p:nvGraphicFramePr>
        <p:xfrm>
          <a:off x="711200" y="1600200"/>
          <a:ext cx="10668000" cy="4876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7826768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graphicEl>
                                              <a:dgm id="{BAE60E79-C556-4DFB-B96A-BDF9220ACAE2}"/>
                                            </p:graphicEl>
                                          </p:spTgt>
                                        </p:tgtEl>
                                        <p:attrNameLst>
                                          <p:attrName>style.visibility</p:attrName>
                                        </p:attrNameLst>
                                      </p:cBhvr>
                                      <p:to>
                                        <p:strVal val="visible"/>
                                      </p:to>
                                    </p:set>
                                    <p:animEffect transition="in" filter="wipe(left)">
                                      <p:cBhvr>
                                        <p:cTn id="7" dur="500"/>
                                        <p:tgtEl>
                                          <p:spTgt spid="2">
                                            <p:graphicEl>
                                              <a:dgm id="{BAE60E79-C556-4DFB-B96A-BDF9220ACAE2}"/>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graphicEl>
                                              <a:dgm id="{7A9AEC6B-FBA2-4A76-B69B-C0EA825D7D85}"/>
                                            </p:graphicEl>
                                          </p:spTgt>
                                        </p:tgtEl>
                                        <p:attrNameLst>
                                          <p:attrName>style.visibility</p:attrName>
                                        </p:attrNameLst>
                                      </p:cBhvr>
                                      <p:to>
                                        <p:strVal val="visible"/>
                                      </p:to>
                                    </p:set>
                                    <p:animEffect transition="in" filter="wipe(left)">
                                      <p:cBhvr>
                                        <p:cTn id="12" dur="500"/>
                                        <p:tgtEl>
                                          <p:spTgt spid="2">
                                            <p:graphicEl>
                                              <a:dgm id="{7A9AEC6B-FBA2-4A76-B69B-C0EA825D7D85}"/>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Sub>
          <a:bldDgm bld="one"/>
        </p:bldSub>
      </p:bldGraphic>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1B16CEC-5382-4936-91C2-86CA7AF3650A}"/>
              </a:ext>
            </a:extLst>
          </p:cNvPr>
          <p:cNvSpPr txBox="1"/>
          <p:nvPr/>
        </p:nvSpPr>
        <p:spPr>
          <a:xfrm>
            <a:off x="723363" y="1611721"/>
            <a:ext cx="10655837" cy="3477875"/>
          </a:xfrm>
          <a:prstGeom prst="rect">
            <a:avLst/>
          </a:prstGeom>
          <a:noFill/>
        </p:spPr>
        <p:txBody>
          <a:bodyPr wrap="square">
            <a:spAutoFit/>
          </a:bodyPr>
          <a:lstStyle/>
          <a:p>
            <a:pPr algn="just"/>
            <a:r>
              <a:rPr lang="en-US" altLang="en-US" sz="2000" b="1" dirty="0">
                <a:latin typeface="Century Gothic" panose="020B0502020202020204" pitchFamily="34" charset="0"/>
                <a:cs typeface="Times New Roman" panose="02020603050405020304" pitchFamily="18" charset="0"/>
              </a:rPr>
              <a:t>Example</a:t>
            </a:r>
          </a:p>
          <a:p>
            <a:pPr algn="just"/>
            <a:endParaRPr lang="en-US" altLang="en-US" sz="2000" dirty="0">
              <a:latin typeface="Century Gothic" panose="020B0502020202020204" pitchFamily="34" charset="0"/>
              <a:cs typeface="Times New Roman" panose="02020603050405020304" pitchFamily="18" charset="0"/>
            </a:endParaRPr>
          </a:p>
          <a:p>
            <a:pPr algn="just"/>
            <a:r>
              <a:rPr lang="en-US" altLang="en-US" sz="2000" dirty="0">
                <a:latin typeface="Century Gothic" panose="020B0502020202020204" pitchFamily="34" charset="0"/>
                <a:cs typeface="Times New Roman" panose="02020603050405020304" pitchFamily="18" charset="0"/>
              </a:rPr>
              <a:t>p:  It is cold.</a:t>
            </a:r>
          </a:p>
          <a:p>
            <a:pPr algn="just"/>
            <a:r>
              <a:rPr lang="en-US" altLang="en-US" sz="2000" dirty="0">
                <a:latin typeface="Century Gothic" panose="020B0502020202020204" pitchFamily="34" charset="0"/>
                <a:cs typeface="Times New Roman" panose="02020603050405020304" pitchFamily="18" charset="0"/>
              </a:rPr>
              <a:t>q:  It is raining.</a:t>
            </a:r>
          </a:p>
          <a:p>
            <a:pPr algn="just"/>
            <a:r>
              <a:rPr lang="en-US" altLang="en-US" sz="2000" dirty="0">
                <a:latin typeface="Century Gothic" panose="020B0502020202020204" pitchFamily="34" charset="0"/>
                <a:cs typeface="Times New Roman" panose="02020603050405020304" pitchFamily="18" charset="0"/>
              </a:rPr>
              <a:t>p ⋁ q: It is cold  or  it is raining.</a:t>
            </a:r>
          </a:p>
          <a:p>
            <a:pPr algn="just"/>
            <a:endParaRPr lang="en-US" altLang="en-US" sz="2000" dirty="0">
              <a:latin typeface="Century Gothic" panose="020B0502020202020204" pitchFamily="34" charset="0"/>
              <a:cs typeface="Times New Roman" panose="02020603050405020304" pitchFamily="18" charset="0"/>
            </a:endParaRPr>
          </a:p>
          <a:p>
            <a:pPr algn="just"/>
            <a:r>
              <a:rPr lang="en-US" altLang="en-US" sz="2000" dirty="0">
                <a:latin typeface="Century Gothic" panose="020B0502020202020204" pitchFamily="34" charset="0"/>
                <a:cs typeface="Times New Roman" panose="02020603050405020304" pitchFamily="18" charset="0"/>
              </a:rPr>
              <a:t>p: 5x + 6 = 26</a:t>
            </a:r>
          </a:p>
          <a:p>
            <a:pPr algn="just"/>
            <a:r>
              <a:rPr lang="en-US" altLang="en-US" sz="2000" dirty="0">
                <a:latin typeface="Century Gothic" panose="020B0502020202020204" pitchFamily="34" charset="0"/>
                <a:cs typeface="Times New Roman" panose="02020603050405020304" pitchFamily="18" charset="0"/>
              </a:rPr>
              <a:t>q: x &gt; 3</a:t>
            </a:r>
          </a:p>
          <a:p>
            <a:pPr algn="just"/>
            <a:r>
              <a:rPr lang="en-US" altLang="en-US" sz="2000" dirty="0">
                <a:latin typeface="Century Gothic" panose="020B0502020202020204" pitchFamily="34" charset="0"/>
                <a:cs typeface="Times New Roman" panose="02020603050405020304" pitchFamily="18" charset="0"/>
              </a:rPr>
              <a:t>p ⋁ q: 5x + 6 = 26 or  x &gt; 3.</a:t>
            </a:r>
          </a:p>
          <a:p>
            <a:pPr algn="just"/>
            <a:endParaRPr lang="en-US" altLang="en-US" sz="2000" dirty="0">
              <a:latin typeface="Century Gothic" panose="020B0502020202020204" pitchFamily="34" charset="0"/>
              <a:cs typeface="Times New Roman" panose="02020603050405020304" pitchFamily="18" charset="0"/>
            </a:endParaRPr>
          </a:p>
          <a:p>
            <a:pPr algn="just"/>
            <a:r>
              <a:rPr lang="en-US" altLang="en-US" sz="2000" dirty="0">
                <a:latin typeface="Century Gothic" panose="020B0502020202020204" pitchFamily="34" charset="0"/>
                <a:cs typeface="Times New Roman" panose="02020603050405020304" pitchFamily="18" charset="0"/>
              </a:rPr>
              <a:t>The connective </a:t>
            </a:r>
            <a:r>
              <a:rPr lang="en-US" altLang="en-US" sz="2000" b="1" dirty="0">
                <a:latin typeface="Century Gothic" panose="020B0502020202020204" pitchFamily="34" charset="0"/>
                <a:cs typeface="Times New Roman" panose="02020603050405020304" pitchFamily="18" charset="0"/>
              </a:rPr>
              <a:t>‘or ‘ </a:t>
            </a:r>
            <a:r>
              <a:rPr lang="en-US" altLang="en-US" sz="2000" dirty="0">
                <a:latin typeface="Century Gothic" panose="020B0502020202020204" pitchFamily="34" charset="0"/>
                <a:cs typeface="Times New Roman" panose="02020603050405020304" pitchFamily="18" charset="0"/>
              </a:rPr>
              <a:t>is used in the same sense as the symbol </a:t>
            </a:r>
            <a:r>
              <a:rPr lang="en-US" altLang="en-US" sz="2000" b="1" dirty="0">
                <a:latin typeface="Century Gothic" panose="020B0502020202020204" pitchFamily="34" charset="0"/>
                <a:cs typeface="Times New Roman" panose="02020603050405020304" pitchFamily="18" charset="0"/>
              </a:rPr>
              <a:t>‘⋁ ‘.</a:t>
            </a:r>
          </a:p>
        </p:txBody>
      </p:sp>
      <p:sp>
        <p:nvSpPr>
          <p:cNvPr id="2" name="TextBox 1">
            <a:extLst>
              <a:ext uri="{FF2B5EF4-FFF2-40B4-BE49-F238E27FC236}">
                <a16:creationId xmlns:a16="http://schemas.microsoft.com/office/drawing/2014/main" id="{126661CC-79B9-4EFE-A773-B6147B1ABD54}"/>
              </a:ext>
            </a:extLst>
          </p:cNvPr>
          <p:cNvSpPr txBox="1"/>
          <p:nvPr/>
        </p:nvSpPr>
        <p:spPr>
          <a:xfrm>
            <a:off x="4434230" y="1068046"/>
            <a:ext cx="2730235" cy="543675"/>
          </a:xfrm>
          <a:prstGeom prst="rect">
            <a:avLst/>
          </a:prstGeom>
          <a:noFill/>
        </p:spPr>
        <p:txBody>
          <a:bodyPr wrap="none" rtlCol="0">
            <a:spAutoFit/>
          </a:bodyPr>
          <a:lstStyle/>
          <a:p>
            <a:r>
              <a:rPr lang="en-US" altLang="en-US" sz="2933" dirty="0">
                <a:solidFill>
                  <a:schemeClr val="tx1">
                    <a:lumMod val="95000"/>
                    <a:lumOff val="5000"/>
                  </a:schemeClr>
                </a:solidFill>
                <a:latin typeface="Century Gothic" panose="020B0502020202020204" pitchFamily="34" charset="0"/>
                <a:cs typeface="Arial" pitchFamily="34" charset="0"/>
              </a:rPr>
              <a:t>Disjunction…..</a:t>
            </a:r>
          </a:p>
        </p:txBody>
      </p:sp>
    </p:spTree>
    <p:extLst>
      <p:ext uri="{BB962C8B-B14F-4D97-AF65-F5344CB8AC3E}">
        <p14:creationId xmlns:p14="http://schemas.microsoft.com/office/powerpoint/2010/main" val="165978201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wipe(left)">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Effect transition="in" filter="wipe(left)">
                                      <p:cBhvr>
                                        <p:cTn id="17" dur="500"/>
                                        <p:tgtEl>
                                          <p:spTgt spid="5">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
                                            <p:txEl>
                                              <p:pRg st="4" end="4"/>
                                            </p:txEl>
                                          </p:spTgt>
                                        </p:tgtEl>
                                        <p:attrNameLst>
                                          <p:attrName>style.visibility</p:attrName>
                                        </p:attrNameLst>
                                      </p:cBhvr>
                                      <p:to>
                                        <p:strVal val="visible"/>
                                      </p:to>
                                    </p:set>
                                    <p:animEffect transition="in" filter="wipe(left)">
                                      <p:cBhvr>
                                        <p:cTn id="22" dur="500"/>
                                        <p:tgtEl>
                                          <p:spTgt spid="5">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animEffect transition="in" filter="wipe(left)">
                                      <p:cBhvr>
                                        <p:cTn id="27" dur="500"/>
                                        <p:tgtEl>
                                          <p:spTgt spid="5">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5">
                                            <p:txEl>
                                              <p:pRg st="7" end="7"/>
                                            </p:txEl>
                                          </p:spTgt>
                                        </p:tgtEl>
                                        <p:attrNameLst>
                                          <p:attrName>style.visibility</p:attrName>
                                        </p:attrNameLst>
                                      </p:cBhvr>
                                      <p:to>
                                        <p:strVal val="visible"/>
                                      </p:to>
                                    </p:set>
                                    <p:animEffect transition="in" filter="wipe(left)">
                                      <p:cBhvr>
                                        <p:cTn id="32" dur="500"/>
                                        <p:tgtEl>
                                          <p:spTgt spid="5">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5">
                                            <p:txEl>
                                              <p:pRg st="8" end="8"/>
                                            </p:txEl>
                                          </p:spTgt>
                                        </p:tgtEl>
                                        <p:attrNameLst>
                                          <p:attrName>style.visibility</p:attrName>
                                        </p:attrNameLst>
                                      </p:cBhvr>
                                      <p:to>
                                        <p:strVal val="visible"/>
                                      </p:to>
                                    </p:set>
                                    <p:animEffect transition="in" filter="wipe(left)">
                                      <p:cBhvr>
                                        <p:cTn id="37" dur="500"/>
                                        <p:tgtEl>
                                          <p:spTgt spid="5">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5">
                                            <p:txEl>
                                              <p:pRg st="10" end="10"/>
                                            </p:txEl>
                                          </p:spTgt>
                                        </p:tgtEl>
                                        <p:attrNameLst>
                                          <p:attrName>style.visibility</p:attrName>
                                        </p:attrNameLst>
                                      </p:cBhvr>
                                      <p:to>
                                        <p:strVal val="visible"/>
                                      </p:to>
                                    </p:set>
                                    <p:animEffect transition="in" filter="wipe(left)">
                                      <p:cBhvr>
                                        <p:cTn id="42" dur="500"/>
                                        <p:tgtEl>
                                          <p:spTgt spid="5">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Group 43">
            <a:extLst>
              <a:ext uri="{FF2B5EF4-FFF2-40B4-BE49-F238E27FC236}">
                <a16:creationId xmlns:a16="http://schemas.microsoft.com/office/drawing/2014/main" id="{1448A245-D78D-47CD-AAEC-2D8D1559AC06}"/>
              </a:ext>
            </a:extLst>
          </p:cNvPr>
          <p:cNvGraphicFramePr>
            <a:graphicFrameLocks noGrp="1"/>
          </p:cNvGraphicFramePr>
          <p:nvPr/>
        </p:nvGraphicFramePr>
        <p:xfrm>
          <a:off x="1371247" y="2819401"/>
          <a:ext cx="9449511" cy="2944978"/>
        </p:xfrm>
        <a:graphic>
          <a:graphicData uri="http://schemas.openxmlformats.org/drawingml/2006/table">
            <a:tbl>
              <a:tblPr/>
              <a:tblGrid>
                <a:gridCol w="3149837">
                  <a:extLst>
                    <a:ext uri="{9D8B030D-6E8A-4147-A177-3AD203B41FA5}">
                      <a16:colId xmlns:a16="http://schemas.microsoft.com/office/drawing/2014/main" val="233371722"/>
                    </a:ext>
                  </a:extLst>
                </a:gridCol>
                <a:gridCol w="3149837">
                  <a:extLst>
                    <a:ext uri="{9D8B030D-6E8A-4147-A177-3AD203B41FA5}">
                      <a16:colId xmlns:a16="http://schemas.microsoft.com/office/drawing/2014/main" val="2750716706"/>
                    </a:ext>
                  </a:extLst>
                </a:gridCol>
                <a:gridCol w="3149837">
                  <a:extLst>
                    <a:ext uri="{9D8B030D-6E8A-4147-A177-3AD203B41FA5}">
                      <a16:colId xmlns:a16="http://schemas.microsoft.com/office/drawing/2014/main" val="1412317682"/>
                    </a:ext>
                  </a:extLst>
                </a:gridCol>
              </a:tblGrid>
              <a:tr h="689671">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p</a:t>
                      </a:r>
                    </a:p>
                  </a:txBody>
                  <a:tcPr marL="147265" marR="147265" marT="60853" marB="6085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1"/>
                    </a:solid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q</a:t>
                      </a:r>
                    </a:p>
                  </a:txBody>
                  <a:tcPr marL="147265" marR="147265" marT="60853" marB="6085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1"/>
                    </a:solid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P ⋁ q</a:t>
                      </a:r>
                    </a:p>
                  </a:txBody>
                  <a:tcPr marL="147265" marR="147265" marT="60853" marB="6085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1"/>
                    </a:solidFill>
                  </a:tcPr>
                </a:tc>
                <a:extLst>
                  <a:ext uri="{0D108BD9-81ED-4DB2-BD59-A6C34878D82A}">
                    <a16:rowId xmlns:a16="http://schemas.microsoft.com/office/drawing/2014/main" val="2962504043"/>
                  </a:ext>
                </a:extLst>
              </a:tr>
              <a:tr h="2255307">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F</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F</a:t>
                      </a:r>
                    </a:p>
                  </a:txBody>
                  <a:tcPr marL="147265" marR="147265" marT="60853" marB="6085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F</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F</a:t>
                      </a:r>
                    </a:p>
                  </a:txBody>
                  <a:tcPr marL="147265" marR="147265" marT="60853" marB="6085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F</a:t>
                      </a:r>
                    </a:p>
                  </a:txBody>
                  <a:tcPr marL="147265" marR="147265" marT="60853" marB="6085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276316075"/>
                  </a:ext>
                </a:extLst>
              </a:tr>
            </a:tbl>
          </a:graphicData>
        </a:graphic>
      </p:graphicFrame>
      <p:sp>
        <p:nvSpPr>
          <p:cNvPr id="3" name="TextBox 2">
            <a:extLst>
              <a:ext uri="{FF2B5EF4-FFF2-40B4-BE49-F238E27FC236}">
                <a16:creationId xmlns:a16="http://schemas.microsoft.com/office/drawing/2014/main" id="{92ED94AB-8DDF-43D1-A820-88FA948DEC5D}"/>
              </a:ext>
            </a:extLst>
          </p:cNvPr>
          <p:cNvSpPr txBox="1"/>
          <p:nvPr/>
        </p:nvSpPr>
        <p:spPr>
          <a:xfrm>
            <a:off x="4292188" y="1179445"/>
            <a:ext cx="2730235" cy="543675"/>
          </a:xfrm>
          <a:prstGeom prst="rect">
            <a:avLst/>
          </a:prstGeom>
          <a:noFill/>
        </p:spPr>
        <p:txBody>
          <a:bodyPr wrap="none" rtlCol="0">
            <a:spAutoFit/>
          </a:bodyPr>
          <a:lstStyle/>
          <a:p>
            <a:r>
              <a:rPr lang="en-US" altLang="en-US" sz="2933" dirty="0">
                <a:solidFill>
                  <a:schemeClr val="tx1">
                    <a:lumMod val="95000"/>
                    <a:lumOff val="5000"/>
                  </a:schemeClr>
                </a:solidFill>
                <a:latin typeface="Century Gothic" panose="020B0502020202020204" pitchFamily="34" charset="0"/>
                <a:cs typeface="Arial" pitchFamily="34" charset="0"/>
              </a:rPr>
              <a:t>Disjunction…..</a:t>
            </a:r>
          </a:p>
        </p:txBody>
      </p:sp>
    </p:spTree>
    <p:extLst>
      <p:ext uri="{BB962C8B-B14F-4D97-AF65-F5344CB8AC3E}">
        <p14:creationId xmlns:p14="http://schemas.microsoft.com/office/powerpoint/2010/main" val="338781190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1B16CEC-5382-4936-91C2-86CA7AF3650A}"/>
              </a:ext>
            </a:extLst>
          </p:cNvPr>
          <p:cNvSpPr txBox="1"/>
          <p:nvPr/>
        </p:nvSpPr>
        <p:spPr>
          <a:xfrm>
            <a:off x="723363" y="1611722"/>
            <a:ext cx="10655837" cy="2246769"/>
          </a:xfrm>
          <a:prstGeom prst="rect">
            <a:avLst/>
          </a:prstGeom>
          <a:noFill/>
        </p:spPr>
        <p:txBody>
          <a:bodyPr wrap="square">
            <a:spAutoFit/>
          </a:bodyPr>
          <a:lstStyle/>
          <a:p>
            <a:pPr algn="just"/>
            <a:r>
              <a:rPr lang="en-US" altLang="en-US" sz="2000" b="1" dirty="0">
                <a:latin typeface="Century Gothic" panose="020B0502020202020204" pitchFamily="34" charset="0"/>
                <a:cs typeface="Times New Roman" panose="02020603050405020304" pitchFamily="18" charset="0"/>
              </a:rPr>
              <a:t>Example</a:t>
            </a:r>
          </a:p>
          <a:p>
            <a:pPr algn="just"/>
            <a:endParaRPr lang="en-US" altLang="en-US" sz="2000" dirty="0">
              <a:latin typeface="Century Gothic" panose="020B0502020202020204" pitchFamily="34" charset="0"/>
              <a:cs typeface="Times New Roman" panose="02020603050405020304" pitchFamily="18" charset="0"/>
            </a:endParaRPr>
          </a:p>
          <a:p>
            <a:pPr algn="just"/>
            <a:r>
              <a:rPr lang="en-US" altLang="en-US" sz="2000" dirty="0">
                <a:latin typeface="Century Gothic" panose="020B0502020202020204" pitchFamily="34" charset="0"/>
                <a:cs typeface="Times New Roman" panose="02020603050405020304" pitchFamily="18" charset="0"/>
              </a:rPr>
              <a:t>Assign a truth value to the following statements:</a:t>
            </a:r>
          </a:p>
          <a:p>
            <a:pPr algn="just"/>
            <a:endParaRPr lang="en-US" altLang="en-US" sz="2000" dirty="0">
              <a:latin typeface="Century Gothic" panose="020B0502020202020204" pitchFamily="34" charset="0"/>
              <a:cs typeface="Times New Roman" panose="02020603050405020304" pitchFamily="18" charset="0"/>
            </a:endParaRPr>
          </a:p>
          <a:p>
            <a:pPr marL="457189" indent="-457189" algn="just">
              <a:buFont typeface="+mj-lt"/>
              <a:buAutoNum type="arabicPeriod"/>
            </a:pPr>
            <a:r>
              <a:rPr lang="en-US" altLang="en-US" sz="2000" dirty="0">
                <a:latin typeface="Century Gothic" panose="020B0502020202020204" pitchFamily="34" charset="0"/>
                <a:cs typeface="Times New Roman" panose="02020603050405020304" pitchFamily="18" charset="0"/>
              </a:rPr>
              <a:t>p: 5 &lt; 5 ⋁ 5 &lt; 6		F ⋁ T = T</a:t>
            </a:r>
          </a:p>
          <a:p>
            <a:pPr marL="457189" indent="-457189" algn="just">
              <a:buFont typeface="+mj-lt"/>
              <a:buAutoNum type="arabicPeriod"/>
            </a:pPr>
            <a:endParaRPr lang="en-US" altLang="en-US" sz="2000" dirty="0">
              <a:latin typeface="Century Gothic" panose="020B0502020202020204" pitchFamily="34" charset="0"/>
              <a:cs typeface="Times New Roman" panose="02020603050405020304" pitchFamily="18" charset="0"/>
            </a:endParaRPr>
          </a:p>
          <a:p>
            <a:pPr marL="457189" indent="-457189" algn="just">
              <a:buFont typeface="+mj-lt"/>
              <a:buAutoNum type="arabicPeriod"/>
            </a:pPr>
            <a:r>
              <a:rPr lang="en-US" altLang="en-US" sz="2000" dirty="0">
                <a:latin typeface="Century Gothic" panose="020B0502020202020204" pitchFamily="34" charset="0"/>
                <a:cs typeface="Times New Roman" panose="02020603050405020304" pitchFamily="18" charset="0"/>
              </a:rPr>
              <a:t>5 * 4 = 21 ⋁ 9 + 7 =17	F ⋁ F = F</a:t>
            </a:r>
          </a:p>
        </p:txBody>
      </p:sp>
      <p:sp>
        <p:nvSpPr>
          <p:cNvPr id="2" name="TextBox 1">
            <a:extLst>
              <a:ext uri="{FF2B5EF4-FFF2-40B4-BE49-F238E27FC236}">
                <a16:creationId xmlns:a16="http://schemas.microsoft.com/office/drawing/2014/main" id="{126661CC-79B9-4EFE-A773-B6147B1ABD54}"/>
              </a:ext>
            </a:extLst>
          </p:cNvPr>
          <p:cNvSpPr txBox="1"/>
          <p:nvPr/>
        </p:nvSpPr>
        <p:spPr>
          <a:xfrm>
            <a:off x="4886991" y="984136"/>
            <a:ext cx="2730235" cy="543675"/>
          </a:xfrm>
          <a:prstGeom prst="rect">
            <a:avLst/>
          </a:prstGeom>
          <a:noFill/>
        </p:spPr>
        <p:txBody>
          <a:bodyPr wrap="none" rtlCol="0">
            <a:spAutoFit/>
          </a:bodyPr>
          <a:lstStyle/>
          <a:p>
            <a:r>
              <a:rPr lang="en-US" altLang="en-US" sz="2933" dirty="0">
                <a:solidFill>
                  <a:schemeClr val="tx1">
                    <a:lumMod val="95000"/>
                    <a:lumOff val="5000"/>
                  </a:schemeClr>
                </a:solidFill>
                <a:latin typeface="Century Gothic" panose="020B0502020202020204" pitchFamily="34" charset="0"/>
                <a:cs typeface="Arial" pitchFamily="34" charset="0"/>
              </a:rPr>
              <a:t>Disjunction…..</a:t>
            </a:r>
          </a:p>
        </p:txBody>
      </p:sp>
    </p:spTree>
    <p:extLst>
      <p:ext uri="{BB962C8B-B14F-4D97-AF65-F5344CB8AC3E}">
        <p14:creationId xmlns:p14="http://schemas.microsoft.com/office/powerpoint/2010/main" val="186966478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wipe(left)">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wipe(left)">
                                      <p:cBhvr>
                                        <p:cTn id="17" dur="500"/>
                                        <p:tgtEl>
                                          <p:spTgt spid="5">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txEl>
                                              <p:pRg st="6" end="6"/>
                                            </p:txEl>
                                          </p:spTgt>
                                        </p:tgtEl>
                                        <p:attrNameLst>
                                          <p:attrName>style.visibility</p:attrName>
                                        </p:attrNameLst>
                                      </p:cBhvr>
                                      <p:to>
                                        <p:strVal val="visible"/>
                                      </p:to>
                                    </p:set>
                                    <p:animEffect transition="in" filter="wipe(left)">
                                      <p:cBhvr>
                                        <p:cTn id="22"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2ED1AF7-2E15-4F91-A46B-3C77A3032F4C}"/>
              </a:ext>
            </a:extLst>
          </p:cNvPr>
          <p:cNvSpPr txBox="1"/>
          <p:nvPr/>
        </p:nvSpPr>
        <p:spPr>
          <a:xfrm>
            <a:off x="3626362" y="1065761"/>
            <a:ext cx="1810111" cy="543675"/>
          </a:xfrm>
          <a:prstGeom prst="rect">
            <a:avLst/>
          </a:prstGeom>
          <a:noFill/>
        </p:spPr>
        <p:txBody>
          <a:bodyPr wrap="none" rtlCol="0">
            <a:spAutoFit/>
          </a:bodyPr>
          <a:lstStyle/>
          <a:p>
            <a:r>
              <a:rPr lang="en-US" sz="2933" dirty="0">
                <a:solidFill>
                  <a:schemeClr val="tx1">
                    <a:lumMod val="95000"/>
                    <a:lumOff val="5000"/>
                  </a:schemeClr>
                </a:solidFill>
                <a:latin typeface="Century Gothic" panose="020B0502020202020204" pitchFamily="34" charset="0"/>
                <a:cs typeface="Arial" pitchFamily="34" charset="0"/>
              </a:rPr>
              <a:t>MCQ - 1 </a:t>
            </a:r>
          </a:p>
        </p:txBody>
      </p:sp>
      <p:sp>
        <p:nvSpPr>
          <p:cNvPr id="2" name="TextBox 2">
            <a:extLst>
              <a:ext uri="{FF2B5EF4-FFF2-40B4-BE49-F238E27FC236}">
                <a16:creationId xmlns:a16="http://schemas.microsoft.com/office/drawing/2014/main" id="{7FC0A8A0-F297-4146-9D7D-E2940EEC9D83}"/>
              </a:ext>
            </a:extLst>
          </p:cNvPr>
          <p:cNvSpPr txBox="1"/>
          <p:nvPr/>
        </p:nvSpPr>
        <p:spPr>
          <a:xfrm>
            <a:off x="726253" y="1609436"/>
            <a:ext cx="10652948" cy="415498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b="1" dirty="0">
                <a:latin typeface="Century Gothic" panose="020B0502020202020204" pitchFamily="34" charset="0"/>
                <a:cs typeface="Arial" panose="020B0604020202020204" pitchFamily="34" charset="0"/>
              </a:rPr>
              <a:t>The symbolization for a conjunction is...</a:t>
            </a:r>
          </a:p>
          <a:p>
            <a:endParaRPr lang="en-US" sz="2400" b="1" dirty="0">
              <a:latin typeface="Century Gothic" panose="020B0502020202020204" pitchFamily="34" charset="0"/>
              <a:cs typeface="Arial" panose="020B0604020202020204" pitchFamily="34" charset="0"/>
            </a:endParaRPr>
          </a:p>
          <a:p>
            <a:pPr marL="457189" indent="-457189">
              <a:buAutoNum type="alphaLcPeriod"/>
            </a:pPr>
            <a:r>
              <a:rPr lang="en-US" sz="2400" dirty="0">
                <a:latin typeface="Century Gothic" panose="020B0502020202020204" pitchFamily="34" charset="0"/>
                <a:cs typeface="Arial" panose="020B0604020202020204" pitchFamily="34" charset="0"/>
              </a:rPr>
              <a:t>p → q</a:t>
            </a:r>
          </a:p>
          <a:p>
            <a:pPr marL="457189" indent="-457189">
              <a:buAutoNum type="alphaLcPeriod"/>
            </a:pPr>
            <a:endParaRPr lang="en-US" sz="2400" dirty="0">
              <a:latin typeface="Century Gothic" panose="020B0502020202020204" pitchFamily="34" charset="0"/>
              <a:cs typeface="Arial" panose="020B0604020202020204" pitchFamily="34" charset="0"/>
            </a:endParaRPr>
          </a:p>
          <a:p>
            <a:pPr marL="457189" indent="-457189">
              <a:buAutoNum type="alphaLcPeriod"/>
            </a:pPr>
            <a:r>
              <a:rPr lang="en-US" sz="2400" dirty="0">
                <a:latin typeface="Century Gothic" panose="020B0502020202020204" pitchFamily="34" charset="0"/>
                <a:cs typeface="Arial" panose="020B0604020202020204" pitchFamily="34" charset="0"/>
              </a:rPr>
              <a:t>p &amp; q</a:t>
            </a:r>
          </a:p>
          <a:p>
            <a:pPr marL="457189" indent="-457189">
              <a:buAutoNum type="alphaLcPeriod"/>
            </a:pPr>
            <a:endParaRPr lang="en-US" sz="2400" dirty="0">
              <a:latin typeface="Century Gothic" panose="020B0502020202020204" pitchFamily="34" charset="0"/>
              <a:cs typeface="Arial" panose="020B0604020202020204" pitchFamily="34" charset="0"/>
            </a:endParaRPr>
          </a:p>
          <a:p>
            <a:pPr marL="457189" indent="-457189">
              <a:buAutoNum type="alphaLcPeriod"/>
            </a:pPr>
            <a:r>
              <a:rPr lang="en-US" sz="2400" dirty="0">
                <a:latin typeface="Century Gothic" panose="020B0502020202020204" pitchFamily="34" charset="0"/>
                <a:cs typeface="Arial" panose="020B0604020202020204" pitchFamily="34" charset="0"/>
              </a:rPr>
              <a:t>p ^ q</a:t>
            </a:r>
          </a:p>
          <a:p>
            <a:pPr marL="457189" indent="-457189">
              <a:buAutoNum type="alphaLcPeriod"/>
            </a:pPr>
            <a:endParaRPr lang="en-US" sz="2400" dirty="0">
              <a:latin typeface="Century Gothic" panose="020B0502020202020204" pitchFamily="34" charset="0"/>
              <a:cs typeface="Arial" panose="020B0604020202020204" pitchFamily="34" charset="0"/>
            </a:endParaRPr>
          </a:p>
          <a:p>
            <a:pPr marL="457189" indent="-457189">
              <a:buAutoNum type="alphaLcPeriod"/>
            </a:pPr>
            <a:r>
              <a:rPr lang="en-US" sz="2400" dirty="0">
                <a:latin typeface="Century Gothic" panose="020B0502020202020204" pitchFamily="34" charset="0"/>
                <a:cs typeface="Arial" panose="020B0604020202020204" pitchFamily="34" charset="0"/>
              </a:rPr>
              <a:t>~ p</a:t>
            </a:r>
          </a:p>
          <a:p>
            <a:pPr marL="457189" indent="-457189">
              <a:buFont typeface="+mj-lt"/>
              <a:buAutoNum type="alphaUcPeriod"/>
            </a:pPr>
            <a:endParaRPr lang="en-US" sz="2400" dirty="0">
              <a:latin typeface="Century Gothic" panose="020B0502020202020204" pitchFamily="34" charset="0"/>
              <a:cs typeface="Arial" panose="020B0604020202020204" pitchFamily="34" charset="0"/>
            </a:endParaRPr>
          </a:p>
          <a:p>
            <a:r>
              <a:rPr lang="en-US" sz="2400" dirty="0">
                <a:latin typeface="Century Gothic" panose="020B0502020202020204" pitchFamily="34" charset="0"/>
                <a:cs typeface="Arial" panose="020B0604020202020204" pitchFamily="34" charset="0"/>
              </a:rPr>
              <a:t>Answer: c.</a:t>
            </a:r>
          </a:p>
        </p:txBody>
      </p:sp>
    </p:spTree>
    <p:extLst>
      <p:ext uri="{BB962C8B-B14F-4D97-AF65-F5344CB8AC3E}">
        <p14:creationId xmlns:p14="http://schemas.microsoft.com/office/powerpoint/2010/main" val="116141467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wipe(left)">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animEffect transition="in" filter="wipe(left)">
                                      <p:cBhvr>
                                        <p:cTn id="17" dur="500"/>
                                        <p:tgtEl>
                                          <p:spTgt spid="2">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
                                            <p:txEl>
                                              <p:pRg st="6" end="6"/>
                                            </p:txEl>
                                          </p:spTgt>
                                        </p:tgtEl>
                                        <p:attrNameLst>
                                          <p:attrName>style.visibility</p:attrName>
                                        </p:attrNameLst>
                                      </p:cBhvr>
                                      <p:to>
                                        <p:strVal val="visible"/>
                                      </p:to>
                                    </p:set>
                                    <p:animEffect transition="in" filter="wipe(left)">
                                      <p:cBhvr>
                                        <p:cTn id="22" dur="500"/>
                                        <p:tgtEl>
                                          <p:spTgt spid="2">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
                                            <p:txEl>
                                              <p:pRg st="8" end="8"/>
                                            </p:txEl>
                                          </p:spTgt>
                                        </p:tgtEl>
                                        <p:attrNameLst>
                                          <p:attrName>style.visibility</p:attrName>
                                        </p:attrNameLst>
                                      </p:cBhvr>
                                      <p:to>
                                        <p:strVal val="visible"/>
                                      </p:to>
                                    </p:set>
                                    <p:animEffect transition="in" filter="wipe(left)">
                                      <p:cBhvr>
                                        <p:cTn id="27" dur="500"/>
                                        <p:tgtEl>
                                          <p:spTgt spid="2">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
                                            <p:txEl>
                                              <p:pRg st="10" end="10"/>
                                            </p:txEl>
                                          </p:spTgt>
                                        </p:tgtEl>
                                        <p:attrNameLst>
                                          <p:attrName>style.visibility</p:attrName>
                                        </p:attrNameLst>
                                      </p:cBhvr>
                                      <p:to>
                                        <p:strVal val="visible"/>
                                      </p:to>
                                    </p:set>
                                    <p:animEffect transition="in" filter="wipe(left)">
                                      <p:cBhvr>
                                        <p:cTn id="32" dur="500"/>
                                        <p:tgtEl>
                                          <p:spTgt spid="2">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2ED1AF7-2E15-4F91-A46B-3C77A3032F4C}"/>
              </a:ext>
            </a:extLst>
          </p:cNvPr>
          <p:cNvSpPr txBox="1"/>
          <p:nvPr/>
        </p:nvSpPr>
        <p:spPr>
          <a:xfrm>
            <a:off x="4966890" y="1065762"/>
            <a:ext cx="1810111" cy="543675"/>
          </a:xfrm>
          <a:prstGeom prst="rect">
            <a:avLst/>
          </a:prstGeom>
          <a:noFill/>
        </p:spPr>
        <p:txBody>
          <a:bodyPr wrap="none" rtlCol="0">
            <a:spAutoFit/>
          </a:bodyPr>
          <a:lstStyle/>
          <a:p>
            <a:r>
              <a:rPr lang="en-US" sz="2933" dirty="0">
                <a:solidFill>
                  <a:schemeClr val="tx1">
                    <a:lumMod val="95000"/>
                    <a:lumOff val="5000"/>
                  </a:schemeClr>
                </a:solidFill>
                <a:latin typeface="Century Gothic" panose="020B0502020202020204" pitchFamily="34" charset="0"/>
                <a:cs typeface="Arial" pitchFamily="34" charset="0"/>
              </a:rPr>
              <a:t>MCQ - 2 </a:t>
            </a:r>
          </a:p>
        </p:txBody>
      </p:sp>
      <p:sp>
        <p:nvSpPr>
          <p:cNvPr id="2" name="TextBox 2">
            <a:extLst>
              <a:ext uri="{FF2B5EF4-FFF2-40B4-BE49-F238E27FC236}">
                <a16:creationId xmlns:a16="http://schemas.microsoft.com/office/drawing/2014/main" id="{7FC0A8A0-F297-4146-9D7D-E2940EEC9D83}"/>
              </a:ext>
            </a:extLst>
          </p:cNvPr>
          <p:cNvSpPr txBox="1"/>
          <p:nvPr/>
        </p:nvSpPr>
        <p:spPr>
          <a:xfrm>
            <a:off x="726253" y="1609437"/>
            <a:ext cx="10652948" cy="452431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b="1" dirty="0">
                <a:latin typeface="Century Gothic" panose="020B0502020202020204" pitchFamily="34" charset="0"/>
                <a:cs typeface="Arial" panose="020B0604020202020204" pitchFamily="34" charset="0"/>
              </a:rPr>
              <a:t>In a disjunction, even if one of the statements is false, the whole disjunction is still...</a:t>
            </a:r>
          </a:p>
          <a:p>
            <a:endParaRPr lang="en-US" sz="2400" b="1" dirty="0">
              <a:latin typeface="Century Gothic" panose="020B0502020202020204" pitchFamily="34" charset="0"/>
              <a:cs typeface="Arial" panose="020B0604020202020204" pitchFamily="34" charset="0"/>
            </a:endParaRPr>
          </a:p>
          <a:p>
            <a:pPr marL="457189" indent="-457189">
              <a:buAutoNum type="alphaLcPeriod"/>
            </a:pPr>
            <a:r>
              <a:rPr lang="en-US" sz="2400" dirty="0">
                <a:latin typeface="Century Gothic" panose="020B0502020202020204" pitchFamily="34" charset="0"/>
                <a:cs typeface="Arial" panose="020B0604020202020204" pitchFamily="34" charset="0"/>
              </a:rPr>
              <a:t>False</a:t>
            </a:r>
          </a:p>
          <a:p>
            <a:pPr marL="457189" indent="-457189">
              <a:buAutoNum type="alphaLcPeriod"/>
            </a:pPr>
            <a:endParaRPr lang="en-US" sz="2400" dirty="0">
              <a:latin typeface="Century Gothic" panose="020B0502020202020204" pitchFamily="34" charset="0"/>
              <a:cs typeface="Arial" panose="020B0604020202020204" pitchFamily="34" charset="0"/>
            </a:endParaRPr>
          </a:p>
          <a:p>
            <a:pPr marL="457189" indent="-457189">
              <a:buAutoNum type="alphaLcPeriod"/>
            </a:pPr>
            <a:r>
              <a:rPr lang="en-US" sz="2400" dirty="0">
                <a:latin typeface="Century Gothic" panose="020B0502020202020204" pitchFamily="34" charset="0"/>
                <a:cs typeface="Arial" panose="020B0604020202020204" pitchFamily="34" charset="0"/>
              </a:rPr>
              <a:t>Negated</a:t>
            </a:r>
          </a:p>
          <a:p>
            <a:pPr marL="457189" indent="-457189">
              <a:buAutoNum type="alphaLcPeriod"/>
            </a:pPr>
            <a:endParaRPr lang="en-US" sz="2400" dirty="0">
              <a:latin typeface="Century Gothic" panose="020B0502020202020204" pitchFamily="34" charset="0"/>
              <a:cs typeface="Arial" panose="020B0604020202020204" pitchFamily="34" charset="0"/>
            </a:endParaRPr>
          </a:p>
          <a:p>
            <a:pPr marL="457189" indent="-457189">
              <a:buAutoNum type="alphaLcPeriod"/>
            </a:pPr>
            <a:r>
              <a:rPr lang="en-US" sz="2400" dirty="0">
                <a:latin typeface="Century Gothic" panose="020B0502020202020204" pitchFamily="34" charset="0"/>
                <a:cs typeface="Arial" panose="020B0604020202020204" pitchFamily="34" charset="0"/>
              </a:rPr>
              <a:t>True</a:t>
            </a:r>
          </a:p>
          <a:p>
            <a:pPr marL="457189" indent="-457189">
              <a:buAutoNum type="alphaLcPeriod"/>
            </a:pPr>
            <a:endParaRPr lang="en-US" sz="2400" dirty="0">
              <a:latin typeface="Century Gothic" panose="020B0502020202020204" pitchFamily="34" charset="0"/>
              <a:cs typeface="Arial" panose="020B0604020202020204" pitchFamily="34" charset="0"/>
            </a:endParaRPr>
          </a:p>
          <a:p>
            <a:pPr marL="457189" indent="-457189">
              <a:buAutoNum type="alphaLcPeriod"/>
            </a:pPr>
            <a:r>
              <a:rPr lang="en-US" sz="2400" dirty="0">
                <a:latin typeface="Century Gothic" panose="020B0502020202020204" pitchFamily="34" charset="0"/>
                <a:cs typeface="Arial" panose="020B0604020202020204" pitchFamily="34" charset="0"/>
              </a:rPr>
              <a:t>True or False</a:t>
            </a:r>
          </a:p>
          <a:p>
            <a:pPr marL="457189" indent="-457189">
              <a:buFont typeface="+mj-lt"/>
              <a:buAutoNum type="alphaUcPeriod"/>
            </a:pPr>
            <a:endParaRPr lang="en-US" sz="2400" dirty="0">
              <a:latin typeface="Century Gothic" panose="020B0502020202020204" pitchFamily="34" charset="0"/>
              <a:cs typeface="Arial" panose="020B0604020202020204" pitchFamily="34" charset="0"/>
            </a:endParaRPr>
          </a:p>
          <a:p>
            <a:r>
              <a:rPr lang="en-US" sz="2400" dirty="0">
                <a:latin typeface="Century Gothic" panose="020B0502020202020204" pitchFamily="34" charset="0"/>
                <a:cs typeface="Arial" panose="020B0604020202020204" pitchFamily="34" charset="0"/>
              </a:rPr>
              <a:t>Answer: d</a:t>
            </a:r>
          </a:p>
        </p:txBody>
      </p:sp>
    </p:spTree>
    <p:extLst>
      <p:ext uri="{BB962C8B-B14F-4D97-AF65-F5344CB8AC3E}">
        <p14:creationId xmlns:p14="http://schemas.microsoft.com/office/powerpoint/2010/main" val="101063406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wipe(left)">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animEffect transition="in" filter="wipe(left)">
                                      <p:cBhvr>
                                        <p:cTn id="17" dur="500"/>
                                        <p:tgtEl>
                                          <p:spTgt spid="2">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
                                            <p:txEl>
                                              <p:pRg st="6" end="6"/>
                                            </p:txEl>
                                          </p:spTgt>
                                        </p:tgtEl>
                                        <p:attrNameLst>
                                          <p:attrName>style.visibility</p:attrName>
                                        </p:attrNameLst>
                                      </p:cBhvr>
                                      <p:to>
                                        <p:strVal val="visible"/>
                                      </p:to>
                                    </p:set>
                                    <p:animEffect transition="in" filter="wipe(left)">
                                      <p:cBhvr>
                                        <p:cTn id="22" dur="500"/>
                                        <p:tgtEl>
                                          <p:spTgt spid="2">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
                                            <p:txEl>
                                              <p:pRg st="8" end="8"/>
                                            </p:txEl>
                                          </p:spTgt>
                                        </p:tgtEl>
                                        <p:attrNameLst>
                                          <p:attrName>style.visibility</p:attrName>
                                        </p:attrNameLst>
                                      </p:cBhvr>
                                      <p:to>
                                        <p:strVal val="visible"/>
                                      </p:to>
                                    </p:set>
                                    <p:animEffect transition="in" filter="wipe(left)">
                                      <p:cBhvr>
                                        <p:cTn id="27" dur="500"/>
                                        <p:tgtEl>
                                          <p:spTgt spid="2">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
                                            <p:txEl>
                                              <p:pRg st="10" end="10"/>
                                            </p:txEl>
                                          </p:spTgt>
                                        </p:tgtEl>
                                        <p:attrNameLst>
                                          <p:attrName>style.visibility</p:attrName>
                                        </p:attrNameLst>
                                      </p:cBhvr>
                                      <p:to>
                                        <p:strVal val="visible"/>
                                      </p:to>
                                    </p:set>
                                    <p:animEffect transition="in" filter="wipe(left)">
                                      <p:cBhvr>
                                        <p:cTn id="32" dur="500"/>
                                        <p:tgtEl>
                                          <p:spTgt spid="2">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11EAED7-C8F9-45D8-A96E-859AC6FA8DAD}"/>
              </a:ext>
            </a:extLst>
          </p:cNvPr>
          <p:cNvSpPr txBox="1"/>
          <p:nvPr/>
        </p:nvSpPr>
        <p:spPr>
          <a:xfrm>
            <a:off x="3608606" y="1001891"/>
            <a:ext cx="4403770" cy="543675"/>
          </a:xfrm>
          <a:prstGeom prst="rect">
            <a:avLst/>
          </a:prstGeom>
          <a:noFill/>
        </p:spPr>
        <p:txBody>
          <a:bodyPr wrap="none" rtlCol="0">
            <a:spAutoFit/>
          </a:bodyPr>
          <a:lstStyle/>
          <a:p>
            <a:r>
              <a:rPr lang="en-US" altLang="en-US" sz="2933" dirty="0">
                <a:solidFill>
                  <a:schemeClr val="tx1">
                    <a:lumMod val="95000"/>
                    <a:lumOff val="5000"/>
                  </a:schemeClr>
                </a:solidFill>
                <a:latin typeface="Century Gothic" panose="020B0502020202020204" pitchFamily="34" charset="0"/>
                <a:cs typeface="Arial" pitchFamily="34" charset="0"/>
              </a:rPr>
              <a:t>Conditional Proposition</a:t>
            </a:r>
          </a:p>
        </p:txBody>
      </p:sp>
      <p:sp>
        <p:nvSpPr>
          <p:cNvPr id="5" name="TextBox 4">
            <a:extLst>
              <a:ext uri="{FF2B5EF4-FFF2-40B4-BE49-F238E27FC236}">
                <a16:creationId xmlns:a16="http://schemas.microsoft.com/office/drawing/2014/main" id="{01B16CEC-5382-4936-91C2-86CA7AF3650A}"/>
              </a:ext>
            </a:extLst>
          </p:cNvPr>
          <p:cNvSpPr txBox="1"/>
          <p:nvPr/>
        </p:nvSpPr>
        <p:spPr>
          <a:xfrm>
            <a:off x="838772" y="2459504"/>
            <a:ext cx="10655837" cy="1938992"/>
          </a:xfrm>
          <a:prstGeom prst="rect">
            <a:avLst/>
          </a:prstGeom>
          <a:noFill/>
        </p:spPr>
        <p:txBody>
          <a:bodyPr wrap="square">
            <a:spAutoFit/>
          </a:bodyPr>
          <a:lstStyle/>
          <a:p>
            <a:pPr marL="380990" indent="-380990" algn="just">
              <a:buFont typeface="Arial" panose="020B0604020202020204" pitchFamily="34" charset="0"/>
              <a:buChar char="•"/>
            </a:pPr>
            <a:r>
              <a:rPr lang="en-US" altLang="en-US" sz="2000" dirty="0">
                <a:latin typeface="Century Gothic" panose="020B0502020202020204" pitchFamily="34" charset="0"/>
                <a:cs typeface="Times New Roman" panose="02020603050405020304" pitchFamily="18" charset="0"/>
              </a:rPr>
              <a:t>If p and q are propositions, the compound proposition “if p then q” denoted by p →q is called  a conditional proposition or implication and the connective is called the conditional connective.</a:t>
            </a:r>
          </a:p>
          <a:p>
            <a:pPr marL="380990" indent="-380990" algn="just">
              <a:buFont typeface="Arial" panose="020B0604020202020204" pitchFamily="34" charset="0"/>
              <a:buChar char="•"/>
            </a:pPr>
            <a:endParaRPr lang="en-US" altLang="en-US" sz="2000" dirty="0">
              <a:latin typeface="Century Gothic" panose="020B0502020202020204" pitchFamily="34" charset="0"/>
              <a:cs typeface="Times New Roman" panose="02020603050405020304" pitchFamily="18" charset="0"/>
            </a:endParaRPr>
          </a:p>
          <a:p>
            <a:pPr marL="380990" indent="-380990" algn="just">
              <a:buFont typeface="Arial" panose="020B0604020202020204" pitchFamily="34" charset="0"/>
              <a:buChar char="•"/>
            </a:pPr>
            <a:r>
              <a:rPr lang="en-US" altLang="en-US" sz="2000" dirty="0">
                <a:latin typeface="Century Gothic" panose="020B0502020202020204" pitchFamily="34" charset="0"/>
                <a:cs typeface="Times New Roman" panose="02020603050405020304" pitchFamily="18" charset="0"/>
              </a:rPr>
              <a:t>The proposition p is called antecedent or hypothesis and the proposition q is called the consequence or the conclusion.</a:t>
            </a:r>
          </a:p>
        </p:txBody>
      </p:sp>
    </p:spTree>
    <p:extLst>
      <p:ext uri="{BB962C8B-B14F-4D97-AF65-F5344CB8AC3E}">
        <p14:creationId xmlns:p14="http://schemas.microsoft.com/office/powerpoint/2010/main" val="144510726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wipe(left)">
                                      <p:cBhvr>
                                        <p:cTn id="12"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1B16CEC-5382-4936-91C2-86CA7AF3650A}"/>
              </a:ext>
            </a:extLst>
          </p:cNvPr>
          <p:cNvSpPr txBox="1"/>
          <p:nvPr/>
        </p:nvSpPr>
        <p:spPr>
          <a:xfrm>
            <a:off x="723363" y="1611722"/>
            <a:ext cx="10655837" cy="3477875"/>
          </a:xfrm>
          <a:prstGeom prst="rect">
            <a:avLst/>
          </a:prstGeom>
          <a:noFill/>
        </p:spPr>
        <p:txBody>
          <a:bodyPr wrap="square">
            <a:spAutoFit/>
          </a:bodyPr>
          <a:lstStyle/>
          <a:p>
            <a:pPr marL="457189" indent="-457189" algn="just">
              <a:buFont typeface="+mj-lt"/>
              <a:buAutoNum type="arabicPeriod"/>
            </a:pPr>
            <a:r>
              <a:rPr lang="en-US" altLang="en-US" sz="2000" dirty="0">
                <a:latin typeface="Century Gothic" panose="020B0502020202020204" pitchFamily="34" charset="0"/>
                <a:cs typeface="Times New Roman" panose="02020603050405020304" pitchFamily="18" charset="0"/>
              </a:rPr>
              <a:t>If tomorrow is Sunday then today is Saturday.</a:t>
            </a:r>
          </a:p>
          <a:p>
            <a:pPr marL="457189" indent="-457189" algn="just">
              <a:buFont typeface="+mj-lt"/>
              <a:buAutoNum type="arabicPeriod"/>
            </a:pPr>
            <a:endParaRPr lang="en-US" altLang="en-US" sz="2000" dirty="0">
              <a:latin typeface="Century Gothic" panose="020B0502020202020204" pitchFamily="34" charset="0"/>
              <a:cs typeface="Times New Roman" panose="02020603050405020304" pitchFamily="18" charset="0"/>
            </a:endParaRPr>
          </a:p>
          <a:p>
            <a:pPr marL="1066773" lvl="1" indent="-457189" algn="just">
              <a:buFont typeface="Arial" panose="020B0604020202020204" pitchFamily="34" charset="0"/>
              <a:buChar char="•"/>
            </a:pPr>
            <a:r>
              <a:rPr lang="en-US" altLang="en-US" sz="2000" b="1" dirty="0">
                <a:latin typeface="Century Gothic" panose="020B0502020202020204" pitchFamily="34" charset="0"/>
                <a:cs typeface="Times New Roman" panose="02020603050405020304" pitchFamily="18" charset="0"/>
              </a:rPr>
              <a:t>p: </a:t>
            </a:r>
            <a:r>
              <a:rPr lang="en-US" altLang="en-US" sz="2000" dirty="0">
                <a:latin typeface="Century Gothic" panose="020B0502020202020204" pitchFamily="34" charset="0"/>
                <a:cs typeface="Times New Roman" panose="02020603050405020304" pitchFamily="18" charset="0"/>
              </a:rPr>
              <a:t>Tomorrow is Sunday.</a:t>
            </a:r>
          </a:p>
          <a:p>
            <a:pPr marL="1066773" lvl="1" indent="-457189" algn="just">
              <a:buFont typeface="Arial" panose="020B0604020202020204" pitchFamily="34" charset="0"/>
              <a:buChar char="•"/>
            </a:pPr>
            <a:endParaRPr lang="en-US" altLang="en-US" sz="2000" dirty="0">
              <a:latin typeface="Century Gothic" panose="020B0502020202020204" pitchFamily="34" charset="0"/>
              <a:cs typeface="Times New Roman" panose="02020603050405020304" pitchFamily="18" charset="0"/>
            </a:endParaRPr>
          </a:p>
          <a:p>
            <a:pPr marL="1066773" lvl="1" indent="-457189" algn="just">
              <a:buFont typeface="Arial" panose="020B0604020202020204" pitchFamily="34" charset="0"/>
              <a:buChar char="•"/>
            </a:pPr>
            <a:r>
              <a:rPr lang="en-US" altLang="en-US" sz="2000" b="1" dirty="0">
                <a:latin typeface="Century Gothic" panose="020B0502020202020204" pitchFamily="34" charset="0"/>
                <a:cs typeface="Times New Roman" panose="02020603050405020304" pitchFamily="18" charset="0"/>
              </a:rPr>
              <a:t>q: </a:t>
            </a:r>
            <a:r>
              <a:rPr lang="en-US" altLang="en-US" sz="2000" dirty="0">
                <a:latin typeface="Century Gothic" panose="020B0502020202020204" pitchFamily="34" charset="0"/>
                <a:cs typeface="Times New Roman" panose="02020603050405020304" pitchFamily="18" charset="0"/>
              </a:rPr>
              <a:t>Today is Saturday.</a:t>
            </a:r>
          </a:p>
          <a:p>
            <a:pPr algn="just"/>
            <a:endParaRPr lang="en-US" altLang="en-US" sz="2000" dirty="0">
              <a:latin typeface="Century Gothic" panose="020B0502020202020204" pitchFamily="34" charset="0"/>
              <a:cs typeface="Times New Roman" panose="02020603050405020304" pitchFamily="18" charset="0"/>
            </a:endParaRPr>
          </a:p>
          <a:p>
            <a:pPr marL="457189" indent="-457189" algn="just">
              <a:buFont typeface="+mj-lt"/>
              <a:buAutoNum type="arabicPeriod" startAt="2"/>
            </a:pPr>
            <a:r>
              <a:rPr lang="en-US" altLang="en-US" sz="2000" dirty="0">
                <a:latin typeface="Century Gothic" panose="020B0502020202020204" pitchFamily="34" charset="0"/>
                <a:cs typeface="Times New Roman" panose="02020603050405020304" pitchFamily="18" charset="0"/>
              </a:rPr>
              <a:t>If it rains then I will carry an umbrella.</a:t>
            </a:r>
          </a:p>
          <a:p>
            <a:pPr marL="457189" indent="-457189" algn="just">
              <a:buFont typeface="+mj-lt"/>
              <a:buAutoNum type="arabicPeriod" startAt="2"/>
            </a:pPr>
            <a:endParaRPr lang="en-US" altLang="en-US" sz="2000" dirty="0">
              <a:latin typeface="Century Gothic" panose="020B0502020202020204" pitchFamily="34" charset="0"/>
              <a:cs typeface="Times New Roman" panose="02020603050405020304" pitchFamily="18" charset="0"/>
            </a:endParaRPr>
          </a:p>
          <a:p>
            <a:pPr marL="990575" lvl="1" indent="-380990" algn="just">
              <a:buFont typeface="Arial" panose="020B0604020202020204" pitchFamily="34" charset="0"/>
              <a:buChar char="•"/>
            </a:pPr>
            <a:r>
              <a:rPr lang="en-US" altLang="en-US" sz="2000" b="1" dirty="0">
                <a:latin typeface="Century Gothic" panose="020B0502020202020204" pitchFamily="34" charset="0"/>
                <a:cs typeface="Times New Roman" panose="02020603050405020304" pitchFamily="18" charset="0"/>
              </a:rPr>
              <a:t>p: </a:t>
            </a:r>
            <a:r>
              <a:rPr lang="en-US" altLang="en-US" sz="2000" dirty="0">
                <a:latin typeface="Century Gothic" panose="020B0502020202020204" pitchFamily="34" charset="0"/>
                <a:cs typeface="Times New Roman" panose="02020603050405020304" pitchFamily="18" charset="0"/>
              </a:rPr>
              <a:t>It rains.</a:t>
            </a:r>
          </a:p>
          <a:p>
            <a:pPr marL="990575" lvl="1" indent="-380990" algn="just">
              <a:buFont typeface="Arial" panose="020B0604020202020204" pitchFamily="34" charset="0"/>
              <a:buChar char="•"/>
            </a:pPr>
            <a:endParaRPr lang="en-US" altLang="en-US" sz="2000" dirty="0">
              <a:latin typeface="Century Gothic" panose="020B0502020202020204" pitchFamily="34" charset="0"/>
              <a:cs typeface="Times New Roman" panose="02020603050405020304" pitchFamily="18" charset="0"/>
            </a:endParaRPr>
          </a:p>
          <a:p>
            <a:pPr marL="990575" lvl="1" indent="-380990" algn="just">
              <a:buFont typeface="Arial" panose="020B0604020202020204" pitchFamily="34" charset="0"/>
              <a:buChar char="•"/>
            </a:pPr>
            <a:r>
              <a:rPr lang="en-US" altLang="en-US" sz="2000" b="1" dirty="0">
                <a:latin typeface="Century Gothic" panose="020B0502020202020204" pitchFamily="34" charset="0"/>
                <a:cs typeface="Times New Roman" panose="02020603050405020304" pitchFamily="18" charset="0"/>
              </a:rPr>
              <a:t>q: </a:t>
            </a:r>
            <a:r>
              <a:rPr lang="en-US" altLang="en-US" sz="2000" dirty="0">
                <a:latin typeface="Century Gothic" panose="020B0502020202020204" pitchFamily="34" charset="0"/>
                <a:cs typeface="Times New Roman" panose="02020603050405020304" pitchFamily="18" charset="0"/>
              </a:rPr>
              <a:t>I will carry an umbrella.</a:t>
            </a:r>
          </a:p>
        </p:txBody>
      </p:sp>
      <p:sp>
        <p:nvSpPr>
          <p:cNvPr id="2" name="TextBox 1">
            <a:extLst>
              <a:ext uri="{FF2B5EF4-FFF2-40B4-BE49-F238E27FC236}">
                <a16:creationId xmlns:a16="http://schemas.microsoft.com/office/drawing/2014/main" id="{83D59278-A573-4889-BC1C-FDD11D29B523}"/>
              </a:ext>
            </a:extLst>
          </p:cNvPr>
          <p:cNvSpPr txBox="1"/>
          <p:nvPr/>
        </p:nvSpPr>
        <p:spPr>
          <a:xfrm>
            <a:off x="4230044" y="194023"/>
            <a:ext cx="1752403" cy="543675"/>
          </a:xfrm>
          <a:prstGeom prst="rect">
            <a:avLst/>
          </a:prstGeom>
          <a:noFill/>
        </p:spPr>
        <p:txBody>
          <a:bodyPr wrap="none" rtlCol="0">
            <a:spAutoFit/>
          </a:bodyPr>
          <a:lstStyle/>
          <a:p>
            <a:r>
              <a:rPr lang="en-US" altLang="en-US" sz="2933" dirty="0">
                <a:solidFill>
                  <a:schemeClr val="tx1">
                    <a:lumMod val="95000"/>
                    <a:lumOff val="5000"/>
                  </a:schemeClr>
                </a:solidFill>
                <a:latin typeface="Century Gothic" panose="020B0502020202020204" pitchFamily="34" charset="0"/>
                <a:cs typeface="Arial" pitchFamily="34" charset="0"/>
              </a:rPr>
              <a:t>Example</a:t>
            </a:r>
          </a:p>
        </p:txBody>
      </p:sp>
    </p:spTree>
    <p:extLst>
      <p:ext uri="{BB962C8B-B14F-4D97-AF65-F5344CB8AC3E}">
        <p14:creationId xmlns:p14="http://schemas.microsoft.com/office/powerpoint/2010/main" val="87068490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5">
                                            <p:txEl>
                                              <p:pRg st="2" end="2"/>
                                            </p:txEl>
                                          </p:spTgt>
                                        </p:tgtEl>
                                        <p:attrNameLst>
                                          <p:attrName>style.visibility</p:attrName>
                                        </p:attrNameLst>
                                      </p:cBhvr>
                                      <p:to>
                                        <p:strVal val="visible"/>
                                      </p:to>
                                    </p:set>
                                    <p:animEffect transition="in" filter="wipe(left)">
                                      <p:cBhvr>
                                        <p:cTn id="10" dur="500"/>
                                        <p:tgtEl>
                                          <p:spTgt spid="5">
                                            <p:txEl>
                                              <p:pRg st="2" end="2"/>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5">
                                            <p:txEl>
                                              <p:pRg st="4" end="4"/>
                                            </p:txEl>
                                          </p:spTgt>
                                        </p:tgtEl>
                                        <p:attrNameLst>
                                          <p:attrName>style.visibility</p:attrName>
                                        </p:attrNameLst>
                                      </p:cBhvr>
                                      <p:to>
                                        <p:strVal val="visible"/>
                                      </p:to>
                                    </p:set>
                                    <p:animEffect transition="in" filter="wipe(left)">
                                      <p:cBhvr>
                                        <p:cTn id="13" dur="500"/>
                                        <p:tgtEl>
                                          <p:spTgt spid="5">
                                            <p:txEl>
                                              <p:pRg st="4" end="4"/>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5">
                                            <p:txEl>
                                              <p:pRg st="6" end="6"/>
                                            </p:txEl>
                                          </p:spTgt>
                                        </p:tgtEl>
                                        <p:attrNameLst>
                                          <p:attrName>style.visibility</p:attrName>
                                        </p:attrNameLst>
                                      </p:cBhvr>
                                      <p:to>
                                        <p:strVal val="visible"/>
                                      </p:to>
                                    </p:set>
                                    <p:animEffect transition="in" filter="wipe(left)">
                                      <p:cBhvr>
                                        <p:cTn id="18" dur="500"/>
                                        <p:tgtEl>
                                          <p:spTgt spid="5">
                                            <p:txEl>
                                              <p:pRg st="6" end="6"/>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5">
                                            <p:txEl>
                                              <p:pRg st="8" end="8"/>
                                            </p:txEl>
                                          </p:spTgt>
                                        </p:tgtEl>
                                        <p:attrNameLst>
                                          <p:attrName>style.visibility</p:attrName>
                                        </p:attrNameLst>
                                      </p:cBhvr>
                                      <p:to>
                                        <p:strVal val="visible"/>
                                      </p:to>
                                    </p:set>
                                    <p:animEffect transition="in" filter="wipe(left)">
                                      <p:cBhvr>
                                        <p:cTn id="21" dur="500"/>
                                        <p:tgtEl>
                                          <p:spTgt spid="5">
                                            <p:txEl>
                                              <p:pRg st="8" end="8"/>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5">
                                            <p:txEl>
                                              <p:pRg st="10" end="10"/>
                                            </p:txEl>
                                          </p:spTgt>
                                        </p:tgtEl>
                                        <p:attrNameLst>
                                          <p:attrName>style.visibility</p:attrName>
                                        </p:attrNameLst>
                                      </p:cBhvr>
                                      <p:to>
                                        <p:strVal val="visible"/>
                                      </p:to>
                                    </p:set>
                                    <p:animEffect transition="in" filter="wipe(left)">
                                      <p:cBhvr>
                                        <p:cTn id="24" dur="500"/>
                                        <p:tgtEl>
                                          <p:spTgt spid="5">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1B16CEC-5382-4936-91C2-86CA7AF3650A}"/>
              </a:ext>
            </a:extLst>
          </p:cNvPr>
          <p:cNvSpPr txBox="1"/>
          <p:nvPr/>
        </p:nvSpPr>
        <p:spPr>
          <a:xfrm>
            <a:off x="723363" y="1611722"/>
            <a:ext cx="10655837" cy="4708981"/>
          </a:xfrm>
          <a:prstGeom prst="rect">
            <a:avLst/>
          </a:prstGeom>
          <a:noFill/>
        </p:spPr>
        <p:txBody>
          <a:bodyPr wrap="square">
            <a:spAutoFit/>
          </a:bodyPr>
          <a:lstStyle/>
          <a:p>
            <a:pPr algn="just"/>
            <a:r>
              <a:rPr lang="en-US" altLang="en-US" sz="2000" b="1" dirty="0">
                <a:latin typeface="Century Gothic" panose="020B0502020202020204" pitchFamily="34" charset="0"/>
                <a:cs typeface="Times New Roman" panose="02020603050405020304" pitchFamily="18" charset="0"/>
              </a:rPr>
              <a:t>The connective if p then q can also be read as follows:</a:t>
            </a:r>
          </a:p>
          <a:p>
            <a:pPr algn="just"/>
            <a:endParaRPr lang="en-US" altLang="en-US" sz="2000" b="1" dirty="0">
              <a:latin typeface="Century Gothic" panose="020B0502020202020204" pitchFamily="34" charset="0"/>
              <a:cs typeface="Times New Roman" panose="02020603050405020304" pitchFamily="18" charset="0"/>
            </a:endParaRPr>
          </a:p>
          <a:p>
            <a:pPr marL="457189" indent="-457189" algn="just">
              <a:buFont typeface="+mj-lt"/>
              <a:buAutoNum type="arabicPeriod"/>
            </a:pPr>
            <a:r>
              <a:rPr lang="en-US" altLang="en-US" sz="2000" dirty="0">
                <a:latin typeface="Century Gothic" panose="020B0502020202020204" pitchFamily="34" charset="0"/>
                <a:cs typeface="Times New Roman" panose="02020603050405020304" pitchFamily="18" charset="0"/>
              </a:rPr>
              <a:t>p implies q.</a:t>
            </a:r>
          </a:p>
          <a:p>
            <a:pPr marL="457189" indent="-457189" algn="just">
              <a:buFont typeface="+mj-lt"/>
              <a:buAutoNum type="arabicPeriod"/>
            </a:pPr>
            <a:endParaRPr lang="en-US" altLang="en-US" sz="2000" dirty="0">
              <a:latin typeface="Century Gothic" panose="020B0502020202020204" pitchFamily="34" charset="0"/>
              <a:cs typeface="Times New Roman" panose="02020603050405020304" pitchFamily="18" charset="0"/>
            </a:endParaRPr>
          </a:p>
          <a:p>
            <a:pPr marL="457189" indent="-457189" algn="just">
              <a:buFont typeface="+mj-lt"/>
              <a:buAutoNum type="arabicPeriod"/>
            </a:pPr>
            <a:r>
              <a:rPr lang="en-US" altLang="en-US" sz="2000" dirty="0">
                <a:latin typeface="Century Gothic" panose="020B0502020202020204" pitchFamily="34" charset="0"/>
                <a:cs typeface="Times New Roman" panose="02020603050405020304" pitchFamily="18" charset="0"/>
              </a:rPr>
              <a:t>p is sufficient for q.</a:t>
            </a:r>
          </a:p>
          <a:p>
            <a:pPr marL="457189" indent="-457189" algn="just">
              <a:buFont typeface="+mj-lt"/>
              <a:buAutoNum type="arabicPeriod"/>
            </a:pPr>
            <a:endParaRPr lang="en-US" altLang="en-US" sz="2000" dirty="0">
              <a:latin typeface="Century Gothic" panose="020B0502020202020204" pitchFamily="34" charset="0"/>
              <a:cs typeface="Times New Roman" panose="02020603050405020304" pitchFamily="18" charset="0"/>
            </a:endParaRPr>
          </a:p>
          <a:p>
            <a:pPr marL="457189" indent="-457189" algn="just">
              <a:buFont typeface="+mj-lt"/>
              <a:buAutoNum type="arabicPeriod"/>
            </a:pPr>
            <a:r>
              <a:rPr lang="en-US" altLang="en-US" sz="2000" dirty="0">
                <a:latin typeface="Century Gothic" panose="020B0502020202020204" pitchFamily="34" charset="0"/>
                <a:cs typeface="Times New Roman" panose="02020603050405020304" pitchFamily="18" charset="0"/>
              </a:rPr>
              <a:t>p only if q.</a:t>
            </a:r>
          </a:p>
          <a:p>
            <a:pPr marL="457189" indent="-457189" algn="just">
              <a:buFont typeface="+mj-lt"/>
              <a:buAutoNum type="arabicPeriod"/>
            </a:pPr>
            <a:endParaRPr lang="en-US" altLang="en-US" sz="2000" dirty="0">
              <a:latin typeface="Century Gothic" panose="020B0502020202020204" pitchFamily="34" charset="0"/>
              <a:cs typeface="Times New Roman" panose="02020603050405020304" pitchFamily="18" charset="0"/>
            </a:endParaRPr>
          </a:p>
          <a:p>
            <a:pPr marL="457189" indent="-457189" algn="just">
              <a:buFont typeface="+mj-lt"/>
              <a:buAutoNum type="arabicPeriod"/>
            </a:pPr>
            <a:r>
              <a:rPr lang="en-US" altLang="en-US" sz="2000" dirty="0">
                <a:latin typeface="Century Gothic" panose="020B0502020202020204" pitchFamily="34" charset="0"/>
                <a:cs typeface="Times New Roman" panose="02020603050405020304" pitchFamily="18" charset="0"/>
              </a:rPr>
              <a:t>q is necessary for p.</a:t>
            </a:r>
          </a:p>
          <a:p>
            <a:pPr marL="457189" indent="-457189" algn="just">
              <a:buFont typeface="+mj-lt"/>
              <a:buAutoNum type="arabicPeriod"/>
            </a:pPr>
            <a:endParaRPr lang="en-US" altLang="en-US" sz="2000" dirty="0">
              <a:latin typeface="Century Gothic" panose="020B0502020202020204" pitchFamily="34" charset="0"/>
              <a:cs typeface="Times New Roman" panose="02020603050405020304" pitchFamily="18" charset="0"/>
            </a:endParaRPr>
          </a:p>
          <a:p>
            <a:pPr marL="457189" indent="-457189" algn="just">
              <a:buFont typeface="+mj-lt"/>
              <a:buAutoNum type="arabicPeriod"/>
            </a:pPr>
            <a:r>
              <a:rPr lang="en-US" altLang="en-US" sz="2000" dirty="0">
                <a:latin typeface="Century Gothic" panose="020B0502020202020204" pitchFamily="34" charset="0"/>
                <a:cs typeface="Times New Roman" panose="02020603050405020304" pitchFamily="18" charset="0"/>
              </a:rPr>
              <a:t>q if p.</a:t>
            </a:r>
          </a:p>
          <a:p>
            <a:pPr marL="457189" indent="-457189" algn="just">
              <a:buFont typeface="+mj-lt"/>
              <a:buAutoNum type="arabicPeriod"/>
            </a:pPr>
            <a:endParaRPr lang="en-US" altLang="en-US" sz="2000" dirty="0">
              <a:latin typeface="Century Gothic" panose="020B0502020202020204" pitchFamily="34" charset="0"/>
              <a:cs typeface="Times New Roman" panose="02020603050405020304" pitchFamily="18" charset="0"/>
            </a:endParaRPr>
          </a:p>
          <a:p>
            <a:pPr marL="457189" indent="-457189" algn="just">
              <a:buFont typeface="+mj-lt"/>
              <a:buAutoNum type="arabicPeriod"/>
            </a:pPr>
            <a:r>
              <a:rPr lang="en-US" altLang="en-US" sz="2000" dirty="0">
                <a:latin typeface="Century Gothic" panose="020B0502020202020204" pitchFamily="34" charset="0"/>
                <a:cs typeface="Times New Roman" panose="02020603050405020304" pitchFamily="18" charset="0"/>
              </a:rPr>
              <a:t>q follows from p.</a:t>
            </a:r>
          </a:p>
          <a:p>
            <a:pPr marL="457189" indent="-457189" algn="just">
              <a:buFont typeface="+mj-lt"/>
              <a:buAutoNum type="arabicPeriod"/>
            </a:pPr>
            <a:endParaRPr lang="en-US" altLang="en-US" sz="2000" dirty="0">
              <a:latin typeface="Century Gothic" panose="020B0502020202020204" pitchFamily="34" charset="0"/>
              <a:cs typeface="Times New Roman" panose="02020603050405020304" pitchFamily="18" charset="0"/>
            </a:endParaRPr>
          </a:p>
          <a:p>
            <a:pPr marL="457189" indent="-457189" algn="just">
              <a:buFont typeface="+mj-lt"/>
              <a:buAutoNum type="arabicPeriod"/>
            </a:pPr>
            <a:r>
              <a:rPr lang="en-US" altLang="en-US" sz="2000" dirty="0">
                <a:latin typeface="Century Gothic" panose="020B0502020202020204" pitchFamily="34" charset="0"/>
                <a:cs typeface="Times New Roman" panose="02020603050405020304" pitchFamily="18" charset="0"/>
              </a:rPr>
              <a:t>q is consequence of p.</a:t>
            </a:r>
          </a:p>
        </p:txBody>
      </p:sp>
      <p:sp>
        <p:nvSpPr>
          <p:cNvPr id="2" name="TextBox 1">
            <a:extLst>
              <a:ext uri="{FF2B5EF4-FFF2-40B4-BE49-F238E27FC236}">
                <a16:creationId xmlns:a16="http://schemas.microsoft.com/office/drawing/2014/main" id="{83D59278-A573-4889-BC1C-FDD11D29B523}"/>
              </a:ext>
            </a:extLst>
          </p:cNvPr>
          <p:cNvSpPr txBox="1"/>
          <p:nvPr/>
        </p:nvSpPr>
        <p:spPr>
          <a:xfrm>
            <a:off x="4673927" y="265459"/>
            <a:ext cx="2337499" cy="543675"/>
          </a:xfrm>
          <a:prstGeom prst="rect">
            <a:avLst/>
          </a:prstGeom>
          <a:noFill/>
        </p:spPr>
        <p:txBody>
          <a:bodyPr wrap="none" rtlCol="0">
            <a:spAutoFit/>
          </a:bodyPr>
          <a:lstStyle/>
          <a:p>
            <a:r>
              <a:rPr lang="en-US" altLang="en-US" sz="2933" dirty="0">
                <a:solidFill>
                  <a:schemeClr val="tx1">
                    <a:lumMod val="95000"/>
                    <a:lumOff val="5000"/>
                  </a:schemeClr>
                </a:solidFill>
                <a:latin typeface="Century Gothic" panose="020B0502020202020204" pitchFamily="34" charset="0"/>
                <a:cs typeface="Arial" pitchFamily="34" charset="0"/>
              </a:rPr>
              <a:t>Example…..</a:t>
            </a:r>
          </a:p>
        </p:txBody>
      </p:sp>
    </p:spTree>
    <p:extLst>
      <p:ext uri="{BB962C8B-B14F-4D97-AF65-F5344CB8AC3E}">
        <p14:creationId xmlns:p14="http://schemas.microsoft.com/office/powerpoint/2010/main" val="382057366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wipe(left)">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wipe(left)">
                                      <p:cBhvr>
                                        <p:cTn id="17" dur="500"/>
                                        <p:tgtEl>
                                          <p:spTgt spid="5">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txEl>
                                              <p:pRg st="6" end="6"/>
                                            </p:txEl>
                                          </p:spTgt>
                                        </p:tgtEl>
                                        <p:attrNameLst>
                                          <p:attrName>style.visibility</p:attrName>
                                        </p:attrNameLst>
                                      </p:cBhvr>
                                      <p:to>
                                        <p:strVal val="visible"/>
                                      </p:to>
                                    </p:set>
                                    <p:animEffect transition="in" filter="wipe(left)">
                                      <p:cBhvr>
                                        <p:cTn id="22" dur="500"/>
                                        <p:tgtEl>
                                          <p:spTgt spid="5">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
                                            <p:txEl>
                                              <p:pRg st="8" end="8"/>
                                            </p:txEl>
                                          </p:spTgt>
                                        </p:tgtEl>
                                        <p:attrNameLst>
                                          <p:attrName>style.visibility</p:attrName>
                                        </p:attrNameLst>
                                      </p:cBhvr>
                                      <p:to>
                                        <p:strVal val="visible"/>
                                      </p:to>
                                    </p:set>
                                    <p:animEffect transition="in" filter="wipe(left)">
                                      <p:cBhvr>
                                        <p:cTn id="27" dur="500"/>
                                        <p:tgtEl>
                                          <p:spTgt spid="5">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
                                            <p:txEl>
                                              <p:pRg st="10" end="10"/>
                                            </p:txEl>
                                          </p:spTgt>
                                        </p:tgtEl>
                                        <p:attrNameLst>
                                          <p:attrName>style.visibility</p:attrName>
                                        </p:attrNameLst>
                                      </p:cBhvr>
                                      <p:to>
                                        <p:strVal val="visible"/>
                                      </p:to>
                                    </p:set>
                                    <p:animEffect transition="in" filter="wipe(left)">
                                      <p:cBhvr>
                                        <p:cTn id="32" dur="500"/>
                                        <p:tgtEl>
                                          <p:spTgt spid="5">
                                            <p:txEl>
                                              <p:pRg st="10" end="1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5">
                                            <p:txEl>
                                              <p:pRg st="12" end="12"/>
                                            </p:txEl>
                                          </p:spTgt>
                                        </p:tgtEl>
                                        <p:attrNameLst>
                                          <p:attrName>style.visibility</p:attrName>
                                        </p:attrNameLst>
                                      </p:cBhvr>
                                      <p:to>
                                        <p:strVal val="visible"/>
                                      </p:to>
                                    </p:set>
                                    <p:animEffect transition="in" filter="wipe(left)">
                                      <p:cBhvr>
                                        <p:cTn id="37" dur="500"/>
                                        <p:tgtEl>
                                          <p:spTgt spid="5">
                                            <p:txEl>
                                              <p:pRg st="12" end="12"/>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5">
                                            <p:txEl>
                                              <p:pRg st="14" end="14"/>
                                            </p:txEl>
                                          </p:spTgt>
                                        </p:tgtEl>
                                        <p:attrNameLst>
                                          <p:attrName>style.visibility</p:attrName>
                                        </p:attrNameLst>
                                      </p:cBhvr>
                                      <p:to>
                                        <p:strVal val="visible"/>
                                      </p:to>
                                    </p:set>
                                    <p:animEffect transition="in" filter="wipe(left)">
                                      <p:cBhvr>
                                        <p:cTn id="42" dur="500"/>
                                        <p:tgtEl>
                                          <p:spTgt spid="5">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1B16CEC-5382-4936-91C2-86CA7AF3650A}"/>
              </a:ext>
            </a:extLst>
          </p:cNvPr>
          <p:cNvSpPr txBox="1"/>
          <p:nvPr/>
        </p:nvSpPr>
        <p:spPr>
          <a:xfrm>
            <a:off x="723363" y="1611721"/>
            <a:ext cx="10655837" cy="400110"/>
          </a:xfrm>
          <a:prstGeom prst="rect">
            <a:avLst/>
          </a:prstGeom>
          <a:noFill/>
        </p:spPr>
        <p:txBody>
          <a:bodyPr wrap="square">
            <a:spAutoFit/>
          </a:bodyPr>
          <a:lstStyle/>
          <a:p>
            <a:pPr algn="just"/>
            <a:r>
              <a:rPr lang="en-US" altLang="en-US" sz="2000" b="1" dirty="0">
                <a:latin typeface="Century Gothic" panose="020B0502020202020204" pitchFamily="34" charset="0"/>
                <a:cs typeface="Times New Roman" panose="02020603050405020304" pitchFamily="18" charset="0"/>
              </a:rPr>
              <a:t>The truth table for implication is as follows:</a:t>
            </a:r>
          </a:p>
        </p:txBody>
      </p:sp>
      <p:sp>
        <p:nvSpPr>
          <p:cNvPr id="2" name="TextBox 1">
            <a:extLst>
              <a:ext uri="{FF2B5EF4-FFF2-40B4-BE49-F238E27FC236}">
                <a16:creationId xmlns:a16="http://schemas.microsoft.com/office/drawing/2014/main" id="{83D59278-A573-4889-BC1C-FDD11D29B523}"/>
              </a:ext>
            </a:extLst>
          </p:cNvPr>
          <p:cNvSpPr txBox="1"/>
          <p:nvPr/>
        </p:nvSpPr>
        <p:spPr>
          <a:xfrm>
            <a:off x="4407597" y="379629"/>
            <a:ext cx="2337499" cy="543675"/>
          </a:xfrm>
          <a:prstGeom prst="rect">
            <a:avLst/>
          </a:prstGeom>
          <a:noFill/>
        </p:spPr>
        <p:txBody>
          <a:bodyPr wrap="none" rtlCol="0">
            <a:spAutoFit/>
          </a:bodyPr>
          <a:lstStyle/>
          <a:p>
            <a:r>
              <a:rPr lang="en-US" altLang="en-US" sz="2933" dirty="0">
                <a:solidFill>
                  <a:schemeClr val="tx1">
                    <a:lumMod val="95000"/>
                    <a:lumOff val="5000"/>
                  </a:schemeClr>
                </a:solidFill>
                <a:latin typeface="Century Gothic" panose="020B0502020202020204" pitchFamily="34" charset="0"/>
                <a:cs typeface="Arial" pitchFamily="34" charset="0"/>
              </a:rPr>
              <a:t>Example…..</a:t>
            </a:r>
          </a:p>
        </p:txBody>
      </p:sp>
      <p:graphicFrame>
        <p:nvGraphicFramePr>
          <p:cNvPr id="3" name="Group 99">
            <a:extLst>
              <a:ext uri="{FF2B5EF4-FFF2-40B4-BE49-F238E27FC236}">
                <a16:creationId xmlns:a16="http://schemas.microsoft.com/office/drawing/2014/main" id="{93D1EC4A-768F-4EFC-B337-2621F4D6CD16}"/>
              </a:ext>
            </a:extLst>
          </p:cNvPr>
          <p:cNvGraphicFramePr>
            <a:graphicFrameLocks noGrp="1"/>
          </p:cNvGraphicFramePr>
          <p:nvPr/>
        </p:nvGraphicFramePr>
        <p:xfrm>
          <a:off x="1117600" y="2514597"/>
          <a:ext cx="9956799" cy="2844800"/>
        </p:xfrm>
        <a:graphic>
          <a:graphicData uri="http://schemas.openxmlformats.org/drawingml/2006/table">
            <a:tbl>
              <a:tblPr/>
              <a:tblGrid>
                <a:gridCol w="3318933">
                  <a:extLst>
                    <a:ext uri="{9D8B030D-6E8A-4147-A177-3AD203B41FA5}">
                      <a16:colId xmlns:a16="http://schemas.microsoft.com/office/drawing/2014/main" val="212567293"/>
                    </a:ext>
                  </a:extLst>
                </a:gridCol>
                <a:gridCol w="3318933">
                  <a:extLst>
                    <a:ext uri="{9D8B030D-6E8A-4147-A177-3AD203B41FA5}">
                      <a16:colId xmlns:a16="http://schemas.microsoft.com/office/drawing/2014/main" val="3681991226"/>
                    </a:ext>
                  </a:extLst>
                </a:gridCol>
                <a:gridCol w="3318933">
                  <a:extLst>
                    <a:ext uri="{9D8B030D-6E8A-4147-A177-3AD203B41FA5}">
                      <a16:colId xmlns:a16="http://schemas.microsoft.com/office/drawing/2014/main" val="1158003837"/>
                    </a:ext>
                  </a:extLst>
                </a:gridCol>
              </a:tblGrid>
              <a:tr h="568960">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p</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00"/>
                    </a:solid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q</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00"/>
                    </a:solid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p → q</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00"/>
                    </a:solidFill>
                  </a:tcPr>
                </a:tc>
                <a:extLst>
                  <a:ext uri="{0D108BD9-81ED-4DB2-BD59-A6C34878D82A}">
                    <a16:rowId xmlns:a16="http://schemas.microsoft.com/office/drawing/2014/main" val="2693625384"/>
                  </a:ext>
                </a:extLst>
              </a:tr>
              <a:tr h="568960">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022882052"/>
                  </a:ext>
                </a:extLst>
              </a:tr>
              <a:tr h="568960">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F</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F</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871729997"/>
                  </a:ext>
                </a:extLst>
              </a:tr>
              <a:tr h="568960">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F</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84217386"/>
                  </a:ext>
                </a:extLst>
              </a:tr>
              <a:tr h="568960">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F</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F</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47224931"/>
                  </a:ext>
                </a:extLst>
              </a:tr>
            </a:tbl>
          </a:graphicData>
        </a:graphic>
      </p:graphicFrame>
      <p:sp>
        <p:nvSpPr>
          <p:cNvPr id="6" name="TextBox 5">
            <a:extLst>
              <a:ext uri="{FF2B5EF4-FFF2-40B4-BE49-F238E27FC236}">
                <a16:creationId xmlns:a16="http://schemas.microsoft.com/office/drawing/2014/main" id="{15D8E544-6EBD-41ED-A3D4-487F28D2127F}"/>
              </a:ext>
            </a:extLst>
          </p:cNvPr>
          <p:cNvSpPr txBox="1"/>
          <p:nvPr/>
        </p:nvSpPr>
        <p:spPr>
          <a:xfrm>
            <a:off x="711200" y="5738092"/>
            <a:ext cx="10655837" cy="707886"/>
          </a:xfrm>
          <a:prstGeom prst="rect">
            <a:avLst/>
          </a:prstGeom>
          <a:noFill/>
        </p:spPr>
        <p:txBody>
          <a:bodyPr wrap="square">
            <a:spAutoFit/>
          </a:bodyPr>
          <a:lstStyle/>
          <a:p>
            <a:pPr algn="just"/>
            <a:r>
              <a:rPr lang="en-US" altLang="en-US" sz="2000" dirty="0">
                <a:latin typeface="Century Gothic" panose="020B0502020202020204" pitchFamily="34" charset="0"/>
                <a:cs typeface="Times New Roman" panose="02020603050405020304" pitchFamily="18" charset="0"/>
              </a:rPr>
              <a:t>The only circumstance under which the implication p → q is false when p is true and q is false.</a:t>
            </a:r>
          </a:p>
        </p:txBody>
      </p:sp>
    </p:spTree>
    <p:extLst>
      <p:ext uri="{BB962C8B-B14F-4D97-AF65-F5344CB8AC3E}">
        <p14:creationId xmlns:p14="http://schemas.microsoft.com/office/powerpoint/2010/main" val="137948637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animEffect transition="in" filter="wipe(left)">
                                      <p:cBhvr>
                                        <p:cTn id="17"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p:cNvGraphicFramePr/>
          <p:nvPr/>
        </p:nvGraphicFramePr>
        <p:xfrm>
          <a:off x="723363" y="1611722"/>
          <a:ext cx="10655837" cy="41242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TextBox 1">
            <a:extLst>
              <a:ext uri="{FF2B5EF4-FFF2-40B4-BE49-F238E27FC236}">
                <a16:creationId xmlns:a16="http://schemas.microsoft.com/office/drawing/2014/main" id="{83D59278-A573-4889-BC1C-FDD11D29B523}"/>
              </a:ext>
            </a:extLst>
          </p:cNvPr>
          <p:cNvSpPr txBox="1"/>
          <p:nvPr/>
        </p:nvSpPr>
        <p:spPr>
          <a:xfrm>
            <a:off x="4327698" y="362699"/>
            <a:ext cx="2337499" cy="543675"/>
          </a:xfrm>
          <a:prstGeom prst="rect">
            <a:avLst/>
          </a:prstGeom>
          <a:noFill/>
        </p:spPr>
        <p:txBody>
          <a:bodyPr wrap="none" rtlCol="0">
            <a:spAutoFit/>
          </a:bodyPr>
          <a:lstStyle/>
          <a:p>
            <a:r>
              <a:rPr lang="en-US" altLang="en-US" sz="2933" dirty="0">
                <a:solidFill>
                  <a:schemeClr val="tx1">
                    <a:lumMod val="95000"/>
                    <a:lumOff val="5000"/>
                  </a:schemeClr>
                </a:solidFill>
                <a:latin typeface="Century Gothic" panose="020B0502020202020204" pitchFamily="34" charset="0"/>
                <a:cs typeface="Arial" pitchFamily="34" charset="0"/>
              </a:rPr>
              <a:t>Example…..</a:t>
            </a:r>
          </a:p>
        </p:txBody>
      </p:sp>
    </p:spTree>
    <p:extLst>
      <p:ext uri="{BB962C8B-B14F-4D97-AF65-F5344CB8AC3E}">
        <p14:creationId xmlns:p14="http://schemas.microsoft.com/office/powerpoint/2010/main" val="4086447624"/>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3D59278-A573-4889-BC1C-FDD11D29B523}"/>
              </a:ext>
            </a:extLst>
          </p:cNvPr>
          <p:cNvSpPr txBox="1"/>
          <p:nvPr/>
        </p:nvSpPr>
        <p:spPr>
          <a:xfrm>
            <a:off x="4665050" y="211779"/>
            <a:ext cx="2337499" cy="543675"/>
          </a:xfrm>
          <a:prstGeom prst="rect">
            <a:avLst/>
          </a:prstGeom>
          <a:noFill/>
        </p:spPr>
        <p:txBody>
          <a:bodyPr wrap="none" rtlCol="0">
            <a:spAutoFit/>
          </a:bodyPr>
          <a:lstStyle/>
          <a:p>
            <a:r>
              <a:rPr lang="en-US" altLang="en-US" sz="2933" dirty="0">
                <a:solidFill>
                  <a:schemeClr val="tx1">
                    <a:lumMod val="95000"/>
                    <a:lumOff val="5000"/>
                  </a:schemeClr>
                </a:solidFill>
                <a:latin typeface="Century Gothic" panose="020B0502020202020204" pitchFamily="34" charset="0"/>
                <a:cs typeface="Arial" pitchFamily="34" charset="0"/>
              </a:rPr>
              <a:t>Example…..</a:t>
            </a:r>
          </a:p>
        </p:txBody>
      </p:sp>
      <p:graphicFrame>
        <p:nvGraphicFramePr>
          <p:cNvPr id="4" name="Diagram 3">
            <a:extLst>
              <a:ext uri="{FF2B5EF4-FFF2-40B4-BE49-F238E27FC236}">
                <a16:creationId xmlns:a16="http://schemas.microsoft.com/office/drawing/2014/main" id="{4EB724A4-E8E6-4931-90BD-D1195DF1890B}"/>
              </a:ext>
            </a:extLst>
          </p:cNvPr>
          <p:cNvGraphicFramePr/>
          <p:nvPr/>
        </p:nvGraphicFramePr>
        <p:xfrm>
          <a:off x="711200" y="1600200"/>
          <a:ext cx="10655837" cy="4876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9345519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graphicEl>
                                              <a:dgm id="{BCEA0463-F665-4B33-A5F7-B6FF83A60FF7}"/>
                                            </p:graphicEl>
                                          </p:spTgt>
                                        </p:tgtEl>
                                        <p:attrNameLst>
                                          <p:attrName>style.visibility</p:attrName>
                                        </p:attrNameLst>
                                      </p:cBhvr>
                                      <p:to>
                                        <p:strVal val="visible"/>
                                      </p:to>
                                    </p:set>
                                    <p:animEffect transition="in" filter="wipe(left)">
                                      <p:cBhvr>
                                        <p:cTn id="7" dur="500"/>
                                        <p:tgtEl>
                                          <p:spTgt spid="4">
                                            <p:graphicEl>
                                              <a:dgm id="{BCEA0463-F665-4B33-A5F7-B6FF83A60FF7}"/>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graphicEl>
                                              <a:dgm id="{D1680804-83BD-445B-9BC5-AEC16AF4FDC2}"/>
                                            </p:graphicEl>
                                          </p:spTgt>
                                        </p:tgtEl>
                                        <p:attrNameLst>
                                          <p:attrName>style.visibility</p:attrName>
                                        </p:attrNameLst>
                                      </p:cBhvr>
                                      <p:to>
                                        <p:strVal val="visible"/>
                                      </p:to>
                                    </p:set>
                                    <p:animEffect transition="in" filter="wipe(left)">
                                      <p:cBhvr>
                                        <p:cTn id="12" dur="500"/>
                                        <p:tgtEl>
                                          <p:spTgt spid="4">
                                            <p:graphicEl>
                                              <a:dgm id="{D1680804-83BD-445B-9BC5-AEC16AF4FDC2}"/>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1B16CEC-5382-4936-91C2-86CA7AF3650A}"/>
              </a:ext>
            </a:extLst>
          </p:cNvPr>
          <p:cNvSpPr txBox="1"/>
          <p:nvPr/>
        </p:nvSpPr>
        <p:spPr>
          <a:xfrm>
            <a:off x="723363" y="1611722"/>
            <a:ext cx="10655837" cy="3477875"/>
          </a:xfrm>
          <a:prstGeom prst="rect">
            <a:avLst/>
          </a:prstGeom>
          <a:noFill/>
        </p:spPr>
        <p:txBody>
          <a:bodyPr wrap="square">
            <a:spAutoFit/>
          </a:bodyPr>
          <a:lstStyle/>
          <a:p>
            <a:pPr algn="just"/>
            <a:r>
              <a:rPr lang="en-US" altLang="en-US" sz="2000" b="1" dirty="0">
                <a:latin typeface="Century Gothic" panose="020B0502020202020204" pitchFamily="34" charset="0"/>
                <a:cs typeface="Times New Roman" panose="02020603050405020304" pitchFamily="18" charset="0"/>
              </a:rPr>
              <a:t>Which of the following conditional propositions are true?</a:t>
            </a:r>
          </a:p>
          <a:p>
            <a:pPr algn="just"/>
            <a:endParaRPr lang="en-US" altLang="en-US" sz="2000" b="1" dirty="0">
              <a:latin typeface="Century Gothic" panose="020B0502020202020204" pitchFamily="34" charset="0"/>
              <a:cs typeface="Times New Roman" panose="02020603050405020304" pitchFamily="18" charset="0"/>
            </a:endParaRPr>
          </a:p>
          <a:p>
            <a:pPr algn="just"/>
            <a:r>
              <a:rPr lang="en-US" altLang="en-US" sz="2000" dirty="0">
                <a:latin typeface="Century Gothic" panose="020B0502020202020204" pitchFamily="34" charset="0"/>
                <a:cs typeface="Times New Roman" panose="02020603050405020304" pitchFamily="18" charset="0"/>
              </a:rPr>
              <a:t>1.	p: The earth is round.</a:t>
            </a:r>
          </a:p>
          <a:p>
            <a:pPr algn="just"/>
            <a:r>
              <a:rPr lang="en-US" altLang="en-US" sz="2000" dirty="0">
                <a:latin typeface="Century Gothic" panose="020B0502020202020204" pitchFamily="34" charset="0"/>
                <a:cs typeface="Times New Roman" panose="02020603050405020304" pitchFamily="18" charset="0"/>
              </a:rPr>
              <a:t>	q: The earth travels round the Sun.</a:t>
            </a:r>
          </a:p>
          <a:p>
            <a:pPr algn="just"/>
            <a:endParaRPr lang="en-US" altLang="en-US" sz="2000" dirty="0">
              <a:latin typeface="Century Gothic" panose="020B0502020202020204" pitchFamily="34" charset="0"/>
              <a:cs typeface="Times New Roman" panose="02020603050405020304" pitchFamily="18" charset="0"/>
            </a:endParaRPr>
          </a:p>
          <a:p>
            <a:pPr algn="just"/>
            <a:r>
              <a:rPr lang="en-US" altLang="en-US" sz="2000" b="1" dirty="0">
                <a:latin typeface="Century Gothic" panose="020B0502020202020204" pitchFamily="34" charset="0"/>
                <a:cs typeface="Times New Roman" panose="02020603050405020304" pitchFamily="18" charset="0"/>
              </a:rPr>
              <a:t>Here, </a:t>
            </a:r>
            <a:r>
              <a:rPr lang="en-US" altLang="en-US" sz="2000" dirty="0">
                <a:latin typeface="Century Gothic" panose="020B0502020202020204" pitchFamily="34" charset="0"/>
                <a:cs typeface="Times New Roman" panose="02020603050405020304" pitchFamily="18" charset="0"/>
              </a:rPr>
              <a:t>p is true and q is true, hence p → q is true.</a:t>
            </a:r>
          </a:p>
          <a:p>
            <a:pPr algn="just"/>
            <a:endParaRPr lang="en-US" altLang="en-US" sz="2000" dirty="0">
              <a:latin typeface="Century Gothic" panose="020B0502020202020204" pitchFamily="34" charset="0"/>
              <a:cs typeface="Times New Roman" panose="02020603050405020304" pitchFamily="18" charset="0"/>
            </a:endParaRPr>
          </a:p>
          <a:p>
            <a:pPr algn="just"/>
            <a:r>
              <a:rPr lang="en-US" altLang="en-US" sz="2000" dirty="0">
                <a:latin typeface="Century Gothic" panose="020B0502020202020204" pitchFamily="34" charset="0"/>
                <a:cs typeface="Times New Roman" panose="02020603050405020304" pitchFamily="18" charset="0"/>
              </a:rPr>
              <a:t>2.	p: Alexander Graham Bell invented telephone.</a:t>
            </a:r>
          </a:p>
          <a:p>
            <a:pPr algn="just"/>
            <a:r>
              <a:rPr lang="en-US" altLang="en-US" sz="2000" dirty="0">
                <a:latin typeface="Century Gothic" panose="020B0502020202020204" pitchFamily="34" charset="0"/>
                <a:cs typeface="Times New Roman" panose="02020603050405020304" pitchFamily="18" charset="0"/>
              </a:rPr>
              <a:t>	q: Tigers have wings.</a:t>
            </a:r>
          </a:p>
          <a:p>
            <a:pPr algn="just"/>
            <a:endParaRPr lang="en-US" altLang="en-US" sz="2000" dirty="0">
              <a:latin typeface="Century Gothic" panose="020B0502020202020204" pitchFamily="34" charset="0"/>
              <a:cs typeface="Times New Roman" panose="02020603050405020304" pitchFamily="18" charset="0"/>
            </a:endParaRPr>
          </a:p>
          <a:p>
            <a:pPr algn="just"/>
            <a:r>
              <a:rPr lang="en-US" altLang="en-US" sz="2000" b="1" dirty="0">
                <a:latin typeface="Century Gothic" panose="020B0502020202020204" pitchFamily="34" charset="0"/>
                <a:cs typeface="Times New Roman" panose="02020603050405020304" pitchFamily="18" charset="0"/>
              </a:rPr>
              <a:t>Here, </a:t>
            </a:r>
            <a:r>
              <a:rPr lang="en-US" altLang="en-US" sz="2000" dirty="0">
                <a:latin typeface="Century Gothic" panose="020B0502020202020204" pitchFamily="34" charset="0"/>
                <a:cs typeface="Times New Roman" panose="02020603050405020304" pitchFamily="18" charset="0"/>
              </a:rPr>
              <a:t>p is true and q is false and hence the p → q is false.</a:t>
            </a:r>
          </a:p>
        </p:txBody>
      </p:sp>
      <p:sp>
        <p:nvSpPr>
          <p:cNvPr id="2" name="TextBox 1">
            <a:extLst>
              <a:ext uri="{FF2B5EF4-FFF2-40B4-BE49-F238E27FC236}">
                <a16:creationId xmlns:a16="http://schemas.microsoft.com/office/drawing/2014/main" id="{83D59278-A573-4889-BC1C-FDD11D29B523}"/>
              </a:ext>
            </a:extLst>
          </p:cNvPr>
          <p:cNvSpPr txBox="1"/>
          <p:nvPr/>
        </p:nvSpPr>
        <p:spPr>
          <a:xfrm>
            <a:off x="4718316" y="265045"/>
            <a:ext cx="1752403" cy="543675"/>
          </a:xfrm>
          <a:prstGeom prst="rect">
            <a:avLst/>
          </a:prstGeom>
          <a:noFill/>
        </p:spPr>
        <p:txBody>
          <a:bodyPr wrap="none" rtlCol="0">
            <a:spAutoFit/>
          </a:bodyPr>
          <a:lstStyle/>
          <a:p>
            <a:r>
              <a:rPr lang="en-US" altLang="en-US" sz="2933" dirty="0">
                <a:solidFill>
                  <a:schemeClr val="tx1">
                    <a:lumMod val="95000"/>
                    <a:lumOff val="5000"/>
                  </a:schemeClr>
                </a:solidFill>
                <a:latin typeface="Century Gothic" panose="020B0502020202020204" pitchFamily="34" charset="0"/>
                <a:cs typeface="Arial" pitchFamily="34" charset="0"/>
              </a:rPr>
              <a:t>Example</a:t>
            </a:r>
          </a:p>
        </p:txBody>
      </p:sp>
    </p:spTree>
    <p:extLst>
      <p:ext uri="{BB962C8B-B14F-4D97-AF65-F5344CB8AC3E}">
        <p14:creationId xmlns:p14="http://schemas.microsoft.com/office/powerpoint/2010/main" val="175575863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wipe(left)">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Effect transition="in" filter="wipe(left)">
                                      <p:cBhvr>
                                        <p:cTn id="17" dur="500"/>
                                        <p:tgtEl>
                                          <p:spTgt spid="5">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txEl>
                                              <p:pRg st="5" end="5"/>
                                            </p:txEl>
                                          </p:spTgt>
                                        </p:tgtEl>
                                        <p:attrNameLst>
                                          <p:attrName>style.visibility</p:attrName>
                                        </p:attrNameLst>
                                      </p:cBhvr>
                                      <p:to>
                                        <p:strVal val="visible"/>
                                      </p:to>
                                    </p:set>
                                    <p:animEffect transition="in" filter="wipe(left)">
                                      <p:cBhvr>
                                        <p:cTn id="22" dur="500"/>
                                        <p:tgtEl>
                                          <p:spTgt spid="5">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
                                            <p:txEl>
                                              <p:pRg st="7" end="7"/>
                                            </p:txEl>
                                          </p:spTgt>
                                        </p:tgtEl>
                                        <p:attrNameLst>
                                          <p:attrName>style.visibility</p:attrName>
                                        </p:attrNameLst>
                                      </p:cBhvr>
                                      <p:to>
                                        <p:strVal val="visible"/>
                                      </p:to>
                                    </p:set>
                                    <p:animEffect transition="in" filter="wipe(left)">
                                      <p:cBhvr>
                                        <p:cTn id="27" dur="500"/>
                                        <p:tgtEl>
                                          <p:spTgt spid="5">
                                            <p:txEl>
                                              <p:pRg st="7" end="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
                                            <p:txEl>
                                              <p:pRg st="8" end="8"/>
                                            </p:txEl>
                                          </p:spTgt>
                                        </p:tgtEl>
                                        <p:attrNameLst>
                                          <p:attrName>style.visibility</p:attrName>
                                        </p:attrNameLst>
                                      </p:cBhvr>
                                      <p:to>
                                        <p:strVal val="visible"/>
                                      </p:to>
                                    </p:set>
                                    <p:animEffect transition="in" filter="wipe(left)">
                                      <p:cBhvr>
                                        <p:cTn id="32" dur="500"/>
                                        <p:tgtEl>
                                          <p:spTgt spid="5">
                                            <p:txEl>
                                              <p:pRg st="8" end="8"/>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5">
                                            <p:txEl>
                                              <p:pRg st="10" end="10"/>
                                            </p:txEl>
                                          </p:spTgt>
                                        </p:tgtEl>
                                        <p:attrNameLst>
                                          <p:attrName>style.visibility</p:attrName>
                                        </p:attrNameLst>
                                      </p:cBhvr>
                                      <p:to>
                                        <p:strVal val="visible"/>
                                      </p:to>
                                    </p:set>
                                    <p:animEffect transition="in" filter="wipe(left)">
                                      <p:cBhvr>
                                        <p:cTn id="37" dur="500"/>
                                        <p:tgtEl>
                                          <p:spTgt spid="5">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1B16CEC-5382-4936-91C2-86CA7AF3650A}"/>
              </a:ext>
            </a:extLst>
          </p:cNvPr>
          <p:cNvSpPr txBox="1"/>
          <p:nvPr/>
        </p:nvSpPr>
        <p:spPr>
          <a:xfrm>
            <a:off x="723363" y="1611721"/>
            <a:ext cx="10655837" cy="400110"/>
          </a:xfrm>
          <a:prstGeom prst="rect">
            <a:avLst/>
          </a:prstGeom>
          <a:noFill/>
        </p:spPr>
        <p:txBody>
          <a:bodyPr wrap="square">
            <a:spAutoFit/>
          </a:bodyPr>
          <a:lstStyle/>
          <a:p>
            <a:pPr algn="just"/>
            <a:r>
              <a:rPr lang="en-US" altLang="en-US" sz="2000" b="1" dirty="0">
                <a:latin typeface="Century Gothic" panose="020B0502020202020204" pitchFamily="34" charset="0"/>
                <a:cs typeface="Times New Roman" panose="02020603050405020304" pitchFamily="18" charset="0"/>
              </a:rPr>
              <a:t>Calculate the truth table for p ⋁ ~q → p</a:t>
            </a:r>
          </a:p>
        </p:txBody>
      </p:sp>
      <p:sp>
        <p:nvSpPr>
          <p:cNvPr id="2" name="TextBox 1">
            <a:extLst>
              <a:ext uri="{FF2B5EF4-FFF2-40B4-BE49-F238E27FC236}">
                <a16:creationId xmlns:a16="http://schemas.microsoft.com/office/drawing/2014/main" id="{83D59278-A573-4889-BC1C-FDD11D29B523}"/>
              </a:ext>
            </a:extLst>
          </p:cNvPr>
          <p:cNvSpPr txBox="1"/>
          <p:nvPr/>
        </p:nvSpPr>
        <p:spPr>
          <a:xfrm>
            <a:off x="4709437" y="392424"/>
            <a:ext cx="2337499" cy="543675"/>
          </a:xfrm>
          <a:prstGeom prst="rect">
            <a:avLst/>
          </a:prstGeom>
          <a:noFill/>
        </p:spPr>
        <p:txBody>
          <a:bodyPr wrap="none" rtlCol="0">
            <a:spAutoFit/>
          </a:bodyPr>
          <a:lstStyle/>
          <a:p>
            <a:r>
              <a:rPr lang="en-US" altLang="en-US" sz="2933" dirty="0">
                <a:solidFill>
                  <a:schemeClr val="tx1">
                    <a:lumMod val="95000"/>
                    <a:lumOff val="5000"/>
                  </a:schemeClr>
                </a:solidFill>
                <a:latin typeface="Century Gothic" panose="020B0502020202020204" pitchFamily="34" charset="0"/>
                <a:cs typeface="Arial" pitchFamily="34" charset="0"/>
              </a:rPr>
              <a:t>Example…..</a:t>
            </a:r>
          </a:p>
        </p:txBody>
      </p:sp>
      <p:graphicFrame>
        <p:nvGraphicFramePr>
          <p:cNvPr id="9" name="Group 170">
            <a:extLst>
              <a:ext uri="{FF2B5EF4-FFF2-40B4-BE49-F238E27FC236}">
                <a16:creationId xmlns:a16="http://schemas.microsoft.com/office/drawing/2014/main" id="{DAC3B57E-1CF6-44F5-AFDF-FC49D377D910}"/>
              </a:ext>
            </a:extLst>
          </p:cNvPr>
          <p:cNvGraphicFramePr>
            <a:graphicFrameLocks noGrp="1"/>
          </p:cNvGraphicFramePr>
          <p:nvPr/>
        </p:nvGraphicFramePr>
        <p:xfrm>
          <a:off x="1117601" y="2819401"/>
          <a:ext cx="9956799" cy="3047997"/>
        </p:xfrm>
        <a:graphic>
          <a:graphicData uri="http://schemas.openxmlformats.org/drawingml/2006/table">
            <a:tbl>
              <a:tblPr/>
              <a:tblGrid>
                <a:gridCol w="1928216">
                  <a:extLst>
                    <a:ext uri="{9D8B030D-6E8A-4147-A177-3AD203B41FA5}">
                      <a16:colId xmlns:a16="http://schemas.microsoft.com/office/drawing/2014/main" val="1330902760"/>
                    </a:ext>
                  </a:extLst>
                </a:gridCol>
                <a:gridCol w="1928216">
                  <a:extLst>
                    <a:ext uri="{9D8B030D-6E8A-4147-A177-3AD203B41FA5}">
                      <a16:colId xmlns:a16="http://schemas.microsoft.com/office/drawing/2014/main" val="2887922393"/>
                    </a:ext>
                  </a:extLst>
                </a:gridCol>
                <a:gridCol w="1928216">
                  <a:extLst>
                    <a:ext uri="{9D8B030D-6E8A-4147-A177-3AD203B41FA5}">
                      <a16:colId xmlns:a16="http://schemas.microsoft.com/office/drawing/2014/main" val="2604426546"/>
                    </a:ext>
                  </a:extLst>
                </a:gridCol>
                <a:gridCol w="1930827">
                  <a:extLst>
                    <a:ext uri="{9D8B030D-6E8A-4147-A177-3AD203B41FA5}">
                      <a16:colId xmlns:a16="http://schemas.microsoft.com/office/drawing/2014/main" val="1067311135"/>
                    </a:ext>
                  </a:extLst>
                </a:gridCol>
                <a:gridCol w="2241324">
                  <a:extLst>
                    <a:ext uri="{9D8B030D-6E8A-4147-A177-3AD203B41FA5}">
                      <a16:colId xmlns:a16="http://schemas.microsoft.com/office/drawing/2014/main" val="3515517127"/>
                    </a:ext>
                  </a:extLst>
                </a:gridCol>
              </a:tblGrid>
              <a:tr h="781145">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p</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00"/>
                    </a:solid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q</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00"/>
                    </a:solid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~q</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00"/>
                    </a:solid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p </a:t>
                      </a:r>
                      <a:r>
                        <a:rPr kumimoji="0" lang="en-US" altLang="en-US" sz="2000" b="1" i="0" u="none" strike="noStrike" cap="none" normalizeH="0" baseline="0" dirty="0">
                          <a:ln>
                            <a:noFill/>
                          </a:ln>
                          <a:solidFill>
                            <a:srgbClr val="000000"/>
                          </a:solidFill>
                          <a:effectLst/>
                          <a:latin typeface="Century Gothic" panose="020B0502020202020204" pitchFamily="34" charset="0"/>
                          <a:ea typeface="Calibri" panose="020F0502020204030204" pitchFamily="34" charset="0"/>
                          <a:cs typeface="Times New Roman" panose="02020603050405020304" pitchFamily="18" charset="0"/>
                        </a:rPr>
                        <a:t>⋁</a:t>
                      </a:r>
                      <a:r>
                        <a:rPr kumimoji="0" lang="en-US" altLang="en-US" sz="2000" b="1"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 ~q</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00"/>
                    </a:solid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p </a:t>
                      </a:r>
                      <a:r>
                        <a:rPr kumimoji="0" lang="en-US" altLang="en-US" sz="2000" b="1" i="0" u="none" strike="noStrike" cap="none" normalizeH="0" baseline="0" dirty="0">
                          <a:ln>
                            <a:noFill/>
                          </a:ln>
                          <a:solidFill>
                            <a:srgbClr val="000000"/>
                          </a:solidFill>
                          <a:effectLst/>
                          <a:latin typeface="Century Gothic" panose="020B0502020202020204" pitchFamily="34" charset="0"/>
                          <a:ea typeface="Calibri" panose="020F0502020204030204" pitchFamily="34" charset="0"/>
                          <a:cs typeface="Times New Roman" panose="02020603050405020304" pitchFamily="18" charset="0"/>
                        </a:rPr>
                        <a:t>⋁</a:t>
                      </a:r>
                      <a:r>
                        <a:rPr kumimoji="0" lang="en-US" altLang="en-US" sz="2000" b="1"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 ~q → p</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00"/>
                    </a:solidFill>
                  </a:tcPr>
                </a:tc>
                <a:extLst>
                  <a:ext uri="{0D108BD9-81ED-4DB2-BD59-A6C34878D82A}">
                    <a16:rowId xmlns:a16="http://schemas.microsoft.com/office/drawing/2014/main" val="40181966"/>
                  </a:ext>
                </a:extLst>
              </a:tr>
              <a:tr h="566713">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F</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795742337"/>
                  </a:ext>
                </a:extLst>
              </a:tr>
              <a:tr h="566713">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F</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142109979"/>
                  </a:ext>
                </a:extLst>
              </a:tr>
              <a:tr h="566713">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F</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F</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F</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195237"/>
                  </a:ext>
                </a:extLst>
              </a:tr>
              <a:tr h="566713">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F</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F</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F</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821142663"/>
                  </a:ext>
                </a:extLst>
              </a:tr>
            </a:tbl>
          </a:graphicData>
        </a:graphic>
      </p:graphicFrame>
    </p:spTree>
    <p:extLst>
      <p:ext uri="{BB962C8B-B14F-4D97-AF65-F5344CB8AC3E}">
        <p14:creationId xmlns:p14="http://schemas.microsoft.com/office/powerpoint/2010/main" val="125257313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1B16CEC-5382-4936-91C2-86CA7AF3650A}"/>
              </a:ext>
            </a:extLst>
          </p:cNvPr>
          <p:cNvSpPr txBox="1"/>
          <p:nvPr/>
        </p:nvSpPr>
        <p:spPr>
          <a:xfrm>
            <a:off x="723363" y="1611721"/>
            <a:ext cx="10655837" cy="400110"/>
          </a:xfrm>
          <a:prstGeom prst="rect">
            <a:avLst/>
          </a:prstGeom>
          <a:noFill/>
        </p:spPr>
        <p:txBody>
          <a:bodyPr wrap="square">
            <a:spAutoFit/>
          </a:bodyPr>
          <a:lstStyle/>
          <a:p>
            <a:pPr algn="just"/>
            <a:r>
              <a:rPr lang="en-US" altLang="en-US" sz="2000" b="1" dirty="0">
                <a:latin typeface="Century Gothic" panose="020B0502020202020204" pitchFamily="34" charset="0"/>
                <a:cs typeface="Times New Roman" panose="02020603050405020304" pitchFamily="18" charset="0"/>
              </a:rPr>
              <a:t>Use truth table to show that p → q  ≡       ~p ⋁ q</a:t>
            </a:r>
          </a:p>
        </p:txBody>
      </p:sp>
      <p:sp>
        <p:nvSpPr>
          <p:cNvPr id="2" name="TextBox 1">
            <a:extLst>
              <a:ext uri="{FF2B5EF4-FFF2-40B4-BE49-F238E27FC236}">
                <a16:creationId xmlns:a16="http://schemas.microsoft.com/office/drawing/2014/main" id="{83D59278-A573-4889-BC1C-FDD11D29B523}"/>
              </a:ext>
            </a:extLst>
          </p:cNvPr>
          <p:cNvSpPr txBox="1"/>
          <p:nvPr/>
        </p:nvSpPr>
        <p:spPr>
          <a:xfrm>
            <a:off x="4789337" y="412022"/>
            <a:ext cx="2337499" cy="543675"/>
          </a:xfrm>
          <a:prstGeom prst="rect">
            <a:avLst/>
          </a:prstGeom>
          <a:noFill/>
        </p:spPr>
        <p:txBody>
          <a:bodyPr wrap="none" rtlCol="0">
            <a:spAutoFit/>
          </a:bodyPr>
          <a:lstStyle/>
          <a:p>
            <a:r>
              <a:rPr lang="en-US" altLang="en-US" sz="2933" dirty="0">
                <a:solidFill>
                  <a:schemeClr val="tx1">
                    <a:lumMod val="95000"/>
                    <a:lumOff val="5000"/>
                  </a:schemeClr>
                </a:solidFill>
                <a:latin typeface="Century Gothic" panose="020B0502020202020204" pitchFamily="34" charset="0"/>
                <a:cs typeface="Arial" pitchFamily="34" charset="0"/>
              </a:rPr>
              <a:t>Example…..</a:t>
            </a:r>
          </a:p>
        </p:txBody>
      </p:sp>
      <p:sp>
        <p:nvSpPr>
          <p:cNvPr id="6" name="TextBox 5">
            <a:extLst>
              <a:ext uri="{FF2B5EF4-FFF2-40B4-BE49-F238E27FC236}">
                <a16:creationId xmlns:a16="http://schemas.microsoft.com/office/drawing/2014/main" id="{15D8E544-6EBD-41ED-A3D4-487F28D2127F}"/>
              </a:ext>
            </a:extLst>
          </p:cNvPr>
          <p:cNvSpPr txBox="1"/>
          <p:nvPr/>
        </p:nvSpPr>
        <p:spPr>
          <a:xfrm>
            <a:off x="711200" y="5738092"/>
            <a:ext cx="10655837" cy="707886"/>
          </a:xfrm>
          <a:prstGeom prst="rect">
            <a:avLst/>
          </a:prstGeom>
          <a:noFill/>
        </p:spPr>
        <p:txBody>
          <a:bodyPr wrap="square">
            <a:spAutoFit/>
          </a:bodyPr>
          <a:lstStyle/>
          <a:p>
            <a:pPr algn="just"/>
            <a:r>
              <a:rPr lang="en-US" altLang="en-US" sz="2000" dirty="0">
                <a:latin typeface="Century Gothic" panose="020B0502020202020204" pitchFamily="34" charset="0"/>
                <a:cs typeface="Times New Roman" panose="02020603050405020304" pitchFamily="18" charset="0"/>
              </a:rPr>
              <a:t>The logical equivalence is established by the 3rd and 5th column of the table which are identical.</a:t>
            </a:r>
          </a:p>
        </p:txBody>
      </p:sp>
      <p:graphicFrame>
        <p:nvGraphicFramePr>
          <p:cNvPr id="9" name="Group 206">
            <a:extLst>
              <a:ext uri="{FF2B5EF4-FFF2-40B4-BE49-F238E27FC236}">
                <a16:creationId xmlns:a16="http://schemas.microsoft.com/office/drawing/2014/main" id="{BCA21067-4512-4BF7-8265-80999524D9F3}"/>
              </a:ext>
            </a:extLst>
          </p:cNvPr>
          <p:cNvGraphicFramePr>
            <a:graphicFrameLocks noGrp="1"/>
          </p:cNvGraphicFramePr>
          <p:nvPr/>
        </p:nvGraphicFramePr>
        <p:xfrm>
          <a:off x="1117600" y="2514598"/>
          <a:ext cx="9956803" cy="2844800"/>
        </p:xfrm>
        <a:graphic>
          <a:graphicData uri="http://schemas.openxmlformats.org/drawingml/2006/table">
            <a:tbl>
              <a:tblPr/>
              <a:tblGrid>
                <a:gridCol w="1990283">
                  <a:extLst>
                    <a:ext uri="{9D8B030D-6E8A-4147-A177-3AD203B41FA5}">
                      <a16:colId xmlns:a16="http://schemas.microsoft.com/office/drawing/2014/main" val="290340916"/>
                    </a:ext>
                  </a:extLst>
                </a:gridCol>
                <a:gridCol w="1990283">
                  <a:extLst>
                    <a:ext uri="{9D8B030D-6E8A-4147-A177-3AD203B41FA5}">
                      <a16:colId xmlns:a16="http://schemas.microsoft.com/office/drawing/2014/main" val="2004058032"/>
                    </a:ext>
                  </a:extLst>
                </a:gridCol>
                <a:gridCol w="1990283">
                  <a:extLst>
                    <a:ext uri="{9D8B030D-6E8A-4147-A177-3AD203B41FA5}">
                      <a16:colId xmlns:a16="http://schemas.microsoft.com/office/drawing/2014/main" val="4129566940"/>
                    </a:ext>
                  </a:extLst>
                </a:gridCol>
                <a:gridCol w="1992977">
                  <a:extLst>
                    <a:ext uri="{9D8B030D-6E8A-4147-A177-3AD203B41FA5}">
                      <a16:colId xmlns:a16="http://schemas.microsoft.com/office/drawing/2014/main" val="2456910179"/>
                    </a:ext>
                  </a:extLst>
                </a:gridCol>
                <a:gridCol w="1992977">
                  <a:extLst>
                    <a:ext uri="{9D8B030D-6E8A-4147-A177-3AD203B41FA5}">
                      <a16:colId xmlns:a16="http://schemas.microsoft.com/office/drawing/2014/main" val="2193894319"/>
                    </a:ext>
                  </a:extLst>
                </a:gridCol>
              </a:tblGrid>
              <a:tr h="729068">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p</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00"/>
                    </a:solid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q</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00"/>
                    </a:solid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p → q  </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00"/>
                    </a:solid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~p</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00"/>
                    </a:solid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~p </a:t>
                      </a:r>
                      <a:r>
                        <a:rPr kumimoji="0" lang="en-US" altLang="en-US" sz="2000" b="1" i="0" u="none" strike="noStrike" cap="none" normalizeH="0" baseline="0" dirty="0">
                          <a:ln>
                            <a:noFill/>
                          </a:ln>
                          <a:solidFill>
                            <a:srgbClr val="000000"/>
                          </a:solidFill>
                          <a:effectLst/>
                          <a:latin typeface="Century Gothic" panose="020B0502020202020204" pitchFamily="34" charset="0"/>
                          <a:ea typeface="Calibri" panose="020F0502020204030204" pitchFamily="34" charset="0"/>
                          <a:cs typeface="Times New Roman" panose="02020603050405020304" pitchFamily="18" charset="0"/>
                        </a:rPr>
                        <a:t>⋁</a:t>
                      </a:r>
                      <a:r>
                        <a:rPr kumimoji="0" lang="en-US" altLang="en-US" sz="2000" b="1"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 q</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00"/>
                    </a:solidFill>
                  </a:tcPr>
                </a:tc>
                <a:extLst>
                  <a:ext uri="{0D108BD9-81ED-4DB2-BD59-A6C34878D82A}">
                    <a16:rowId xmlns:a16="http://schemas.microsoft.com/office/drawing/2014/main" val="2152159642"/>
                  </a:ext>
                </a:extLst>
              </a:tr>
              <a:tr h="528933">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F</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917637301"/>
                  </a:ext>
                </a:extLst>
              </a:tr>
              <a:tr h="528933">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F</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F</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F</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F</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188471458"/>
                  </a:ext>
                </a:extLst>
              </a:tr>
              <a:tr h="528933">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F</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367625988"/>
                  </a:ext>
                </a:extLst>
              </a:tr>
              <a:tr h="528933">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F</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F</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11432218"/>
                  </a:ext>
                </a:extLst>
              </a:tr>
            </a:tbl>
          </a:graphicData>
        </a:graphic>
      </p:graphicFrame>
    </p:spTree>
    <p:extLst>
      <p:ext uri="{BB962C8B-B14F-4D97-AF65-F5344CB8AC3E}">
        <p14:creationId xmlns:p14="http://schemas.microsoft.com/office/powerpoint/2010/main" val="139629669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animEffect transition="in" filter="wipe(left)">
                                      <p:cBhvr>
                                        <p:cTn id="17"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1B16CEC-5382-4936-91C2-86CA7AF3650A}"/>
              </a:ext>
            </a:extLst>
          </p:cNvPr>
          <p:cNvSpPr txBox="1"/>
          <p:nvPr/>
        </p:nvSpPr>
        <p:spPr>
          <a:xfrm>
            <a:off x="723363" y="1611722"/>
            <a:ext cx="10655837" cy="1938992"/>
          </a:xfrm>
          <a:prstGeom prst="rect">
            <a:avLst/>
          </a:prstGeom>
          <a:noFill/>
        </p:spPr>
        <p:txBody>
          <a:bodyPr wrap="square">
            <a:spAutoFit/>
          </a:bodyPr>
          <a:lstStyle/>
          <a:p>
            <a:pPr algn="just"/>
            <a:r>
              <a:rPr lang="en-US" altLang="en-US" sz="2000" dirty="0">
                <a:latin typeface="Century Gothic" panose="020B0502020202020204" pitchFamily="34" charset="0"/>
                <a:cs typeface="Times New Roman" panose="02020603050405020304" pitchFamily="18" charset="0"/>
              </a:rPr>
              <a:t>If p and q are statement, then the compound statement </a:t>
            </a:r>
            <a:r>
              <a:rPr lang="en-US" altLang="en-US" sz="2000" b="1" dirty="0">
                <a:latin typeface="Century Gothic" panose="020B0502020202020204" pitchFamily="34" charset="0"/>
                <a:cs typeface="Times New Roman" panose="02020603050405020304" pitchFamily="18" charset="0"/>
              </a:rPr>
              <a:t>“p if and only if q”, </a:t>
            </a:r>
            <a:r>
              <a:rPr lang="en-US" altLang="en-US" sz="2000" dirty="0">
                <a:latin typeface="Century Gothic" panose="020B0502020202020204" pitchFamily="34" charset="0"/>
                <a:cs typeface="Times New Roman" panose="02020603050405020304" pitchFamily="18" charset="0"/>
              </a:rPr>
              <a:t>denoted by p ↔ q is called a </a:t>
            </a:r>
            <a:r>
              <a:rPr lang="en-US" altLang="en-US" sz="2000" dirty="0" err="1">
                <a:latin typeface="Century Gothic" panose="020B0502020202020204" pitchFamily="34" charset="0"/>
                <a:cs typeface="Times New Roman" panose="02020603050405020304" pitchFamily="18" charset="0"/>
              </a:rPr>
              <a:t>bicnoditional</a:t>
            </a:r>
            <a:r>
              <a:rPr lang="en-US" altLang="en-US" sz="2000" dirty="0">
                <a:latin typeface="Century Gothic" panose="020B0502020202020204" pitchFamily="34" charset="0"/>
                <a:cs typeface="Times New Roman" panose="02020603050405020304" pitchFamily="18" charset="0"/>
              </a:rPr>
              <a:t> statement and the connective if and only if the biconditional connective.</a:t>
            </a:r>
          </a:p>
          <a:p>
            <a:pPr algn="just"/>
            <a:endParaRPr lang="en-US" altLang="en-US" sz="2000" dirty="0">
              <a:latin typeface="Century Gothic" panose="020B0502020202020204" pitchFamily="34" charset="0"/>
              <a:cs typeface="Times New Roman" panose="02020603050405020304" pitchFamily="18" charset="0"/>
            </a:endParaRPr>
          </a:p>
          <a:p>
            <a:pPr algn="just"/>
            <a:r>
              <a:rPr lang="en-US" altLang="en-US" sz="2000" dirty="0">
                <a:latin typeface="Century Gothic" panose="020B0502020202020204" pitchFamily="34" charset="0"/>
                <a:cs typeface="Times New Roman" panose="02020603050405020304" pitchFamily="18" charset="0"/>
              </a:rPr>
              <a:t>The biconditional statement p ↔ q can also be stated as  </a:t>
            </a:r>
            <a:r>
              <a:rPr lang="en-US" altLang="en-US" sz="2000" b="1" dirty="0">
                <a:latin typeface="Century Gothic" panose="020B0502020202020204" pitchFamily="34" charset="0"/>
                <a:cs typeface="Times New Roman" panose="02020603050405020304" pitchFamily="18" charset="0"/>
              </a:rPr>
              <a:t>“ p is a necessary and sufficient condition for q”</a:t>
            </a:r>
            <a:r>
              <a:rPr lang="en-US" altLang="en-US" sz="2000" dirty="0">
                <a:latin typeface="Century Gothic" panose="020B0502020202020204" pitchFamily="34" charset="0"/>
                <a:cs typeface="Times New Roman" panose="02020603050405020304" pitchFamily="18" charset="0"/>
              </a:rPr>
              <a:t> or as </a:t>
            </a:r>
            <a:r>
              <a:rPr lang="en-US" altLang="en-US" sz="2000" b="1" dirty="0">
                <a:latin typeface="Century Gothic" panose="020B0502020202020204" pitchFamily="34" charset="0"/>
                <a:cs typeface="Times New Roman" panose="02020603050405020304" pitchFamily="18" charset="0"/>
              </a:rPr>
              <a:t>“p implies q and q implies p”.</a:t>
            </a:r>
          </a:p>
        </p:txBody>
      </p:sp>
      <p:sp>
        <p:nvSpPr>
          <p:cNvPr id="2" name="TextBox 1">
            <a:extLst>
              <a:ext uri="{FF2B5EF4-FFF2-40B4-BE49-F238E27FC236}">
                <a16:creationId xmlns:a16="http://schemas.microsoft.com/office/drawing/2014/main" id="{83D59278-A573-4889-BC1C-FDD11D29B523}"/>
              </a:ext>
            </a:extLst>
          </p:cNvPr>
          <p:cNvSpPr txBox="1"/>
          <p:nvPr/>
        </p:nvSpPr>
        <p:spPr>
          <a:xfrm>
            <a:off x="3448809" y="1068047"/>
            <a:ext cx="4543231" cy="543675"/>
          </a:xfrm>
          <a:prstGeom prst="rect">
            <a:avLst/>
          </a:prstGeom>
          <a:noFill/>
        </p:spPr>
        <p:txBody>
          <a:bodyPr wrap="none" rtlCol="0">
            <a:spAutoFit/>
          </a:bodyPr>
          <a:lstStyle/>
          <a:p>
            <a:r>
              <a:rPr lang="en-US" altLang="en-US" sz="2933" dirty="0">
                <a:solidFill>
                  <a:schemeClr val="tx1">
                    <a:lumMod val="95000"/>
                    <a:lumOff val="5000"/>
                  </a:schemeClr>
                </a:solidFill>
                <a:latin typeface="Century Gothic" panose="020B0502020202020204" pitchFamily="34" charset="0"/>
                <a:cs typeface="Arial" pitchFamily="34" charset="0"/>
              </a:rPr>
              <a:t>Biconditional Statement</a:t>
            </a:r>
          </a:p>
        </p:txBody>
      </p:sp>
    </p:spTree>
    <p:extLst>
      <p:ext uri="{BB962C8B-B14F-4D97-AF65-F5344CB8AC3E}">
        <p14:creationId xmlns:p14="http://schemas.microsoft.com/office/powerpoint/2010/main" val="39082268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wipe(left)">
                                      <p:cBhvr>
                                        <p:cTn id="12"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11EAED7-C8F9-45D8-A96E-859AC6FA8DAD}"/>
              </a:ext>
            </a:extLst>
          </p:cNvPr>
          <p:cNvSpPr txBox="1"/>
          <p:nvPr/>
        </p:nvSpPr>
        <p:spPr>
          <a:xfrm>
            <a:off x="4762703" y="1068046"/>
            <a:ext cx="1752403" cy="543675"/>
          </a:xfrm>
          <a:prstGeom prst="rect">
            <a:avLst/>
          </a:prstGeom>
          <a:noFill/>
        </p:spPr>
        <p:txBody>
          <a:bodyPr wrap="none" rtlCol="0">
            <a:spAutoFit/>
          </a:bodyPr>
          <a:lstStyle/>
          <a:p>
            <a:r>
              <a:rPr lang="en-US" altLang="en-US" sz="2933" dirty="0">
                <a:solidFill>
                  <a:schemeClr val="tx1">
                    <a:lumMod val="95000"/>
                    <a:lumOff val="5000"/>
                  </a:schemeClr>
                </a:solidFill>
                <a:latin typeface="Century Gothic" panose="020B0502020202020204" pitchFamily="34" charset="0"/>
                <a:cs typeface="Arial" pitchFamily="34" charset="0"/>
              </a:rPr>
              <a:t>Example</a:t>
            </a:r>
          </a:p>
        </p:txBody>
      </p:sp>
      <p:sp>
        <p:nvSpPr>
          <p:cNvPr id="5" name="TextBox 4">
            <a:extLst>
              <a:ext uri="{FF2B5EF4-FFF2-40B4-BE49-F238E27FC236}">
                <a16:creationId xmlns:a16="http://schemas.microsoft.com/office/drawing/2014/main" id="{01B16CEC-5382-4936-91C2-86CA7AF3650A}"/>
              </a:ext>
            </a:extLst>
          </p:cNvPr>
          <p:cNvSpPr txBox="1"/>
          <p:nvPr/>
        </p:nvSpPr>
        <p:spPr>
          <a:xfrm>
            <a:off x="723363" y="1611721"/>
            <a:ext cx="10655837" cy="1631216"/>
          </a:xfrm>
          <a:prstGeom prst="rect">
            <a:avLst/>
          </a:prstGeom>
          <a:noFill/>
        </p:spPr>
        <p:txBody>
          <a:bodyPr wrap="square">
            <a:spAutoFit/>
          </a:bodyPr>
          <a:lstStyle/>
          <a:p>
            <a:pPr marL="457189" indent="-457189" algn="just">
              <a:buFont typeface="+mj-lt"/>
              <a:buAutoNum type="arabicPeriod"/>
            </a:pPr>
            <a:r>
              <a:rPr lang="en-US" altLang="en-US" sz="2000" dirty="0">
                <a:latin typeface="Century Gothic" panose="020B0502020202020204" pitchFamily="34" charset="0"/>
                <a:cs typeface="Times New Roman" panose="02020603050405020304" pitchFamily="18" charset="0"/>
              </a:rPr>
              <a:t>He swims if and only if the water is warm</a:t>
            </a:r>
          </a:p>
          <a:p>
            <a:pPr marL="457189" indent="-457189" algn="just">
              <a:buFont typeface="+mj-lt"/>
              <a:buAutoNum type="arabicPeriod"/>
            </a:pPr>
            <a:endParaRPr lang="en-US" altLang="en-US" sz="2000" dirty="0">
              <a:latin typeface="Century Gothic" panose="020B0502020202020204" pitchFamily="34" charset="0"/>
              <a:cs typeface="Times New Roman" panose="02020603050405020304" pitchFamily="18" charset="0"/>
            </a:endParaRPr>
          </a:p>
          <a:p>
            <a:pPr marL="457189" indent="-457189" algn="just">
              <a:buFont typeface="+mj-lt"/>
              <a:buAutoNum type="arabicPeriod"/>
            </a:pPr>
            <a:r>
              <a:rPr lang="en-US" altLang="en-US" sz="2000" dirty="0">
                <a:latin typeface="Century Gothic" panose="020B0502020202020204" pitchFamily="34" charset="0"/>
                <a:cs typeface="Times New Roman" panose="02020603050405020304" pitchFamily="18" charset="0"/>
              </a:rPr>
              <a:t>Sales of house fall if and only if interest rate rises.</a:t>
            </a:r>
          </a:p>
          <a:p>
            <a:pPr marL="457189" indent="-457189" algn="just">
              <a:buFont typeface="+mj-lt"/>
              <a:buAutoNum type="arabicPeriod"/>
            </a:pPr>
            <a:endParaRPr lang="en-US" altLang="en-US" sz="2000" dirty="0">
              <a:latin typeface="Century Gothic" panose="020B0502020202020204" pitchFamily="34" charset="0"/>
              <a:cs typeface="Times New Roman" panose="02020603050405020304" pitchFamily="18" charset="0"/>
            </a:endParaRPr>
          </a:p>
          <a:p>
            <a:pPr algn="just"/>
            <a:r>
              <a:rPr lang="en-US" altLang="en-US" sz="2000" b="1" dirty="0">
                <a:latin typeface="Century Gothic" panose="020B0502020202020204" pitchFamily="34" charset="0"/>
                <a:cs typeface="Times New Roman" panose="02020603050405020304" pitchFamily="18" charset="0"/>
              </a:rPr>
              <a:t>The truth table of </a:t>
            </a:r>
            <a:r>
              <a:rPr lang="en-US" altLang="en-US" sz="2000" b="1" dirty="0" err="1">
                <a:latin typeface="Century Gothic" panose="020B0502020202020204" pitchFamily="34" charset="0"/>
                <a:cs typeface="Times New Roman" panose="02020603050405020304" pitchFamily="18" charset="0"/>
              </a:rPr>
              <a:t>p↔q</a:t>
            </a:r>
            <a:r>
              <a:rPr lang="en-US" altLang="en-US" sz="2000" b="1" dirty="0">
                <a:latin typeface="Century Gothic" panose="020B0502020202020204" pitchFamily="34" charset="0"/>
                <a:cs typeface="Times New Roman" panose="02020603050405020304" pitchFamily="18" charset="0"/>
              </a:rPr>
              <a:t> is as follows:</a:t>
            </a:r>
          </a:p>
        </p:txBody>
      </p:sp>
      <p:graphicFrame>
        <p:nvGraphicFramePr>
          <p:cNvPr id="2" name="Group 99">
            <a:extLst>
              <a:ext uri="{FF2B5EF4-FFF2-40B4-BE49-F238E27FC236}">
                <a16:creationId xmlns:a16="http://schemas.microsoft.com/office/drawing/2014/main" id="{CC63F3CC-D5B3-4F15-ADF6-B7C128AD219F}"/>
              </a:ext>
            </a:extLst>
          </p:cNvPr>
          <p:cNvGraphicFramePr>
            <a:graphicFrameLocks noGrp="1"/>
          </p:cNvGraphicFramePr>
          <p:nvPr/>
        </p:nvGraphicFramePr>
        <p:xfrm>
          <a:off x="1574800" y="3581400"/>
          <a:ext cx="9042399" cy="2286000"/>
        </p:xfrm>
        <a:graphic>
          <a:graphicData uri="http://schemas.openxmlformats.org/drawingml/2006/table">
            <a:tbl>
              <a:tblPr/>
              <a:tblGrid>
                <a:gridCol w="3014133">
                  <a:extLst>
                    <a:ext uri="{9D8B030D-6E8A-4147-A177-3AD203B41FA5}">
                      <a16:colId xmlns:a16="http://schemas.microsoft.com/office/drawing/2014/main" val="1106618470"/>
                    </a:ext>
                  </a:extLst>
                </a:gridCol>
                <a:gridCol w="3014133">
                  <a:extLst>
                    <a:ext uri="{9D8B030D-6E8A-4147-A177-3AD203B41FA5}">
                      <a16:colId xmlns:a16="http://schemas.microsoft.com/office/drawing/2014/main" val="2139378863"/>
                    </a:ext>
                  </a:extLst>
                </a:gridCol>
                <a:gridCol w="3014133">
                  <a:extLst>
                    <a:ext uri="{9D8B030D-6E8A-4147-A177-3AD203B41FA5}">
                      <a16:colId xmlns:a16="http://schemas.microsoft.com/office/drawing/2014/main" val="2443782949"/>
                    </a:ext>
                  </a:extLst>
                </a:gridCol>
              </a:tblGrid>
              <a:tr h="457200">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p</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00"/>
                    </a:solid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q</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00"/>
                    </a:solid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err="1">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p↔q</a:t>
                      </a:r>
                      <a:endParaRPr kumimoji="0" lang="en-US" altLang="en-US" sz="2000" b="1"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00"/>
                    </a:solidFill>
                  </a:tcPr>
                </a:tc>
                <a:extLst>
                  <a:ext uri="{0D108BD9-81ED-4DB2-BD59-A6C34878D82A}">
                    <a16:rowId xmlns:a16="http://schemas.microsoft.com/office/drawing/2014/main" val="2745117532"/>
                  </a:ext>
                </a:extLst>
              </a:tr>
              <a:tr h="457200">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418363475"/>
                  </a:ext>
                </a:extLst>
              </a:tr>
              <a:tr h="457200">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F</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F</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413874440"/>
                  </a:ext>
                </a:extLst>
              </a:tr>
              <a:tr h="457200">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F</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F</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081388981"/>
                  </a:ext>
                </a:extLst>
              </a:tr>
              <a:tr h="457200">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F</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F</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108959269"/>
                  </a:ext>
                </a:extLst>
              </a:tr>
            </a:tbl>
          </a:graphicData>
        </a:graphic>
      </p:graphicFrame>
      <p:sp>
        <p:nvSpPr>
          <p:cNvPr id="6" name="TextBox 5">
            <a:extLst>
              <a:ext uri="{FF2B5EF4-FFF2-40B4-BE49-F238E27FC236}">
                <a16:creationId xmlns:a16="http://schemas.microsoft.com/office/drawing/2014/main" id="{01216A52-5642-4464-B3D6-C58469A1A9B8}"/>
              </a:ext>
            </a:extLst>
          </p:cNvPr>
          <p:cNvSpPr txBox="1"/>
          <p:nvPr/>
        </p:nvSpPr>
        <p:spPr>
          <a:xfrm>
            <a:off x="720436" y="6042888"/>
            <a:ext cx="10655837" cy="400110"/>
          </a:xfrm>
          <a:prstGeom prst="rect">
            <a:avLst/>
          </a:prstGeom>
          <a:noFill/>
        </p:spPr>
        <p:txBody>
          <a:bodyPr wrap="square">
            <a:spAutoFit/>
          </a:bodyPr>
          <a:lstStyle/>
          <a:p>
            <a:pPr algn="just"/>
            <a:r>
              <a:rPr lang="en-US" altLang="en-US" sz="2000" dirty="0">
                <a:latin typeface="Century Gothic" panose="020B0502020202020204" pitchFamily="34" charset="0"/>
                <a:cs typeface="Times New Roman" panose="02020603050405020304" pitchFamily="18" charset="0"/>
              </a:rPr>
              <a:t>It may be noted that </a:t>
            </a:r>
            <a:r>
              <a:rPr lang="en-US" altLang="en-US" sz="2000" dirty="0" err="1">
                <a:latin typeface="Century Gothic" panose="020B0502020202020204" pitchFamily="34" charset="0"/>
                <a:cs typeface="Times New Roman" panose="02020603050405020304" pitchFamily="18" charset="0"/>
              </a:rPr>
              <a:t>p↔q</a:t>
            </a:r>
            <a:r>
              <a:rPr lang="en-US" altLang="en-US" sz="2000" dirty="0">
                <a:latin typeface="Century Gothic" panose="020B0502020202020204" pitchFamily="34" charset="0"/>
                <a:cs typeface="Times New Roman" panose="02020603050405020304" pitchFamily="18" charset="0"/>
              </a:rPr>
              <a:t> </a:t>
            </a:r>
            <a:r>
              <a:rPr lang="en-US" altLang="en-US" sz="2000" dirty="0" err="1">
                <a:latin typeface="Century Gothic" panose="020B0502020202020204" pitchFamily="34" charset="0"/>
                <a:cs typeface="Times New Roman" panose="02020603050405020304" pitchFamily="18" charset="0"/>
              </a:rPr>
              <a:t>ie</a:t>
            </a:r>
            <a:r>
              <a:rPr lang="en-US" altLang="en-US" sz="2000" dirty="0">
                <a:latin typeface="Century Gothic" panose="020B0502020202020204" pitchFamily="34" charset="0"/>
                <a:cs typeface="Times New Roman" panose="02020603050405020304" pitchFamily="18" charset="0"/>
              </a:rPr>
              <a:t> true when both p and q are true or false.</a:t>
            </a:r>
          </a:p>
        </p:txBody>
      </p:sp>
    </p:spTree>
    <p:extLst>
      <p:ext uri="{BB962C8B-B14F-4D97-AF65-F5344CB8AC3E}">
        <p14:creationId xmlns:p14="http://schemas.microsoft.com/office/powerpoint/2010/main" val="357896616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wipe(left)">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wipe(left)">
                                      <p:cBhvr>
                                        <p:cTn id="17" dur="500"/>
                                        <p:tgtEl>
                                          <p:spTgt spid="5">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
                                            <p:txEl>
                                              <p:pRg st="0" end="0"/>
                                            </p:txEl>
                                          </p:spTgt>
                                        </p:tgtEl>
                                        <p:attrNameLst>
                                          <p:attrName>style.visibility</p:attrName>
                                        </p:attrNameLst>
                                      </p:cBhvr>
                                      <p:to>
                                        <p:strVal val="visible"/>
                                      </p:to>
                                    </p:set>
                                    <p:animEffect transition="in" filter="wipe(left)">
                                      <p:cBhvr>
                                        <p:cTn id="27"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11EAED7-C8F9-45D8-A96E-859AC6FA8DAD}"/>
              </a:ext>
            </a:extLst>
          </p:cNvPr>
          <p:cNvSpPr txBox="1"/>
          <p:nvPr/>
        </p:nvSpPr>
        <p:spPr>
          <a:xfrm>
            <a:off x="4673927" y="892555"/>
            <a:ext cx="2337499" cy="543675"/>
          </a:xfrm>
          <a:prstGeom prst="rect">
            <a:avLst/>
          </a:prstGeom>
          <a:noFill/>
        </p:spPr>
        <p:txBody>
          <a:bodyPr wrap="none" rtlCol="0">
            <a:spAutoFit/>
          </a:bodyPr>
          <a:lstStyle/>
          <a:p>
            <a:r>
              <a:rPr lang="en-US" altLang="en-US" sz="2933" dirty="0">
                <a:solidFill>
                  <a:schemeClr val="tx1">
                    <a:lumMod val="95000"/>
                    <a:lumOff val="5000"/>
                  </a:schemeClr>
                </a:solidFill>
                <a:latin typeface="Century Gothic" panose="020B0502020202020204" pitchFamily="34" charset="0"/>
                <a:cs typeface="Arial" pitchFamily="34" charset="0"/>
              </a:rPr>
              <a:t>Example…..</a:t>
            </a:r>
          </a:p>
        </p:txBody>
      </p:sp>
      <p:sp>
        <p:nvSpPr>
          <p:cNvPr id="5" name="TextBox 4">
            <a:extLst>
              <a:ext uri="{FF2B5EF4-FFF2-40B4-BE49-F238E27FC236}">
                <a16:creationId xmlns:a16="http://schemas.microsoft.com/office/drawing/2014/main" id="{01B16CEC-5382-4936-91C2-86CA7AF3650A}"/>
              </a:ext>
            </a:extLst>
          </p:cNvPr>
          <p:cNvSpPr txBox="1"/>
          <p:nvPr/>
        </p:nvSpPr>
        <p:spPr>
          <a:xfrm>
            <a:off x="723363" y="1611721"/>
            <a:ext cx="10655837" cy="1631216"/>
          </a:xfrm>
          <a:prstGeom prst="rect">
            <a:avLst/>
          </a:prstGeom>
          <a:noFill/>
        </p:spPr>
        <p:txBody>
          <a:bodyPr wrap="square">
            <a:spAutoFit/>
          </a:bodyPr>
          <a:lstStyle/>
          <a:p>
            <a:pPr algn="just"/>
            <a:r>
              <a:rPr lang="en-US" altLang="en-US" sz="2000" dirty="0">
                <a:latin typeface="Century Gothic" panose="020B0502020202020204" pitchFamily="34" charset="0"/>
                <a:cs typeface="Times New Roman" panose="02020603050405020304" pitchFamily="18" charset="0"/>
              </a:rPr>
              <a:t>Show that </a:t>
            </a:r>
            <a:r>
              <a:rPr lang="en-US" altLang="en-US" sz="2000" dirty="0" err="1">
                <a:latin typeface="Century Gothic" panose="020B0502020202020204" pitchFamily="34" charset="0"/>
                <a:cs typeface="Times New Roman" panose="02020603050405020304" pitchFamily="18" charset="0"/>
              </a:rPr>
              <a:t>p↔q</a:t>
            </a:r>
            <a:r>
              <a:rPr lang="en-US" altLang="en-US" sz="2000" dirty="0">
                <a:latin typeface="Century Gothic" panose="020B0502020202020204" pitchFamily="34" charset="0"/>
                <a:cs typeface="Times New Roman" panose="02020603050405020304" pitchFamily="18" charset="0"/>
              </a:rPr>
              <a:t>    ≡    (p ⋁ q) → (p ⋀ q), using</a:t>
            </a:r>
          </a:p>
          <a:p>
            <a:pPr marL="457189" indent="-457189" algn="just">
              <a:buFont typeface="+mj-lt"/>
              <a:buAutoNum type="arabicPeriod"/>
            </a:pPr>
            <a:r>
              <a:rPr lang="en-US" altLang="en-US" sz="2000" dirty="0">
                <a:latin typeface="Century Gothic" panose="020B0502020202020204" pitchFamily="34" charset="0"/>
                <a:cs typeface="Times New Roman" panose="02020603050405020304" pitchFamily="18" charset="0"/>
              </a:rPr>
              <a:t>Truth table</a:t>
            </a:r>
          </a:p>
          <a:p>
            <a:pPr marL="457189" indent="-457189" algn="just">
              <a:buFont typeface="+mj-lt"/>
              <a:buAutoNum type="arabicPeriod"/>
            </a:pPr>
            <a:r>
              <a:rPr lang="en-US" altLang="en-US" sz="2000" dirty="0">
                <a:latin typeface="Century Gothic" panose="020B0502020202020204" pitchFamily="34" charset="0"/>
                <a:cs typeface="Times New Roman" panose="02020603050405020304" pitchFamily="18" charset="0"/>
              </a:rPr>
              <a:t>Algebra of propositions</a:t>
            </a:r>
          </a:p>
          <a:p>
            <a:pPr algn="just"/>
            <a:endParaRPr lang="en-US" altLang="en-US" sz="2000" dirty="0">
              <a:latin typeface="Century Gothic" panose="020B0502020202020204" pitchFamily="34" charset="0"/>
              <a:cs typeface="Times New Roman" panose="02020603050405020304" pitchFamily="18" charset="0"/>
            </a:endParaRPr>
          </a:p>
          <a:p>
            <a:pPr marL="380990" indent="-380990" algn="just">
              <a:buFont typeface="Arial" panose="020B0604020202020204" pitchFamily="34" charset="0"/>
              <a:buChar char="•"/>
            </a:pPr>
            <a:r>
              <a:rPr lang="en-US" altLang="en-US" sz="2000" b="1" dirty="0">
                <a:latin typeface="Century Gothic" panose="020B0502020202020204" pitchFamily="34" charset="0"/>
                <a:cs typeface="Times New Roman" panose="02020603050405020304" pitchFamily="18" charset="0"/>
              </a:rPr>
              <a:t>By truth table</a:t>
            </a:r>
          </a:p>
        </p:txBody>
      </p:sp>
      <p:sp>
        <p:nvSpPr>
          <p:cNvPr id="6" name="TextBox 5">
            <a:extLst>
              <a:ext uri="{FF2B5EF4-FFF2-40B4-BE49-F238E27FC236}">
                <a16:creationId xmlns:a16="http://schemas.microsoft.com/office/drawing/2014/main" id="{01216A52-5642-4464-B3D6-C58469A1A9B8}"/>
              </a:ext>
            </a:extLst>
          </p:cNvPr>
          <p:cNvSpPr txBox="1"/>
          <p:nvPr/>
        </p:nvSpPr>
        <p:spPr>
          <a:xfrm>
            <a:off x="720436" y="6042888"/>
            <a:ext cx="10655837" cy="400110"/>
          </a:xfrm>
          <a:prstGeom prst="rect">
            <a:avLst/>
          </a:prstGeom>
          <a:noFill/>
        </p:spPr>
        <p:txBody>
          <a:bodyPr wrap="square">
            <a:spAutoFit/>
          </a:bodyPr>
          <a:lstStyle/>
          <a:p>
            <a:pPr algn="just"/>
            <a:r>
              <a:rPr lang="en-US" altLang="en-US" sz="2000" dirty="0">
                <a:latin typeface="Century Gothic" panose="020B0502020202020204" pitchFamily="34" charset="0"/>
                <a:cs typeface="Times New Roman" panose="02020603050405020304" pitchFamily="18" charset="0"/>
              </a:rPr>
              <a:t>Truth values in column 3rd and 6th shows the equivalency.</a:t>
            </a:r>
          </a:p>
        </p:txBody>
      </p:sp>
      <p:graphicFrame>
        <p:nvGraphicFramePr>
          <p:cNvPr id="4" name="Group 212">
            <a:extLst>
              <a:ext uri="{FF2B5EF4-FFF2-40B4-BE49-F238E27FC236}">
                <a16:creationId xmlns:a16="http://schemas.microsoft.com/office/drawing/2014/main" id="{0A254CE1-070E-4A6E-94A6-60A2D198C353}"/>
              </a:ext>
            </a:extLst>
          </p:cNvPr>
          <p:cNvGraphicFramePr>
            <a:graphicFrameLocks noGrp="1"/>
          </p:cNvGraphicFramePr>
          <p:nvPr/>
        </p:nvGraphicFramePr>
        <p:xfrm>
          <a:off x="1574800" y="3598861"/>
          <a:ext cx="9042401" cy="2268536"/>
        </p:xfrm>
        <a:graphic>
          <a:graphicData uri="http://schemas.openxmlformats.org/drawingml/2006/table">
            <a:tbl>
              <a:tblPr/>
              <a:tblGrid>
                <a:gridCol w="780799">
                  <a:extLst>
                    <a:ext uri="{9D8B030D-6E8A-4147-A177-3AD203B41FA5}">
                      <a16:colId xmlns:a16="http://schemas.microsoft.com/office/drawing/2014/main" val="4202514240"/>
                    </a:ext>
                  </a:extLst>
                </a:gridCol>
                <a:gridCol w="550279">
                  <a:extLst>
                    <a:ext uri="{9D8B030D-6E8A-4147-A177-3AD203B41FA5}">
                      <a16:colId xmlns:a16="http://schemas.microsoft.com/office/drawing/2014/main" val="204153495"/>
                    </a:ext>
                  </a:extLst>
                </a:gridCol>
                <a:gridCol w="1440140">
                  <a:extLst>
                    <a:ext uri="{9D8B030D-6E8A-4147-A177-3AD203B41FA5}">
                      <a16:colId xmlns:a16="http://schemas.microsoft.com/office/drawing/2014/main" val="3378418146"/>
                    </a:ext>
                  </a:extLst>
                </a:gridCol>
                <a:gridCol w="1603739">
                  <a:extLst>
                    <a:ext uri="{9D8B030D-6E8A-4147-A177-3AD203B41FA5}">
                      <a16:colId xmlns:a16="http://schemas.microsoft.com/office/drawing/2014/main" val="1457177515"/>
                    </a:ext>
                  </a:extLst>
                </a:gridCol>
                <a:gridCol w="1455013">
                  <a:extLst>
                    <a:ext uri="{9D8B030D-6E8A-4147-A177-3AD203B41FA5}">
                      <a16:colId xmlns:a16="http://schemas.microsoft.com/office/drawing/2014/main" val="2541142714"/>
                    </a:ext>
                  </a:extLst>
                </a:gridCol>
                <a:gridCol w="3212431">
                  <a:extLst>
                    <a:ext uri="{9D8B030D-6E8A-4147-A177-3AD203B41FA5}">
                      <a16:colId xmlns:a16="http://schemas.microsoft.com/office/drawing/2014/main" val="3254068171"/>
                    </a:ext>
                  </a:extLst>
                </a:gridCol>
              </a:tblGrid>
              <a:tr h="581384">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p</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00"/>
                    </a:solid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q</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00"/>
                    </a:solid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err="1">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p↔q</a:t>
                      </a:r>
                      <a:endParaRPr kumimoji="0" lang="en-US" altLang="en-US" sz="2000" b="1"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00"/>
                    </a:solid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p </a:t>
                      </a:r>
                      <a:r>
                        <a:rPr kumimoji="0" lang="en-US" altLang="en-US" sz="2000" b="1" i="0" u="none" strike="noStrike" cap="none" normalizeH="0" baseline="0" dirty="0">
                          <a:ln>
                            <a:noFill/>
                          </a:ln>
                          <a:solidFill>
                            <a:srgbClr val="000000"/>
                          </a:solidFill>
                          <a:effectLst/>
                          <a:latin typeface="Century Gothic" panose="020B0502020202020204" pitchFamily="34" charset="0"/>
                          <a:ea typeface="Calibri" panose="020F0502020204030204" pitchFamily="34" charset="0"/>
                          <a:cs typeface="Times New Roman" panose="02020603050405020304" pitchFamily="18" charset="0"/>
                        </a:rPr>
                        <a:t>⋁</a:t>
                      </a:r>
                      <a:r>
                        <a:rPr kumimoji="0" lang="en-US" altLang="en-US" sz="2000" b="1"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 q</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00"/>
                    </a:solid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p </a:t>
                      </a:r>
                      <a:r>
                        <a:rPr kumimoji="0" lang="en-US" altLang="en-US" sz="2000" b="1" i="0" u="none" strike="noStrike" cap="none" normalizeH="0" baseline="0" dirty="0">
                          <a:ln>
                            <a:noFill/>
                          </a:ln>
                          <a:solidFill>
                            <a:srgbClr val="000000"/>
                          </a:solidFill>
                          <a:effectLst/>
                          <a:latin typeface="Century Gothic" panose="020B0502020202020204" pitchFamily="34" charset="0"/>
                          <a:ea typeface="Calibri" panose="020F0502020204030204" pitchFamily="34" charset="0"/>
                          <a:cs typeface="Times New Roman" panose="02020603050405020304" pitchFamily="18" charset="0"/>
                        </a:rPr>
                        <a:t>⋀</a:t>
                      </a:r>
                      <a:r>
                        <a:rPr kumimoji="0" lang="en-US" altLang="en-US" sz="2000" b="1"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 q</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00"/>
                    </a:solid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(p </a:t>
                      </a:r>
                      <a:r>
                        <a:rPr kumimoji="0" lang="en-US" altLang="en-US" sz="2000" b="1" i="0" u="none" strike="noStrike" cap="none" normalizeH="0" baseline="0" dirty="0">
                          <a:ln>
                            <a:noFill/>
                          </a:ln>
                          <a:solidFill>
                            <a:srgbClr val="000000"/>
                          </a:solidFill>
                          <a:effectLst/>
                          <a:latin typeface="Century Gothic" panose="020B0502020202020204" pitchFamily="34" charset="0"/>
                          <a:ea typeface="Calibri" panose="020F0502020204030204" pitchFamily="34" charset="0"/>
                          <a:cs typeface="Times New Roman" panose="02020603050405020304" pitchFamily="18" charset="0"/>
                        </a:rPr>
                        <a:t>⋁</a:t>
                      </a:r>
                      <a:r>
                        <a:rPr kumimoji="0" lang="en-US" altLang="en-US" sz="2000" b="1"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 q) → (p </a:t>
                      </a:r>
                      <a:r>
                        <a:rPr kumimoji="0" lang="en-US" altLang="en-US" sz="2000" b="1" i="0" u="none" strike="noStrike" cap="none" normalizeH="0" baseline="0" dirty="0">
                          <a:ln>
                            <a:noFill/>
                          </a:ln>
                          <a:solidFill>
                            <a:srgbClr val="000000"/>
                          </a:solidFill>
                          <a:effectLst/>
                          <a:latin typeface="Century Gothic" panose="020B0502020202020204" pitchFamily="34" charset="0"/>
                        </a:rPr>
                        <a:t>⋀</a:t>
                      </a:r>
                      <a:r>
                        <a:rPr kumimoji="0" lang="en-US" altLang="en-US" sz="2000" b="1" i="0" u="none" strike="noStrike" cap="none" normalizeH="0" baseline="0" dirty="0">
                          <a:ln>
                            <a:noFill/>
                          </a:ln>
                          <a:solidFill>
                            <a:schemeClr val="tx1"/>
                          </a:solidFill>
                          <a:effectLst/>
                          <a:latin typeface="Century Gothic" panose="020B0502020202020204" pitchFamily="34" charset="0"/>
                          <a:cs typeface="Calibri" panose="020F0502020204030204" pitchFamily="34" charset="0"/>
                        </a:rPr>
                        <a:t> q)</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00"/>
                    </a:solidFill>
                  </a:tcPr>
                </a:tc>
                <a:extLst>
                  <a:ext uri="{0D108BD9-81ED-4DB2-BD59-A6C34878D82A}">
                    <a16:rowId xmlns:a16="http://schemas.microsoft.com/office/drawing/2014/main" val="2732667546"/>
                  </a:ext>
                </a:extLst>
              </a:tr>
              <a:tr h="421788">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723353784"/>
                  </a:ext>
                </a:extLst>
              </a:tr>
              <a:tr h="421788">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F</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F</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F</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F</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56967586"/>
                  </a:ext>
                </a:extLst>
              </a:tr>
              <a:tr h="421788">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F</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F</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F</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F</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77588804"/>
                  </a:ext>
                </a:extLst>
              </a:tr>
              <a:tr h="421788">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F</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F</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F</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F</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99520036"/>
                  </a:ext>
                </a:extLst>
              </a:tr>
            </a:tbl>
          </a:graphicData>
        </a:graphic>
      </p:graphicFrame>
    </p:spTree>
    <p:extLst>
      <p:ext uri="{BB962C8B-B14F-4D97-AF65-F5344CB8AC3E}">
        <p14:creationId xmlns:p14="http://schemas.microsoft.com/office/powerpoint/2010/main" val="132025941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wipe(left)">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wipe(left)">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txEl>
                                              <p:pRg st="4" end="4"/>
                                            </p:txEl>
                                          </p:spTgt>
                                        </p:tgtEl>
                                        <p:attrNameLst>
                                          <p:attrName>style.visibility</p:attrName>
                                        </p:attrNameLst>
                                      </p:cBhvr>
                                      <p:to>
                                        <p:strVal val="visible"/>
                                      </p:to>
                                    </p:set>
                                    <p:animEffect transition="in" filter="wipe(left)">
                                      <p:cBhvr>
                                        <p:cTn id="22" dur="500"/>
                                        <p:tgtEl>
                                          <p:spTgt spid="5">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left)">
                                      <p:cBhvr>
                                        <p:cTn id="27"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6">
                                            <p:txEl>
                                              <p:pRg st="0" end="0"/>
                                            </p:txEl>
                                          </p:spTgt>
                                        </p:tgtEl>
                                        <p:attrNameLst>
                                          <p:attrName>style.visibility</p:attrName>
                                        </p:attrNameLst>
                                      </p:cBhvr>
                                      <p:to>
                                        <p:strVal val="visible"/>
                                      </p:to>
                                    </p:set>
                                    <p:animEffect transition="in" filter="wipe(left)">
                                      <p:cBhvr>
                                        <p:cTn id="32"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11EAED7-C8F9-45D8-A96E-859AC6FA8DAD}"/>
              </a:ext>
            </a:extLst>
          </p:cNvPr>
          <p:cNvSpPr txBox="1"/>
          <p:nvPr/>
        </p:nvSpPr>
        <p:spPr>
          <a:xfrm>
            <a:off x="4665049" y="398210"/>
            <a:ext cx="2337499" cy="543675"/>
          </a:xfrm>
          <a:prstGeom prst="rect">
            <a:avLst/>
          </a:prstGeom>
          <a:noFill/>
        </p:spPr>
        <p:txBody>
          <a:bodyPr wrap="none" rtlCol="0">
            <a:spAutoFit/>
          </a:bodyPr>
          <a:lstStyle/>
          <a:p>
            <a:r>
              <a:rPr lang="en-US" altLang="en-US" sz="2933" dirty="0">
                <a:solidFill>
                  <a:schemeClr val="tx1">
                    <a:lumMod val="95000"/>
                    <a:lumOff val="5000"/>
                  </a:schemeClr>
                </a:solidFill>
                <a:latin typeface="Century Gothic" panose="020B0502020202020204" pitchFamily="34" charset="0"/>
                <a:cs typeface="Arial" pitchFamily="34" charset="0"/>
              </a:rPr>
              <a:t>Example…..</a:t>
            </a:r>
          </a:p>
        </p:txBody>
      </p:sp>
      <p:sp>
        <p:nvSpPr>
          <p:cNvPr id="5" name="TextBox 4">
            <a:extLst>
              <a:ext uri="{FF2B5EF4-FFF2-40B4-BE49-F238E27FC236}">
                <a16:creationId xmlns:a16="http://schemas.microsoft.com/office/drawing/2014/main" id="{01B16CEC-5382-4936-91C2-86CA7AF3650A}"/>
              </a:ext>
            </a:extLst>
          </p:cNvPr>
          <p:cNvSpPr txBox="1"/>
          <p:nvPr/>
        </p:nvSpPr>
        <p:spPr>
          <a:xfrm>
            <a:off x="723363" y="1611722"/>
            <a:ext cx="10655837" cy="3477875"/>
          </a:xfrm>
          <a:prstGeom prst="rect">
            <a:avLst/>
          </a:prstGeom>
          <a:noFill/>
        </p:spPr>
        <p:txBody>
          <a:bodyPr wrap="square">
            <a:spAutoFit/>
          </a:bodyPr>
          <a:lstStyle/>
          <a:p>
            <a:pPr marL="380990" indent="-380990" algn="just">
              <a:buFont typeface="Arial" panose="020B0604020202020204" pitchFamily="34" charset="0"/>
              <a:buChar char="•"/>
            </a:pPr>
            <a:r>
              <a:rPr lang="en-US" altLang="en-US" sz="2000" b="1" dirty="0">
                <a:latin typeface="Century Gothic" panose="020B0502020202020204" pitchFamily="34" charset="0"/>
                <a:cs typeface="Times New Roman" panose="02020603050405020304" pitchFamily="18" charset="0"/>
              </a:rPr>
              <a:t>By algebra of propositions</a:t>
            </a:r>
          </a:p>
          <a:p>
            <a:pPr marL="380990" indent="-380990" algn="just">
              <a:buFont typeface="Arial" panose="020B0604020202020204" pitchFamily="34" charset="0"/>
              <a:buChar char="•"/>
            </a:pPr>
            <a:endParaRPr lang="en-US" altLang="en-US" sz="2000" b="1" dirty="0">
              <a:latin typeface="Century Gothic" panose="020B0502020202020204" pitchFamily="34" charset="0"/>
              <a:cs typeface="Times New Roman" panose="02020603050405020304" pitchFamily="18" charset="0"/>
            </a:endParaRPr>
          </a:p>
          <a:p>
            <a:pPr algn="just"/>
            <a:r>
              <a:rPr lang="en-US" altLang="en-US" sz="2000" b="1" dirty="0" err="1">
                <a:latin typeface="Century Gothic" panose="020B0502020202020204" pitchFamily="34" charset="0"/>
                <a:cs typeface="Times New Roman" panose="02020603050405020304" pitchFamily="18" charset="0"/>
              </a:rPr>
              <a:t>p↔q</a:t>
            </a:r>
            <a:r>
              <a:rPr lang="en-US" altLang="en-US" sz="2000" b="1" dirty="0">
                <a:latin typeface="Century Gothic" panose="020B0502020202020204" pitchFamily="34" charset="0"/>
                <a:cs typeface="Times New Roman" panose="02020603050405020304" pitchFamily="18" charset="0"/>
              </a:rPr>
              <a:t>     </a:t>
            </a:r>
            <a:r>
              <a:rPr lang="en-US" altLang="en-US" sz="2000" dirty="0">
                <a:latin typeface="Century Gothic" panose="020B0502020202020204" pitchFamily="34" charset="0"/>
                <a:cs typeface="Times New Roman" panose="02020603050405020304" pitchFamily="18" charset="0"/>
              </a:rPr>
              <a:t>≡   (p → q) ⋀ ( q → p)</a:t>
            </a:r>
          </a:p>
          <a:p>
            <a:pPr algn="just"/>
            <a:r>
              <a:rPr lang="en-US" altLang="en-US" sz="2000" dirty="0">
                <a:latin typeface="Century Gothic" panose="020B0502020202020204" pitchFamily="34" charset="0"/>
                <a:cs typeface="Times New Roman" panose="02020603050405020304" pitchFamily="18" charset="0"/>
              </a:rPr>
              <a:t>              ≡   (~p ⋁ q) ⋀ (~q ⋁ p)</a:t>
            </a:r>
          </a:p>
          <a:p>
            <a:pPr algn="just"/>
            <a:r>
              <a:rPr lang="en-US" altLang="en-US" sz="2000" dirty="0">
                <a:latin typeface="Century Gothic" panose="020B0502020202020204" pitchFamily="34" charset="0"/>
                <a:cs typeface="Times New Roman" panose="02020603050405020304" pitchFamily="18" charset="0"/>
              </a:rPr>
              <a:t>              ≡   [(~p ⋁ q) ⋀~q] ⋁[(~p ⋁ q)⋀ p] Distributive law </a:t>
            </a:r>
          </a:p>
          <a:p>
            <a:pPr algn="just"/>
            <a:r>
              <a:rPr lang="en-US" altLang="en-US" sz="2000" dirty="0">
                <a:latin typeface="Century Gothic" panose="020B0502020202020204" pitchFamily="34" charset="0"/>
                <a:cs typeface="Times New Roman" panose="02020603050405020304" pitchFamily="18" charset="0"/>
              </a:rPr>
              <a:t>              ≡  [~q ⋀ (~p ⋁ q)] ⋁ [p ⋀(~p ⋁ q)]  comm. law</a:t>
            </a:r>
          </a:p>
          <a:p>
            <a:pPr algn="just"/>
            <a:r>
              <a:rPr lang="en-US" altLang="en-US" sz="2000" dirty="0">
                <a:latin typeface="Century Gothic" panose="020B0502020202020204" pitchFamily="34" charset="0"/>
                <a:cs typeface="Times New Roman" panose="02020603050405020304" pitchFamily="18" charset="0"/>
              </a:rPr>
              <a:t>              ≡  [(~q ⋀ q) ⋁ (~q ⋀ ~p)]⋁[(p ⋀q) ˅ (p ⋀ ~p)] dist.</a:t>
            </a:r>
          </a:p>
          <a:p>
            <a:pPr algn="just"/>
            <a:r>
              <a:rPr lang="en-US" altLang="en-US" sz="2000" dirty="0">
                <a:latin typeface="Century Gothic" panose="020B0502020202020204" pitchFamily="34" charset="0"/>
                <a:cs typeface="Times New Roman" panose="02020603050405020304" pitchFamily="18" charset="0"/>
              </a:rPr>
              <a:t>              ≡ [F ⋁ (~q ⋀ ~p)] ⋁ [(p ⋀ q) ⋁ F]  comp. law</a:t>
            </a:r>
          </a:p>
          <a:p>
            <a:pPr algn="just"/>
            <a:r>
              <a:rPr lang="en-US" altLang="en-US" sz="2000" dirty="0">
                <a:latin typeface="Century Gothic" panose="020B0502020202020204" pitchFamily="34" charset="0"/>
                <a:cs typeface="Times New Roman" panose="02020603050405020304" pitchFamily="18" charset="0"/>
              </a:rPr>
              <a:t>              ≡  [(~q ⋀ ~p) ⋁ (p ⋀ q)]  Identity law</a:t>
            </a:r>
          </a:p>
          <a:p>
            <a:pPr algn="just"/>
            <a:r>
              <a:rPr lang="en-US" altLang="en-US" sz="2000" dirty="0">
                <a:latin typeface="Century Gothic" panose="020B0502020202020204" pitchFamily="34" charset="0"/>
                <a:cs typeface="Times New Roman" panose="02020603050405020304" pitchFamily="18" charset="0"/>
              </a:rPr>
              <a:t>              ≡  [~(p ⋁ q)] ⋁ (p ⋀ q) </a:t>
            </a:r>
            <a:r>
              <a:rPr lang="en-US" altLang="en-US" sz="2000" dirty="0" err="1">
                <a:latin typeface="Century Gothic" panose="020B0502020202020204" pitchFamily="34" charset="0"/>
                <a:cs typeface="Times New Roman" panose="02020603050405020304" pitchFamily="18" charset="0"/>
              </a:rPr>
              <a:t>DeMorgan’s</a:t>
            </a:r>
            <a:r>
              <a:rPr lang="en-US" altLang="en-US" sz="2000" dirty="0">
                <a:latin typeface="Century Gothic" panose="020B0502020202020204" pitchFamily="34" charset="0"/>
                <a:cs typeface="Times New Roman" panose="02020603050405020304" pitchFamily="18" charset="0"/>
              </a:rPr>
              <a:t> law</a:t>
            </a:r>
          </a:p>
          <a:p>
            <a:pPr algn="just"/>
            <a:r>
              <a:rPr lang="en-US" altLang="en-US" sz="2000" dirty="0">
                <a:latin typeface="Century Gothic" panose="020B0502020202020204" pitchFamily="34" charset="0"/>
                <a:cs typeface="Times New Roman" panose="02020603050405020304" pitchFamily="18" charset="0"/>
              </a:rPr>
              <a:t>              ≡ (p ⋁ q) →  (p ⋀q)</a:t>
            </a:r>
          </a:p>
        </p:txBody>
      </p:sp>
    </p:spTree>
    <p:extLst>
      <p:ext uri="{BB962C8B-B14F-4D97-AF65-F5344CB8AC3E}">
        <p14:creationId xmlns:p14="http://schemas.microsoft.com/office/powerpoint/2010/main" val="16488333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wipe(left)">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Effect transition="in" filter="wipe(left)">
                                      <p:cBhvr>
                                        <p:cTn id="17" dur="500"/>
                                        <p:tgtEl>
                                          <p:spTgt spid="5">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txEl>
                                              <p:pRg st="4" end="4"/>
                                            </p:txEl>
                                          </p:spTgt>
                                        </p:tgtEl>
                                        <p:attrNameLst>
                                          <p:attrName>style.visibility</p:attrName>
                                        </p:attrNameLst>
                                      </p:cBhvr>
                                      <p:to>
                                        <p:strVal val="visible"/>
                                      </p:to>
                                    </p:set>
                                    <p:animEffect transition="in" filter="wipe(left)">
                                      <p:cBhvr>
                                        <p:cTn id="22" dur="500"/>
                                        <p:tgtEl>
                                          <p:spTgt spid="5">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animEffect transition="in" filter="wipe(left)">
                                      <p:cBhvr>
                                        <p:cTn id="27" dur="500"/>
                                        <p:tgtEl>
                                          <p:spTgt spid="5">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
                                            <p:txEl>
                                              <p:pRg st="6" end="6"/>
                                            </p:txEl>
                                          </p:spTgt>
                                        </p:tgtEl>
                                        <p:attrNameLst>
                                          <p:attrName>style.visibility</p:attrName>
                                        </p:attrNameLst>
                                      </p:cBhvr>
                                      <p:to>
                                        <p:strVal val="visible"/>
                                      </p:to>
                                    </p:set>
                                    <p:animEffect transition="in" filter="wipe(left)">
                                      <p:cBhvr>
                                        <p:cTn id="32" dur="500"/>
                                        <p:tgtEl>
                                          <p:spTgt spid="5">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5">
                                            <p:txEl>
                                              <p:pRg st="7" end="7"/>
                                            </p:txEl>
                                          </p:spTgt>
                                        </p:tgtEl>
                                        <p:attrNameLst>
                                          <p:attrName>style.visibility</p:attrName>
                                        </p:attrNameLst>
                                      </p:cBhvr>
                                      <p:to>
                                        <p:strVal val="visible"/>
                                      </p:to>
                                    </p:set>
                                    <p:animEffect transition="in" filter="wipe(left)">
                                      <p:cBhvr>
                                        <p:cTn id="37" dur="500"/>
                                        <p:tgtEl>
                                          <p:spTgt spid="5">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5">
                                            <p:txEl>
                                              <p:pRg st="8" end="8"/>
                                            </p:txEl>
                                          </p:spTgt>
                                        </p:tgtEl>
                                        <p:attrNameLst>
                                          <p:attrName>style.visibility</p:attrName>
                                        </p:attrNameLst>
                                      </p:cBhvr>
                                      <p:to>
                                        <p:strVal val="visible"/>
                                      </p:to>
                                    </p:set>
                                    <p:animEffect transition="in" filter="wipe(left)">
                                      <p:cBhvr>
                                        <p:cTn id="42" dur="500"/>
                                        <p:tgtEl>
                                          <p:spTgt spid="5">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5">
                                            <p:txEl>
                                              <p:pRg st="9" end="9"/>
                                            </p:txEl>
                                          </p:spTgt>
                                        </p:tgtEl>
                                        <p:attrNameLst>
                                          <p:attrName>style.visibility</p:attrName>
                                        </p:attrNameLst>
                                      </p:cBhvr>
                                      <p:to>
                                        <p:strVal val="visible"/>
                                      </p:to>
                                    </p:set>
                                    <p:animEffect transition="in" filter="wipe(left)">
                                      <p:cBhvr>
                                        <p:cTn id="47" dur="500"/>
                                        <p:tgtEl>
                                          <p:spTgt spid="5">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5">
                                            <p:txEl>
                                              <p:pRg st="10" end="10"/>
                                            </p:txEl>
                                          </p:spTgt>
                                        </p:tgtEl>
                                        <p:attrNameLst>
                                          <p:attrName>style.visibility</p:attrName>
                                        </p:attrNameLst>
                                      </p:cBhvr>
                                      <p:to>
                                        <p:strVal val="visible"/>
                                      </p:to>
                                    </p:set>
                                    <p:animEffect transition="in" filter="wipe(left)">
                                      <p:cBhvr>
                                        <p:cTn id="52" dur="500"/>
                                        <p:tgtEl>
                                          <p:spTgt spid="5">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2ED1AF7-2E15-4F91-A46B-3C77A3032F4C}"/>
              </a:ext>
            </a:extLst>
          </p:cNvPr>
          <p:cNvSpPr txBox="1"/>
          <p:nvPr/>
        </p:nvSpPr>
        <p:spPr>
          <a:xfrm>
            <a:off x="5020156" y="318311"/>
            <a:ext cx="1810111" cy="543675"/>
          </a:xfrm>
          <a:prstGeom prst="rect">
            <a:avLst/>
          </a:prstGeom>
          <a:noFill/>
        </p:spPr>
        <p:txBody>
          <a:bodyPr wrap="none" rtlCol="0">
            <a:spAutoFit/>
          </a:bodyPr>
          <a:lstStyle/>
          <a:p>
            <a:r>
              <a:rPr lang="en-US" sz="2933" dirty="0">
                <a:solidFill>
                  <a:schemeClr val="tx1">
                    <a:lumMod val="95000"/>
                    <a:lumOff val="5000"/>
                  </a:schemeClr>
                </a:solidFill>
                <a:latin typeface="Century Gothic" panose="020B0502020202020204" pitchFamily="34" charset="0"/>
                <a:cs typeface="Arial" pitchFamily="34" charset="0"/>
              </a:rPr>
              <a:t>MCQ - 1 </a:t>
            </a:r>
          </a:p>
        </p:txBody>
      </p:sp>
      <p:sp>
        <p:nvSpPr>
          <p:cNvPr id="2" name="TextBox 2">
            <a:extLst>
              <a:ext uri="{FF2B5EF4-FFF2-40B4-BE49-F238E27FC236}">
                <a16:creationId xmlns:a16="http://schemas.microsoft.com/office/drawing/2014/main" id="{7FC0A8A0-F297-4146-9D7D-E2940EEC9D83}"/>
              </a:ext>
            </a:extLst>
          </p:cNvPr>
          <p:cNvSpPr txBox="1"/>
          <p:nvPr/>
        </p:nvSpPr>
        <p:spPr>
          <a:xfrm>
            <a:off x="726253" y="1609437"/>
            <a:ext cx="10652948" cy="452431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US" sz="2400" b="1" dirty="0">
                <a:latin typeface="Century Gothic" panose="020B0502020202020204" pitchFamily="34" charset="0"/>
                <a:cs typeface="Arial" panose="020B0604020202020204" pitchFamily="34" charset="0"/>
              </a:rPr>
              <a:t>Let p and q be two statements, such that p: Two triangles are congruent and q: two triangles are similar. Then p → q is the statement:</a:t>
            </a:r>
          </a:p>
          <a:p>
            <a:pPr algn="just"/>
            <a:endParaRPr lang="en-US" sz="2400" b="1" dirty="0">
              <a:latin typeface="Century Gothic" panose="020B0502020202020204" pitchFamily="34" charset="0"/>
              <a:cs typeface="Arial" panose="020B0604020202020204" pitchFamily="34" charset="0"/>
            </a:endParaRPr>
          </a:p>
          <a:p>
            <a:pPr marL="533387" indent="-533387" algn="just">
              <a:buFont typeface="+mj-lt"/>
              <a:buAutoNum type="romanUcPeriod"/>
            </a:pPr>
            <a:r>
              <a:rPr lang="en-US" sz="2400" dirty="0">
                <a:latin typeface="Century Gothic" panose="020B0502020202020204" pitchFamily="34" charset="0"/>
                <a:cs typeface="Arial" panose="020B0604020202020204" pitchFamily="34" charset="0"/>
              </a:rPr>
              <a:t>Two similar </a:t>
            </a:r>
            <a:r>
              <a:rPr lang="en-US" sz="2400" dirty="0" err="1">
                <a:latin typeface="Century Gothic" panose="020B0502020202020204" pitchFamily="34" charset="0"/>
                <a:cs typeface="Arial" panose="020B0604020202020204" pitchFamily="34" charset="0"/>
              </a:rPr>
              <a:t>trianges</a:t>
            </a:r>
            <a:r>
              <a:rPr lang="en-US" sz="2400" dirty="0">
                <a:latin typeface="Century Gothic" panose="020B0502020202020204" pitchFamily="34" charset="0"/>
                <a:cs typeface="Arial" panose="020B0604020202020204" pitchFamily="34" charset="0"/>
              </a:rPr>
              <a:t> are congruent.</a:t>
            </a:r>
          </a:p>
          <a:p>
            <a:pPr marL="533387" indent="-533387" algn="just">
              <a:buFont typeface="+mj-lt"/>
              <a:buAutoNum type="romanUcPeriod"/>
            </a:pPr>
            <a:endParaRPr lang="en-US" sz="2400" dirty="0">
              <a:latin typeface="Century Gothic" panose="020B0502020202020204" pitchFamily="34" charset="0"/>
              <a:cs typeface="Arial" panose="020B0604020202020204" pitchFamily="34" charset="0"/>
            </a:endParaRPr>
          </a:p>
          <a:p>
            <a:pPr marL="533387" indent="-533387" algn="just">
              <a:buFont typeface="+mj-lt"/>
              <a:buAutoNum type="romanUcPeriod"/>
            </a:pPr>
            <a:r>
              <a:rPr lang="en-US" sz="2400" dirty="0">
                <a:latin typeface="Century Gothic" panose="020B0502020202020204" pitchFamily="34" charset="0"/>
                <a:cs typeface="Arial" panose="020B0604020202020204" pitchFamily="34" charset="0"/>
              </a:rPr>
              <a:t>Two similar </a:t>
            </a:r>
            <a:r>
              <a:rPr lang="en-US" sz="2400" dirty="0" err="1">
                <a:latin typeface="Century Gothic" panose="020B0502020202020204" pitchFamily="34" charset="0"/>
                <a:cs typeface="Arial" panose="020B0604020202020204" pitchFamily="34" charset="0"/>
              </a:rPr>
              <a:t>trianges</a:t>
            </a:r>
            <a:r>
              <a:rPr lang="en-US" sz="2400" dirty="0">
                <a:latin typeface="Century Gothic" panose="020B0502020202020204" pitchFamily="34" charset="0"/>
                <a:cs typeface="Arial" panose="020B0604020202020204" pitchFamily="34" charset="0"/>
              </a:rPr>
              <a:t> are not congruent.</a:t>
            </a:r>
          </a:p>
          <a:p>
            <a:pPr marL="533387" indent="-533387" algn="just">
              <a:buFont typeface="+mj-lt"/>
              <a:buAutoNum type="romanUcPeriod"/>
            </a:pPr>
            <a:endParaRPr lang="en-US" sz="2400" dirty="0">
              <a:latin typeface="Century Gothic" panose="020B0502020202020204" pitchFamily="34" charset="0"/>
              <a:cs typeface="Arial" panose="020B0604020202020204" pitchFamily="34" charset="0"/>
            </a:endParaRPr>
          </a:p>
          <a:p>
            <a:pPr marL="533387" indent="-533387" algn="just">
              <a:buFont typeface="+mj-lt"/>
              <a:buAutoNum type="romanUcPeriod"/>
            </a:pPr>
            <a:r>
              <a:rPr lang="en-US" sz="2400" dirty="0">
                <a:latin typeface="Century Gothic" panose="020B0502020202020204" pitchFamily="34" charset="0"/>
                <a:cs typeface="Arial" panose="020B0604020202020204" pitchFamily="34" charset="0"/>
              </a:rPr>
              <a:t>Two congruent </a:t>
            </a:r>
            <a:r>
              <a:rPr lang="en-US" sz="2400" dirty="0" err="1">
                <a:latin typeface="Century Gothic" panose="020B0502020202020204" pitchFamily="34" charset="0"/>
                <a:cs typeface="Arial" panose="020B0604020202020204" pitchFamily="34" charset="0"/>
              </a:rPr>
              <a:t>trianges</a:t>
            </a:r>
            <a:r>
              <a:rPr lang="en-US" sz="2400" dirty="0">
                <a:latin typeface="Century Gothic" panose="020B0502020202020204" pitchFamily="34" charset="0"/>
                <a:cs typeface="Arial" panose="020B0604020202020204" pitchFamily="34" charset="0"/>
              </a:rPr>
              <a:t> are similar.</a:t>
            </a:r>
          </a:p>
          <a:p>
            <a:pPr marL="533387" indent="-533387" algn="just">
              <a:buFont typeface="+mj-lt"/>
              <a:buAutoNum type="romanUcPeriod"/>
            </a:pPr>
            <a:endParaRPr lang="en-US" sz="2400" dirty="0">
              <a:latin typeface="Century Gothic" panose="020B0502020202020204" pitchFamily="34" charset="0"/>
              <a:cs typeface="Arial" panose="020B0604020202020204" pitchFamily="34" charset="0"/>
            </a:endParaRPr>
          </a:p>
          <a:p>
            <a:pPr marL="533387" indent="-533387" algn="just">
              <a:buFont typeface="+mj-lt"/>
              <a:buAutoNum type="romanUcPeriod"/>
            </a:pPr>
            <a:r>
              <a:rPr lang="en-US" sz="2400" dirty="0">
                <a:latin typeface="Century Gothic" panose="020B0502020202020204" pitchFamily="34" charset="0"/>
                <a:cs typeface="Arial" panose="020B0604020202020204" pitchFamily="34" charset="0"/>
              </a:rPr>
              <a:t>If two triangles are congruent then they are similar.</a:t>
            </a:r>
          </a:p>
          <a:p>
            <a:pPr marL="533387" indent="-533387" algn="just">
              <a:buFont typeface="+mj-lt"/>
              <a:buAutoNum type="romanUcPeriod"/>
            </a:pPr>
            <a:endParaRPr lang="en-US" sz="2400" dirty="0">
              <a:latin typeface="Century Gothic" panose="020B0502020202020204" pitchFamily="34" charset="0"/>
              <a:cs typeface="Arial" panose="020B0604020202020204" pitchFamily="34" charset="0"/>
            </a:endParaRPr>
          </a:p>
          <a:p>
            <a:pPr algn="just"/>
            <a:r>
              <a:rPr lang="en-US" sz="2400" dirty="0">
                <a:latin typeface="Century Gothic" panose="020B0502020202020204" pitchFamily="34" charset="0"/>
                <a:cs typeface="Arial" panose="020B0604020202020204" pitchFamily="34" charset="0"/>
              </a:rPr>
              <a:t>Answer: IV.</a:t>
            </a:r>
          </a:p>
        </p:txBody>
      </p:sp>
    </p:spTree>
    <p:extLst>
      <p:ext uri="{BB962C8B-B14F-4D97-AF65-F5344CB8AC3E}">
        <p14:creationId xmlns:p14="http://schemas.microsoft.com/office/powerpoint/2010/main" val="264814327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wipe(left)">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animEffect transition="in" filter="wipe(left)">
                                      <p:cBhvr>
                                        <p:cTn id="17" dur="500"/>
                                        <p:tgtEl>
                                          <p:spTgt spid="2">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
                                            <p:txEl>
                                              <p:pRg st="6" end="6"/>
                                            </p:txEl>
                                          </p:spTgt>
                                        </p:tgtEl>
                                        <p:attrNameLst>
                                          <p:attrName>style.visibility</p:attrName>
                                        </p:attrNameLst>
                                      </p:cBhvr>
                                      <p:to>
                                        <p:strVal val="visible"/>
                                      </p:to>
                                    </p:set>
                                    <p:animEffect transition="in" filter="wipe(left)">
                                      <p:cBhvr>
                                        <p:cTn id="22" dur="500"/>
                                        <p:tgtEl>
                                          <p:spTgt spid="2">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
                                            <p:txEl>
                                              <p:pRg st="8" end="8"/>
                                            </p:txEl>
                                          </p:spTgt>
                                        </p:tgtEl>
                                        <p:attrNameLst>
                                          <p:attrName>style.visibility</p:attrName>
                                        </p:attrNameLst>
                                      </p:cBhvr>
                                      <p:to>
                                        <p:strVal val="visible"/>
                                      </p:to>
                                    </p:set>
                                    <p:animEffect transition="in" filter="wipe(left)">
                                      <p:cBhvr>
                                        <p:cTn id="27" dur="500"/>
                                        <p:tgtEl>
                                          <p:spTgt spid="2">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
                                            <p:txEl>
                                              <p:pRg st="10" end="10"/>
                                            </p:txEl>
                                          </p:spTgt>
                                        </p:tgtEl>
                                        <p:attrNameLst>
                                          <p:attrName>style.visibility</p:attrName>
                                        </p:attrNameLst>
                                      </p:cBhvr>
                                      <p:to>
                                        <p:strVal val="visible"/>
                                      </p:to>
                                    </p:set>
                                    <p:animEffect transition="in" filter="wipe(left)">
                                      <p:cBhvr>
                                        <p:cTn id="32" dur="500"/>
                                        <p:tgtEl>
                                          <p:spTgt spid="2">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2ED1AF7-2E15-4F91-A46B-3C77A3032F4C}"/>
              </a:ext>
            </a:extLst>
          </p:cNvPr>
          <p:cNvSpPr txBox="1"/>
          <p:nvPr/>
        </p:nvSpPr>
        <p:spPr>
          <a:xfrm>
            <a:off x="4736071" y="354916"/>
            <a:ext cx="1810111" cy="543675"/>
          </a:xfrm>
          <a:prstGeom prst="rect">
            <a:avLst/>
          </a:prstGeom>
          <a:noFill/>
        </p:spPr>
        <p:txBody>
          <a:bodyPr wrap="none" rtlCol="0">
            <a:spAutoFit/>
          </a:bodyPr>
          <a:lstStyle/>
          <a:p>
            <a:r>
              <a:rPr lang="en-US" sz="2933" dirty="0">
                <a:solidFill>
                  <a:schemeClr val="tx1">
                    <a:lumMod val="95000"/>
                    <a:lumOff val="5000"/>
                  </a:schemeClr>
                </a:solidFill>
                <a:latin typeface="Century Gothic" panose="020B0502020202020204" pitchFamily="34" charset="0"/>
                <a:cs typeface="Arial" pitchFamily="34" charset="0"/>
              </a:rPr>
              <a:t>MCQ - 2 </a:t>
            </a:r>
          </a:p>
        </p:txBody>
      </p:sp>
      <p:sp>
        <p:nvSpPr>
          <p:cNvPr id="2" name="TextBox 2">
            <a:extLst>
              <a:ext uri="{FF2B5EF4-FFF2-40B4-BE49-F238E27FC236}">
                <a16:creationId xmlns:a16="http://schemas.microsoft.com/office/drawing/2014/main" id="{7FC0A8A0-F297-4146-9D7D-E2940EEC9D83}"/>
              </a:ext>
            </a:extLst>
          </p:cNvPr>
          <p:cNvSpPr txBox="1"/>
          <p:nvPr/>
        </p:nvSpPr>
        <p:spPr>
          <a:xfrm>
            <a:off x="726253" y="1609437"/>
            <a:ext cx="10652948" cy="489364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US" sz="2400" b="1" dirty="0">
                <a:latin typeface="Century Gothic" panose="020B0502020202020204" pitchFamily="34" charset="0"/>
                <a:cs typeface="Arial" panose="020B0604020202020204" pitchFamily="34" charset="0"/>
              </a:rPr>
              <a:t>Consider the following statements:</a:t>
            </a:r>
          </a:p>
          <a:p>
            <a:pPr algn="just"/>
            <a:r>
              <a:rPr lang="en-US" sz="2400" b="1" dirty="0">
                <a:latin typeface="Century Gothic" panose="020B0502020202020204" pitchFamily="34" charset="0"/>
                <a:cs typeface="Arial" panose="020B0604020202020204" pitchFamily="34" charset="0"/>
              </a:rPr>
              <a:t>P: </a:t>
            </a:r>
            <a:r>
              <a:rPr lang="en-US" sz="2400" dirty="0">
                <a:latin typeface="Century Gothic" panose="020B0502020202020204" pitchFamily="34" charset="0"/>
                <a:cs typeface="Arial" panose="020B0604020202020204" pitchFamily="34" charset="0"/>
              </a:rPr>
              <a:t>Food is good.</a:t>
            </a:r>
          </a:p>
          <a:p>
            <a:pPr algn="just"/>
            <a:r>
              <a:rPr lang="en-US" sz="2400" b="1" dirty="0">
                <a:latin typeface="Century Gothic" panose="020B0502020202020204" pitchFamily="34" charset="0"/>
                <a:cs typeface="Arial" panose="020B0604020202020204" pitchFamily="34" charset="0"/>
              </a:rPr>
              <a:t>Q: </a:t>
            </a:r>
            <a:r>
              <a:rPr lang="en-US" sz="2400" dirty="0">
                <a:latin typeface="Century Gothic" panose="020B0502020202020204" pitchFamily="34" charset="0"/>
                <a:cs typeface="Arial" panose="020B0604020202020204" pitchFamily="34" charset="0"/>
              </a:rPr>
              <a:t>Service is good.</a:t>
            </a:r>
          </a:p>
          <a:p>
            <a:pPr algn="just"/>
            <a:r>
              <a:rPr lang="en-US" sz="2400" b="1" dirty="0">
                <a:latin typeface="Century Gothic" panose="020B0502020202020204" pitchFamily="34" charset="0"/>
                <a:cs typeface="Arial" panose="020B0604020202020204" pitchFamily="34" charset="0"/>
              </a:rPr>
              <a:t>R: </a:t>
            </a:r>
            <a:r>
              <a:rPr lang="en-US" sz="2400" dirty="0">
                <a:latin typeface="Century Gothic" panose="020B0502020202020204" pitchFamily="34" charset="0"/>
                <a:cs typeface="Arial" panose="020B0604020202020204" pitchFamily="34" charset="0"/>
              </a:rPr>
              <a:t>Restaurant is 5-star</a:t>
            </a:r>
            <a:r>
              <a:rPr lang="en-US" sz="2400" b="1" dirty="0">
                <a:latin typeface="Century Gothic" panose="020B0502020202020204" pitchFamily="34" charset="0"/>
                <a:cs typeface="Arial" panose="020B0604020202020204" pitchFamily="34" charset="0"/>
              </a:rPr>
              <a:t>.</a:t>
            </a:r>
          </a:p>
          <a:p>
            <a:pPr algn="just"/>
            <a:r>
              <a:rPr lang="en-US" sz="2400" dirty="0">
                <a:latin typeface="Century Gothic" panose="020B0502020202020204" pitchFamily="34" charset="0"/>
                <a:cs typeface="Arial" panose="020B0604020202020204" pitchFamily="34" charset="0"/>
              </a:rPr>
              <a:t>Write the statements </a:t>
            </a:r>
            <a:r>
              <a:rPr lang="en-US" sz="2400" b="1" dirty="0">
                <a:latin typeface="Century Gothic" panose="020B0502020202020204" pitchFamily="34" charset="0"/>
                <a:cs typeface="Arial" panose="020B0604020202020204" pitchFamily="34" charset="0"/>
              </a:rPr>
              <a:t>“Service is not good even though the restaurant is 5 star” </a:t>
            </a:r>
            <a:r>
              <a:rPr lang="en-US" sz="2400" dirty="0">
                <a:latin typeface="Century Gothic" panose="020B0502020202020204" pitchFamily="34" charset="0"/>
                <a:cs typeface="Arial" panose="020B0604020202020204" pitchFamily="34" charset="0"/>
              </a:rPr>
              <a:t>in symbolic notations.</a:t>
            </a:r>
          </a:p>
          <a:p>
            <a:pPr algn="just"/>
            <a:endParaRPr lang="en-US" sz="2400" b="1" dirty="0">
              <a:latin typeface="Century Gothic" panose="020B0502020202020204" pitchFamily="34" charset="0"/>
              <a:cs typeface="Arial" panose="020B0604020202020204" pitchFamily="34" charset="0"/>
            </a:endParaRPr>
          </a:p>
          <a:p>
            <a:pPr marL="533387" indent="-533387" algn="just">
              <a:buAutoNum type="romanLcParenR"/>
            </a:pPr>
            <a:r>
              <a:rPr lang="pt-BR" sz="2400" dirty="0">
                <a:latin typeface="Century Gothic" panose="020B0502020202020204" pitchFamily="34" charset="0"/>
                <a:cs typeface="Arial" panose="020B0604020202020204" pitchFamily="34" charset="0"/>
              </a:rPr>
              <a:t>(Q' Λ R)</a:t>
            </a:r>
          </a:p>
          <a:p>
            <a:pPr marL="533387" indent="-533387" algn="just">
              <a:buAutoNum type="romanLcParenR"/>
            </a:pPr>
            <a:r>
              <a:rPr lang="pt-BR" sz="2400" dirty="0">
                <a:latin typeface="Century Gothic" panose="020B0502020202020204" pitchFamily="34" charset="0"/>
                <a:cs typeface="Arial" panose="020B0604020202020204" pitchFamily="34" charset="0"/>
              </a:rPr>
              <a:t>(Q' Λ R’)</a:t>
            </a:r>
          </a:p>
          <a:p>
            <a:pPr marL="533387" indent="-533387" algn="just">
              <a:buAutoNum type="romanLcParenR"/>
            </a:pPr>
            <a:r>
              <a:rPr lang="pt-BR" sz="2400">
                <a:latin typeface="Century Gothic" panose="020B0502020202020204" pitchFamily="34" charset="0"/>
                <a:cs typeface="Arial" panose="020B0604020202020204" pitchFamily="34" charset="0"/>
              </a:rPr>
              <a:t>(Q </a:t>
            </a:r>
            <a:r>
              <a:rPr lang="pt-BR" sz="2400" dirty="0">
                <a:latin typeface="Century Gothic" panose="020B0502020202020204" pitchFamily="34" charset="0"/>
                <a:cs typeface="Arial" panose="020B0604020202020204" pitchFamily="34" charset="0"/>
              </a:rPr>
              <a:t>Λ R)</a:t>
            </a:r>
          </a:p>
          <a:p>
            <a:pPr marL="533387" indent="-533387" algn="just">
              <a:buAutoNum type="romanLcParenR"/>
            </a:pPr>
            <a:r>
              <a:rPr lang="pt-BR" sz="2400" dirty="0">
                <a:latin typeface="Century Gothic" panose="020B0502020202020204" pitchFamily="34" charset="0"/>
                <a:cs typeface="Arial" panose="020B0604020202020204" pitchFamily="34" charset="0"/>
              </a:rPr>
              <a:t>(P Λ R)</a:t>
            </a:r>
          </a:p>
          <a:p>
            <a:pPr marL="533387" indent="-533387" algn="just">
              <a:buAutoNum type="romanLcParenR"/>
            </a:pPr>
            <a:endParaRPr lang="en-US" sz="2400" dirty="0">
              <a:latin typeface="Century Gothic" panose="020B0502020202020204" pitchFamily="34" charset="0"/>
              <a:cs typeface="Arial" panose="020B0604020202020204" pitchFamily="34" charset="0"/>
            </a:endParaRPr>
          </a:p>
          <a:p>
            <a:pPr algn="just"/>
            <a:r>
              <a:rPr lang="en-US" sz="2400" dirty="0">
                <a:latin typeface="Century Gothic" panose="020B0502020202020204" pitchFamily="34" charset="0"/>
                <a:cs typeface="Arial" panose="020B0604020202020204" pitchFamily="34" charset="0"/>
              </a:rPr>
              <a:t>Answer: </a:t>
            </a:r>
            <a:r>
              <a:rPr lang="en-US" sz="2400" dirty="0" err="1">
                <a:latin typeface="Century Gothic" panose="020B0502020202020204" pitchFamily="34" charset="0"/>
                <a:cs typeface="Arial" panose="020B0604020202020204" pitchFamily="34" charset="0"/>
              </a:rPr>
              <a:t>i</a:t>
            </a:r>
            <a:r>
              <a:rPr lang="en-US" sz="2400" dirty="0">
                <a:latin typeface="Century Gothic" panose="020B0502020202020204" pitchFamily="34" charset="0"/>
                <a:cs typeface="Arial" panose="020B0604020202020204" pitchFamily="34" charset="0"/>
              </a:rPr>
              <a:t>).</a:t>
            </a:r>
          </a:p>
        </p:txBody>
      </p:sp>
    </p:spTree>
    <p:extLst>
      <p:ext uri="{BB962C8B-B14F-4D97-AF65-F5344CB8AC3E}">
        <p14:creationId xmlns:p14="http://schemas.microsoft.com/office/powerpoint/2010/main" val="260274295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left)">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wipe(left)">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
                                            <p:txEl>
                                              <p:pRg st="6" end="6"/>
                                            </p:txEl>
                                          </p:spTgt>
                                        </p:tgtEl>
                                        <p:attrNameLst>
                                          <p:attrName>style.visibility</p:attrName>
                                        </p:attrNameLst>
                                      </p:cBhvr>
                                      <p:to>
                                        <p:strVal val="visible"/>
                                      </p:to>
                                    </p:set>
                                    <p:animEffect transition="in" filter="wipe(left)">
                                      <p:cBhvr>
                                        <p:cTn id="32" dur="500"/>
                                        <p:tgtEl>
                                          <p:spTgt spid="2">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
                                            <p:txEl>
                                              <p:pRg st="7" end="7"/>
                                            </p:txEl>
                                          </p:spTgt>
                                        </p:tgtEl>
                                        <p:attrNameLst>
                                          <p:attrName>style.visibility</p:attrName>
                                        </p:attrNameLst>
                                      </p:cBhvr>
                                      <p:to>
                                        <p:strVal val="visible"/>
                                      </p:to>
                                    </p:set>
                                    <p:animEffect transition="in" filter="wipe(left)">
                                      <p:cBhvr>
                                        <p:cTn id="37" dur="500"/>
                                        <p:tgtEl>
                                          <p:spTgt spid="2">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
                                            <p:txEl>
                                              <p:pRg st="8" end="8"/>
                                            </p:txEl>
                                          </p:spTgt>
                                        </p:tgtEl>
                                        <p:attrNameLst>
                                          <p:attrName>style.visibility</p:attrName>
                                        </p:attrNameLst>
                                      </p:cBhvr>
                                      <p:to>
                                        <p:strVal val="visible"/>
                                      </p:to>
                                    </p:set>
                                    <p:animEffect transition="in" filter="wipe(left)">
                                      <p:cBhvr>
                                        <p:cTn id="42" dur="500"/>
                                        <p:tgtEl>
                                          <p:spTgt spid="2">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
                                            <p:txEl>
                                              <p:pRg st="9" end="9"/>
                                            </p:txEl>
                                          </p:spTgt>
                                        </p:tgtEl>
                                        <p:attrNameLst>
                                          <p:attrName>style.visibility</p:attrName>
                                        </p:attrNameLst>
                                      </p:cBhvr>
                                      <p:to>
                                        <p:strVal val="visible"/>
                                      </p:to>
                                    </p:set>
                                    <p:animEffect transition="in" filter="wipe(left)">
                                      <p:cBhvr>
                                        <p:cTn id="47" dur="500"/>
                                        <p:tgtEl>
                                          <p:spTgt spid="2">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
                                            <p:txEl>
                                              <p:pRg st="11" end="11"/>
                                            </p:txEl>
                                          </p:spTgt>
                                        </p:tgtEl>
                                        <p:attrNameLst>
                                          <p:attrName>style.visibility</p:attrName>
                                        </p:attrNameLst>
                                      </p:cBhvr>
                                      <p:to>
                                        <p:strVal val="visible"/>
                                      </p:to>
                                    </p:set>
                                    <p:animEffect transition="in" filter="wipe(left)">
                                      <p:cBhvr>
                                        <p:cTn id="52" dur="500"/>
                                        <p:tgtEl>
                                          <p:spTgt spid="2">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extBox 5">
            <a:extLst>
              <a:ext uri="{FF2B5EF4-FFF2-40B4-BE49-F238E27FC236}">
                <a16:creationId xmlns:a16="http://schemas.microsoft.com/office/drawing/2014/main" id="{60F5CD0D-F9C4-4402-B812-C2CDA91DA312}"/>
              </a:ext>
            </a:extLst>
          </p:cNvPr>
          <p:cNvSpPr txBox="1">
            <a:spLocks noChangeArrowheads="1"/>
          </p:cNvSpPr>
          <p:nvPr/>
        </p:nvSpPr>
        <p:spPr bwMode="auto">
          <a:xfrm>
            <a:off x="1293180" y="114388"/>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dirty="0">
                <a:solidFill>
                  <a:srgbClr val="C00000"/>
                </a:solidFill>
                <a:latin typeface="Calibri" panose="020F0502020204030204" pitchFamily="34" charset="0"/>
              </a:rPr>
              <a:t>Converse, Contrapositive and Inverse</a:t>
            </a:r>
          </a:p>
        </p:txBody>
      </p:sp>
      <p:sp>
        <p:nvSpPr>
          <p:cNvPr id="66563" name="TextBox 6">
            <a:extLst>
              <a:ext uri="{FF2B5EF4-FFF2-40B4-BE49-F238E27FC236}">
                <a16:creationId xmlns:a16="http://schemas.microsoft.com/office/drawing/2014/main" id="{256E66D9-5273-498D-8355-930F1CC89E2C}"/>
              </a:ext>
            </a:extLst>
          </p:cNvPr>
          <p:cNvSpPr txBox="1">
            <a:spLocks noChangeArrowheads="1"/>
          </p:cNvSpPr>
          <p:nvPr/>
        </p:nvSpPr>
        <p:spPr bwMode="auto">
          <a:xfrm>
            <a:off x="2438400" y="1193801"/>
            <a:ext cx="8356600" cy="2585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N" altLang="en-US" dirty="0">
                <a:latin typeface="Calibri" panose="020F0502020204030204" pitchFamily="34" charset="0"/>
              </a:rPr>
              <a:t>There are some related implication that can be formed from p → q. </a:t>
            </a:r>
          </a:p>
          <a:p>
            <a:pPr eaLnBrk="1" hangingPunct="1"/>
            <a:endParaRPr lang="en-IN" altLang="en-US" dirty="0">
              <a:latin typeface="Calibri" panose="020F0502020204030204" pitchFamily="34" charset="0"/>
            </a:endParaRPr>
          </a:p>
          <a:p>
            <a:pPr eaLnBrk="1" hangingPunct="1"/>
            <a:r>
              <a:rPr lang="en-IN" altLang="en-US" dirty="0">
                <a:latin typeface="Calibri" panose="020F0502020204030204" pitchFamily="34" charset="0"/>
              </a:rPr>
              <a:t>If p → q   is an implication, then the converse of p → q  is the implication q → p. </a:t>
            </a:r>
          </a:p>
          <a:p>
            <a:pPr eaLnBrk="1" hangingPunct="1"/>
            <a:endParaRPr lang="en-IN" altLang="en-US" dirty="0">
              <a:latin typeface="Calibri" panose="020F0502020204030204" pitchFamily="34" charset="0"/>
            </a:endParaRPr>
          </a:p>
          <a:p>
            <a:pPr eaLnBrk="1" hangingPunct="1"/>
            <a:r>
              <a:rPr lang="en-IN" altLang="en-US" dirty="0">
                <a:latin typeface="Calibri" panose="020F0502020204030204" pitchFamily="34" charset="0"/>
              </a:rPr>
              <a:t>The contrapositive of p → q  is the implication ~q → ~p. </a:t>
            </a:r>
          </a:p>
          <a:p>
            <a:pPr eaLnBrk="1" hangingPunct="1"/>
            <a:endParaRPr lang="en-IN" altLang="en-US" dirty="0">
              <a:latin typeface="Calibri" panose="020F0502020204030204" pitchFamily="34" charset="0"/>
            </a:endParaRPr>
          </a:p>
          <a:p>
            <a:pPr eaLnBrk="1" hangingPunct="1"/>
            <a:r>
              <a:rPr lang="en-IN" altLang="en-US" dirty="0">
                <a:latin typeface="Calibri" panose="020F0502020204030204" pitchFamily="34" charset="0"/>
              </a:rPr>
              <a:t>The inverse of p → q   is the implication ~p → ~q.</a:t>
            </a:r>
          </a:p>
          <a:p>
            <a:pPr eaLnBrk="1" hangingPunct="1"/>
            <a:endParaRPr lang="en-IN" altLang="en-US" dirty="0">
              <a:latin typeface="Calibri" panose="020F0502020204030204" pitchFamily="34" charset="0"/>
            </a:endParaRPr>
          </a:p>
          <a:p>
            <a:pPr eaLnBrk="1" hangingPunct="1"/>
            <a:r>
              <a:rPr lang="en-IN" altLang="en-US" dirty="0">
                <a:latin typeface="Calibri" panose="020F0502020204030204" pitchFamily="34" charset="0"/>
              </a:rPr>
              <a:t>The truth table of the four propositions is as follows:</a:t>
            </a:r>
          </a:p>
        </p:txBody>
      </p:sp>
      <p:graphicFrame>
        <p:nvGraphicFramePr>
          <p:cNvPr id="4" name="Group 202">
            <a:extLst>
              <a:ext uri="{FF2B5EF4-FFF2-40B4-BE49-F238E27FC236}">
                <a16:creationId xmlns:a16="http://schemas.microsoft.com/office/drawing/2014/main" id="{DD02627B-9BE9-4184-A0E1-4B51BD4FDC79}"/>
              </a:ext>
            </a:extLst>
          </p:cNvPr>
          <p:cNvGraphicFramePr>
            <a:graphicFrameLocks noGrp="1"/>
          </p:cNvGraphicFramePr>
          <p:nvPr/>
        </p:nvGraphicFramePr>
        <p:xfrm>
          <a:off x="2540000" y="4028659"/>
          <a:ext cx="6781801" cy="2484120"/>
        </p:xfrm>
        <a:graphic>
          <a:graphicData uri="http://schemas.openxmlformats.org/drawingml/2006/table">
            <a:tbl>
              <a:tblPr/>
              <a:tblGrid>
                <a:gridCol w="854075">
                  <a:extLst>
                    <a:ext uri="{9D8B030D-6E8A-4147-A177-3AD203B41FA5}">
                      <a16:colId xmlns:a16="http://schemas.microsoft.com/office/drawing/2014/main" val="2616743266"/>
                    </a:ext>
                  </a:extLst>
                </a:gridCol>
                <a:gridCol w="854075">
                  <a:extLst>
                    <a:ext uri="{9D8B030D-6E8A-4147-A177-3AD203B41FA5}">
                      <a16:colId xmlns:a16="http://schemas.microsoft.com/office/drawing/2014/main" val="1507162454"/>
                    </a:ext>
                  </a:extLst>
                </a:gridCol>
                <a:gridCol w="1274763">
                  <a:extLst>
                    <a:ext uri="{9D8B030D-6E8A-4147-A177-3AD203B41FA5}">
                      <a16:colId xmlns:a16="http://schemas.microsoft.com/office/drawing/2014/main" val="4143045016"/>
                    </a:ext>
                  </a:extLst>
                </a:gridCol>
                <a:gridCol w="1176337">
                  <a:extLst>
                    <a:ext uri="{9D8B030D-6E8A-4147-A177-3AD203B41FA5}">
                      <a16:colId xmlns:a16="http://schemas.microsoft.com/office/drawing/2014/main" val="3858194705"/>
                    </a:ext>
                  </a:extLst>
                </a:gridCol>
                <a:gridCol w="1524000">
                  <a:extLst>
                    <a:ext uri="{9D8B030D-6E8A-4147-A177-3AD203B41FA5}">
                      <a16:colId xmlns:a16="http://schemas.microsoft.com/office/drawing/2014/main" val="836062271"/>
                    </a:ext>
                  </a:extLst>
                </a:gridCol>
                <a:gridCol w="1098551">
                  <a:extLst>
                    <a:ext uri="{9D8B030D-6E8A-4147-A177-3AD203B41FA5}">
                      <a16:colId xmlns:a16="http://schemas.microsoft.com/office/drawing/2014/main" val="1290831"/>
                    </a:ext>
                  </a:extLst>
                </a:gridCol>
              </a:tblGrid>
              <a:tr h="944880">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9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p</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9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q</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9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p → q  conditional </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9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q → p converse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9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~q → ~p contrapositive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9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~p → ~q inverse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86059688"/>
                  </a:ext>
                </a:extLst>
              </a:tr>
              <a:tr h="375920">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9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9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9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9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9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9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830845880"/>
                  </a:ext>
                </a:extLst>
              </a:tr>
              <a:tr h="375920">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9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9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9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9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9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9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75246420"/>
                  </a:ext>
                </a:extLst>
              </a:tr>
              <a:tr h="375920">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9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9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9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9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9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9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283882600"/>
                  </a:ext>
                </a:extLst>
              </a:tr>
              <a:tr h="375920">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9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9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9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9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9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9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993235064"/>
                  </a:ext>
                </a:extLst>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TextBox 6">
            <a:extLst>
              <a:ext uri="{FF2B5EF4-FFF2-40B4-BE49-F238E27FC236}">
                <a16:creationId xmlns:a16="http://schemas.microsoft.com/office/drawing/2014/main" id="{38B8DB0C-DC30-4E32-89E3-478D7C1FB5C5}"/>
              </a:ext>
            </a:extLst>
          </p:cNvPr>
          <p:cNvSpPr txBox="1">
            <a:spLocks noChangeArrowheads="1"/>
          </p:cNvSpPr>
          <p:nvPr/>
        </p:nvSpPr>
        <p:spPr bwMode="auto">
          <a:xfrm>
            <a:off x="2590800" y="1600200"/>
            <a:ext cx="7010400" cy="4247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N" altLang="en-US" dirty="0">
                <a:latin typeface="Calibri" panose="020F0502020204030204" pitchFamily="34" charset="0"/>
              </a:rPr>
              <a:t>Consider the statement</a:t>
            </a:r>
          </a:p>
          <a:p>
            <a:pPr eaLnBrk="1" hangingPunct="1"/>
            <a:r>
              <a:rPr lang="en-IN" altLang="en-US" dirty="0">
                <a:latin typeface="Calibri" panose="020F0502020204030204" pitchFamily="34" charset="0"/>
              </a:rPr>
              <a:t>p: It rains.</a:t>
            </a:r>
          </a:p>
          <a:p>
            <a:pPr eaLnBrk="1" hangingPunct="1"/>
            <a:r>
              <a:rPr lang="en-IN" altLang="en-US" dirty="0">
                <a:latin typeface="Calibri" panose="020F0502020204030204" pitchFamily="34" charset="0"/>
              </a:rPr>
              <a:t>q: The crops will grow.</a:t>
            </a:r>
          </a:p>
          <a:p>
            <a:pPr eaLnBrk="1" hangingPunct="1"/>
            <a:endParaRPr lang="en-IN" altLang="en-US" dirty="0">
              <a:latin typeface="Calibri" panose="020F0502020204030204" pitchFamily="34" charset="0"/>
            </a:endParaRPr>
          </a:p>
          <a:p>
            <a:pPr eaLnBrk="1" hangingPunct="1"/>
            <a:r>
              <a:rPr lang="en-IN" altLang="en-US" dirty="0">
                <a:latin typeface="Calibri" panose="020F0502020204030204" pitchFamily="34" charset="0"/>
              </a:rPr>
              <a:t>The implication p → q states that,</a:t>
            </a:r>
          </a:p>
          <a:p>
            <a:pPr eaLnBrk="1" hangingPunct="1"/>
            <a:r>
              <a:rPr lang="en-IN" altLang="en-US" dirty="0">
                <a:latin typeface="Calibri" panose="020F0502020204030204" pitchFamily="34" charset="0"/>
              </a:rPr>
              <a:t>r: If it rains then the crops will grow.</a:t>
            </a:r>
          </a:p>
          <a:p>
            <a:pPr eaLnBrk="1" hangingPunct="1"/>
            <a:endParaRPr lang="en-IN" altLang="en-US" dirty="0">
              <a:latin typeface="Calibri" panose="020F0502020204030204" pitchFamily="34" charset="0"/>
            </a:endParaRPr>
          </a:p>
          <a:p>
            <a:pPr eaLnBrk="1" hangingPunct="1"/>
            <a:r>
              <a:rPr lang="en-IN" altLang="en-US" dirty="0">
                <a:latin typeface="Calibri" panose="020F0502020204030204" pitchFamily="34" charset="0"/>
              </a:rPr>
              <a:t>The converse of this implication namely q → p states that,</a:t>
            </a:r>
          </a:p>
          <a:p>
            <a:pPr eaLnBrk="1" hangingPunct="1"/>
            <a:r>
              <a:rPr lang="en-IN" altLang="en-US" dirty="0">
                <a:latin typeface="Calibri" panose="020F0502020204030204" pitchFamily="34" charset="0"/>
              </a:rPr>
              <a:t>s: If  the crops grow then there has been rain.</a:t>
            </a:r>
          </a:p>
          <a:p>
            <a:pPr eaLnBrk="1" hangingPunct="1"/>
            <a:endParaRPr lang="en-IN" altLang="en-US" dirty="0">
              <a:latin typeface="Calibri" panose="020F0502020204030204" pitchFamily="34" charset="0"/>
            </a:endParaRPr>
          </a:p>
          <a:p>
            <a:pPr eaLnBrk="1" hangingPunct="1"/>
            <a:r>
              <a:rPr lang="en-IN" altLang="en-US" dirty="0">
                <a:latin typeface="Calibri" panose="020F0502020204030204" pitchFamily="34" charset="0"/>
              </a:rPr>
              <a:t>The contrapositive of this implication namely ~q → ~p states that,</a:t>
            </a:r>
          </a:p>
          <a:p>
            <a:pPr eaLnBrk="1" hangingPunct="1"/>
            <a:r>
              <a:rPr lang="en-IN" altLang="en-US" dirty="0">
                <a:latin typeface="Calibri" panose="020F0502020204030204" pitchFamily="34" charset="0"/>
              </a:rPr>
              <a:t>t: If the crops do not grow then there has been no rain.</a:t>
            </a:r>
          </a:p>
          <a:p>
            <a:pPr eaLnBrk="1" hangingPunct="1"/>
            <a:endParaRPr lang="en-IN" altLang="en-US" dirty="0">
              <a:latin typeface="Calibri" panose="020F0502020204030204" pitchFamily="34" charset="0"/>
            </a:endParaRPr>
          </a:p>
          <a:p>
            <a:pPr eaLnBrk="1" hangingPunct="1"/>
            <a:r>
              <a:rPr lang="en-IN" altLang="en-US" dirty="0">
                <a:latin typeface="Calibri" panose="020F0502020204030204" pitchFamily="34" charset="0"/>
              </a:rPr>
              <a:t>The inverse of this implication namely ~p → ~q states that,</a:t>
            </a:r>
          </a:p>
          <a:p>
            <a:pPr eaLnBrk="1" hangingPunct="1"/>
            <a:r>
              <a:rPr lang="en-IN" altLang="en-US" dirty="0">
                <a:latin typeface="Calibri" panose="020F0502020204030204" pitchFamily="34" charset="0"/>
              </a:rPr>
              <a:t>u: If it does not rain then the crops will not grow.</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extBox 6">
            <a:extLst>
              <a:ext uri="{FF2B5EF4-FFF2-40B4-BE49-F238E27FC236}">
                <a16:creationId xmlns:a16="http://schemas.microsoft.com/office/drawing/2014/main" id="{582330FE-F573-42CE-9E81-D43EB456D21F}"/>
              </a:ext>
            </a:extLst>
          </p:cNvPr>
          <p:cNvSpPr txBox="1">
            <a:spLocks noChangeArrowheads="1"/>
          </p:cNvSpPr>
          <p:nvPr/>
        </p:nvSpPr>
        <p:spPr bwMode="auto">
          <a:xfrm>
            <a:off x="1524000" y="2514601"/>
            <a:ext cx="91440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N" altLang="en-US" dirty="0">
                <a:latin typeface="Calibri" panose="020F0502020204030204" pitchFamily="34" charset="0"/>
              </a:rPr>
              <a:t>Notice that a conditional proposition and its inverse or converse are not logically equivalent. </a:t>
            </a:r>
          </a:p>
          <a:p>
            <a:pPr eaLnBrk="1" hangingPunct="1"/>
            <a:endParaRPr lang="en-IN" altLang="en-US" dirty="0">
              <a:latin typeface="Calibri" panose="020F0502020204030204" pitchFamily="34" charset="0"/>
            </a:endParaRPr>
          </a:p>
          <a:p>
            <a:pPr eaLnBrk="1" hangingPunct="1"/>
            <a:r>
              <a:rPr lang="en-IN" altLang="en-US" dirty="0">
                <a:latin typeface="Calibri" panose="020F0502020204030204" pitchFamily="34" charset="0"/>
              </a:rPr>
              <a:t>On the other hand, a conditional proposition and its contrapositive are logically equivalent. </a:t>
            </a:r>
          </a:p>
          <a:p>
            <a:pPr eaLnBrk="1" hangingPunct="1"/>
            <a:r>
              <a:rPr lang="en-IN" altLang="en-US" dirty="0">
                <a:latin typeface="Calibri" panose="020F0502020204030204" pitchFamily="34" charset="0"/>
              </a:rPr>
              <a:t>Sometimes, very important theorems can be proved easily when restated in the form ~q → ~p.</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extBox 5">
            <a:extLst>
              <a:ext uri="{FF2B5EF4-FFF2-40B4-BE49-F238E27FC236}">
                <a16:creationId xmlns:a16="http://schemas.microsoft.com/office/drawing/2014/main" id="{460B674E-596E-4808-9CAB-B76AD3429E22}"/>
              </a:ext>
            </a:extLst>
          </p:cNvPr>
          <p:cNvSpPr txBox="1">
            <a:spLocks noChangeArrowheads="1"/>
          </p:cNvSpPr>
          <p:nvPr/>
        </p:nvSpPr>
        <p:spPr bwMode="auto">
          <a:xfrm>
            <a:off x="1447800" y="396558"/>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dirty="0">
                <a:solidFill>
                  <a:srgbClr val="C00000"/>
                </a:solidFill>
                <a:latin typeface="Calibri" panose="020F0502020204030204" pitchFamily="34" charset="0"/>
              </a:rPr>
              <a:t>Example</a:t>
            </a:r>
          </a:p>
        </p:txBody>
      </p:sp>
      <p:sp>
        <p:nvSpPr>
          <p:cNvPr id="71683" name="TextBox 6">
            <a:extLst>
              <a:ext uri="{FF2B5EF4-FFF2-40B4-BE49-F238E27FC236}">
                <a16:creationId xmlns:a16="http://schemas.microsoft.com/office/drawing/2014/main" id="{B9F4954A-0EE4-4C6F-8BF3-2CBAAF2D2A59}"/>
              </a:ext>
            </a:extLst>
          </p:cNvPr>
          <p:cNvSpPr txBox="1">
            <a:spLocks noChangeArrowheads="1"/>
          </p:cNvSpPr>
          <p:nvPr/>
        </p:nvSpPr>
        <p:spPr bwMode="auto">
          <a:xfrm>
            <a:off x="2514600" y="1676400"/>
            <a:ext cx="70104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N" altLang="en-US">
                <a:latin typeface="Calibri" panose="020F0502020204030204" pitchFamily="34" charset="0"/>
              </a:rPr>
              <a:t>Prove that if x</a:t>
            </a:r>
            <a:r>
              <a:rPr lang="en-IN" altLang="en-US" baseline="30000">
                <a:latin typeface="Calibri" panose="020F0502020204030204" pitchFamily="34" charset="0"/>
              </a:rPr>
              <a:t>2</a:t>
            </a:r>
            <a:r>
              <a:rPr lang="en-IN" altLang="en-US">
                <a:latin typeface="Calibri" panose="020F0502020204030204" pitchFamily="34" charset="0"/>
              </a:rPr>
              <a:t> is divisible by 4, then x is even. 	</a:t>
            </a:r>
          </a:p>
        </p:txBody>
      </p:sp>
      <p:sp>
        <p:nvSpPr>
          <p:cNvPr id="71684" name="TextBox 6">
            <a:extLst>
              <a:ext uri="{FF2B5EF4-FFF2-40B4-BE49-F238E27FC236}">
                <a16:creationId xmlns:a16="http://schemas.microsoft.com/office/drawing/2014/main" id="{89CE75A5-BF4D-41AA-83A6-4A095FF88CD6}"/>
              </a:ext>
            </a:extLst>
          </p:cNvPr>
          <p:cNvSpPr txBox="1">
            <a:spLocks noChangeArrowheads="1"/>
          </p:cNvSpPr>
          <p:nvPr/>
        </p:nvSpPr>
        <p:spPr bwMode="auto">
          <a:xfrm>
            <a:off x="2438400" y="2514601"/>
            <a:ext cx="7010400" cy="3139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N" altLang="en-US" dirty="0">
                <a:latin typeface="Calibri" panose="020F0502020204030204" pitchFamily="34" charset="0"/>
              </a:rPr>
              <a:t>Solution</a:t>
            </a:r>
          </a:p>
          <a:p>
            <a:pPr eaLnBrk="1" hangingPunct="1"/>
            <a:r>
              <a:rPr lang="en-IN" altLang="en-US" dirty="0">
                <a:latin typeface="Calibri" panose="020F0502020204030204" pitchFamily="34" charset="0"/>
              </a:rPr>
              <a:t>Let p and q be the propositions such that</a:t>
            </a:r>
          </a:p>
          <a:p>
            <a:pPr eaLnBrk="1" hangingPunct="1"/>
            <a:r>
              <a:rPr lang="en-IN" altLang="en-US" dirty="0">
                <a:latin typeface="Calibri" panose="020F0502020204030204" pitchFamily="34" charset="0"/>
              </a:rPr>
              <a:t>p:  x</a:t>
            </a:r>
            <a:r>
              <a:rPr lang="en-IN" altLang="en-US" baseline="30000" dirty="0">
                <a:latin typeface="Calibri" panose="020F0502020204030204" pitchFamily="34" charset="0"/>
              </a:rPr>
              <a:t>2</a:t>
            </a:r>
            <a:r>
              <a:rPr lang="en-IN" altLang="en-US" dirty="0">
                <a:latin typeface="Calibri" panose="020F0502020204030204" pitchFamily="34" charset="0"/>
              </a:rPr>
              <a:t> is divisible by 4.</a:t>
            </a:r>
          </a:p>
          <a:p>
            <a:pPr eaLnBrk="1" hangingPunct="1"/>
            <a:r>
              <a:rPr lang="en-IN" altLang="en-US" dirty="0">
                <a:latin typeface="Calibri" panose="020F0502020204030204" pitchFamily="34" charset="0"/>
              </a:rPr>
              <a:t>q:  x is even.</a:t>
            </a:r>
          </a:p>
          <a:p>
            <a:pPr eaLnBrk="1" hangingPunct="1"/>
            <a:endParaRPr lang="en-IN" altLang="en-US" dirty="0">
              <a:latin typeface="Calibri" panose="020F0502020204030204" pitchFamily="34" charset="0"/>
            </a:endParaRPr>
          </a:p>
          <a:p>
            <a:pPr eaLnBrk="1" hangingPunct="1"/>
            <a:r>
              <a:rPr lang="en-IN" altLang="en-US" dirty="0">
                <a:latin typeface="Calibri" panose="020F0502020204030204" pitchFamily="34" charset="0"/>
              </a:rPr>
              <a:t>The implication is of the form p → q. The contrapositive is ~q → ~p, which states in words:</a:t>
            </a:r>
          </a:p>
          <a:p>
            <a:pPr eaLnBrk="1" hangingPunct="1"/>
            <a:endParaRPr lang="en-IN" altLang="en-US" dirty="0">
              <a:latin typeface="Calibri" panose="020F0502020204030204" pitchFamily="34" charset="0"/>
            </a:endParaRPr>
          </a:p>
          <a:p>
            <a:pPr eaLnBrk="1" hangingPunct="1"/>
            <a:r>
              <a:rPr lang="en-IN" altLang="en-US" dirty="0">
                <a:latin typeface="Calibri" panose="020F0502020204030204" pitchFamily="34" charset="0"/>
              </a:rPr>
              <a:t>If x is odd, then x</a:t>
            </a:r>
            <a:r>
              <a:rPr lang="en-IN" altLang="en-US" baseline="30000" dirty="0">
                <a:latin typeface="Calibri" panose="020F0502020204030204" pitchFamily="34" charset="0"/>
              </a:rPr>
              <a:t>2</a:t>
            </a:r>
            <a:r>
              <a:rPr lang="en-IN" altLang="en-US" dirty="0">
                <a:latin typeface="Calibri" panose="020F0502020204030204" pitchFamily="34" charset="0"/>
              </a:rPr>
              <a:t> is not divisible by 4.</a:t>
            </a:r>
          </a:p>
          <a:p>
            <a:pPr eaLnBrk="1" hangingPunct="1"/>
            <a:endParaRPr lang="en-IN" altLang="en-US" dirty="0">
              <a:latin typeface="Calibri" panose="020F0502020204030204" pitchFamily="34" charset="0"/>
            </a:endParaRPr>
          </a:p>
          <a:p>
            <a:pPr eaLnBrk="1" hangingPunct="1"/>
            <a:r>
              <a:rPr lang="en-IN" altLang="en-US" dirty="0">
                <a:latin typeface="Calibri" panose="020F0502020204030204" pitchFamily="34" charset="0"/>
              </a:rPr>
              <a:t>The proof of contrapositive is easy.</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9" name="TextBox 6">
            <a:extLst>
              <a:ext uri="{FF2B5EF4-FFF2-40B4-BE49-F238E27FC236}">
                <a16:creationId xmlns:a16="http://schemas.microsoft.com/office/drawing/2014/main" id="{A68594C2-37A1-4BE0-82D3-745258E51D70}"/>
              </a:ext>
            </a:extLst>
          </p:cNvPr>
          <p:cNvSpPr txBox="1">
            <a:spLocks noChangeArrowheads="1"/>
          </p:cNvSpPr>
          <p:nvPr/>
        </p:nvSpPr>
        <p:spPr bwMode="auto">
          <a:xfrm>
            <a:off x="2438400" y="2133601"/>
            <a:ext cx="7010400"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N" altLang="en-US">
                <a:latin typeface="Calibri" panose="020F0502020204030204" pitchFamily="34" charset="0"/>
              </a:rPr>
              <a:t>Since x is odd, one can write x = 2k +1, for some integer k. hence</a:t>
            </a:r>
          </a:p>
          <a:p>
            <a:pPr eaLnBrk="1" hangingPunct="1"/>
            <a:endParaRPr lang="en-IN" altLang="en-US">
              <a:latin typeface="Calibri" panose="020F0502020204030204" pitchFamily="34" charset="0"/>
            </a:endParaRPr>
          </a:p>
          <a:p>
            <a:pPr eaLnBrk="1" hangingPunct="1"/>
            <a:r>
              <a:rPr lang="en-IN" altLang="en-US">
                <a:latin typeface="Calibri" panose="020F0502020204030204" pitchFamily="34" charset="0"/>
              </a:rPr>
              <a:t>x</a:t>
            </a:r>
            <a:r>
              <a:rPr lang="en-IN" altLang="en-US" baseline="30000">
                <a:latin typeface="Calibri" panose="020F0502020204030204" pitchFamily="34" charset="0"/>
              </a:rPr>
              <a:t>2</a:t>
            </a:r>
            <a:r>
              <a:rPr lang="en-IN" altLang="en-US">
                <a:latin typeface="Calibri" panose="020F0502020204030204" pitchFamily="34" charset="0"/>
              </a:rPr>
              <a:t> = (2k + 1)</a:t>
            </a:r>
            <a:r>
              <a:rPr lang="en-IN" altLang="en-US" baseline="30000">
                <a:latin typeface="Calibri" panose="020F0502020204030204" pitchFamily="34" charset="0"/>
              </a:rPr>
              <a:t>2</a:t>
            </a:r>
            <a:r>
              <a:rPr lang="en-IN" altLang="en-US">
                <a:latin typeface="Calibri" panose="020F0502020204030204" pitchFamily="34" charset="0"/>
              </a:rPr>
              <a:t> = 4 k</a:t>
            </a:r>
            <a:r>
              <a:rPr lang="en-IN" altLang="en-US" baseline="30000">
                <a:latin typeface="Calibri" panose="020F0502020204030204" pitchFamily="34" charset="0"/>
              </a:rPr>
              <a:t>2</a:t>
            </a:r>
            <a:r>
              <a:rPr lang="en-IN" altLang="en-US">
                <a:latin typeface="Calibri" panose="020F0502020204030204" pitchFamily="34" charset="0"/>
              </a:rPr>
              <a:t> + 4k + 1 = 4(k</a:t>
            </a:r>
            <a:r>
              <a:rPr lang="en-IN" altLang="en-US" baseline="30000">
                <a:latin typeface="Calibri" panose="020F0502020204030204" pitchFamily="34" charset="0"/>
              </a:rPr>
              <a:t>2</a:t>
            </a:r>
            <a:r>
              <a:rPr lang="en-IN" altLang="en-US">
                <a:latin typeface="Calibri" panose="020F0502020204030204" pitchFamily="34" charset="0"/>
              </a:rPr>
              <a:t> +k +1/4)</a:t>
            </a:r>
          </a:p>
          <a:p>
            <a:pPr eaLnBrk="1" hangingPunct="1"/>
            <a:endParaRPr lang="en-IN" altLang="en-US">
              <a:latin typeface="Calibri" panose="020F0502020204030204" pitchFamily="34" charset="0"/>
            </a:endParaRPr>
          </a:p>
          <a:p>
            <a:pPr eaLnBrk="1" hangingPunct="1"/>
            <a:r>
              <a:rPr lang="en-IN" altLang="en-US">
                <a:latin typeface="Calibri" panose="020F0502020204030204" pitchFamily="34" charset="0"/>
              </a:rPr>
              <a:t>Since k</a:t>
            </a:r>
            <a:r>
              <a:rPr lang="en-IN" altLang="en-US" baseline="30000">
                <a:latin typeface="Calibri" panose="020F0502020204030204" pitchFamily="34" charset="0"/>
              </a:rPr>
              <a:t>2</a:t>
            </a:r>
            <a:r>
              <a:rPr lang="en-IN" altLang="en-US">
                <a:latin typeface="Calibri" panose="020F0502020204030204" pitchFamily="34" charset="0"/>
              </a:rPr>
              <a:t> + k is an integer, k</a:t>
            </a:r>
            <a:r>
              <a:rPr lang="en-IN" altLang="en-US" baseline="30000">
                <a:latin typeface="Calibri" panose="020F0502020204030204" pitchFamily="34" charset="0"/>
              </a:rPr>
              <a:t>2</a:t>
            </a:r>
            <a:r>
              <a:rPr lang="en-IN" altLang="en-US">
                <a:latin typeface="Calibri" panose="020F0502020204030204" pitchFamily="34" charset="0"/>
              </a:rPr>
              <a:t> + k + ¼ is not an integer.</a:t>
            </a:r>
          </a:p>
          <a:p>
            <a:pPr eaLnBrk="1" hangingPunct="1"/>
            <a:r>
              <a:rPr lang="en-IN" altLang="en-US">
                <a:latin typeface="Calibri" panose="020F0502020204030204" pitchFamily="34" charset="0"/>
              </a:rPr>
              <a:t>Therefore x</a:t>
            </a:r>
            <a:r>
              <a:rPr lang="en-IN" altLang="en-US" baseline="30000">
                <a:latin typeface="Calibri" panose="020F0502020204030204" pitchFamily="34" charset="0"/>
              </a:rPr>
              <a:t>2</a:t>
            </a:r>
            <a:r>
              <a:rPr lang="en-IN" altLang="en-US">
                <a:latin typeface="Calibri" panose="020F0502020204030204" pitchFamily="34" charset="0"/>
              </a:rPr>
              <a:t>  is not divisible by 4.</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DC38FC2-38AE-4A98-82A1-B418EF9FE74F}"/>
              </a:ext>
            </a:extLst>
          </p:cNvPr>
          <p:cNvSpPr txBox="1"/>
          <p:nvPr/>
        </p:nvSpPr>
        <p:spPr>
          <a:xfrm>
            <a:off x="1289050" y="1284686"/>
            <a:ext cx="8928637" cy="3046988"/>
          </a:xfrm>
          <a:prstGeom prst="rect">
            <a:avLst/>
          </a:prstGeom>
          <a:noFill/>
        </p:spPr>
        <p:txBody>
          <a:bodyPr wrap="square" rtlCol="0">
            <a:spAutoFit/>
          </a:bodyPr>
          <a:lstStyle/>
          <a:p>
            <a:r>
              <a:rPr lang="en-US" sz="2400" b="1" dirty="0"/>
              <a:t>What will be the </a:t>
            </a:r>
            <a:r>
              <a:rPr lang="en-US" sz="2400" b="1" dirty="0" err="1"/>
              <a:t>Contrapostive</a:t>
            </a:r>
            <a:r>
              <a:rPr lang="en-US" sz="2400" b="1" dirty="0"/>
              <a:t> of the statement " If it is raining then I get wet".</a:t>
            </a:r>
          </a:p>
          <a:p>
            <a:endParaRPr lang="en-IN" sz="2400" dirty="0">
              <a:latin typeface="Century Gothic" panose="020B0502020202020204" pitchFamily="34" charset="0"/>
              <a:cs typeface="Arial" panose="020B0604020202020204" pitchFamily="34" charset="0"/>
            </a:endParaRPr>
          </a:p>
          <a:p>
            <a:pPr marL="533387" indent="-533387">
              <a:buAutoNum type="romanLcParenR"/>
            </a:pPr>
            <a:r>
              <a:rPr lang="en-US" sz="2400" dirty="0">
                <a:latin typeface="Century Gothic" panose="020B0502020202020204" pitchFamily="34" charset="0"/>
                <a:cs typeface="Arial" panose="020B0604020202020204" pitchFamily="34" charset="0"/>
              </a:rPr>
              <a:t>If I get wet then it is raining.</a:t>
            </a:r>
          </a:p>
          <a:p>
            <a:pPr marL="533387" indent="-533387">
              <a:buAutoNum type="romanLcParenR"/>
            </a:pPr>
            <a:r>
              <a:rPr lang="en-US" sz="2400" dirty="0">
                <a:latin typeface="Century Gothic" panose="020B0502020202020204" pitchFamily="34" charset="0"/>
                <a:cs typeface="Arial" panose="020B0604020202020204" pitchFamily="34" charset="0"/>
              </a:rPr>
              <a:t>if it is not raining then will not get wet.</a:t>
            </a:r>
          </a:p>
          <a:p>
            <a:pPr marL="533387" indent="-533387">
              <a:buAutoNum type="romanLcParenR"/>
            </a:pPr>
            <a:r>
              <a:rPr lang="en-US" sz="2400" dirty="0">
                <a:latin typeface="Century Gothic" panose="020B0502020202020204" pitchFamily="34" charset="0"/>
                <a:cs typeface="Arial" panose="020B0604020202020204" pitchFamily="34" charset="0"/>
              </a:rPr>
              <a:t>If I  will not get wet then  it is not raining.</a:t>
            </a:r>
          </a:p>
          <a:p>
            <a:pPr marL="533387" indent="-533387">
              <a:buAutoNum type="romanLcParenR"/>
            </a:pPr>
            <a:r>
              <a:rPr lang="en-US" sz="2400" dirty="0">
                <a:latin typeface="Century Gothic" panose="020B0502020202020204" pitchFamily="34" charset="0"/>
                <a:cs typeface="Arial" panose="020B0604020202020204" pitchFamily="34" charset="0"/>
              </a:rPr>
              <a:t>It is not the case that if it is not raining then I get wet.</a:t>
            </a:r>
            <a:r>
              <a:rPr lang="en-IN" sz="2400" dirty="0">
                <a:latin typeface="Century Gothic" panose="020B0502020202020204" pitchFamily="34" charset="0"/>
                <a:cs typeface="Arial" panose="020B0604020202020204" pitchFamily="34" charset="0"/>
              </a:rPr>
              <a:t>                                                    </a:t>
            </a:r>
          </a:p>
          <a:p>
            <a:endParaRPr lang="en-IN" sz="2400" dirty="0">
              <a:latin typeface="Century Gothic" panose="020B0502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C2ED1AF7-2E15-4F91-A46B-3C77A3032F4C}"/>
              </a:ext>
            </a:extLst>
          </p:cNvPr>
          <p:cNvSpPr txBox="1"/>
          <p:nvPr/>
        </p:nvSpPr>
        <p:spPr>
          <a:xfrm>
            <a:off x="4514128" y="211779"/>
            <a:ext cx="1476686" cy="543675"/>
          </a:xfrm>
          <a:prstGeom prst="rect">
            <a:avLst/>
          </a:prstGeom>
          <a:noFill/>
        </p:spPr>
        <p:txBody>
          <a:bodyPr wrap="none" rtlCol="0">
            <a:spAutoFit/>
          </a:bodyPr>
          <a:lstStyle/>
          <a:p>
            <a:r>
              <a:rPr lang="en-US" sz="2933" dirty="0">
                <a:solidFill>
                  <a:schemeClr val="tx1">
                    <a:lumMod val="95000"/>
                    <a:lumOff val="5000"/>
                  </a:schemeClr>
                </a:solidFill>
                <a:latin typeface="Century Gothic" panose="020B0502020202020204" pitchFamily="34" charset="0"/>
                <a:cs typeface="Arial" pitchFamily="34" charset="0"/>
              </a:rPr>
              <a:t>MCQ 1</a:t>
            </a:r>
          </a:p>
        </p:txBody>
      </p:sp>
      <p:sp>
        <p:nvSpPr>
          <p:cNvPr id="2" name="TextBox 1">
            <a:extLst>
              <a:ext uri="{FF2B5EF4-FFF2-40B4-BE49-F238E27FC236}">
                <a16:creationId xmlns:a16="http://schemas.microsoft.com/office/drawing/2014/main" id="{0AF59FCC-F401-432F-AB48-AEB08C2A004E}"/>
              </a:ext>
            </a:extLst>
          </p:cNvPr>
          <p:cNvSpPr txBox="1"/>
          <p:nvPr/>
        </p:nvSpPr>
        <p:spPr>
          <a:xfrm>
            <a:off x="1454545" y="5260786"/>
            <a:ext cx="1673856" cy="461665"/>
          </a:xfrm>
          <a:prstGeom prst="rect">
            <a:avLst/>
          </a:prstGeom>
          <a:noFill/>
        </p:spPr>
        <p:txBody>
          <a:bodyPr wrap="none" rtlCol="0">
            <a:spAutoFit/>
          </a:bodyPr>
          <a:lstStyle/>
          <a:p>
            <a:r>
              <a:rPr lang="en-IN" sz="2400" dirty="0"/>
              <a:t>Answer:  iii</a:t>
            </a:r>
          </a:p>
        </p:txBody>
      </p:sp>
    </p:spTree>
    <p:extLst>
      <p:ext uri="{BB962C8B-B14F-4D97-AF65-F5344CB8AC3E}">
        <p14:creationId xmlns:p14="http://schemas.microsoft.com/office/powerpoint/2010/main" val="4041274803"/>
      </p:ext>
    </p:extLst>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2ED1AF7-2E15-4F91-A46B-3C77A3032F4C}"/>
              </a:ext>
            </a:extLst>
          </p:cNvPr>
          <p:cNvSpPr txBox="1"/>
          <p:nvPr/>
        </p:nvSpPr>
        <p:spPr>
          <a:xfrm>
            <a:off x="5100054" y="282800"/>
            <a:ext cx="1476686" cy="543675"/>
          </a:xfrm>
          <a:prstGeom prst="rect">
            <a:avLst/>
          </a:prstGeom>
          <a:noFill/>
        </p:spPr>
        <p:txBody>
          <a:bodyPr wrap="none" rtlCol="0">
            <a:spAutoFit/>
          </a:bodyPr>
          <a:lstStyle/>
          <a:p>
            <a:r>
              <a:rPr lang="en-US" sz="2933" dirty="0">
                <a:solidFill>
                  <a:schemeClr val="tx1">
                    <a:lumMod val="95000"/>
                    <a:lumOff val="5000"/>
                  </a:schemeClr>
                </a:solidFill>
                <a:latin typeface="Century Gothic" panose="020B0502020202020204" pitchFamily="34" charset="0"/>
                <a:cs typeface="Arial" pitchFamily="34" charset="0"/>
              </a:rPr>
              <a:t>MCQ 2</a:t>
            </a:r>
          </a:p>
        </p:txBody>
      </p:sp>
      <p:sp>
        <p:nvSpPr>
          <p:cNvPr id="2" name="TextBox 1">
            <a:extLst>
              <a:ext uri="{FF2B5EF4-FFF2-40B4-BE49-F238E27FC236}">
                <a16:creationId xmlns:a16="http://schemas.microsoft.com/office/drawing/2014/main" id="{15AB7885-B6EC-42CD-BA02-9FA58677A7FA}"/>
              </a:ext>
            </a:extLst>
          </p:cNvPr>
          <p:cNvSpPr txBox="1"/>
          <p:nvPr/>
        </p:nvSpPr>
        <p:spPr>
          <a:xfrm>
            <a:off x="1493017" y="5664201"/>
            <a:ext cx="1553630" cy="461665"/>
          </a:xfrm>
          <a:prstGeom prst="rect">
            <a:avLst/>
          </a:prstGeom>
          <a:noFill/>
        </p:spPr>
        <p:txBody>
          <a:bodyPr wrap="none" rtlCol="0">
            <a:spAutoFit/>
          </a:bodyPr>
          <a:lstStyle/>
          <a:p>
            <a:r>
              <a:rPr lang="en-IN" sz="2400" dirty="0"/>
              <a:t>Answer: </a:t>
            </a:r>
            <a:r>
              <a:rPr lang="en-IN" sz="2400" dirty="0" err="1"/>
              <a:t>i</a:t>
            </a:r>
            <a:r>
              <a:rPr lang="en-IN" sz="2400" dirty="0"/>
              <a:t>)</a:t>
            </a:r>
          </a:p>
        </p:txBody>
      </p:sp>
      <p:sp>
        <p:nvSpPr>
          <p:cNvPr id="3" name="Rectangle 2">
            <a:extLst>
              <a:ext uri="{FF2B5EF4-FFF2-40B4-BE49-F238E27FC236}">
                <a16:creationId xmlns:a16="http://schemas.microsoft.com/office/drawing/2014/main" id="{617C6ED0-3DE1-41E4-8FBB-841AC7E8D1D3}"/>
              </a:ext>
            </a:extLst>
          </p:cNvPr>
          <p:cNvSpPr/>
          <p:nvPr/>
        </p:nvSpPr>
        <p:spPr>
          <a:xfrm>
            <a:off x="2213231" y="990600"/>
            <a:ext cx="7721600" cy="3416320"/>
          </a:xfrm>
          <a:prstGeom prst="rect">
            <a:avLst/>
          </a:prstGeom>
        </p:spPr>
        <p:txBody>
          <a:bodyPr wrap="square">
            <a:spAutoFit/>
          </a:bodyPr>
          <a:lstStyle/>
          <a:p>
            <a:r>
              <a:rPr lang="en-US" sz="2400" dirty="0"/>
              <a:t>How would you bracket the following formula to correctly interpret it:</a:t>
            </a:r>
          </a:p>
          <a:p>
            <a:r>
              <a:rPr lang="en-US" sz="2400" dirty="0"/>
              <a:t>p → q ↔  ~  p  v q</a:t>
            </a:r>
          </a:p>
          <a:p>
            <a:endParaRPr lang="en-US" sz="2400" dirty="0"/>
          </a:p>
          <a:p>
            <a:endParaRPr lang="en-US" sz="2400" dirty="0"/>
          </a:p>
          <a:p>
            <a:r>
              <a:rPr lang="en-US" sz="2400" dirty="0" err="1"/>
              <a:t>i</a:t>
            </a:r>
            <a:r>
              <a:rPr lang="en-US" sz="2400" dirty="0"/>
              <a:t>)     (p → q) ↔ (( ~  p)  v q)</a:t>
            </a:r>
          </a:p>
          <a:p>
            <a:r>
              <a:rPr lang="en-US" sz="2400" dirty="0"/>
              <a:t>ii)    (p → q) ↔ ( ~  p  v q)</a:t>
            </a:r>
          </a:p>
          <a:p>
            <a:r>
              <a:rPr lang="en-US" sz="2400" dirty="0"/>
              <a:t>iii)   ((p → q ↔  ~  p)  v q)</a:t>
            </a:r>
          </a:p>
          <a:p>
            <a:r>
              <a:rPr lang="en-US" sz="2400" dirty="0"/>
              <a:t>iv)   (p → q ↔ ) ~ ( p  v q)</a:t>
            </a:r>
          </a:p>
        </p:txBody>
      </p:sp>
    </p:spTree>
    <p:extLst>
      <p:ext uri="{BB962C8B-B14F-4D97-AF65-F5344CB8AC3E}">
        <p14:creationId xmlns:p14="http://schemas.microsoft.com/office/powerpoint/2010/main" val="65677099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B73AC84-600D-4D86-A415-C39F237293D6}"/>
              </a:ext>
            </a:extLst>
          </p:cNvPr>
          <p:cNvSpPr/>
          <p:nvPr/>
        </p:nvSpPr>
        <p:spPr>
          <a:xfrm>
            <a:off x="3345895" y="88038"/>
            <a:ext cx="5735866" cy="543675"/>
          </a:xfrm>
          <a:prstGeom prst="rect">
            <a:avLst/>
          </a:prstGeom>
          <a:noFill/>
        </p:spPr>
        <p:txBody>
          <a:bodyPr wrap="none" rtlCol="0">
            <a:spAutoFit/>
          </a:bodyPr>
          <a:lstStyle/>
          <a:p>
            <a:r>
              <a:rPr lang="en-IN" sz="2933" dirty="0">
                <a:solidFill>
                  <a:schemeClr val="tx1">
                    <a:lumMod val="95000"/>
                    <a:lumOff val="5000"/>
                  </a:schemeClr>
                </a:solidFill>
                <a:latin typeface="Century Gothic" panose="020B0502020202020204" pitchFamily="34" charset="0"/>
                <a:cs typeface="Arial" pitchFamily="34" charset="0"/>
              </a:rPr>
              <a:t>Tautologies and Contradiction</a:t>
            </a:r>
          </a:p>
        </p:txBody>
      </p:sp>
      <p:sp>
        <p:nvSpPr>
          <p:cNvPr id="3" name="Rectangle 2">
            <a:extLst>
              <a:ext uri="{FF2B5EF4-FFF2-40B4-BE49-F238E27FC236}">
                <a16:creationId xmlns:a16="http://schemas.microsoft.com/office/drawing/2014/main" id="{8C1430CA-0325-482C-94FC-533095E649A1}"/>
              </a:ext>
            </a:extLst>
          </p:cNvPr>
          <p:cNvSpPr/>
          <p:nvPr/>
        </p:nvSpPr>
        <p:spPr>
          <a:xfrm>
            <a:off x="914400" y="1092200"/>
            <a:ext cx="10363200" cy="2677656"/>
          </a:xfrm>
          <a:prstGeom prst="rect">
            <a:avLst/>
          </a:prstGeom>
        </p:spPr>
        <p:txBody>
          <a:bodyPr wrap="square">
            <a:spAutoFit/>
          </a:bodyPr>
          <a:lstStyle/>
          <a:p>
            <a:r>
              <a:rPr lang="en-US" sz="2400" dirty="0"/>
              <a:t>Tautologies</a:t>
            </a:r>
          </a:p>
          <a:p>
            <a:r>
              <a:rPr lang="en-US" sz="2400" dirty="0"/>
              <a:t>A proposition P is a tautology if it is true under all circumstances. It means it contains the only T in the final column of its truth table.</a:t>
            </a:r>
          </a:p>
          <a:p>
            <a:endParaRPr lang="en-US" sz="2400" dirty="0"/>
          </a:p>
          <a:p>
            <a:r>
              <a:rPr lang="en-US" sz="2400" dirty="0"/>
              <a:t>Example: Prove that the statement (</a:t>
            </a:r>
            <a:r>
              <a:rPr lang="en-US" sz="2400" dirty="0" err="1"/>
              <a:t>p⟶q</a:t>
            </a:r>
            <a:r>
              <a:rPr lang="en-US" sz="2400" dirty="0"/>
              <a:t>) ↔(∼q⟶∼p) is a tautology.</a:t>
            </a:r>
          </a:p>
          <a:p>
            <a:endParaRPr lang="en-US" sz="2400" dirty="0"/>
          </a:p>
          <a:p>
            <a:r>
              <a:rPr lang="en-US" sz="2400" dirty="0"/>
              <a:t>Solution: Make the truth table of the above statement:</a:t>
            </a:r>
            <a:endParaRPr lang="en-IN" sz="2400" dirty="0"/>
          </a:p>
        </p:txBody>
      </p:sp>
      <p:graphicFrame>
        <p:nvGraphicFramePr>
          <p:cNvPr id="5" name="Table 4">
            <a:extLst>
              <a:ext uri="{FF2B5EF4-FFF2-40B4-BE49-F238E27FC236}">
                <a16:creationId xmlns:a16="http://schemas.microsoft.com/office/drawing/2014/main" id="{53D55316-E57C-4AFD-80AD-02B3BE645AC7}"/>
              </a:ext>
            </a:extLst>
          </p:cNvPr>
          <p:cNvGraphicFramePr>
            <a:graphicFrameLocks noGrp="1"/>
          </p:cNvGraphicFramePr>
          <p:nvPr/>
        </p:nvGraphicFramePr>
        <p:xfrm>
          <a:off x="914401" y="3327400"/>
          <a:ext cx="10464799" cy="2800563"/>
        </p:xfrm>
        <a:graphic>
          <a:graphicData uri="http://schemas.openxmlformats.org/drawingml/2006/table">
            <a:tbl>
              <a:tblPr/>
              <a:tblGrid>
                <a:gridCol w="811924">
                  <a:extLst>
                    <a:ext uri="{9D8B030D-6E8A-4147-A177-3AD203B41FA5}">
                      <a16:colId xmlns:a16="http://schemas.microsoft.com/office/drawing/2014/main" val="554853159"/>
                    </a:ext>
                  </a:extLst>
                </a:gridCol>
                <a:gridCol w="729228">
                  <a:extLst>
                    <a:ext uri="{9D8B030D-6E8A-4147-A177-3AD203B41FA5}">
                      <a16:colId xmlns:a16="http://schemas.microsoft.com/office/drawing/2014/main" val="3330053515"/>
                    </a:ext>
                  </a:extLst>
                </a:gridCol>
                <a:gridCol w="1082565">
                  <a:extLst>
                    <a:ext uri="{9D8B030D-6E8A-4147-A177-3AD203B41FA5}">
                      <a16:colId xmlns:a16="http://schemas.microsoft.com/office/drawing/2014/main" val="1195776310"/>
                    </a:ext>
                  </a:extLst>
                </a:gridCol>
                <a:gridCol w="992352">
                  <a:extLst>
                    <a:ext uri="{9D8B030D-6E8A-4147-A177-3AD203B41FA5}">
                      <a16:colId xmlns:a16="http://schemas.microsoft.com/office/drawing/2014/main" val="2577253143"/>
                    </a:ext>
                  </a:extLst>
                </a:gridCol>
                <a:gridCol w="1172779">
                  <a:extLst>
                    <a:ext uri="{9D8B030D-6E8A-4147-A177-3AD203B41FA5}">
                      <a16:colId xmlns:a16="http://schemas.microsoft.com/office/drawing/2014/main" val="46122006"/>
                    </a:ext>
                  </a:extLst>
                </a:gridCol>
                <a:gridCol w="1443420">
                  <a:extLst>
                    <a:ext uri="{9D8B030D-6E8A-4147-A177-3AD203B41FA5}">
                      <a16:colId xmlns:a16="http://schemas.microsoft.com/office/drawing/2014/main" val="947301201"/>
                    </a:ext>
                  </a:extLst>
                </a:gridCol>
                <a:gridCol w="4232531">
                  <a:extLst>
                    <a:ext uri="{9D8B030D-6E8A-4147-A177-3AD203B41FA5}">
                      <a16:colId xmlns:a16="http://schemas.microsoft.com/office/drawing/2014/main" val="532379220"/>
                    </a:ext>
                  </a:extLst>
                </a:gridCol>
              </a:tblGrid>
              <a:tr h="687283">
                <a:tc>
                  <a:txBody>
                    <a:bodyPr/>
                    <a:lstStyle/>
                    <a:p>
                      <a:pPr algn="l" fontAlgn="t"/>
                      <a:r>
                        <a:rPr lang="en-IN" sz="2400">
                          <a:solidFill>
                            <a:srgbClr val="000000"/>
                          </a:solidFill>
                          <a:effectLst/>
                          <a:latin typeface="verdana" panose="020B0604030504040204" pitchFamily="34" charset="0"/>
                        </a:rPr>
                        <a:t>p</a:t>
                      </a:r>
                    </a:p>
                  </a:txBody>
                  <a:tcPr marL="81280" marR="81280" marT="81280" marB="8128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l" fontAlgn="t"/>
                      <a:r>
                        <a:rPr lang="en-IN" sz="2400">
                          <a:solidFill>
                            <a:srgbClr val="000000"/>
                          </a:solidFill>
                          <a:effectLst/>
                          <a:latin typeface="verdana" panose="020B0604030504040204" pitchFamily="34" charset="0"/>
                        </a:rPr>
                        <a:t>q</a:t>
                      </a:r>
                    </a:p>
                  </a:txBody>
                  <a:tcPr marL="81280" marR="81280" marT="81280" marB="8128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l" fontAlgn="t"/>
                      <a:r>
                        <a:rPr lang="en-IN" sz="2400">
                          <a:solidFill>
                            <a:srgbClr val="000000"/>
                          </a:solidFill>
                          <a:effectLst/>
                          <a:latin typeface="verdana" panose="020B0604030504040204" pitchFamily="34" charset="0"/>
                        </a:rPr>
                        <a:t>p→q</a:t>
                      </a:r>
                    </a:p>
                  </a:txBody>
                  <a:tcPr marL="81280" marR="81280" marT="81280" marB="8128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l" fontAlgn="t"/>
                      <a:r>
                        <a:rPr lang="en-IN" sz="2400">
                          <a:solidFill>
                            <a:srgbClr val="000000"/>
                          </a:solidFill>
                          <a:effectLst/>
                          <a:latin typeface="verdana" panose="020B0604030504040204" pitchFamily="34" charset="0"/>
                        </a:rPr>
                        <a:t>~q</a:t>
                      </a:r>
                    </a:p>
                  </a:txBody>
                  <a:tcPr marL="81280" marR="81280" marT="81280" marB="8128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l" fontAlgn="t"/>
                      <a:r>
                        <a:rPr lang="en-IN" sz="2400">
                          <a:solidFill>
                            <a:srgbClr val="000000"/>
                          </a:solidFill>
                          <a:effectLst/>
                          <a:latin typeface="verdana" panose="020B0604030504040204" pitchFamily="34" charset="0"/>
                        </a:rPr>
                        <a:t>~p</a:t>
                      </a:r>
                    </a:p>
                  </a:txBody>
                  <a:tcPr marL="81280" marR="81280" marT="81280" marB="8128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l" fontAlgn="t"/>
                      <a:r>
                        <a:rPr lang="en-IN" sz="2400">
                          <a:solidFill>
                            <a:srgbClr val="000000"/>
                          </a:solidFill>
                          <a:effectLst/>
                          <a:latin typeface="verdana" panose="020B0604030504040204" pitchFamily="34" charset="0"/>
                        </a:rPr>
                        <a:t>~q⟶∼p</a:t>
                      </a:r>
                    </a:p>
                  </a:txBody>
                  <a:tcPr marL="81280" marR="81280" marT="81280" marB="8128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l" fontAlgn="t"/>
                      <a:r>
                        <a:rPr lang="en-IN" sz="2400" dirty="0">
                          <a:solidFill>
                            <a:srgbClr val="000000"/>
                          </a:solidFill>
                          <a:effectLst/>
                          <a:latin typeface="verdana" panose="020B0604030504040204" pitchFamily="34" charset="0"/>
                        </a:rPr>
                        <a:t>(</a:t>
                      </a:r>
                      <a:r>
                        <a:rPr lang="en-IN" sz="2400" dirty="0" err="1">
                          <a:solidFill>
                            <a:srgbClr val="000000"/>
                          </a:solidFill>
                          <a:effectLst/>
                          <a:latin typeface="verdana" panose="020B0604030504040204" pitchFamily="34" charset="0"/>
                        </a:rPr>
                        <a:t>p→q</a:t>
                      </a:r>
                      <a:r>
                        <a:rPr lang="en-IN" sz="2400" dirty="0">
                          <a:solidFill>
                            <a:srgbClr val="000000"/>
                          </a:solidFill>
                          <a:effectLst/>
                          <a:latin typeface="verdana" panose="020B0604030504040204" pitchFamily="34" charset="0"/>
                        </a:rPr>
                        <a:t>)⟷( ~q⟶~p)</a:t>
                      </a:r>
                    </a:p>
                  </a:txBody>
                  <a:tcPr marL="81280" marR="81280" marT="81280" marB="8128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2304688812"/>
                  </a:ext>
                </a:extLst>
              </a:tr>
              <a:tr h="528320">
                <a:tc>
                  <a:txBody>
                    <a:bodyPr/>
                    <a:lstStyle/>
                    <a:p>
                      <a:pPr algn="l" fontAlgn="t"/>
                      <a:r>
                        <a:rPr lang="en-IN" sz="2400">
                          <a:solidFill>
                            <a:srgbClr val="000000"/>
                          </a:solidFill>
                          <a:effectLst/>
                          <a:latin typeface="verdana" panose="020B0604030504040204" pitchFamily="34" charset="0"/>
                        </a:rPr>
                        <a:t>T</a:t>
                      </a:r>
                    </a:p>
                  </a:txBody>
                  <a:tcPr marL="81280" marR="81280" marT="81280" marB="8128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l" fontAlgn="t"/>
                      <a:r>
                        <a:rPr lang="en-IN" sz="2400">
                          <a:solidFill>
                            <a:srgbClr val="000000"/>
                          </a:solidFill>
                          <a:effectLst/>
                          <a:latin typeface="verdana" panose="020B0604030504040204" pitchFamily="34" charset="0"/>
                        </a:rPr>
                        <a:t>T</a:t>
                      </a:r>
                    </a:p>
                  </a:txBody>
                  <a:tcPr marL="81280" marR="81280" marT="81280" marB="8128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l" fontAlgn="t"/>
                      <a:r>
                        <a:rPr lang="en-IN" sz="2400">
                          <a:solidFill>
                            <a:srgbClr val="000000"/>
                          </a:solidFill>
                          <a:effectLst/>
                          <a:latin typeface="verdana" panose="020B0604030504040204" pitchFamily="34" charset="0"/>
                        </a:rPr>
                        <a:t>T</a:t>
                      </a:r>
                    </a:p>
                  </a:txBody>
                  <a:tcPr marL="81280" marR="81280" marT="81280" marB="8128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l" fontAlgn="t"/>
                      <a:r>
                        <a:rPr lang="en-IN" sz="2400">
                          <a:solidFill>
                            <a:srgbClr val="000000"/>
                          </a:solidFill>
                          <a:effectLst/>
                          <a:latin typeface="verdana" panose="020B0604030504040204" pitchFamily="34" charset="0"/>
                        </a:rPr>
                        <a:t>F</a:t>
                      </a:r>
                    </a:p>
                  </a:txBody>
                  <a:tcPr marL="81280" marR="81280" marT="81280" marB="8128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l" fontAlgn="t"/>
                      <a:r>
                        <a:rPr lang="en-IN" sz="2400">
                          <a:solidFill>
                            <a:srgbClr val="000000"/>
                          </a:solidFill>
                          <a:effectLst/>
                          <a:latin typeface="verdana" panose="020B0604030504040204" pitchFamily="34" charset="0"/>
                        </a:rPr>
                        <a:t>F</a:t>
                      </a:r>
                    </a:p>
                  </a:txBody>
                  <a:tcPr marL="81280" marR="81280" marT="81280" marB="8128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l" fontAlgn="t"/>
                      <a:r>
                        <a:rPr lang="en-IN" sz="2400">
                          <a:solidFill>
                            <a:srgbClr val="000000"/>
                          </a:solidFill>
                          <a:effectLst/>
                          <a:latin typeface="verdana" panose="020B0604030504040204" pitchFamily="34" charset="0"/>
                        </a:rPr>
                        <a:t>T</a:t>
                      </a:r>
                    </a:p>
                  </a:txBody>
                  <a:tcPr marL="81280" marR="81280" marT="81280" marB="8128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l" fontAlgn="t"/>
                      <a:r>
                        <a:rPr lang="en-IN" sz="2400" dirty="0">
                          <a:solidFill>
                            <a:srgbClr val="000000"/>
                          </a:solidFill>
                          <a:effectLst/>
                          <a:latin typeface="verdana" panose="020B0604030504040204" pitchFamily="34" charset="0"/>
                        </a:rPr>
                        <a:t>T</a:t>
                      </a:r>
                    </a:p>
                  </a:txBody>
                  <a:tcPr marL="81280" marR="81280" marT="81280" marB="8128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4041410515"/>
                  </a:ext>
                </a:extLst>
              </a:tr>
              <a:tr h="528320">
                <a:tc>
                  <a:txBody>
                    <a:bodyPr/>
                    <a:lstStyle/>
                    <a:p>
                      <a:pPr algn="l" fontAlgn="t"/>
                      <a:r>
                        <a:rPr lang="en-IN" sz="2400">
                          <a:solidFill>
                            <a:srgbClr val="000000"/>
                          </a:solidFill>
                          <a:effectLst/>
                          <a:latin typeface="verdana" panose="020B0604030504040204" pitchFamily="34" charset="0"/>
                        </a:rPr>
                        <a:t>T</a:t>
                      </a:r>
                    </a:p>
                  </a:txBody>
                  <a:tcPr marL="81280" marR="81280" marT="81280" marB="8128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l" fontAlgn="t"/>
                      <a:r>
                        <a:rPr lang="en-IN" sz="2400">
                          <a:solidFill>
                            <a:srgbClr val="000000"/>
                          </a:solidFill>
                          <a:effectLst/>
                          <a:latin typeface="verdana" panose="020B0604030504040204" pitchFamily="34" charset="0"/>
                        </a:rPr>
                        <a:t>F</a:t>
                      </a:r>
                    </a:p>
                  </a:txBody>
                  <a:tcPr marL="81280" marR="81280" marT="81280" marB="8128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l" fontAlgn="t"/>
                      <a:r>
                        <a:rPr lang="en-IN" sz="2400">
                          <a:solidFill>
                            <a:srgbClr val="000000"/>
                          </a:solidFill>
                          <a:effectLst/>
                          <a:latin typeface="verdana" panose="020B0604030504040204" pitchFamily="34" charset="0"/>
                        </a:rPr>
                        <a:t>F</a:t>
                      </a:r>
                    </a:p>
                  </a:txBody>
                  <a:tcPr marL="81280" marR="81280" marT="81280" marB="8128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l" fontAlgn="t"/>
                      <a:r>
                        <a:rPr lang="en-IN" sz="2400">
                          <a:solidFill>
                            <a:srgbClr val="000000"/>
                          </a:solidFill>
                          <a:effectLst/>
                          <a:latin typeface="verdana" panose="020B0604030504040204" pitchFamily="34" charset="0"/>
                        </a:rPr>
                        <a:t>T</a:t>
                      </a:r>
                    </a:p>
                  </a:txBody>
                  <a:tcPr marL="81280" marR="81280" marT="81280" marB="8128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l" fontAlgn="t"/>
                      <a:r>
                        <a:rPr lang="en-IN" sz="2400" dirty="0">
                          <a:solidFill>
                            <a:srgbClr val="000000"/>
                          </a:solidFill>
                          <a:effectLst/>
                          <a:latin typeface="verdana" panose="020B0604030504040204" pitchFamily="34" charset="0"/>
                        </a:rPr>
                        <a:t>F</a:t>
                      </a:r>
                    </a:p>
                  </a:txBody>
                  <a:tcPr marL="81280" marR="81280" marT="81280" marB="8128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l" fontAlgn="t"/>
                      <a:r>
                        <a:rPr lang="en-IN" sz="2400">
                          <a:solidFill>
                            <a:srgbClr val="000000"/>
                          </a:solidFill>
                          <a:effectLst/>
                          <a:latin typeface="verdana" panose="020B0604030504040204" pitchFamily="34" charset="0"/>
                        </a:rPr>
                        <a:t>F</a:t>
                      </a:r>
                    </a:p>
                  </a:txBody>
                  <a:tcPr marL="81280" marR="81280" marT="81280" marB="8128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l" fontAlgn="t"/>
                      <a:r>
                        <a:rPr lang="en-IN" sz="2400" dirty="0">
                          <a:solidFill>
                            <a:srgbClr val="000000"/>
                          </a:solidFill>
                          <a:effectLst/>
                          <a:latin typeface="verdana" panose="020B0604030504040204" pitchFamily="34" charset="0"/>
                        </a:rPr>
                        <a:t>T</a:t>
                      </a:r>
                    </a:p>
                  </a:txBody>
                  <a:tcPr marL="81280" marR="81280" marT="81280" marB="8128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3542514037"/>
                  </a:ext>
                </a:extLst>
              </a:tr>
              <a:tr h="528320">
                <a:tc>
                  <a:txBody>
                    <a:bodyPr/>
                    <a:lstStyle/>
                    <a:p>
                      <a:pPr algn="l" fontAlgn="t"/>
                      <a:r>
                        <a:rPr lang="en-IN" sz="2400">
                          <a:solidFill>
                            <a:srgbClr val="000000"/>
                          </a:solidFill>
                          <a:effectLst/>
                          <a:latin typeface="verdana" panose="020B0604030504040204" pitchFamily="34" charset="0"/>
                        </a:rPr>
                        <a:t>F</a:t>
                      </a:r>
                    </a:p>
                  </a:txBody>
                  <a:tcPr marL="81280" marR="81280" marT="81280" marB="8128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l" fontAlgn="t"/>
                      <a:r>
                        <a:rPr lang="en-IN" sz="2400">
                          <a:solidFill>
                            <a:srgbClr val="000000"/>
                          </a:solidFill>
                          <a:effectLst/>
                          <a:latin typeface="verdana" panose="020B0604030504040204" pitchFamily="34" charset="0"/>
                        </a:rPr>
                        <a:t>T</a:t>
                      </a:r>
                    </a:p>
                  </a:txBody>
                  <a:tcPr marL="81280" marR="81280" marT="81280" marB="8128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l" fontAlgn="t"/>
                      <a:r>
                        <a:rPr lang="en-IN" sz="2400">
                          <a:solidFill>
                            <a:srgbClr val="000000"/>
                          </a:solidFill>
                          <a:effectLst/>
                          <a:latin typeface="verdana" panose="020B0604030504040204" pitchFamily="34" charset="0"/>
                        </a:rPr>
                        <a:t>T</a:t>
                      </a:r>
                    </a:p>
                  </a:txBody>
                  <a:tcPr marL="81280" marR="81280" marT="81280" marB="8128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l" fontAlgn="t"/>
                      <a:r>
                        <a:rPr lang="en-IN" sz="2400">
                          <a:solidFill>
                            <a:srgbClr val="000000"/>
                          </a:solidFill>
                          <a:effectLst/>
                          <a:latin typeface="verdana" panose="020B0604030504040204" pitchFamily="34" charset="0"/>
                        </a:rPr>
                        <a:t>F</a:t>
                      </a:r>
                    </a:p>
                  </a:txBody>
                  <a:tcPr marL="81280" marR="81280" marT="81280" marB="8128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l" fontAlgn="t"/>
                      <a:r>
                        <a:rPr lang="en-IN" sz="2400">
                          <a:solidFill>
                            <a:srgbClr val="000000"/>
                          </a:solidFill>
                          <a:effectLst/>
                          <a:latin typeface="verdana" panose="020B0604030504040204" pitchFamily="34" charset="0"/>
                        </a:rPr>
                        <a:t>T</a:t>
                      </a:r>
                    </a:p>
                  </a:txBody>
                  <a:tcPr marL="81280" marR="81280" marT="81280" marB="8128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l" fontAlgn="t"/>
                      <a:r>
                        <a:rPr lang="en-IN" sz="2400">
                          <a:solidFill>
                            <a:srgbClr val="000000"/>
                          </a:solidFill>
                          <a:effectLst/>
                          <a:latin typeface="verdana" panose="020B0604030504040204" pitchFamily="34" charset="0"/>
                        </a:rPr>
                        <a:t>T</a:t>
                      </a:r>
                    </a:p>
                  </a:txBody>
                  <a:tcPr marL="81280" marR="81280" marT="81280" marB="8128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l" fontAlgn="t"/>
                      <a:r>
                        <a:rPr lang="en-IN" sz="2400">
                          <a:solidFill>
                            <a:srgbClr val="000000"/>
                          </a:solidFill>
                          <a:effectLst/>
                          <a:latin typeface="verdana" panose="020B0604030504040204" pitchFamily="34" charset="0"/>
                        </a:rPr>
                        <a:t>T</a:t>
                      </a:r>
                    </a:p>
                  </a:txBody>
                  <a:tcPr marL="81280" marR="81280" marT="81280" marB="8128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2966642460"/>
                  </a:ext>
                </a:extLst>
              </a:tr>
              <a:tr h="528320">
                <a:tc>
                  <a:txBody>
                    <a:bodyPr/>
                    <a:lstStyle/>
                    <a:p>
                      <a:pPr algn="l" fontAlgn="t"/>
                      <a:r>
                        <a:rPr lang="en-IN" sz="2400">
                          <a:solidFill>
                            <a:srgbClr val="000000"/>
                          </a:solidFill>
                          <a:effectLst/>
                          <a:latin typeface="verdana" panose="020B0604030504040204" pitchFamily="34" charset="0"/>
                        </a:rPr>
                        <a:t>F</a:t>
                      </a:r>
                    </a:p>
                  </a:txBody>
                  <a:tcPr marL="81280" marR="81280" marT="81280" marB="8128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l" fontAlgn="t"/>
                      <a:r>
                        <a:rPr lang="en-IN" sz="2400">
                          <a:solidFill>
                            <a:srgbClr val="000000"/>
                          </a:solidFill>
                          <a:effectLst/>
                          <a:latin typeface="verdana" panose="020B0604030504040204" pitchFamily="34" charset="0"/>
                        </a:rPr>
                        <a:t>F</a:t>
                      </a:r>
                    </a:p>
                  </a:txBody>
                  <a:tcPr marL="81280" marR="81280" marT="81280" marB="8128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l" fontAlgn="t"/>
                      <a:r>
                        <a:rPr lang="en-IN" sz="2400">
                          <a:solidFill>
                            <a:srgbClr val="000000"/>
                          </a:solidFill>
                          <a:effectLst/>
                          <a:latin typeface="verdana" panose="020B0604030504040204" pitchFamily="34" charset="0"/>
                        </a:rPr>
                        <a:t>T</a:t>
                      </a:r>
                    </a:p>
                  </a:txBody>
                  <a:tcPr marL="81280" marR="81280" marT="81280" marB="8128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l" fontAlgn="t"/>
                      <a:r>
                        <a:rPr lang="en-IN" sz="2400">
                          <a:solidFill>
                            <a:srgbClr val="000000"/>
                          </a:solidFill>
                          <a:effectLst/>
                          <a:latin typeface="verdana" panose="020B0604030504040204" pitchFamily="34" charset="0"/>
                        </a:rPr>
                        <a:t>T</a:t>
                      </a:r>
                    </a:p>
                  </a:txBody>
                  <a:tcPr marL="81280" marR="81280" marT="81280" marB="8128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l" fontAlgn="t"/>
                      <a:r>
                        <a:rPr lang="en-IN" sz="2400">
                          <a:solidFill>
                            <a:srgbClr val="000000"/>
                          </a:solidFill>
                          <a:effectLst/>
                          <a:latin typeface="verdana" panose="020B0604030504040204" pitchFamily="34" charset="0"/>
                        </a:rPr>
                        <a:t>T</a:t>
                      </a:r>
                    </a:p>
                  </a:txBody>
                  <a:tcPr marL="81280" marR="81280" marT="81280" marB="8128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l" fontAlgn="t"/>
                      <a:r>
                        <a:rPr lang="en-IN" sz="2400">
                          <a:solidFill>
                            <a:srgbClr val="000000"/>
                          </a:solidFill>
                          <a:effectLst/>
                          <a:latin typeface="verdana" panose="020B0604030504040204" pitchFamily="34" charset="0"/>
                        </a:rPr>
                        <a:t>T</a:t>
                      </a:r>
                    </a:p>
                  </a:txBody>
                  <a:tcPr marL="81280" marR="81280" marT="81280" marB="8128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l" fontAlgn="t"/>
                      <a:r>
                        <a:rPr lang="en-IN" sz="2400" dirty="0">
                          <a:solidFill>
                            <a:srgbClr val="000000"/>
                          </a:solidFill>
                          <a:effectLst/>
                          <a:latin typeface="verdana" panose="020B0604030504040204" pitchFamily="34" charset="0"/>
                        </a:rPr>
                        <a:t>T</a:t>
                      </a:r>
                    </a:p>
                  </a:txBody>
                  <a:tcPr marL="81280" marR="81280" marT="81280" marB="8128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062265015"/>
                  </a:ext>
                </a:extLst>
              </a:tr>
            </a:tbl>
          </a:graphicData>
        </a:graphic>
      </p:graphicFrame>
      <p:sp>
        <p:nvSpPr>
          <p:cNvPr id="6" name="Rectangle 1">
            <a:extLst>
              <a:ext uri="{FF2B5EF4-FFF2-40B4-BE49-F238E27FC236}">
                <a16:creationId xmlns:a16="http://schemas.microsoft.com/office/drawing/2014/main" id="{DC1CF355-9F58-44E3-899C-F11A94E49746}"/>
              </a:ext>
            </a:extLst>
          </p:cNvPr>
          <p:cNvSpPr>
            <a:spLocks noChangeArrowheads="1"/>
          </p:cNvSpPr>
          <p:nvPr/>
        </p:nvSpPr>
        <p:spPr bwMode="auto">
          <a:xfrm>
            <a:off x="1016000" y="6323111"/>
            <a:ext cx="452316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21920" tIns="60960" rIns="121920" bIns="60960" numCol="1" anchor="ctr" anchorCtr="0" compatLnSpc="1">
            <a:prstTxWarp prst="textNoShape">
              <a:avLst/>
            </a:prstTxWarp>
            <a:spAutoFit/>
          </a:bodyPr>
          <a:lstStyle/>
          <a:p>
            <a:pPr defTabSz="1219170" eaLnBrk="0" fontAlgn="base" hangingPunct="0">
              <a:spcBef>
                <a:spcPct val="0"/>
              </a:spcBef>
              <a:spcAft>
                <a:spcPct val="0"/>
              </a:spcAft>
            </a:pPr>
            <a:r>
              <a:rPr lang="en-US" altLang="en-US" sz="1200" dirty="0">
                <a:solidFill>
                  <a:srgbClr val="000000"/>
                </a:solidFill>
                <a:latin typeface="Verdana" panose="020B0604030504040204" pitchFamily="34" charset="0"/>
              </a:rPr>
              <a:t>As the final column contains all T's, so it is a tautology.</a:t>
            </a:r>
            <a:endParaRPr lang="en-US" altLang="en-US" sz="2400" dirty="0">
              <a:latin typeface="Arial" panose="020B0604020202020204" pitchFamily="34" charset="0"/>
            </a:endParaRPr>
          </a:p>
        </p:txBody>
      </p:sp>
    </p:spTree>
    <p:extLst>
      <p:ext uri="{BB962C8B-B14F-4D97-AF65-F5344CB8AC3E}">
        <p14:creationId xmlns:p14="http://schemas.microsoft.com/office/powerpoint/2010/main" val="21007497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1C12B41-2D94-415C-817A-2D91FE16749F}"/>
              </a:ext>
            </a:extLst>
          </p:cNvPr>
          <p:cNvSpPr/>
          <p:nvPr/>
        </p:nvSpPr>
        <p:spPr>
          <a:xfrm>
            <a:off x="1431278" y="1074002"/>
            <a:ext cx="9956800" cy="1569660"/>
          </a:xfrm>
          <a:prstGeom prst="rect">
            <a:avLst/>
          </a:prstGeom>
        </p:spPr>
        <p:txBody>
          <a:bodyPr wrap="square">
            <a:spAutoFit/>
          </a:bodyPr>
          <a:lstStyle/>
          <a:p>
            <a:r>
              <a:rPr lang="en-US" sz="2400" dirty="0"/>
              <a:t>Contradiction:</a:t>
            </a:r>
          </a:p>
          <a:p>
            <a:r>
              <a:rPr lang="en-US" sz="2400" dirty="0"/>
              <a:t>A statement that is always false is known as a contradiction.</a:t>
            </a:r>
          </a:p>
          <a:p>
            <a:r>
              <a:rPr lang="en-US" sz="2400" dirty="0"/>
              <a:t>Example: Show that the statement p ∧∼p is a contradiction.</a:t>
            </a:r>
          </a:p>
          <a:p>
            <a:r>
              <a:rPr lang="en-US" sz="2400" dirty="0"/>
              <a:t>Solution:</a:t>
            </a:r>
            <a:endParaRPr lang="en-IN" sz="2400" dirty="0"/>
          </a:p>
        </p:txBody>
      </p:sp>
      <p:graphicFrame>
        <p:nvGraphicFramePr>
          <p:cNvPr id="3" name="Table 2">
            <a:extLst>
              <a:ext uri="{FF2B5EF4-FFF2-40B4-BE49-F238E27FC236}">
                <a16:creationId xmlns:a16="http://schemas.microsoft.com/office/drawing/2014/main" id="{EA1E518C-C833-4947-8A22-E462B0DEDD03}"/>
              </a:ext>
            </a:extLst>
          </p:cNvPr>
          <p:cNvGraphicFramePr>
            <a:graphicFrameLocks noGrp="1"/>
          </p:cNvGraphicFramePr>
          <p:nvPr/>
        </p:nvGraphicFramePr>
        <p:xfrm>
          <a:off x="1219200" y="2717800"/>
          <a:ext cx="9973056" cy="1584960"/>
        </p:xfrm>
        <a:graphic>
          <a:graphicData uri="http://schemas.openxmlformats.org/drawingml/2006/table">
            <a:tbl>
              <a:tblPr/>
              <a:tblGrid>
                <a:gridCol w="3324352">
                  <a:extLst>
                    <a:ext uri="{9D8B030D-6E8A-4147-A177-3AD203B41FA5}">
                      <a16:colId xmlns:a16="http://schemas.microsoft.com/office/drawing/2014/main" val="2266311505"/>
                    </a:ext>
                  </a:extLst>
                </a:gridCol>
                <a:gridCol w="3324352">
                  <a:extLst>
                    <a:ext uri="{9D8B030D-6E8A-4147-A177-3AD203B41FA5}">
                      <a16:colId xmlns:a16="http://schemas.microsoft.com/office/drawing/2014/main" val="656103612"/>
                    </a:ext>
                  </a:extLst>
                </a:gridCol>
                <a:gridCol w="3324352">
                  <a:extLst>
                    <a:ext uri="{9D8B030D-6E8A-4147-A177-3AD203B41FA5}">
                      <a16:colId xmlns:a16="http://schemas.microsoft.com/office/drawing/2014/main" val="2463874739"/>
                    </a:ext>
                  </a:extLst>
                </a:gridCol>
              </a:tblGrid>
              <a:tr h="528320">
                <a:tc>
                  <a:txBody>
                    <a:bodyPr/>
                    <a:lstStyle/>
                    <a:p>
                      <a:pPr algn="l" fontAlgn="t"/>
                      <a:r>
                        <a:rPr lang="en-IN" sz="2400">
                          <a:solidFill>
                            <a:srgbClr val="000000"/>
                          </a:solidFill>
                          <a:effectLst/>
                          <a:latin typeface="verdana" panose="020B0604030504040204" pitchFamily="34" charset="0"/>
                        </a:rPr>
                        <a:t>p</a:t>
                      </a:r>
                    </a:p>
                  </a:txBody>
                  <a:tcPr marL="81280" marR="81280" marT="81280" marB="8128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l" fontAlgn="t"/>
                      <a:r>
                        <a:rPr lang="en-IN" sz="2400">
                          <a:solidFill>
                            <a:srgbClr val="000000"/>
                          </a:solidFill>
                          <a:effectLst/>
                          <a:latin typeface="verdana" panose="020B0604030504040204" pitchFamily="34" charset="0"/>
                        </a:rPr>
                        <a:t>∼p</a:t>
                      </a:r>
                    </a:p>
                  </a:txBody>
                  <a:tcPr marL="81280" marR="81280" marT="81280" marB="8128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l" fontAlgn="t"/>
                      <a:r>
                        <a:rPr lang="en-IN" sz="2400">
                          <a:solidFill>
                            <a:srgbClr val="000000"/>
                          </a:solidFill>
                          <a:effectLst/>
                          <a:latin typeface="verdana" panose="020B0604030504040204" pitchFamily="34" charset="0"/>
                        </a:rPr>
                        <a:t>p ∧∼p</a:t>
                      </a:r>
                    </a:p>
                  </a:txBody>
                  <a:tcPr marL="81280" marR="81280" marT="81280" marB="8128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2993090555"/>
                  </a:ext>
                </a:extLst>
              </a:tr>
              <a:tr h="528320">
                <a:tc>
                  <a:txBody>
                    <a:bodyPr/>
                    <a:lstStyle/>
                    <a:p>
                      <a:pPr algn="l" fontAlgn="t"/>
                      <a:r>
                        <a:rPr lang="en-IN" sz="2400">
                          <a:solidFill>
                            <a:srgbClr val="000000"/>
                          </a:solidFill>
                          <a:effectLst/>
                          <a:latin typeface="verdana" panose="020B0604030504040204" pitchFamily="34" charset="0"/>
                        </a:rPr>
                        <a:t>T</a:t>
                      </a:r>
                    </a:p>
                  </a:txBody>
                  <a:tcPr marL="81280" marR="81280" marT="81280" marB="8128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l" fontAlgn="t"/>
                      <a:r>
                        <a:rPr lang="en-IN" sz="2400">
                          <a:solidFill>
                            <a:srgbClr val="000000"/>
                          </a:solidFill>
                          <a:effectLst/>
                          <a:latin typeface="verdana" panose="020B0604030504040204" pitchFamily="34" charset="0"/>
                        </a:rPr>
                        <a:t>F</a:t>
                      </a:r>
                    </a:p>
                  </a:txBody>
                  <a:tcPr marL="81280" marR="81280" marT="81280" marB="8128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l" fontAlgn="t"/>
                      <a:r>
                        <a:rPr lang="en-IN" sz="2400">
                          <a:solidFill>
                            <a:srgbClr val="000000"/>
                          </a:solidFill>
                          <a:effectLst/>
                          <a:latin typeface="verdana" panose="020B0604030504040204" pitchFamily="34" charset="0"/>
                        </a:rPr>
                        <a:t>F</a:t>
                      </a:r>
                    </a:p>
                  </a:txBody>
                  <a:tcPr marL="81280" marR="81280" marT="81280" marB="8128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2775141054"/>
                  </a:ext>
                </a:extLst>
              </a:tr>
              <a:tr h="528320">
                <a:tc>
                  <a:txBody>
                    <a:bodyPr/>
                    <a:lstStyle/>
                    <a:p>
                      <a:pPr algn="l" fontAlgn="t"/>
                      <a:r>
                        <a:rPr lang="en-IN" sz="2400">
                          <a:solidFill>
                            <a:srgbClr val="000000"/>
                          </a:solidFill>
                          <a:effectLst/>
                          <a:latin typeface="verdana" panose="020B0604030504040204" pitchFamily="34" charset="0"/>
                        </a:rPr>
                        <a:t>F</a:t>
                      </a:r>
                    </a:p>
                  </a:txBody>
                  <a:tcPr marL="81280" marR="81280" marT="81280" marB="8128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l" fontAlgn="t"/>
                      <a:r>
                        <a:rPr lang="en-IN" sz="2400">
                          <a:solidFill>
                            <a:srgbClr val="000000"/>
                          </a:solidFill>
                          <a:effectLst/>
                          <a:latin typeface="verdana" panose="020B0604030504040204" pitchFamily="34" charset="0"/>
                        </a:rPr>
                        <a:t>T</a:t>
                      </a:r>
                    </a:p>
                  </a:txBody>
                  <a:tcPr marL="81280" marR="81280" marT="81280" marB="8128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l" fontAlgn="t"/>
                      <a:r>
                        <a:rPr lang="en-IN" sz="2400" dirty="0">
                          <a:solidFill>
                            <a:srgbClr val="000000"/>
                          </a:solidFill>
                          <a:effectLst/>
                          <a:latin typeface="verdana" panose="020B0604030504040204" pitchFamily="34" charset="0"/>
                        </a:rPr>
                        <a:t>F</a:t>
                      </a:r>
                    </a:p>
                  </a:txBody>
                  <a:tcPr marL="81280" marR="81280" marT="81280" marB="8128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742364332"/>
                  </a:ext>
                </a:extLst>
              </a:tr>
            </a:tbl>
          </a:graphicData>
        </a:graphic>
      </p:graphicFrame>
      <p:sp>
        <p:nvSpPr>
          <p:cNvPr id="4" name="Rectangle 3">
            <a:extLst>
              <a:ext uri="{FF2B5EF4-FFF2-40B4-BE49-F238E27FC236}">
                <a16:creationId xmlns:a16="http://schemas.microsoft.com/office/drawing/2014/main" id="{224BC349-5FC4-46D5-A362-F0C1E1718AB0}"/>
              </a:ext>
            </a:extLst>
          </p:cNvPr>
          <p:cNvSpPr/>
          <p:nvPr/>
        </p:nvSpPr>
        <p:spPr>
          <a:xfrm>
            <a:off x="2235200" y="4953001"/>
            <a:ext cx="6096000" cy="830997"/>
          </a:xfrm>
          <a:prstGeom prst="rect">
            <a:avLst/>
          </a:prstGeom>
        </p:spPr>
        <p:txBody>
          <a:bodyPr>
            <a:spAutoFit/>
          </a:bodyPr>
          <a:lstStyle/>
          <a:p>
            <a:r>
              <a:rPr lang="en-US" sz="2400" dirty="0">
                <a:solidFill>
                  <a:srgbClr val="000000"/>
                </a:solidFill>
                <a:latin typeface="verdana" panose="020B0604030504040204" pitchFamily="34" charset="0"/>
              </a:rPr>
              <a:t>Since, the last column contains all F's, so it's a contradiction.</a:t>
            </a:r>
            <a:endParaRPr lang="en-IN" sz="2400" dirty="0"/>
          </a:p>
        </p:txBody>
      </p:sp>
    </p:spTree>
    <p:extLst>
      <p:ext uri="{BB962C8B-B14F-4D97-AF65-F5344CB8AC3E}">
        <p14:creationId xmlns:p14="http://schemas.microsoft.com/office/powerpoint/2010/main" val="240227663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4CBA477-9ADA-46A5-BCB5-4B7805403310}"/>
              </a:ext>
            </a:extLst>
          </p:cNvPr>
          <p:cNvSpPr/>
          <p:nvPr/>
        </p:nvSpPr>
        <p:spPr>
          <a:xfrm>
            <a:off x="1227327" y="990600"/>
            <a:ext cx="9855200" cy="1200329"/>
          </a:xfrm>
          <a:prstGeom prst="rect">
            <a:avLst/>
          </a:prstGeom>
        </p:spPr>
        <p:txBody>
          <a:bodyPr wrap="square">
            <a:spAutoFit/>
          </a:bodyPr>
          <a:lstStyle/>
          <a:p>
            <a:r>
              <a:rPr lang="en-US" sz="2400" dirty="0">
                <a:solidFill>
                  <a:srgbClr val="610B38"/>
                </a:solidFill>
                <a:latin typeface="erdana"/>
              </a:rPr>
              <a:t>Contingency:</a:t>
            </a:r>
          </a:p>
          <a:p>
            <a:r>
              <a:rPr lang="en-US" sz="2400" dirty="0">
                <a:solidFill>
                  <a:srgbClr val="000000"/>
                </a:solidFill>
                <a:latin typeface="verdana" panose="020B0604030504040204" pitchFamily="34" charset="0"/>
              </a:rPr>
              <a:t>A statement that can be either true or false depending on the truth values of its variables is called a contingency.</a:t>
            </a:r>
          </a:p>
        </p:txBody>
      </p:sp>
      <p:graphicFrame>
        <p:nvGraphicFramePr>
          <p:cNvPr id="3" name="Table 2">
            <a:extLst>
              <a:ext uri="{FF2B5EF4-FFF2-40B4-BE49-F238E27FC236}">
                <a16:creationId xmlns:a16="http://schemas.microsoft.com/office/drawing/2014/main" id="{34D8B110-DF34-434B-BDD9-E350794A7EBE}"/>
              </a:ext>
            </a:extLst>
          </p:cNvPr>
          <p:cNvGraphicFramePr>
            <a:graphicFrameLocks noGrp="1"/>
          </p:cNvGraphicFramePr>
          <p:nvPr/>
        </p:nvGraphicFramePr>
        <p:xfrm>
          <a:off x="1109474" y="2497879"/>
          <a:ext cx="9973055" cy="3007360"/>
        </p:xfrm>
        <a:graphic>
          <a:graphicData uri="http://schemas.openxmlformats.org/drawingml/2006/table">
            <a:tbl>
              <a:tblPr/>
              <a:tblGrid>
                <a:gridCol w="1994611">
                  <a:extLst>
                    <a:ext uri="{9D8B030D-6E8A-4147-A177-3AD203B41FA5}">
                      <a16:colId xmlns:a16="http://schemas.microsoft.com/office/drawing/2014/main" val="1923070017"/>
                    </a:ext>
                  </a:extLst>
                </a:gridCol>
                <a:gridCol w="1994611">
                  <a:extLst>
                    <a:ext uri="{9D8B030D-6E8A-4147-A177-3AD203B41FA5}">
                      <a16:colId xmlns:a16="http://schemas.microsoft.com/office/drawing/2014/main" val="2045477774"/>
                    </a:ext>
                  </a:extLst>
                </a:gridCol>
                <a:gridCol w="1994611">
                  <a:extLst>
                    <a:ext uri="{9D8B030D-6E8A-4147-A177-3AD203B41FA5}">
                      <a16:colId xmlns:a16="http://schemas.microsoft.com/office/drawing/2014/main" val="470308523"/>
                    </a:ext>
                  </a:extLst>
                </a:gridCol>
                <a:gridCol w="1994611">
                  <a:extLst>
                    <a:ext uri="{9D8B030D-6E8A-4147-A177-3AD203B41FA5}">
                      <a16:colId xmlns:a16="http://schemas.microsoft.com/office/drawing/2014/main" val="3211359068"/>
                    </a:ext>
                  </a:extLst>
                </a:gridCol>
                <a:gridCol w="1994611">
                  <a:extLst>
                    <a:ext uri="{9D8B030D-6E8A-4147-A177-3AD203B41FA5}">
                      <a16:colId xmlns:a16="http://schemas.microsoft.com/office/drawing/2014/main" val="155605144"/>
                    </a:ext>
                  </a:extLst>
                </a:gridCol>
              </a:tblGrid>
              <a:tr h="894080">
                <a:tc>
                  <a:txBody>
                    <a:bodyPr/>
                    <a:lstStyle/>
                    <a:p>
                      <a:pPr algn="l" fontAlgn="t"/>
                      <a:r>
                        <a:rPr lang="en-IN" sz="2400">
                          <a:solidFill>
                            <a:srgbClr val="000000"/>
                          </a:solidFill>
                          <a:effectLst/>
                          <a:latin typeface="verdana" panose="020B0604030504040204" pitchFamily="34" charset="0"/>
                        </a:rPr>
                        <a:t>p</a:t>
                      </a:r>
                    </a:p>
                  </a:txBody>
                  <a:tcPr marL="81280" marR="81280" marT="81280" marB="8128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l" fontAlgn="t"/>
                      <a:r>
                        <a:rPr lang="en-IN" sz="2400">
                          <a:solidFill>
                            <a:srgbClr val="000000"/>
                          </a:solidFill>
                          <a:effectLst/>
                          <a:latin typeface="verdana" panose="020B0604030504040204" pitchFamily="34" charset="0"/>
                        </a:rPr>
                        <a:t>q</a:t>
                      </a:r>
                    </a:p>
                  </a:txBody>
                  <a:tcPr marL="81280" marR="81280" marT="81280" marB="8128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l" fontAlgn="t"/>
                      <a:r>
                        <a:rPr lang="en-IN" sz="2400">
                          <a:solidFill>
                            <a:srgbClr val="000000"/>
                          </a:solidFill>
                          <a:effectLst/>
                          <a:latin typeface="verdana" panose="020B0604030504040204" pitchFamily="34" charset="0"/>
                        </a:rPr>
                        <a:t>p →q</a:t>
                      </a:r>
                    </a:p>
                  </a:txBody>
                  <a:tcPr marL="81280" marR="81280" marT="81280" marB="8128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l" fontAlgn="t"/>
                      <a:r>
                        <a:rPr lang="en-IN" sz="2400">
                          <a:solidFill>
                            <a:srgbClr val="000000"/>
                          </a:solidFill>
                          <a:effectLst/>
                          <a:latin typeface="verdana" panose="020B0604030504040204" pitchFamily="34" charset="0"/>
                        </a:rPr>
                        <a:t>p∧q</a:t>
                      </a:r>
                    </a:p>
                  </a:txBody>
                  <a:tcPr marL="81280" marR="81280" marT="81280" marB="8128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l" fontAlgn="t"/>
                      <a:r>
                        <a:rPr lang="en-IN" sz="2400">
                          <a:solidFill>
                            <a:srgbClr val="000000"/>
                          </a:solidFill>
                          <a:effectLst/>
                          <a:latin typeface="verdana" panose="020B0604030504040204" pitchFamily="34" charset="0"/>
                        </a:rPr>
                        <a:t>(p →q)⟶ (p∧q )</a:t>
                      </a:r>
                    </a:p>
                  </a:txBody>
                  <a:tcPr marL="81280" marR="81280" marT="81280" marB="8128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442623317"/>
                  </a:ext>
                </a:extLst>
              </a:tr>
              <a:tr h="528320">
                <a:tc>
                  <a:txBody>
                    <a:bodyPr/>
                    <a:lstStyle/>
                    <a:p>
                      <a:pPr algn="l" fontAlgn="t"/>
                      <a:r>
                        <a:rPr lang="en-IN" sz="2400">
                          <a:solidFill>
                            <a:srgbClr val="000000"/>
                          </a:solidFill>
                          <a:effectLst/>
                          <a:latin typeface="verdana" panose="020B0604030504040204" pitchFamily="34" charset="0"/>
                        </a:rPr>
                        <a:t>T</a:t>
                      </a:r>
                    </a:p>
                  </a:txBody>
                  <a:tcPr marL="81280" marR="81280" marT="81280" marB="8128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l" fontAlgn="t"/>
                      <a:r>
                        <a:rPr lang="en-IN" sz="2400">
                          <a:solidFill>
                            <a:srgbClr val="000000"/>
                          </a:solidFill>
                          <a:effectLst/>
                          <a:latin typeface="verdana" panose="020B0604030504040204" pitchFamily="34" charset="0"/>
                        </a:rPr>
                        <a:t>T</a:t>
                      </a:r>
                    </a:p>
                  </a:txBody>
                  <a:tcPr marL="81280" marR="81280" marT="81280" marB="8128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l" fontAlgn="t"/>
                      <a:r>
                        <a:rPr lang="en-IN" sz="2400">
                          <a:solidFill>
                            <a:srgbClr val="000000"/>
                          </a:solidFill>
                          <a:effectLst/>
                          <a:latin typeface="verdana" panose="020B0604030504040204" pitchFamily="34" charset="0"/>
                        </a:rPr>
                        <a:t>T</a:t>
                      </a:r>
                    </a:p>
                  </a:txBody>
                  <a:tcPr marL="81280" marR="81280" marT="81280" marB="8128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l" fontAlgn="t"/>
                      <a:r>
                        <a:rPr lang="en-IN" sz="2400">
                          <a:solidFill>
                            <a:srgbClr val="000000"/>
                          </a:solidFill>
                          <a:effectLst/>
                          <a:latin typeface="verdana" panose="020B0604030504040204" pitchFamily="34" charset="0"/>
                        </a:rPr>
                        <a:t>T</a:t>
                      </a:r>
                    </a:p>
                  </a:txBody>
                  <a:tcPr marL="81280" marR="81280" marT="81280" marB="8128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l" fontAlgn="t"/>
                      <a:r>
                        <a:rPr lang="en-IN" sz="2400">
                          <a:solidFill>
                            <a:srgbClr val="000000"/>
                          </a:solidFill>
                          <a:effectLst/>
                          <a:latin typeface="verdana" panose="020B0604030504040204" pitchFamily="34" charset="0"/>
                        </a:rPr>
                        <a:t>T</a:t>
                      </a:r>
                    </a:p>
                  </a:txBody>
                  <a:tcPr marL="81280" marR="81280" marT="81280" marB="8128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317362708"/>
                  </a:ext>
                </a:extLst>
              </a:tr>
              <a:tr h="528320">
                <a:tc>
                  <a:txBody>
                    <a:bodyPr/>
                    <a:lstStyle/>
                    <a:p>
                      <a:pPr algn="l" fontAlgn="t"/>
                      <a:r>
                        <a:rPr lang="en-IN" sz="2400">
                          <a:solidFill>
                            <a:srgbClr val="000000"/>
                          </a:solidFill>
                          <a:effectLst/>
                          <a:latin typeface="verdana" panose="020B0604030504040204" pitchFamily="34" charset="0"/>
                        </a:rPr>
                        <a:t>T</a:t>
                      </a:r>
                    </a:p>
                  </a:txBody>
                  <a:tcPr marL="81280" marR="81280" marT="81280" marB="8128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l" fontAlgn="t"/>
                      <a:r>
                        <a:rPr lang="en-IN" sz="2400">
                          <a:solidFill>
                            <a:srgbClr val="000000"/>
                          </a:solidFill>
                          <a:effectLst/>
                          <a:latin typeface="verdana" panose="020B0604030504040204" pitchFamily="34" charset="0"/>
                        </a:rPr>
                        <a:t>F</a:t>
                      </a:r>
                    </a:p>
                  </a:txBody>
                  <a:tcPr marL="81280" marR="81280" marT="81280" marB="8128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l" fontAlgn="t"/>
                      <a:r>
                        <a:rPr lang="en-IN" sz="2400">
                          <a:solidFill>
                            <a:srgbClr val="000000"/>
                          </a:solidFill>
                          <a:effectLst/>
                          <a:latin typeface="verdana" panose="020B0604030504040204" pitchFamily="34" charset="0"/>
                        </a:rPr>
                        <a:t>F</a:t>
                      </a:r>
                    </a:p>
                  </a:txBody>
                  <a:tcPr marL="81280" marR="81280" marT="81280" marB="8128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l" fontAlgn="t"/>
                      <a:r>
                        <a:rPr lang="en-IN" sz="2400">
                          <a:solidFill>
                            <a:srgbClr val="000000"/>
                          </a:solidFill>
                          <a:effectLst/>
                          <a:latin typeface="verdana" panose="020B0604030504040204" pitchFamily="34" charset="0"/>
                        </a:rPr>
                        <a:t>F</a:t>
                      </a:r>
                    </a:p>
                  </a:txBody>
                  <a:tcPr marL="81280" marR="81280" marT="81280" marB="8128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l" fontAlgn="t"/>
                      <a:r>
                        <a:rPr lang="en-IN" sz="2400">
                          <a:solidFill>
                            <a:srgbClr val="000000"/>
                          </a:solidFill>
                          <a:effectLst/>
                          <a:latin typeface="verdana" panose="020B0604030504040204" pitchFamily="34" charset="0"/>
                        </a:rPr>
                        <a:t>T</a:t>
                      </a:r>
                    </a:p>
                  </a:txBody>
                  <a:tcPr marL="81280" marR="81280" marT="81280" marB="8128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242361656"/>
                  </a:ext>
                </a:extLst>
              </a:tr>
              <a:tr h="528320">
                <a:tc>
                  <a:txBody>
                    <a:bodyPr/>
                    <a:lstStyle/>
                    <a:p>
                      <a:pPr algn="l" fontAlgn="t"/>
                      <a:r>
                        <a:rPr lang="en-IN" sz="2400">
                          <a:solidFill>
                            <a:srgbClr val="000000"/>
                          </a:solidFill>
                          <a:effectLst/>
                          <a:latin typeface="verdana" panose="020B0604030504040204" pitchFamily="34" charset="0"/>
                        </a:rPr>
                        <a:t>F</a:t>
                      </a:r>
                    </a:p>
                  </a:txBody>
                  <a:tcPr marL="81280" marR="81280" marT="81280" marB="8128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l" fontAlgn="t"/>
                      <a:r>
                        <a:rPr lang="en-IN" sz="2400">
                          <a:solidFill>
                            <a:srgbClr val="000000"/>
                          </a:solidFill>
                          <a:effectLst/>
                          <a:latin typeface="verdana" panose="020B0604030504040204" pitchFamily="34" charset="0"/>
                        </a:rPr>
                        <a:t>T</a:t>
                      </a:r>
                    </a:p>
                  </a:txBody>
                  <a:tcPr marL="81280" marR="81280" marT="81280" marB="8128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l" fontAlgn="t"/>
                      <a:r>
                        <a:rPr lang="en-IN" sz="2400">
                          <a:solidFill>
                            <a:srgbClr val="000000"/>
                          </a:solidFill>
                          <a:effectLst/>
                          <a:latin typeface="verdana" panose="020B0604030504040204" pitchFamily="34" charset="0"/>
                        </a:rPr>
                        <a:t>T</a:t>
                      </a:r>
                    </a:p>
                  </a:txBody>
                  <a:tcPr marL="81280" marR="81280" marT="81280" marB="8128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l" fontAlgn="t"/>
                      <a:r>
                        <a:rPr lang="en-IN" sz="2400">
                          <a:solidFill>
                            <a:srgbClr val="000000"/>
                          </a:solidFill>
                          <a:effectLst/>
                          <a:latin typeface="verdana" panose="020B0604030504040204" pitchFamily="34" charset="0"/>
                        </a:rPr>
                        <a:t>F</a:t>
                      </a:r>
                    </a:p>
                  </a:txBody>
                  <a:tcPr marL="81280" marR="81280" marT="81280" marB="8128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l" fontAlgn="t"/>
                      <a:r>
                        <a:rPr lang="en-IN" sz="2400">
                          <a:solidFill>
                            <a:srgbClr val="000000"/>
                          </a:solidFill>
                          <a:effectLst/>
                          <a:latin typeface="verdana" panose="020B0604030504040204" pitchFamily="34" charset="0"/>
                        </a:rPr>
                        <a:t>F</a:t>
                      </a:r>
                    </a:p>
                  </a:txBody>
                  <a:tcPr marL="81280" marR="81280" marT="81280" marB="8128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567420234"/>
                  </a:ext>
                </a:extLst>
              </a:tr>
              <a:tr h="528320">
                <a:tc>
                  <a:txBody>
                    <a:bodyPr/>
                    <a:lstStyle/>
                    <a:p>
                      <a:pPr algn="l" fontAlgn="t"/>
                      <a:r>
                        <a:rPr lang="en-IN" sz="2400">
                          <a:solidFill>
                            <a:srgbClr val="000000"/>
                          </a:solidFill>
                          <a:effectLst/>
                          <a:latin typeface="verdana" panose="020B0604030504040204" pitchFamily="34" charset="0"/>
                        </a:rPr>
                        <a:t>F</a:t>
                      </a:r>
                    </a:p>
                  </a:txBody>
                  <a:tcPr marL="81280" marR="81280" marT="81280" marB="8128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l" fontAlgn="t"/>
                      <a:r>
                        <a:rPr lang="en-IN" sz="2400">
                          <a:solidFill>
                            <a:srgbClr val="000000"/>
                          </a:solidFill>
                          <a:effectLst/>
                          <a:latin typeface="verdana" panose="020B0604030504040204" pitchFamily="34" charset="0"/>
                        </a:rPr>
                        <a:t>F</a:t>
                      </a:r>
                    </a:p>
                  </a:txBody>
                  <a:tcPr marL="81280" marR="81280" marT="81280" marB="8128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l" fontAlgn="t"/>
                      <a:r>
                        <a:rPr lang="en-IN" sz="2400">
                          <a:solidFill>
                            <a:srgbClr val="000000"/>
                          </a:solidFill>
                          <a:effectLst/>
                          <a:latin typeface="verdana" panose="020B0604030504040204" pitchFamily="34" charset="0"/>
                        </a:rPr>
                        <a:t>T</a:t>
                      </a:r>
                    </a:p>
                  </a:txBody>
                  <a:tcPr marL="81280" marR="81280" marT="81280" marB="8128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l" fontAlgn="t"/>
                      <a:r>
                        <a:rPr lang="en-IN" sz="2400">
                          <a:solidFill>
                            <a:srgbClr val="000000"/>
                          </a:solidFill>
                          <a:effectLst/>
                          <a:latin typeface="verdana" panose="020B0604030504040204" pitchFamily="34" charset="0"/>
                        </a:rPr>
                        <a:t>F</a:t>
                      </a:r>
                    </a:p>
                  </a:txBody>
                  <a:tcPr marL="81280" marR="81280" marT="81280" marB="8128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l" fontAlgn="t"/>
                      <a:r>
                        <a:rPr lang="en-IN" sz="2400" dirty="0">
                          <a:solidFill>
                            <a:srgbClr val="000000"/>
                          </a:solidFill>
                          <a:effectLst/>
                          <a:latin typeface="verdana" panose="020B0604030504040204" pitchFamily="34" charset="0"/>
                        </a:rPr>
                        <a:t>F</a:t>
                      </a:r>
                    </a:p>
                  </a:txBody>
                  <a:tcPr marL="81280" marR="81280" marT="81280" marB="8128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4046275775"/>
                  </a:ext>
                </a:extLst>
              </a:tr>
            </a:tbl>
          </a:graphicData>
        </a:graphic>
      </p:graphicFrame>
    </p:spTree>
    <p:extLst>
      <p:ext uri="{BB962C8B-B14F-4D97-AF65-F5344CB8AC3E}">
        <p14:creationId xmlns:p14="http://schemas.microsoft.com/office/powerpoint/2010/main" val="83442164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11EAED7-C8F9-45D8-A96E-859AC6FA8DAD}"/>
              </a:ext>
            </a:extLst>
          </p:cNvPr>
          <p:cNvSpPr txBox="1"/>
          <p:nvPr/>
        </p:nvSpPr>
        <p:spPr>
          <a:xfrm>
            <a:off x="3386664" y="256168"/>
            <a:ext cx="3876382" cy="543675"/>
          </a:xfrm>
          <a:prstGeom prst="rect">
            <a:avLst/>
          </a:prstGeom>
          <a:noFill/>
        </p:spPr>
        <p:txBody>
          <a:bodyPr wrap="none" rtlCol="0">
            <a:spAutoFit/>
          </a:bodyPr>
          <a:lstStyle/>
          <a:p>
            <a:r>
              <a:rPr lang="en-US" altLang="en-US" sz="2933" dirty="0">
                <a:solidFill>
                  <a:schemeClr val="tx1">
                    <a:lumMod val="95000"/>
                    <a:lumOff val="5000"/>
                  </a:schemeClr>
                </a:solidFill>
                <a:latin typeface="Century Gothic" panose="020B0502020202020204" pitchFamily="34" charset="0"/>
                <a:cs typeface="Arial" pitchFamily="34" charset="0"/>
              </a:rPr>
              <a:t>Logical Equivalence</a:t>
            </a:r>
          </a:p>
        </p:txBody>
      </p:sp>
      <p:sp>
        <p:nvSpPr>
          <p:cNvPr id="5" name="TextBox 4">
            <a:extLst>
              <a:ext uri="{FF2B5EF4-FFF2-40B4-BE49-F238E27FC236}">
                <a16:creationId xmlns:a16="http://schemas.microsoft.com/office/drawing/2014/main" id="{01B16CEC-5382-4936-91C2-86CA7AF3650A}"/>
              </a:ext>
            </a:extLst>
          </p:cNvPr>
          <p:cNvSpPr txBox="1"/>
          <p:nvPr/>
        </p:nvSpPr>
        <p:spPr>
          <a:xfrm>
            <a:off x="723363" y="1611722"/>
            <a:ext cx="10655837" cy="1938992"/>
          </a:xfrm>
          <a:prstGeom prst="rect">
            <a:avLst/>
          </a:prstGeom>
          <a:noFill/>
        </p:spPr>
        <p:txBody>
          <a:bodyPr wrap="square">
            <a:spAutoFit/>
          </a:bodyPr>
          <a:lstStyle/>
          <a:p>
            <a:pPr algn="just"/>
            <a:r>
              <a:rPr lang="en-US" altLang="en-US" sz="2000" dirty="0">
                <a:latin typeface="Century Gothic" panose="020B0502020202020204" pitchFamily="34" charset="0"/>
                <a:cs typeface="Times New Roman" panose="02020603050405020304" pitchFamily="18" charset="0"/>
              </a:rPr>
              <a:t>If two propositions P(p, q, ….) and Q(p, q, …), where p, q,…are propositional variables have the same truth values in every possible case, the propositions are called logically equivalent and denoted by P(p, q, ….) ≡ Q(p, q, …).</a:t>
            </a:r>
          </a:p>
          <a:p>
            <a:pPr algn="just"/>
            <a:endParaRPr lang="en-US" altLang="en-US" sz="2000" dirty="0">
              <a:latin typeface="Century Gothic" panose="020B0502020202020204" pitchFamily="34" charset="0"/>
              <a:cs typeface="Times New Roman" panose="02020603050405020304" pitchFamily="18" charset="0"/>
            </a:endParaRPr>
          </a:p>
          <a:p>
            <a:pPr algn="just"/>
            <a:r>
              <a:rPr lang="en-US" altLang="en-US" sz="2000" dirty="0">
                <a:latin typeface="Century Gothic" panose="020B0502020202020204" pitchFamily="34" charset="0"/>
                <a:cs typeface="Times New Roman" panose="02020603050405020304" pitchFamily="18" charset="0"/>
              </a:rPr>
              <a:t>It is always permissible and sometimes desirable to replace a given proposition by an equivalent one.</a:t>
            </a:r>
          </a:p>
        </p:txBody>
      </p:sp>
    </p:spTree>
    <p:extLst>
      <p:ext uri="{BB962C8B-B14F-4D97-AF65-F5344CB8AC3E}">
        <p14:creationId xmlns:p14="http://schemas.microsoft.com/office/powerpoint/2010/main" val="284511685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wipe(left)">
                                      <p:cBhvr>
                                        <p:cTn id="12"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11EAED7-C8F9-45D8-A96E-859AC6FA8DAD}"/>
              </a:ext>
            </a:extLst>
          </p:cNvPr>
          <p:cNvSpPr txBox="1"/>
          <p:nvPr/>
        </p:nvSpPr>
        <p:spPr>
          <a:xfrm>
            <a:off x="2993598" y="450175"/>
            <a:ext cx="4461478" cy="543675"/>
          </a:xfrm>
          <a:prstGeom prst="rect">
            <a:avLst/>
          </a:prstGeom>
          <a:noFill/>
        </p:spPr>
        <p:txBody>
          <a:bodyPr wrap="none" rtlCol="0">
            <a:spAutoFit/>
          </a:bodyPr>
          <a:lstStyle/>
          <a:p>
            <a:r>
              <a:rPr lang="en-US" altLang="en-US" sz="2933" dirty="0">
                <a:solidFill>
                  <a:schemeClr val="tx1">
                    <a:lumMod val="95000"/>
                    <a:lumOff val="5000"/>
                  </a:schemeClr>
                </a:solidFill>
                <a:latin typeface="Century Gothic" panose="020B0502020202020204" pitchFamily="34" charset="0"/>
                <a:cs typeface="Arial" pitchFamily="34" charset="0"/>
              </a:rPr>
              <a:t>Logical Equivalence…..</a:t>
            </a:r>
          </a:p>
        </p:txBody>
      </p:sp>
      <p:sp>
        <p:nvSpPr>
          <p:cNvPr id="5" name="TextBox 4">
            <a:extLst>
              <a:ext uri="{FF2B5EF4-FFF2-40B4-BE49-F238E27FC236}">
                <a16:creationId xmlns:a16="http://schemas.microsoft.com/office/drawing/2014/main" id="{01B16CEC-5382-4936-91C2-86CA7AF3650A}"/>
              </a:ext>
            </a:extLst>
          </p:cNvPr>
          <p:cNvSpPr txBox="1"/>
          <p:nvPr/>
        </p:nvSpPr>
        <p:spPr>
          <a:xfrm>
            <a:off x="723363" y="1611721"/>
            <a:ext cx="10655837" cy="3477875"/>
          </a:xfrm>
          <a:prstGeom prst="rect">
            <a:avLst/>
          </a:prstGeom>
          <a:noFill/>
        </p:spPr>
        <p:txBody>
          <a:bodyPr wrap="square">
            <a:spAutoFit/>
          </a:bodyPr>
          <a:lstStyle/>
          <a:p>
            <a:pPr algn="just"/>
            <a:r>
              <a:rPr lang="en-US" altLang="en-US" sz="2000" dirty="0">
                <a:latin typeface="Century Gothic" panose="020B0502020202020204" pitchFamily="34" charset="0"/>
                <a:cs typeface="Times New Roman" panose="02020603050405020304" pitchFamily="18" charset="0"/>
              </a:rPr>
              <a:t>To test whether two propositions P and Q are logically equivalent the steps are followed:</a:t>
            </a:r>
          </a:p>
          <a:p>
            <a:pPr algn="just"/>
            <a:endParaRPr lang="en-US" altLang="en-US" sz="2000" dirty="0">
              <a:latin typeface="Century Gothic" panose="020B0502020202020204" pitchFamily="34" charset="0"/>
              <a:cs typeface="Times New Roman" panose="02020603050405020304" pitchFamily="18" charset="0"/>
            </a:endParaRPr>
          </a:p>
          <a:p>
            <a:pPr marL="457189" indent="-457189" algn="just">
              <a:buFont typeface="+mj-lt"/>
              <a:buAutoNum type="arabicPeriod"/>
            </a:pPr>
            <a:r>
              <a:rPr lang="en-US" altLang="en-US" sz="2000" dirty="0">
                <a:latin typeface="Century Gothic" panose="020B0502020202020204" pitchFamily="34" charset="0"/>
                <a:cs typeface="Times New Roman" panose="02020603050405020304" pitchFamily="18" charset="0"/>
              </a:rPr>
              <a:t>Construct the truth table for P.</a:t>
            </a:r>
          </a:p>
          <a:p>
            <a:pPr marL="457189" indent="-457189" algn="just">
              <a:buFont typeface="+mj-lt"/>
              <a:buAutoNum type="arabicPeriod"/>
            </a:pPr>
            <a:endParaRPr lang="en-US" altLang="en-US" sz="2000" dirty="0">
              <a:latin typeface="Century Gothic" panose="020B0502020202020204" pitchFamily="34" charset="0"/>
              <a:cs typeface="Times New Roman" panose="02020603050405020304" pitchFamily="18" charset="0"/>
            </a:endParaRPr>
          </a:p>
          <a:p>
            <a:pPr marL="457189" indent="-457189" algn="just">
              <a:buFont typeface="+mj-lt"/>
              <a:buAutoNum type="arabicPeriod"/>
            </a:pPr>
            <a:r>
              <a:rPr lang="en-US" altLang="en-US" sz="2000" dirty="0">
                <a:latin typeface="Century Gothic" panose="020B0502020202020204" pitchFamily="34" charset="0"/>
                <a:cs typeface="Times New Roman" panose="02020603050405020304" pitchFamily="18" charset="0"/>
              </a:rPr>
              <a:t>Construct the truth table for Q using the same propositional variables.</a:t>
            </a:r>
          </a:p>
          <a:p>
            <a:pPr marL="457189" indent="-457189" algn="just">
              <a:buFont typeface="+mj-lt"/>
              <a:buAutoNum type="arabicPeriod"/>
            </a:pPr>
            <a:endParaRPr lang="en-US" altLang="en-US" sz="2000" dirty="0">
              <a:latin typeface="Century Gothic" panose="020B0502020202020204" pitchFamily="34" charset="0"/>
              <a:cs typeface="Times New Roman" panose="02020603050405020304" pitchFamily="18" charset="0"/>
            </a:endParaRPr>
          </a:p>
          <a:p>
            <a:pPr marL="457189" indent="-457189" algn="just">
              <a:buFont typeface="+mj-lt"/>
              <a:buAutoNum type="arabicPeriod"/>
            </a:pPr>
            <a:r>
              <a:rPr lang="en-US" altLang="en-US" sz="2000" dirty="0">
                <a:latin typeface="Century Gothic" panose="020B0502020202020204" pitchFamily="34" charset="0"/>
                <a:cs typeface="Times New Roman" panose="02020603050405020304" pitchFamily="18" charset="0"/>
              </a:rPr>
              <a:t>Check each combinations of truth values of the propositional variables to see whether the value of P is the same as the truth value of Q. If in each row the truth value of P is the same as the truth value of Q, then P and Q are logically equivalent.</a:t>
            </a:r>
          </a:p>
        </p:txBody>
      </p:sp>
    </p:spTree>
    <p:extLst>
      <p:ext uri="{BB962C8B-B14F-4D97-AF65-F5344CB8AC3E}">
        <p14:creationId xmlns:p14="http://schemas.microsoft.com/office/powerpoint/2010/main" val="188410064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wipe(left)">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wipe(left)">
                                      <p:cBhvr>
                                        <p:cTn id="17" dur="500"/>
                                        <p:tgtEl>
                                          <p:spTgt spid="5">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
                                            <p:txEl>
                                              <p:pRg st="6" end="6"/>
                                            </p:txEl>
                                          </p:spTgt>
                                        </p:tgtEl>
                                        <p:attrNameLst>
                                          <p:attrName>style.visibility</p:attrName>
                                        </p:attrNameLst>
                                      </p:cBhvr>
                                      <p:to>
                                        <p:strVal val="visible"/>
                                      </p:to>
                                    </p:set>
                                    <p:animEffect transition="in" filter="wipe(left)">
                                      <p:cBhvr>
                                        <p:cTn id="22"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1B16CEC-5382-4936-91C2-86CA7AF3650A}"/>
              </a:ext>
            </a:extLst>
          </p:cNvPr>
          <p:cNvSpPr txBox="1"/>
          <p:nvPr/>
        </p:nvSpPr>
        <p:spPr>
          <a:xfrm>
            <a:off x="723363" y="1611721"/>
            <a:ext cx="10655837" cy="5016758"/>
          </a:xfrm>
          <a:prstGeom prst="rect">
            <a:avLst/>
          </a:prstGeom>
          <a:noFill/>
        </p:spPr>
        <p:txBody>
          <a:bodyPr wrap="square">
            <a:spAutoFit/>
          </a:bodyPr>
          <a:lstStyle/>
          <a:p>
            <a:pPr algn="just"/>
            <a:r>
              <a:rPr lang="en-US" altLang="en-US" sz="2000" b="1" dirty="0">
                <a:latin typeface="Century Gothic" panose="020B0502020202020204" pitchFamily="34" charset="0"/>
                <a:cs typeface="Times New Roman" panose="02020603050405020304" pitchFamily="18" charset="0"/>
              </a:rPr>
              <a:t>Algebra of propositions</a:t>
            </a:r>
          </a:p>
          <a:p>
            <a:pPr algn="just"/>
            <a:endParaRPr lang="en-US" altLang="en-US" sz="2000" b="1" dirty="0">
              <a:latin typeface="Century Gothic" panose="020B0502020202020204" pitchFamily="34" charset="0"/>
              <a:cs typeface="Times New Roman" panose="02020603050405020304" pitchFamily="18" charset="0"/>
            </a:endParaRPr>
          </a:p>
          <a:p>
            <a:pPr algn="just"/>
            <a:r>
              <a:rPr lang="en-US" altLang="en-US" sz="2000" dirty="0">
                <a:latin typeface="Century Gothic" panose="020B0502020202020204" pitchFamily="34" charset="0"/>
                <a:cs typeface="Times New Roman" panose="02020603050405020304" pitchFamily="18" charset="0"/>
              </a:rPr>
              <a:t>As in the set theory, propositions also satisfy some laws which are useful to simplify expressions.</a:t>
            </a:r>
          </a:p>
          <a:p>
            <a:pPr algn="just"/>
            <a:endParaRPr lang="en-US" altLang="en-US" sz="2000" b="1" dirty="0">
              <a:latin typeface="Century Gothic" panose="020B0502020202020204" pitchFamily="34" charset="0"/>
              <a:cs typeface="Times New Roman" panose="02020603050405020304" pitchFamily="18" charset="0"/>
            </a:endParaRPr>
          </a:p>
          <a:p>
            <a:r>
              <a:rPr lang="en-IN" altLang="en-US" sz="2000" dirty="0">
                <a:latin typeface="Century Gothic" panose="020B0502020202020204" pitchFamily="34" charset="0"/>
              </a:rPr>
              <a:t>1.	Idempotent Laws</a:t>
            </a:r>
          </a:p>
          <a:p>
            <a:pPr lvl="2"/>
            <a:r>
              <a:rPr lang="en-IN" altLang="en-US" sz="2000" dirty="0">
                <a:latin typeface="Century Gothic" panose="020B0502020202020204" pitchFamily="34" charset="0"/>
              </a:rPr>
              <a:t>p </a:t>
            </a:r>
            <a:r>
              <a:rPr lang="en-US" altLang="en-US" sz="2000" dirty="0">
                <a:solidFill>
                  <a:srgbClr val="000000"/>
                </a:solidFill>
                <a:latin typeface="Century Gothic" panose="020B0502020202020204" pitchFamily="34" charset="0"/>
              </a:rPr>
              <a:t>⋁</a:t>
            </a:r>
            <a:r>
              <a:rPr lang="en-IN" altLang="en-US" sz="2000" dirty="0">
                <a:latin typeface="Century Gothic" panose="020B0502020202020204" pitchFamily="34" charset="0"/>
              </a:rPr>
              <a:t> p ≡ p</a:t>
            </a:r>
          </a:p>
          <a:p>
            <a:pPr lvl="2"/>
            <a:r>
              <a:rPr lang="en-IN" altLang="en-US" sz="2000" dirty="0">
                <a:latin typeface="Century Gothic" panose="020B0502020202020204" pitchFamily="34" charset="0"/>
              </a:rPr>
              <a:t>p </a:t>
            </a:r>
            <a:r>
              <a:rPr lang="en-US" altLang="en-US" sz="2000" dirty="0">
                <a:solidFill>
                  <a:srgbClr val="000000"/>
                </a:solidFill>
                <a:latin typeface="Century Gothic" panose="020B0502020202020204" pitchFamily="34" charset="0"/>
              </a:rPr>
              <a:t>⋀ </a:t>
            </a:r>
            <a:r>
              <a:rPr lang="en-IN" altLang="en-US" sz="2000" dirty="0">
                <a:latin typeface="Century Gothic" panose="020B0502020202020204" pitchFamily="34" charset="0"/>
              </a:rPr>
              <a:t>p ≡ p</a:t>
            </a:r>
          </a:p>
          <a:p>
            <a:pPr lvl="2"/>
            <a:endParaRPr lang="en-IN" altLang="en-US" sz="2000" dirty="0">
              <a:latin typeface="Century Gothic" panose="020B0502020202020204" pitchFamily="34" charset="0"/>
            </a:endParaRPr>
          </a:p>
          <a:p>
            <a:r>
              <a:rPr lang="en-IN" altLang="en-US" sz="2000" dirty="0">
                <a:latin typeface="Century Gothic" panose="020B0502020202020204" pitchFamily="34" charset="0"/>
              </a:rPr>
              <a:t>2.	Associative Laws</a:t>
            </a:r>
          </a:p>
          <a:p>
            <a:pPr lvl="2"/>
            <a:r>
              <a:rPr lang="en-IN" altLang="en-US" sz="2000" dirty="0">
                <a:latin typeface="Century Gothic" panose="020B0502020202020204" pitchFamily="34" charset="0"/>
              </a:rPr>
              <a:t>(p </a:t>
            </a:r>
            <a:r>
              <a:rPr lang="en-US" altLang="en-US" sz="2000" dirty="0">
                <a:solidFill>
                  <a:srgbClr val="000000"/>
                </a:solidFill>
                <a:latin typeface="Century Gothic" panose="020B0502020202020204" pitchFamily="34" charset="0"/>
              </a:rPr>
              <a:t>⋁ </a:t>
            </a:r>
            <a:r>
              <a:rPr lang="en-IN" altLang="en-US" sz="2000" dirty="0">
                <a:latin typeface="Century Gothic" panose="020B0502020202020204" pitchFamily="34" charset="0"/>
              </a:rPr>
              <a:t>q) </a:t>
            </a:r>
            <a:r>
              <a:rPr lang="en-US" altLang="en-US" sz="2000" dirty="0">
                <a:solidFill>
                  <a:srgbClr val="000000"/>
                </a:solidFill>
                <a:latin typeface="Century Gothic" panose="020B0502020202020204" pitchFamily="34" charset="0"/>
              </a:rPr>
              <a:t>⋁</a:t>
            </a:r>
            <a:r>
              <a:rPr lang="en-IN" altLang="en-US" sz="2000" dirty="0">
                <a:latin typeface="Century Gothic" panose="020B0502020202020204" pitchFamily="34" charset="0"/>
              </a:rPr>
              <a:t> r  ≡   p </a:t>
            </a:r>
            <a:r>
              <a:rPr lang="en-US" altLang="en-US" sz="2000" dirty="0">
                <a:solidFill>
                  <a:srgbClr val="000000"/>
                </a:solidFill>
                <a:latin typeface="Century Gothic" panose="020B0502020202020204" pitchFamily="34" charset="0"/>
              </a:rPr>
              <a:t>⋁</a:t>
            </a:r>
            <a:r>
              <a:rPr lang="en-IN" altLang="en-US" sz="2000" dirty="0">
                <a:latin typeface="Century Gothic" panose="020B0502020202020204" pitchFamily="34" charset="0"/>
              </a:rPr>
              <a:t> (q </a:t>
            </a:r>
            <a:r>
              <a:rPr lang="en-US" altLang="en-US" sz="2000" dirty="0">
                <a:solidFill>
                  <a:srgbClr val="000000"/>
                </a:solidFill>
                <a:latin typeface="Century Gothic" panose="020B0502020202020204" pitchFamily="34" charset="0"/>
              </a:rPr>
              <a:t>⋁</a:t>
            </a:r>
            <a:r>
              <a:rPr lang="en-IN" altLang="en-US" sz="2000" dirty="0">
                <a:latin typeface="Century Gothic" panose="020B0502020202020204" pitchFamily="34" charset="0"/>
              </a:rPr>
              <a:t> r) </a:t>
            </a:r>
          </a:p>
          <a:p>
            <a:pPr lvl="2"/>
            <a:r>
              <a:rPr lang="en-IN" altLang="en-US" sz="2000" dirty="0">
                <a:latin typeface="Century Gothic" panose="020B0502020202020204" pitchFamily="34" charset="0"/>
              </a:rPr>
              <a:t>(p </a:t>
            </a:r>
            <a:r>
              <a:rPr lang="en-US" altLang="en-US" sz="2000" dirty="0">
                <a:solidFill>
                  <a:srgbClr val="000000"/>
                </a:solidFill>
                <a:latin typeface="Century Gothic" panose="020B0502020202020204" pitchFamily="34" charset="0"/>
              </a:rPr>
              <a:t>⋀</a:t>
            </a:r>
            <a:r>
              <a:rPr lang="en-IN" altLang="en-US" sz="2000" dirty="0">
                <a:latin typeface="Century Gothic" panose="020B0502020202020204" pitchFamily="34" charset="0"/>
              </a:rPr>
              <a:t> q) </a:t>
            </a:r>
            <a:r>
              <a:rPr lang="en-US" altLang="en-US" sz="2000" dirty="0">
                <a:solidFill>
                  <a:srgbClr val="000000"/>
                </a:solidFill>
                <a:latin typeface="Century Gothic" panose="020B0502020202020204" pitchFamily="34" charset="0"/>
              </a:rPr>
              <a:t>⋀</a:t>
            </a:r>
            <a:r>
              <a:rPr lang="en-IN" altLang="en-US" sz="2000" dirty="0">
                <a:latin typeface="Century Gothic" panose="020B0502020202020204" pitchFamily="34" charset="0"/>
              </a:rPr>
              <a:t> r  ≡   p </a:t>
            </a:r>
            <a:r>
              <a:rPr lang="en-US" altLang="en-US" sz="2000" dirty="0">
                <a:solidFill>
                  <a:srgbClr val="000000"/>
                </a:solidFill>
                <a:latin typeface="Century Gothic" panose="020B0502020202020204" pitchFamily="34" charset="0"/>
              </a:rPr>
              <a:t>⋀</a:t>
            </a:r>
            <a:r>
              <a:rPr lang="en-IN" altLang="en-US" sz="2000" dirty="0">
                <a:latin typeface="Century Gothic" panose="020B0502020202020204" pitchFamily="34" charset="0"/>
              </a:rPr>
              <a:t> (q </a:t>
            </a:r>
            <a:r>
              <a:rPr lang="en-US" altLang="en-US" sz="2000" dirty="0">
                <a:solidFill>
                  <a:srgbClr val="000000"/>
                </a:solidFill>
                <a:latin typeface="Century Gothic" panose="020B0502020202020204" pitchFamily="34" charset="0"/>
              </a:rPr>
              <a:t>⋀</a:t>
            </a:r>
            <a:r>
              <a:rPr lang="en-IN" altLang="en-US" sz="2000" dirty="0">
                <a:latin typeface="Century Gothic" panose="020B0502020202020204" pitchFamily="34" charset="0"/>
              </a:rPr>
              <a:t> r) </a:t>
            </a:r>
          </a:p>
          <a:p>
            <a:pPr lvl="2"/>
            <a:endParaRPr lang="en-IN" altLang="en-US" sz="2000" dirty="0">
              <a:latin typeface="Century Gothic" panose="020B0502020202020204" pitchFamily="34" charset="0"/>
            </a:endParaRPr>
          </a:p>
          <a:p>
            <a:r>
              <a:rPr lang="en-IN" altLang="en-US" sz="2000" dirty="0">
                <a:latin typeface="Century Gothic" panose="020B0502020202020204" pitchFamily="34" charset="0"/>
              </a:rPr>
              <a:t>3.	Commutative Laws</a:t>
            </a:r>
          </a:p>
          <a:p>
            <a:pPr lvl="2"/>
            <a:r>
              <a:rPr lang="en-IN" altLang="en-US" sz="2000" dirty="0">
                <a:latin typeface="Century Gothic" panose="020B0502020202020204" pitchFamily="34" charset="0"/>
              </a:rPr>
              <a:t>p </a:t>
            </a:r>
            <a:r>
              <a:rPr lang="en-US" altLang="en-US" sz="2000" dirty="0">
                <a:solidFill>
                  <a:srgbClr val="000000"/>
                </a:solidFill>
                <a:latin typeface="Century Gothic" panose="020B0502020202020204" pitchFamily="34" charset="0"/>
              </a:rPr>
              <a:t>⋁</a:t>
            </a:r>
            <a:r>
              <a:rPr lang="en-IN" altLang="en-US" sz="2000" dirty="0">
                <a:latin typeface="Century Gothic" panose="020B0502020202020204" pitchFamily="34" charset="0"/>
              </a:rPr>
              <a:t> q ≡  q </a:t>
            </a:r>
            <a:r>
              <a:rPr lang="en-US" altLang="en-US" sz="2000" dirty="0">
                <a:solidFill>
                  <a:srgbClr val="000000"/>
                </a:solidFill>
                <a:latin typeface="Century Gothic" panose="020B0502020202020204" pitchFamily="34" charset="0"/>
              </a:rPr>
              <a:t>⋁</a:t>
            </a:r>
            <a:r>
              <a:rPr lang="en-IN" altLang="en-US" sz="2000" dirty="0">
                <a:latin typeface="Century Gothic" panose="020B0502020202020204" pitchFamily="34" charset="0"/>
              </a:rPr>
              <a:t> p</a:t>
            </a:r>
          </a:p>
          <a:p>
            <a:pPr lvl="2"/>
            <a:r>
              <a:rPr lang="en-IN" altLang="en-US" sz="2000" dirty="0">
                <a:latin typeface="Century Gothic" panose="020B0502020202020204" pitchFamily="34" charset="0"/>
              </a:rPr>
              <a:t>p </a:t>
            </a:r>
            <a:r>
              <a:rPr lang="en-US" altLang="en-US" sz="2000" dirty="0">
                <a:solidFill>
                  <a:srgbClr val="000000"/>
                </a:solidFill>
                <a:latin typeface="Century Gothic" panose="020B0502020202020204" pitchFamily="34" charset="0"/>
              </a:rPr>
              <a:t>⋀</a:t>
            </a:r>
            <a:r>
              <a:rPr lang="en-IN" altLang="en-US" sz="2000" dirty="0">
                <a:latin typeface="Century Gothic" panose="020B0502020202020204" pitchFamily="34" charset="0"/>
              </a:rPr>
              <a:t> q  ≡  q </a:t>
            </a:r>
            <a:r>
              <a:rPr lang="en-US" altLang="en-US" sz="2000" dirty="0">
                <a:solidFill>
                  <a:srgbClr val="000000"/>
                </a:solidFill>
                <a:latin typeface="Century Gothic" panose="020B0502020202020204" pitchFamily="34" charset="0"/>
              </a:rPr>
              <a:t>⋀</a:t>
            </a:r>
            <a:r>
              <a:rPr lang="en-IN" altLang="en-US" sz="2000" dirty="0">
                <a:latin typeface="Century Gothic" panose="020B0502020202020204" pitchFamily="34" charset="0"/>
              </a:rPr>
              <a:t> p</a:t>
            </a:r>
          </a:p>
        </p:txBody>
      </p:sp>
      <p:sp>
        <p:nvSpPr>
          <p:cNvPr id="2" name="TextBox 1">
            <a:extLst>
              <a:ext uri="{FF2B5EF4-FFF2-40B4-BE49-F238E27FC236}">
                <a16:creationId xmlns:a16="http://schemas.microsoft.com/office/drawing/2014/main" id="{83D59278-A573-4889-BC1C-FDD11D29B523}"/>
              </a:ext>
            </a:extLst>
          </p:cNvPr>
          <p:cNvSpPr txBox="1"/>
          <p:nvPr/>
        </p:nvSpPr>
        <p:spPr>
          <a:xfrm>
            <a:off x="3679397" y="363464"/>
            <a:ext cx="2973891" cy="543675"/>
          </a:xfrm>
          <a:prstGeom prst="rect">
            <a:avLst/>
          </a:prstGeom>
          <a:noFill/>
        </p:spPr>
        <p:txBody>
          <a:bodyPr wrap="none" rtlCol="0">
            <a:spAutoFit/>
          </a:bodyPr>
          <a:lstStyle/>
          <a:p>
            <a:r>
              <a:rPr lang="en-US" altLang="en-US" sz="2933" dirty="0">
                <a:solidFill>
                  <a:schemeClr val="tx1">
                    <a:lumMod val="95000"/>
                    <a:lumOff val="5000"/>
                  </a:schemeClr>
                </a:solidFill>
                <a:latin typeface="Century Gothic" panose="020B0502020202020204" pitchFamily="34" charset="0"/>
                <a:cs typeface="Arial" pitchFamily="34" charset="0"/>
              </a:rPr>
              <a:t>Algebraic Laws</a:t>
            </a:r>
          </a:p>
        </p:txBody>
      </p:sp>
    </p:spTree>
    <p:extLst>
      <p:ext uri="{BB962C8B-B14F-4D97-AF65-F5344CB8AC3E}">
        <p14:creationId xmlns:p14="http://schemas.microsoft.com/office/powerpoint/2010/main" val="220962104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wipe(left)">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wipe(left)">
                                      <p:cBhvr>
                                        <p:cTn id="17" dur="500"/>
                                        <p:tgtEl>
                                          <p:spTgt spid="5">
                                            <p:txEl>
                                              <p:pRg st="4" end="4"/>
                                            </p:txEl>
                                          </p:spTgt>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5">
                                            <p:txEl>
                                              <p:pRg st="5" end="5"/>
                                            </p:txEl>
                                          </p:spTgt>
                                        </p:tgtEl>
                                        <p:attrNameLst>
                                          <p:attrName>style.visibility</p:attrName>
                                        </p:attrNameLst>
                                      </p:cBhvr>
                                      <p:to>
                                        <p:strVal val="visible"/>
                                      </p:to>
                                    </p:set>
                                    <p:animEffect transition="in" filter="wipe(left)">
                                      <p:cBhvr>
                                        <p:cTn id="20" dur="500"/>
                                        <p:tgtEl>
                                          <p:spTgt spid="5">
                                            <p:txEl>
                                              <p:pRg st="5" end="5"/>
                                            </p:txEl>
                                          </p:spTgt>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5">
                                            <p:txEl>
                                              <p:pRg st="6" end="6"/>
                                            </p:txEl>
                                          </p:spTgt>
                                        </p:tgtEl>
                                        <p:attrNameLst>
                                          <p:attrName>style.visibility</p:attrName>
                                        </p:attrNameLst>
                                      </p:cBhvr>
                                      <p:to>
                                        <p:strVal val="visible"/>
                                      </p:to>
                                    </p:set>
                                    <p:animEffect transition="in" filter="wipe(left)">
                                      <p:cBhvr>
                                        <p:cTn id="23" dur="500"/>
                                        <p:tgtEl>
                                          <p:spTgt spid="5">
                                            <p:txEl>
                                              <p:pRg st="6" end="6"/>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5">
                                            <p:txEl>
                                              <p:pRg st="8" end="8"/>
                                            </p:txEl>
                                          </p:spTgt>
                                        </p:tgtEl>
                                        <p:attrNameLst>
                                          <p:attrName>style.visibility</p:attrName>
                                        </p:attrNameLst>
                                      </p:cBhvr>
                                      <p:to>
                                        <p:strVal val="visible"/>
                                      </p:to>
                                    </p:set>
                                    <p:animEffect transition="in" filter="wipe(left)">
                                      <p:cBhvr>
                                        <p:cTn id="28" dur="500"/>
                                        <p:tgtEl>
                                          <p:spTgt spid="5">
                                            <p:txEl>
                                              <p:pRg st="8" end="8"/>
                                            </p:txEl>
                                          </p:spTgt>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5">
                                            <p:txEl>
                                              <p:pRg st="9" end="9"/>
                                            </p:txEl>
                                          </p:spTgt>
                                        </p:tgtEl>
                                        <p:attrNameLst>
                                          <p:attrName>style.visibility</p:attrName>
                                        </p:attrNameLst>
                                      </p:cBhvr>
                                      <p:to>
                                        <p:strVal val="visible"/>
                                      </p:to>
                                    </p:set>
                                    <p:animEffect transition="in" filter="wipe(left)">
                                      <p:cBhvr>
                                        <p:cTn id="31" dur="500"/>
                                        <p:tgtEl>
                                          <p:spTgt spid="5">
                                            <p:txEl>
                                              <p:pRg st="9" end="9"/>
                                            </p:txEl>
                                          </p:spTgt>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5">
                                            <p:txEl>
                                              <p:pRg st="10" end="10"/>
                                            </p:txEl>
                                          </p:spTgt>
                                        </p:tgtEl>
                                        <p:attrNameLst>
                                          <p:attrName>style.visibility</p:attrName>
                                        </p:attrNameLst>
                                      </p:cBhvr>
                                      <p:to>
                                        <p:strVal val="visible"/>
                                      </p:to>
                                    </p:set>
                                    <p:animEffect transition="in" filter="wipe(left)">
                                      <p:cBhvr>
                                        <p:cTn id="34" dur="500"/>
                                        <p:tgtEl>
                                          <p:spTgt spid="5">
                                            <p:txEl>
                                              <p:pRg st="10" end="10"/>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5">
                                            <p:txEl>
                                              <p:pRg st="12" end="12"/>
                                            </p:txEl>
                                          </p:spTgt>
                                        </p:tgtEl>
                                        <p:attrNameLst>
                                          <p:attrName>style.visibility</p:attrName>
                                        </p:attrNameLst>
                                      </p:cBhvr>
                                      <p:to>
                                        <p:strVal val="visible"/>
                                      </p:to>
                                    </p:set>
                                    <p:animEffect transition="in" filter="wipe(left)">
                                      <p:cBhvr>
                                        <p:cTn id="39" dur="500"/>
                                        <p:tgtEl>
                                          <p:spTgt spid="5">
                                            <p:txEl>
                                              <p:pRg st="12" end="12"/>
                                            </p:txEl>
                                          </p:spTgt>
                                        </p:tgtEl>
                                      </p:cBhvr>
                                    </p:animEffect>
                                  </p:childTnLst>
                                </p:cTn>
                              </p:par>
                              <p:par>
                                <p:cTn id="40" presetID="22" presetClass="entr" presetSubtype="8" fill="hold" grpId="0" nodeType="withEffect">
                                  <p:stCondLst>
                                    <p:cond delay="0"/>
                                  </p:stCondLst>
                                  <p:childTnLst>
                                    <p:set>
                                      <p:cBhvr>
                                        <p:cTn id="41" dur="1" fill="hold">
                                          <p:stCondLst>
                                            <p:cond delay="0"/>
                                          </p:stCondLst>
                                        </p:cTn>
                                        <p:tgtEl>
                                          <p:spTgt spid="5">
                                            <p:txEl>
                                              <p:pRg st="13" end="13"/>
                                            </p:txEl>
                                          </p:spTgt>
                                        </p:tgtEl>
                                        <p:attrNameLst>
                                          <p:attrName>style.visibility</p:attrName>
                                        </p:attrNameLst>
                                      </p:cBhvr>
                                      <p:to>
                                        <p:strVal val="visible"/>
                                      </p:to>
                                    </p:set>
                                    <p:animEffect transition="in" filter="wipe(left)">
                                      <p:cBhvr>
                                        <p:cTn id="42" dur="500"/>
                                        <p:tgtEl>
                                          <p:spTgt spid="5">
                                            <p:txEl>
                                              <p:pRg st="13" end="13"/>
                                            </p:txEl>
                                          </p:spTgt>
                                        </p:tgtEl>
                                      </p:cBhvr>
                                    </p:animEffect>
                                  </p:childTnLst>
                                </p:cTn>
                              </p:par>
                              <p:par>
                                <p:cTn id="43" presetID="22" presetClass="entr" presetSubtype="8" fill="hold" grpId="0" nodeType="withEffect">
                                  <p:stCondLst>
                                    <p:cond delay="0"/>
                                  </p:stCondLst>
                                  <p:childTnLst>
                                    <p:set>
                                      <p:cBhvr>
                                        <p:cTn id="44" dur="1" fill="hold">
                                          <p:stCondLst>
                                            <p:cond delay="0"/>
                                          </p:stCondLst>
                                        </p:cTn>
                                        <p:tgtEl>
                                          <p:spTgt spid="5">
                                            <p:txEl>
                                              <p:pRg st="14" end="14"/>
                                            </p:txEl>
                                          </p:spTgt>
                                        </p:tgtEl>
                                        <p:attrNameLst>
                                          <p:attrName>style.visibility</p:attrName>
                                        </p:attrNameLst>
                                      </p:cBhvr>
                                      <p:to>
                                        <p:strVal val="visible"/>
                                      </p:to>
                                    </p:set>
                                    <p:animEffect transition="in" filter="wipe(left)">
                                      <p:cBhvr>
                                        <p:cTn id="45" dur="500"/>
                                        <p:tgtEl>
                                          <p:spTgt spid="5">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1B16CEC-5382-4936-91C2-86CA7AF3650A}"/>
              </a:ext>
            </a:extLst>
          </p:cNvPr>
          <p:cNvSpPr txBox="1"/>
          <p:nvPr/>
        </p:nvSpPr>
        <p:spPr>
          <a:xfrm>
            <a:off x="723363" y="1611722"/>
            <a:ext cx="10655837" cy="4401205"/>
          </a:xfrm>
          <a:prstGeom prst="rect">
            <a:avLst/>
          </a:prstGeom>
          <a:noFill/>
        </p:spPr>
        <p:txBody>
          <a:bodyPr wrap="square">
            <a:spAutoFit/>
          </a:bodyPr>
          <a:lstStyle/>
          <a:p>
            <a:r>
              <a:rPr lang="en-US" altLang="en-US" sz="2000" dirty="0">
                <a:latin typeface="Century Gothic" panose="020B0502020202020204" pitchFamily="34" charset="0"/>
                <a:cs typeface="Times New Roman" panose="02020603050405020304" pitchFamily="18" charset="0"/>
              </a:rPr>
              <a:t>4.	Distributive Laws</a:t>
            </a:r>
          </a:p>
          <a:p>
            <a:pPr marL="1219170"/>
            <a:r>
              <a:rPr lang="en-US" altLang="en-US" sz="2000" dirty="0">
                <a:latin typeface="Century Gothic" panose="020B0502020202020204" pitchFamily="34" charset="0"/>
                <a:cs typeface="Times New Roman" panose="02020603050405020304" pitchFamily="18" charset="0"/>
              </a:rPr>
              <a:t>p ⋁ (q ⋀ r) ≡   (p ⋁ q) ⋀ (p ⋁ r)</a:t>
            </a:r>
          </a:p>
          <a:p>
            <a:pPr marL="1219170"/>
            <a:r>
              <a:rPr lang="en-US" altLang="en-US" sz="2000" dirty="0">
                <a:latin typeface="Century Gothic" panose="020B0502020202020204" pitchFamily="34" charset="0"/>
                <a:cs typeface="Times New Roman" panose="02020603050405020304" pitchFamily="18" charset="0"/>
              </a:rPr>
              <a:t>p ⋀ (q ⋁ r) ≡   (p ⋀ q) ⋁ (p ⋀ r)</a:t>
            </a:r>
          </a:p>
          <a:p>
            <a:endParaRPr lang="en-US" altLang="en-US" sz="2000" dirty="0">
              <a:latin typeface="Century Gothic" panose="020B0502020202020204" pitchFamily="34" charset="0"/>
              <a:cs typeface="Times New Roman" panose="02020603050405020304" pitchFamily="18" charset="0"/>
            </a:endParaRPr>
          </a:p>
          <a:p>
            <a:r>
              <a:rPr lang="en-US" altLang="en-US" sz="2000" dirty="0">
                <a:latin typeface="Century Gothic" panose="020B0502020202020204" pitchFamily="34" charset="0"/>
                <a:cs typeface="Times New Roman" panose="02020603050405020304" pitchFamily="18" charset="0"/>
              </a:rPr>
              <a:t>5.	Identity Laws</a:t>
            </a:r>
          </a:p>
          <a:p>
            <a:pPr marL="1219170"/>
            <a:r>
              <a:rPr lang="en-US" altLang="en-US" sz="2000" dirty="0">
                <a:latin typeface="Century Gothic" panose="020B0502020202020204" pitchFamily="34" charset="0"/>
                <a:cs typeface="Times New Roman" panose="02020603050405020304" pitchFamily="18" charset="0"/>
              </a:rPr>
              <a:t>p ⋁ F ≡   p                 </a:t>
            </a:r>
            <a:r>
              <a:rPr lang="en-US" altLang="en-US" sz="2000" dirty="0" err="1">
                <a:latin typeface="Century Gothic" panose="020B0502020202020204" pitchFamily="34" charset="0"/>
                <a:cs typeface="Times New Roman" panose="02020603050405020304" pitchFamily="18" charset="0"/>
              </a:rPr>
              <a:t>p</a:t>
            </a:r>
            <a:r>
              <a:rPr lang="en-US" altLang="en-US" sz="2000" dirty="0">
                <a:latin typeface="Century Gothic" panose="020B0502020202020204" pitchFamily="34" charset="0"/>
                <a:cs typeface="Times New Roman" panose="02020603050405020304" pitchFamily="18" charset="0"/>
              </a:rPr>
              <a:t> ⋀ T ≡   p</a:t>
            </a:r>
          </a:p>
          <a:p>
            <a:pPr marL="1219170"/>
            <a:r>
              <a:rPr lang="en-US" altLang="en-US" sz="2000" dirty="0">
                <a:latin typeface="Century Gothic" panose="020B0502020202020204" pitchFamily="34" charset="0"/>
                <a:cs typeface="Times New Roman" panose="02020603050405020304" pitchFamily="18" charset="0"/>
              </a:rPr>
              <a:t>p ⋁ T ≡   T                p ⋀ F  ≡  F</a:t>
            </a:r>
          </a:p>
          <a:p>
            <a:endParaRPr lang="en-US" altLang="en-US" sz="2000" dirty="0">
              <a:latin typeface="Century Gothic" panose="020B0502020202020204" pitchFamily="34" charset="0"/>
              <a:cs typeface="Times New Roman" panose="02020603050405020304" pitchFamily="18" charset="0"/>
            </a:endParaRPr>
          </a:p>
          <a:p>
            <a:r>
              <a:rPr lang="en-US" altLang="en-US" sz="2000" dirty="0">
                <a:latin typeface="Century Gothic" panose="020B0502020202020204" pitchFamily="34" charset="0"/>
                <a:cs typeface="Times New Roman" panose="02020603050405020304" pitchFamily="18" charset="0"/>
              </a:rPr>
              <a:t>6.	Complement Laws</a:t>
            </a:r>
          </a:p>
          <a:p>
            <a:pPr marL="1219170"/>
            <a:r>
              <a:rPr lang="en-US" altLang="en-US" sz="2000" dirty="0">
                <a:latin typeface="Century Gothic" panose="020B0502020202020204" pitchFamily="34" charset="0"/>
                <a:cs typeface="Times New Roman" panose="02020603050405020304" pitchFamily="18" charset="0"/>
              </a:rPr>
              <a:t>p ⋁ ~p ≡ T               p ⋀ ~p   ≡ F</a:t>
            </a:r>
          </a:p>
          <a:p>
            <a:pPr marL="1219170"/>
            <a:r>
              <a:rPr lang="en-US" altLang="en-US" sz="2000" dirty="0">
                <a:latin typeface="Century Gothic" panose="020B0502020202020204" pitchFamily="34" charset="0"/>
                <a:cs typeface="Times New Roman" panose="02020603050405020304" pitchFamily="18" charset="0"/>
              </a:rPr>
              <a:t>~T ≡  F                       ~F   ≡  T</a:t>
            </a:r>
          </a:p>
          <a:p>
            <a:pPr marL="1219170"/>
            <a:endParaRPr lang="en-US" altLang="en-US" sz="2000" dirty="0">
              <a:latin typeface="Century Gothic" panose="020B0502020202020204" pitchFamily="34" charset="0"/>
              <a:cs typeface="Times New Roman" panose="02020603050405020304" pitchFamily="18" charset="0"/>
            </a:endParaRPr>
          </a:p>
          <a:p>
            <a:r>
              <a:rPr lang="en-IN" altLang="en-US" sz="2000" dirty="0">
                <a:latin typeface="Century Gothic" panose="020B0502020202020204" pitchFamily="34" charset="0"/>
              </a:rPr>
              <a:t>7.	Involution Law</a:t>
            </a:r>
          </a:p>
          <a:p>
            <a:r>
              <a:rPr lang="en-IN" altLang="en-US" sz="2000" dirty="0">
                <a:latin typeface="Century Gothic" panose="020B0502020202020204" pitchFamily="34" charset="0"/>
              </a:rPr>
              <a:t>	~(~p) ≡ p</a:t>
            </a:r>
          </a:p>
        </p:txBody>
      </p:sp>
      <p:sp>
        <p:nvSpPr>
          <p:cNvPr id="2" name="TextBox 1">
            <a:extLst>
              <a:ext uri="{FF2B5EF4-FFF2-40B4-BE49-F238E27FC236}">
                <a16:creationId xmlns:a16="http://schemas.microsoft.com/office/drawing/2014/main" id="{83D59278-A573-4889-BC1C-FDD11D29B523}"/>
              </a:ext>
            </a:extLst>
          </p:cNvPr>
          <p:cNvSpPr txBox="1"/>
          <p:nvPr/>
        </p:nvSpPr>
        <p:spPr>
          <a:xfrm>
            <a:off x="3742460" y="301398"/>
            <a:ext cx="2973891" cy="543675"/>
          </a:xfrm>
          <a:prstGeom prst="rect">
            <a:avLst/>
          </a:prstGeom>
          <a:noFill/>
        </p:spPr>
        <p:txBody>
          <a:bodyPr wrap="none" rtlCol="0">
            <a:spAutoFit/>
          </a:bodyPr>
          <a:lstStyle/>
          <a:p>
            <a:r>
              <a:rPr lang="en-US" altLang="en-US" sz="2933" dirty="0">
                <a:solidFill>
                  <a:schemeClr val="tx1">
                    <a:lumMod val="95000"/>
                    <a:lumOff val="5000"/>
                  </a:schemeClr>
                </a:solidFill>
                <a:latin typeface="Century Gothic" panose="020B0502020202020204" pitchFamily="34" charset="0"/>
                <a:cs typeface="Arial" pitchFamily="34" charset="0"/>
              </a:rPr>
              <a:t>Algebraic Laws</a:t>
            </a:r>
          </a:p>
        </p:txBody>
      </p:sp>
    </p:spTree>
    <p:extLst>
      <p:ext uri="{BB962C8B-B14F-4D97-AF65-F5344CB8AC3E}">
        <p14:creationId xmlns:p14="http://schemas.microsoft.com/office/powerpoint/2010/main" val="176335303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wipe(left)">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wipe(left)">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txEl>
                                              <p:pRg st="4" end="4"/>
                                            </p:txEl>
                                          </p:spTgt>
                                        </p:tgtEl>
                                        <p:attrNameLst>
                                          <p:attrName>style.visibility</p:attrName>
                                        </p:attrNameLst>
                                      </p:cBhvr>
                                      <p:to>
                                        <p:strVal val="visible"/>
                                      </p:to>
                                    </p:set>
                                    <p:animEffect transition="in" filter="wipe(left)">
                                      <p:cBhvr>
                                        <p:cTn id="22" dur="500"/>
                                        <p:tgtEl>
                                          <p:spTgt spid="5">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animEffect transition="in" filter="wipe(left)">
                                      <p:cBhvr>
                                        <p:cTn id="27" dur="500"/>
                                        <p:tgtEl>
                                          <p:spTgt spid="5">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
                                            <p:txEl>
                                              <p:pRg st="6" end="6"/>
                                            </p:txEl>
                                          </p:spTgt>
                                        </p:tgtEl>
                                        <p:attrNameLst>
                                          <p:attrName>style.visibility</p:attrName>
                                        </p:attrNameLst>
                                      </p:cBhvr>
                                      <p:to>
                                        <p:strVal val="visible"/>
                                      </p:to>
                                    </p:set>
                                    <p:animEffect transition="in" filter="wipe(left)">
                                      <p:cBhvr>
                                        <p:cTn id="32" dur="500"/>
                                        <p:tgtEl>
                                          <p:spTgt spid="5">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5">
                                            <p:txEl>
                                              <p:pRg st="8" end="8"/>
                                            </p:txEl>
                                          </p:spTgt>
                                        </p:tgtEl>
                                        <p:attrNameLst>
                                          <p:attrName>style.visibility</p:attrName>
                                        </p:attrNameLst>
                                      </p:cBhvr>
                                      <p:to>
                                        <p:strVal val="visible"/>
                                      </p:to>
                                    </p:set>
                                    <p:animEffect transition="in" filter="wipe(left)">
                                      <p:cBhvr>
                                        <p:cTn id="37" dur="500"/>
                                        <p:tgtEl>
                                          <p:spTgt spid="5">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5">
                                            <p:txEl>
                                              <p:pRg st="9" end="9"/>
                                            </p:txEl>
                                          </p:spTgt>
                                        </p:tgtEl>
                                        <p:attrNameLst>
                                          <p:attrName>style.visibility</p:attrName>
                                        </p:attrNameLst>
                                      </p:cBhvr>
                                      <p:to>
                                        <p:strVal val="visible"/>
                                      </p:to>
                                    </p:set>
                                    <p:animEffect transition="in" filter="wipe(left)">
                                      <p:cBhvr>
                                        <p:cTn id="42" dur="500"/>
                                        <p:tgtEl>
                                          <p:spTgt spid="5">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5">
                                            <p:txEl>
                                              <p:pRg st="10" end="10"/>
                                            </p:txEl>
                                          </p:spTgt>
                                        </p:tgtEl>
                                        <p:attrNameLst>
                                          <p:attrName>style.visibility</p:attrName>
                                        </p:attrNameLst>
                                      </p:cBhvr>
                                      <p:to>
                                        <p:strVal val="visible"/>
                                      </p:to>
                                    </p:set>
                                    <p:animEffect transition="in" filter="wipe(left)">
                                      <p:cBhvr>
                                        <p:cTn id="47" dur="500"/>
                                        <p:tgtEl>
                                          <p:spTgt spid="5">
                                            <p:txEl>
                                              <p:pRg st="10" end="1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5">
                                            <p:txEl>
                                              <p:pRg st="12" end="12"/>
                                            </p:txEl>
                                          </p:spTgt>
                                        </p:tgtEl>
                                        <p:attrNameLst>
                                          <p:attrName>style.visibility</p:attrName>
                                        </p:attrNameLst>
                                      </p:cBhvr>
                                      <p:to>
                                        <p:strVal val="visible"/>
                                      </p:to>
                                    </p:set>
                                    <p:animEffect transition="in" filter="wipe(left)">
                                      <p:cBhvr>
                                        <p:cTn id="52" dur="500"/>
                                        <p:tgtEl>
                                          <p:spTgt spid="5">
                                            <p:txEl>
                                              <p:pRg st="12" end="12"/>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5">
                                            <p:txEl>
                                              <p:pRg st="13" end="13"/>
                                            </p:txEl>
                                          </p:spTgt>
                                        </p:tgtEl>
                                        <p:attrNameLst>
                                          <p:attrName>style.visibility</p:attrName>
                                        </p:attrNameLst>
                                      </p:cBhvr>
                                      <p:to>
                                        <p:strVal val="visible"/>
                                      </p:to>
                                    </p:set>
                                    <p:animEffect transition="in" filter="wipe(left)">
                                      <p:cBhvr>
                                        <p:cTn id="57" dur="500"/>
                                        <p:tgtEl>
                                          <p:spTgt spid="5">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1B16CEC-5382-4936-91C2-86CA7AF3650A}"/>
              </a:ext>
            </a:extLst>
          </p:cNvPr>
          <p:cNvSpPr txBox="1"/>
          <p:nvPr/>
        </p:nvSpPr>
        <p:spPr>
          <a:xfrm>
            <a:off x="723363" y="1611722"/>
            <a:ext cx="10655837" cy="5324535"/>
          </a:xfrm>
          <a:prstGeom prst="rect">
            <a:avLst/>
          </a:prstGeom>
          <a:noFill/>
        </p:spPr>
        <p:txBody>
          <a:bodyPr wrap="square">
            <a:spAutoFit/>
          </a:bodyPr>
          <a:lstStyle/>
          <a:p>
            <a:r>
              <a:rPr lang="en-IN" altLang="en-US" sz="2000" dirty="0">
                <a:latin typeface="Century Gothic" panose="020B0502020202020204" pitchFamily="34" charset="0"/>
              </a:rPr>
              <a:t>8.	</a:t>
            </a:r>
            <a:r>
              <a:rPr lang="en-IN" altLang="en-US" sz="2000" dirty="0" err="1">
                <a:latin typeface="Century Gothic" panose="020B0502020202020204" pitchFamily="34" charset="0"/>
              </a:rPr>
              <a:t>DeMorgan’s</a:t>
            </a:r>
            <a:r>
              <a:rPr lang="en-IN" altLang="en-US" sz="2000" dirty="0">
                <a:latin typeface="Century Gothic" panose="020B0502020202020204" pitchFamily="34" charset="0"/>
              </a:rPr>
              <a:t> Laws</a:t>
            </a:r>
          </a:p>
          <a:p>
            <a:r>
              <a:rPr lang="en-IN" altLang="en-US" sz="2000" dirty="0">
                <a:latin typeface="Century Gothic" panose="020B0502020202020204" pitchFamily="34" charset="0"/>
              </a:rPr>
              <a:t>	~(p </a:t>
            </a:r>
            <a:r>
              <a:rPr lang="en-US" altLang="en-US" sz="2000" dirty="0">
                <a:solidFill>
                  <a:srgbClr val="000000"/>
                </a:solidFill>
                <a:latin typeface="Century Gothic" panose="020B0502020202020204" pitchFamily="34" charset="0"/>
              </a:rPr>
              <a:t>⋁ </a:t>
            </a:r>
            <a:r>
              <a:rPr lang="en-IN" altLang="en-US" sz="2000" dirty="0">
                <a:latin typeface="Century Gothic" panose="020B0502020202020204" pitchFamily="34" charset="0"/>
              </a:rPr>
              <a:t>q) ≡ ~p </a:t>
            </a:r>
            <a:r>
              <a:rPr lang="en-US" altLang="en-US" sz="2000" dirty="0">
                <a:solidFill>
                  <a:srgbClr val="000000"/>
                </a:solidFill>
                <a:latin typeface="Century Gothic" panose="020B0502020202020204" pitchFamily="34" charset="0"/>
              </a:rPr>
              <a:t>⋀</a:t>
            </a:r>
            <a:r>
              <a:rPr lang="en-IN" altLang="en-US" sz="2000" dirty="0">
                <a:latin typeface="Century Gothic" panose="020B0502020202020204" pitchFamily="34" charset="0"/>
              </a:rPr>
              <a:t> ~q            ~(p </a:t>
            </a:r>
            <a:r>
              <a:rPr lang="en-US" altLang="en-US" sz="2000" dirty="0">
                <a:solidFill>
                  <a:srgbClr val="000000"/>
                </a:solidFill>
                <a:latin typeface="Century Gothic" panose="020B0502020202020204" pitchFamily="34" charset="0"/>
              </a:rPr>
              <a:t>⋀</a:t>
            </a:r>
            <a:r>
              <a:rPr lang="en-IN" altLang="en-US" sz="2000" dirty="0">
                <a:latin typeface="Century Gothic" panose="020B0502020202020204" pitchFamily="34" charset="0"/>
              </a:rPr>
              <a:t> q) ≡ ~p </a:t>
            </a:r>
            <a:r>
              <a:rPr lang="en-US" altLang="en-US" sz="2000" dirty="0">
                <a:solidFill>
                  <a:srgbClr val="000000"/>
                </a:solidFill>
                <a:latin typeface="Century Gothic" panose="020B0502020202020204" pitchFamily="34" charset="0"/>
              </a:rPr>
              <a:t>⋁</a:t>
            </a:r>
            <a:r>
              <a:rPr lang="en-IN" altLang="en-US" sz="2000" dirty="0">
                <a:latin typeface="Century Gothic" panose="020B0502020202020204" pitchFamily="34" charset="0"/>
              </a:rPr>
              <a:t> ~q</a:t>
            </a:r>
          </a:p>
          <a:p>
            <a:endParaRPr lang="en-IN" altLang="en-US" sz="2000" dirty="0">
              <a:latin typeface="Century Gothic" panose="020B0502020202020204" pitchFamily="34" charset="0"/>
            </a:endParaRPr>
          </a:p>
          <a:p>
            <a:r>
              <a:rPr lang="en-IN" altLang="en-US" sz="2000" dirty="0">
                <a:latin typeface="Century Gothic" panose="020B0502020202020204" pitchFamily="34" charset="0"/>
              </a:rPr>
              <a:t>Using these laws, we can derive absorption law, which is quite important.</a:t>
            </a:r>
          </a:p>
          <a:p>
            <a:endParaRPr lang="en-IN" altLang="en-US" sz="2000" dirty="0">
              <a:latin typeface="Century Gothic" panose="020B0502020202020204" pitchFamily="34" charset="0"/>
            </a:endParaRPr>
          </a:p>
          <a:p>
            <a:pPr>
              <a:buFontTx/>
              <a:buAutoNum type="arabicPeriod" startAt="9"/>
            </a:pPr>
            <a:r>
              <a:rPr lang="en-US" altLang="en-US" sz="2000" dirty="0">
                <a:latin typeface="Century Gothic" panose="020B0502020202020204" pitchFamily="34" charset="0"/>
                <a:cs typeface="Times New Roman" panose="02020603050405020304" pitchFamily="18" charset="0"/>
              </a:rPr>
              <a:t>	</a:t>
            </a:r>
            <a:r>
              <a:rPr lang="en-IN" altLang="en-US" sz="2000" dirty="0">
                <a:latin typeface="Century Gothic" panose="020B0502020202020204" pitchFamily="34" charset="0"/>
              </a:rPr>
              <a:t>Absorption Laws</a:t>
            </a:r>
          </a:p>
          <a:p>
            <a:endParaRPr lang="en-IN" altLang="en-US" sz="2000" dirty="0">
              <a:latin typeface="Century Gothic" panose="020B0502020202020204" pitchFamily="34" charset="0"/>
            </a:endParaRPr>
          </a:p>
          <a:p>
            <a:r>
              <a:rPr lang="en-IN" altLang="en-US" sz="2000" dirty="0">
                <a:latin typeface="Century Gothic" panose="020B0502020202020204" pitchFamily="34" charset="0"/>
              </a:rPr>
              <a:t>	p </a:t>
            </a:r>
            <a:r>
              <a:rPr lang="en-US" altLang="en-US" sz="2000" dirty="0">
                <a:solidFill>
                  <a:srgbClr val="000000"/>
                </a:solidFill>
                <a:latin typeface="Century Gothic" panose="020B0502020202020204" pitchFamily="34" charset="0"/>
              </a:rPr>
              <a:t>⋁</a:t>
            </a:r>
            <a:r>
              <a:rPr lang="en-IN" altLang="en-US" sz="2000" dirty="0">
                <a:latin typeface="Century Gothic" panose="020B0502020202020204" pitchFamily="34" charset="0"/>
              </a:rPr>
              <a:t> (p </a:t>
            </a:r>
            <a:r>
              <a:rPr lang="en-US" altLang="en-US" sz="2000" dirty="0">
                <a:solidFill>
                  <a:srgbClr val="000000"/>
                </a:solidFill>
                <a:latin typeface="Century Gothic" panose="020B0502020202020204" pitchFamily="34" charset="0"/>
              </a:rPr>
              <a:t>⋀</a:t>
            </a:r>
            <a:r>
              <a:rPr lang="en-IN" altLang="en-US" sz="2000" dirty="0">
                <a:latin typeface="Century Gothic" panose="020B0502020202020204" pitchFamily="34" charset="0"/>
              </a:rPr>
              <a:t> q) ≡ p		(9a)</a:t>
            </a:r>
          </a:p>
          <a:p>
            <a:r>
              <a:rPr lang="en-IN" altLang="en-US" sz="2000" dirty="0">
                <a:latin typeface="Century Gothic" panose="020B0502020202020204" pitchFamily="34" charset="0"/>
              </a:rPr>
              <a:t>	p </a:t>
            </a:r>
            <a:r>
              <a:rPr lang="en-US" altLang="en-US" sz="2000" dirty="0">
                <a:solidFill>
                  <a:srgbClr val="000000"/>
                </a:solidFill>
                <a:latin typeface="Century Gothic" panose="020B0502020202020204" pitchFamily="34" charset="0"/>
              </a:rPr>
              <a:t>⋀</a:t>
            </a:r>
            <a:r>
              <a:rPr lang="en-IN" altLang="en-US" sz="2000" dirty="0">
                <a:latin typeface="Century Gothic" panose="020B0502020202020204" pitchFamily="34" charset="0"/>
              </a:rPr>
              <a:t> (p </a:t>
            </a:r>
            <a:r>
              <a:rPr lang="en-US" altLang="en-US" sz="2000" dirty="0">
                <a:solidFill>
                  <a:srgbClr val="000000"/>
                </a:solidFill>
                <a:latin typeface="Century Gothic" panose="020B0502020202020204" pitchFamily="34" charset="0"/>
              </a:rPr>
              <a:t>⋁</a:t>
            </a:r>
            <a:r>
              <a:rPr lang="en-IN" altLang="en-US" sz="2000" dirty="0">
                <a:latin typeface="Century Gothic" panose="020B0502020202020204" pitchFamily="34" charset="0"/>
              </a:rPr>
              <a:t> q) ≡ p		(9b)</a:t>
            </a:r>
          </a:p>
          <a:p>
            <a:r>
              <a:rPr lang="en-IN" altLang="en-US" sz="2000" dirty="0">
                <a:latin typeface="Century Gothic" panose="020B0502020202020204" pitchFamily="34" charset="0"/>
              </a:rPr>
              <a:t>	</a:t>
            </a:r>
          </a:p>
          <a:p>
            <a:r>
              <a:rPr lang="en-IN" altLang="en-US" sz="2000" dirty="0">
                <a:latin typeface="Century Gothic" panose="020B0502020202020204" pitchFamily="34" charset="0"/>
              </a:rPr>
              <a:t>	Proof of (9a)</a:t>
            </a:r>
          </a:p>
          <a:p>
            <a:r>
              <a:rPr lang="en-IN" altLang="en-US" sz="2000" dirty="0">
                <a:latin typeface="Century Gothic" panose="020B0502020202020204" pitchFamily="34" charset="0"/>
              </a:rPr>
              <a:t>	</a:t>
            </a:r>
          </a:p>
          <a:p>
            <a:r>
              <a:rPr lang="en-IN" altLang="en-US" sz="2000" dirty="0">
                <a:latin typeface="Century Gothic" panose="020B0502020202020204" pitchFamily="34" charset="0"/>
              </a:rPr>
              <a:t>	p </a:t>
            </a:r>
            <a:r>
              <a:rPr lang="en-US" altLang="en-US" sz="2000" dirty="0">
                <a:solidFill>
                  <a:srgbClr val="000000"/>
                </a:solidFill>
                <a:latin typeface="Century Gothic" panose="020B0502020202020204" pitchFamily="34" charset="0"/>
              </a:rPr>
              <a:t>⋁</a:t>
            </a:r>
            <a:r>
              <a:rPr lang="en-IN" altLang="en-US" sz="2000" dirty="0">
                <a:latin typeface="Century Gothic" panose="020B0502020202020204" pitchFamily="34" charset="0"/>
              </a:rPr>
              <a:t> (p </a:t>
            </a:r>
            <a:r>
              <a:rPr lang="en-US" altLang="en-US" sz="2000" dirty="0">
                <a:solidFill>
                  <a:srgbClr val="000000"/>
                </a:solidFill>
                <a:latin typeface="Century Gothic" panose="020B0502020202020204" pitchFamily="34" charset="0"/>
              </a:rPr>
              <a:t>⋀</a:t>
            </a:r>
            <a:r>
              <a:rPr lang="en-IN" altLang="en-US" sz="2000" dirty="0">
                <a:latin typeface="Century Gothic" panose="020B0502020202020204" pitchFamily="34" charset="0"/>
              </a:rPr>
              <a:t> q) ≡  ( p </a:t>
            </a:r>
            <a:r>
              <a:rPr lang="en-US" altLang="en-US" sz="2000" dirty="0">
                <a:solidFill>
                  <a:srgbClr val="000000"/>
                </a:solidFill>
                <a:latin typeface="Century Gothic" panose="020B0502020202020204" pitchFamily="34" charset="0"/>
              </a:rPr>
              <a:t>⋀</a:t>
            </a:r>
            <a:r>
              <a:rPr lang="en-IN" altLang="en-US" sz="2000" dirty="0">
                <a:latin typeface="Century Gothic" panose="020B0502020202020204" pitchFamily="34" charset="0"/>
              </a:rPr>
              <a:t> T) </a:t>
            </a:r>
            <a:r>
              <a:rPr lang="en-US" altLang="en-US" sz="2000" dirty="0">
                <a:solidFill>
                  <a:srgbClr val="000000"/>
                </a:solidFill>
                <a:latin typeface="Century Gothic" panose="020B0502020202020204" pitchFamily="34" charset="0"/>
              </a:rPr>
              <a:t>⋁</a:t>
            </a:r>
            <a:r>
              <a:rPr lang="en-IN" altLang="en-US" sz="2000" dirty="0">
                <a:latin typeface="Century Gothic" panose="020B0502020202020204" pitchFamily="34" charset="0"/>
              </a:rPr>
              <a:t> (p </a:t>
            </a:r>
            <a:r>
              <a:rPr lang="en-US" altLang="en-US" sz="2000" dirty="0">
                <a:solidFill>
                  <a:srgbClr val="000000"/>
                </a:solidFill>
                <a:latin typeface="Century Gothic" panose="020B0502020202020204" pitchFamily="34" charset="0"/>
              </a:rPr>
              <a:t>⋀</a:t>
            </a:r>
            <a:r>
              <a:rPr lang="en-IN" altLang="en-US" sz="2000" dirty="0">
                <a:latin typeface="Century Gothic" panose="020B0502020202020204" pitchFamily="34" charset="0"/>
              </a:rPr>
              <a:t> q)</a:t>
            </a:r>
          </a:p>
          <a:p>
            <a:r>
              <a:rPr lang="en-IN" altLang="en-US" sz="2000" dirty="0">
                <a:latin typeface="Century Gothic" panose="020B0502020202020204" pitchFamily="34" charset="0"/>
              </a:rPr>
              <a:t>		  ≡  p </a:t>
            </a:r>
            <a:r>
              <a:rPr lang="en-US" altLang="en-US" sz="2000" dirty="0">
                <a:solidFill>
                  <a:srgbClr val="000000"/>
                </a:solidFill>
                <a:latin typeface="Century Gothic" panose="020B0502020202020204" pitchFamily="34" charset="0"/>
              </a:rPr>
              <a:t>⋀</a:t>
            </a:r>
            <a:r>
              <a:rPr lang="en-IN" altLang="en-US" sz="2000" dirty="0">
                <a:latin typeface="Century Gothic" panose="020B0502020202020204" pitchFamily="34" charset="0"/>
              </a:rPr>
              <a:t> (T </a:t>
            </a:r>
            <a:r>
              <a:rPr lang="en-US" altLang="en-US" sz="2000" dirty="0">
                <a:solidFill>
                  <a:srgbClr val="000000"/>
                </a:solidFill>
                <a:latin typeface="Century Gothic" panose="020B0502020202020204" pitchFamily="34" charset="0"/>
              </a:rPr>
              <a:t>⋁</a:t>
            </a:r>
            <a:r>
              <a:rPr lang="en-IN" altLang="en-US" sz="2000" dirty="0">
                <a:latin typeface="Century Gothic" panose="020B0502020202020204" pitchFamily="34" charset="0"/>
              </a:rPr>
              <a:t> q)</a:t>
            </a:r>
          </a:p>
          <a:p>
            <a:r>
              <a:rPr lang="en-IN" altLang="en-US" sz="2000" dirty="0">
                <a:latin typeface="Century Gothic" panose="020B0502020202020204" pitchFamily="34" charset="0"/>
              </a:rPr>
              <a:t>		  ≡  p </a:t>
            </a:r>
            <a:r>
              <a:rPr lang="en-US" altLang="en-US" sz="2000" dirty="0">
                <a:solidFill>
                  <a:srgbClr val="000000"/>
                </a:solidFill>
                <a:latin typeface="Century Gothic" panose="020B0502020202020204" pitchFamily="34" charset="0"/>
              </a:rPr>
              <a:t>⋀</a:t>
            </a:r>
            <a:r>
              <a:rPr lang="en-IN" altLang="en-US" sz="2000" dirty="0">
                <a:latin typeface="Century Gothic" panose="020B0502020202020204" pitchFamily="34" charset="0"/>
              </a:rPr>
              <a:t> T		using identity law</a:t>
            </a:r>
          </a:p>
          <a:p>
            <a:r>
              <a:rPr lang="en-IN" altLang="en-US" sz="2000" dirty="0">
                <a:latin typeface="Century Gothic" panose="020B0502020202020204" pitchFamily="34" charset="0"/>
              </a:rPr>
              <a:t>		  ≡  p       		using identity law</a:t>
            </a:r>
          </a:p>
          <a:p>
            <a:endParaRPr lang="en-IN" altLang="en-US" sz="2000" dirty="0">
              <a:latin typeface="Century Gothic" panose="020B0502020202020204" pitchFamily="34" charset="0"/>
            </a:endParaRPr>
          </a:p>
        </p:txBody>
      </p:sp>
      <p:sp>
        <p:nvSpPr>
          <p:cNvPr id="2" name="TextBox 1">
            <a:extLst>
              <a:ext uri="{FF2B5EF4-FFF2-40B4-BE49-F238E27FC236}">
                <a16:creationId xmlns:a16="http://schemas.microsoft.com/office/drawing/2014/main" id="{83D59278-A573-4889-BC1C-FDD11D29B523}"/>
              </a:ext>
            </a:extLst>
          </p:cNvPr>
          <p:cNvSpPr txBox="1"/>
          <p:nvPr/>
        </p:nvSpPr>
        <p:spPr>
          <a:xfrm>
            <a:off x="3750342" y="339817"/>
            <a:ext cx="2973891" cy="543675"/>
          </a:xfrm>
          <a:prstGeom prst="rect">
            <a:avLst/>
          </a:prstGeom>
          <a:noFill/>
        </p:spPr>
        <p:txBody>
          <a:bodyPr wrap="none" rtlCol="0">
            <a:spAutoFit/>
          </a:bodyPr>
          <a:lstStyle/>
          <a:p>
            <a:r>
              <a:rPr lang="en-US" altLang="en-US" sz="2933" dirty="0">
                <a:solidFill>
                  <a:schemeClr val="tx1">
                    <a:lumMod val="95000"/>
                    <a:lumOff val="5000"/>
                  </a:schemeClr>
                </a:solidFill>
                <a:latin typeface="Century Gothic" panose="020B0502020202020204" pitchFamily="34" charset="0"/>
                <a:cs typeface="Arial" pitchFamily="34" charset="0"/>
              </a:rPr>
              <a:t>Algebraic Laws</a:t>
            </a:r>
          </a:p>
        </p:txBody>
      </p:sp>
    </p:spTree>
    <p:extLst>
      <p:ext uri="{BB962C8B-B14F-4D97-AF65-F5344CB8AC3E}">
        <p14:creationId xmlns:p14="http://schemas.microsoft.com/office/powerpoint/2010/main" val="276497034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wipe(left)">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Effect transition="in" filter="wipe(left)">
                                      <p:cBhvr>
                                        <p:cTn id="17" dur="500"/>
                                        <p:tgtEl>
                                          <p:spTgt spid="5">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txEl>
                                              <p:pRg st="5" end="5"/>
                                            </p:txEl>
                                          </p:spTgt>
                                        </p:tgtEl>
                                        <p:attrNameLst>
                                          <p:attrName>style.visibility</p:attrName>
                                        </p:attrNameLst>
                                      </p:cBhvr>
                                      <p:to>
                                        <p:strVal val="visible"/>
                                      </p:to>
                                    </p:set>
                                    <p:animEffect transition="in" filter="wipe(left)">
                                      <p:cBhvr>
                                        <p:cTn id="22" dur="500"/>
                                        <p:tgtEl>
                                          <p:spTgt spid="5">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
                                            <p:txEl>
                                              <p:pRg st="7" end="7"/>
                                            </p:txEl>
                                          </p:spTgt>
                                        </p:tgtEl>
                                        <p:attrNameLst>
                                          <p:attrName>style.visibility</p:attrName>
                                        </p:attrNameLst>
                                      </p:cBhvr>
                                      <p:to>
                                        <p:strVal val="visible"/>
                                      </p:to>
                                    </p:set>
                                    <p:animEffect transition="in" filter="wipe(left)">
                                      <p:cBhvr>
                                        <p:cTn id="27" dur="500"/>
                                        <p:tgtEl>
                                          <p:spTgt spid="5">
                                            <p:txEl>
                                              <p:pRg st="7" end="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
                                            <p:txEl>
                                              <p:pRg st="8" end="8"/>
                                            </p:txEl>
                                          </p:spTgt>
                                        </p:tgtEl>
                                        <p:attrNameLst>
                                          <p:attrName>style.visibility</p:attrName>
                                        </p:attrNameLst>
                                      </p:cBhvr>
                                      <p:to>
                                        <p:strVal val="visible"/>
                                      </p:to>
                                    </p:set>
                                    <p:animEffect transition="in" filter="wipe(left)">
                                      <p:cBhvr>
                                        <p:cTn id="32" dur="500"/>
                                        <p:tgtEl>
                                          <p:spTgt spid="5">
                                            <p:txEl>
                                              <p:pRg st="8" end="8"/>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5">
                                            <p:txEl>
                                              <p:pRg st="9" end="9"/>
                                            </p:txEl>
                                          </p:spTgt>
                                        </p:tgtEl>
                                        <p:attrNameLst>
                                          <p:attrName>style.visibility</p:attrName>
                                        </p:attrNameLst>
                                      </p:cBhvr>
                                      <p:to>
                                        <p:strVal val="visible"/>
                                      </p:to>
                                    </p:set>
                                    <p:animEffect transition="in" filter="wipe(left)">
                                      <p:cBhvr>
                                        <p:cTn id="37" dur="500"/>
                                        <p:tgtEl>
                                          <p:spTgt spid="5">
                                            <p:txEl>
                                              <p:pRg st="9" end="9"/>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5">
                                            <p:txEl>
                                              <p:pRg st="10" end="10"/>
                                            </p:txEl>
                                          </p:spTgt>
                                        </p:tgtEl>
                                        <p:attrNameLst>
                                          <p:attrName>style.visibility</p:attrName>
                                        </p:attrNameLst>
                                      </p:cBhvr>
                                      <p:to>
                                        <p:strVal val="visible"/>
                                      </p:to>
                                    </p:set>
                                    <p:animEffect transition="in" filter="wipe(left)">
                                      <p:cBhvr>
                                        <p:cTn id="42" dur="500"/>
                                        <p:tgtEl>
                                          <p:spTgt spid="5">
                                            <p:txEl>
                                              <p:pRg st="10" end="1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5">
                                            <p:txEl>
                                              <p:pRg st="11" end="11"/>
                                            </p:txEl>
                                          </p:spTgt>
                                        </p:tgtEl>
                                        <p:attrNameLst>
                                          <p:attrName>style.visibility</p:attrName>
                                        </p:attrNameLst>
                                      </p:cBhvr>
                                      <p:to>
                                        <p:strVal val="visible"/>
                                      </p:to>
                                    </p:set>
                                    <p:animEffect transition="in" filter="wipe(left)">
                                      <p:cBhvr>
                                        <p:cTn id="47" dur="500"/>
                                        <p:tgtEl>
                                          <p:spTgt spid="5">
                                            <p:txEl>
                                              <p:pRg st="11" end="11"/>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5">
                                            <p:txEl>
                                              <p:pRg st="12" end="12"/>
                                            </p:txEl>
                                          </p:spTgt>
                                        </p:tgtEl>
                                        <p:attrNameLst>
                                          <p:attrName>style.visibility</p:attrName>
                                        </p:attrNameLst>
                                      </p:cBhvr>
                                      <p:to>
                                        <p:strVal val="visible"/>
                                      </p:to>
                                    </p:set>
                                    <p:animEffect transition="in" filter="wipe(left)">
                                      <p:cBhvr>
                                        <p:cTn id="52" dur="500"/>
                                        <p:tgtEl>
                                          <p:spTgt spid="5">
                                            <p:txEl>
                                              <p:pRg st="12" end="12"/>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5">
                                            <p:txEl>
                                              <p:pRg st="13" end="13"/>
                                            </p:txEl>
                                          </p:spTgt>
                                        </p:tgtEl>
                                        <p:attrNameLst>
                                          <p:attrName>style.visibility</p:attrName>
                                        </p:attrNameLst>
                                      </p:cBhvr>
                                      <p:to>
                                        <p:strVal val="visible"/>
                                      </p:to>
                                    </p:set>
                                    <p:animEffect transition="in" filter="wipe(left)">
                                      <p:cBhvr>
                                        <p:cTn id="57" dur="500"/>
                                        <p:tgtEl>
                                          <p:spTgt spid="5">
                                            <p:txEl>
                                              <p:pRg st="13" end="13"/>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5">
                                            <p:txEl>
                                              <p:pRg st="14" end="14"/>
                                            </p:txEl>
                                          </p:spTgt>
                                        </p:tgtEl>
                                        <p:attrNameLst>
                                          <p:attrName>style.visibility</p:attrName>
                                        </p:attrNameLst>
                                      </p:cBhvr>
                                      <p:to>
                                        <p:strVal val="visible"/>
                                      </p:to>
                                    </p:set>
                                    <p:animEffect transition="in" filter="wipe(left)">
                                      <p:cBhvr>
                                        <p:cTn id="62" dur="500"/>
                                        <p:tgtEl>
                                          <p:spTgt spid="5">
                                            <p:txEl>
                                              <p:pRg st="14" end="14"/>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5">
                                            <p:txEl>
                                              <p:pRg st="15" end="15"/>
                                            </p:txEl>
                                          </p:spTgt>
                                        </p:tgtEl>
                                        <p:attrNameLst>
                                          <p:attrName>style.visibility</p:attrName>
                                        </p:attrNameLst>
                                      </p:cBhvr>
                                      <p:to>
                                        <p:strVal val="visible"/>
                                      </p:to>
                                    </p:set>
                                    <p:animEffect transition="in" filter="wipe(left)">
                                      <p:cBhvr>
                                        <p:cTn id="67" dur="500"/>
                                        <p:tgtEl>
                                          <p:spTgt spid="5">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6B73327-9303-4E62-BF84-6E84862AF183}"/>
              </a:ext>
            </a:extLst>
          </p:cNvPr>
          <p:cNvSpPr txBox="1"/>
          <p:nvPr/>
        </p:nvSpPr>
        <p:spPr>
          <a:xfrm>
            <a:off x="723363" y="1611721"/>
            <a:ext cx="10655837" cy="707886"/>
          </a:xfrm>
          <a:prstGeom prst="rect">
            <a:avLst/>
          </a:prstGeom>
          <a:noFill/>
        </p:spPr>
        <p:txBody>
          <a:bodyPr wrap="square">
            <a:spAutoFit/>
          </a:bodyPr>
          <a:lstStyle/>
          <a:p>
            <a:r>
              <a:rPr lang="en-IN" altLang="en-US" sz="2000" dirty="0">
                <a:latin typeface="Century Gothic" panose="020B0502020202020204" pitchFamily="34" charset="0"/>
              </a:rPr>
              <a:t>All the laws can be proved using truth table.</a:t>
            </a:r>
          </a:p>
          <a:p>
            <a:r>
              <a:rPr lang="en-IN" altLang="en-US" sz="2000" dirty="0">
                <a:latin typeface="Century Gothic" panose="020B0502020202020204" pitchFamily="34" charset="0"/>
              </a:rPr>
              <a:t>Proof of Distributive law: p </a:t>
            </a:r>
            <a:r>
              <a:rPr lang="en-US" altLang="en-US" sz="2000" dirty="0">
                <a:solidFill>
                  <a:srgbClr val="000000"/>
                </a:solidFill>
                <a:latin typeface="Century Gothic" panose="020B0502020202020204" pitchFamily="34" charset="0"/>
              </a:rPr>
              <a:t>⋁</a:t>
            </a:r>
            <a:r>
              <a:rPr lang="en-IN" altLang="en-US" sz="2000" dirty="0">
                <a:latin typeface="Century Gothic" panose="020B0502020202020204" pitchFamily="34" charset="0"/>
              </a:rPr>
              <a:t> (q </a:t>
            </a:r>
            <a:r>
              <a:rPr lang="en-US" altLang="en-US" sz="2000" dirty="0">
                <a:solidFill>
                  <a:srgbClr val="000000"/>
                </a:solidFill>
                <a:latin typeface="Century Gothic" panose="020B0502020202020204" pitchFamily="34" charset="0"/>
              </a:rPr>
              <a:t>⋀</a:t>
            </a:r>
            <a:r>
              <a:rPr lang="en-IN" altLang="en-US" sz="2000" dirty="0">
                <a:latin typeface="Century Gothic" panose="020B0502020202020204" pitchFamily="34" charset="0"/>
              </a:rPr>
              <a:t> r) ≡   (p </a:t>
            </a:r>
            <a:r>
              <a:rPr lang="en-US" altLang="en-US" sz="2000" dirty="0">
                <a:solidFill>
                  <a:srgbClr val="000000"/>
                </a:solidFill>
                <a:latin typeface="Century Gothic" panose="020B0502020202020204" pitchFamily="34" charset="0"/>
              </a:rPr>
              <a:t>⋁</a:t>
            </a:r>
            <a:r>
              <a:rPr lang="en-IN" altLang="en-US" sz="2000" dirty="0">
                <a:latin typeface="Century Gothic" panose="020B0502020202020204" pitchFamily="34" charset="0"/>
              </a:rPr>
              <a:t> q) </a:t>
            </a:r>
            <a:r>
              <a:rPr lang="en-US" altLang="en-US" sz="2000" dirty="0">
                <a:solidFill>
                  <a:srgbClr val="000000"/>
                </a:solidFill>
                <a:latin typeface="Century Gothic" panose="020B0502020202020204" pitchFamily="34" charset="0"/>
              </a:rPr>
              <a:t>⋀</a:t>
            </a:r>
            <a:r>
              <a:rPr lang="en-IN" altLang="en-US" sz="2000" dirty="0">
                <a:latin typeface="Century Gothic" panose="020B0502020202020204" pitchFamily="34" charset="0"/>
              </a:rPr>
              <a:t> (p </a:t>
            </a:r>
            <a:r>
              <a:rPr lang="en-US" altLang="en-US" sz="2000" dirty="0">
                <a:solidFill>
                  <a:srgbClr val="000000"/>
                </a:solidFill>
                <a:latin typeface="Century Gothic" panose="020B0502020202020204" pitchFamily="34" charset="0"/>
              </a:rPr>
              <a:t>⋁</a:t>
            </a:r>
            <a:r>
              <a:rPr lang="en-IN" altLang="en-US" sz="2000" dirty="0">
                <a:latin typeface="Century Gothic" panose="020B0502020202020204" pitchFamily="34" charset="0"/>
              </a:rPr>
              <a:t> r)</a:t>
            </a:r>
          </a:p>
        </p:txBody>
      </p:sp>
      <p:graphicFrame>
        <p:nvGraphicFramePr>
          <p:cNvPr id="2" name="Group 496">
            <a:extLst>
              <a:ext uri="{FF2B5EF4-FFF2-40B4-BE49-F238E27FC236}">
                <a16:creationId xmlns:a16="http://schemas.microsoft.com/office/drawing/2014/main" id="{15472AEB-3D13-4B82-AAF3-29A6FA62CE09}"/>
              </a:ext>
            </a:extLst>
          </p:cNvPr>
          <p:cNvGraphicFramePr>
            <a:graphicFrameLocks noGrp="1"/>
          </p:cNvGraphicFramePr>
          <p:nvPr/>
        </p:nvGraphicFramePr>
        <p:xfrm>
          <a:off x="711200" y="2463800"/>
          <a:ext cx="10667997" cy="3200400"/>
        </p:xfrm>
        <a:graphic>
          <a:graphicData uri="http://schemas.openxmlformats.org/drawingml/2006/table">
            <a:tbl>
              <a:tblPr/>
              <a:tblGrid>
                <a:gridCol w="914400">
                  <a:extLst>
                    <a:ext uri="{9D8B030D-6E8A-4147-A177-3AD203B41FA5}">
                      <a16:colId xmlns:a16="http://schemas.microsoft.com/office/drawing/2014/main" val="3186543746"/>
                    </a:ext>
                  </a:extLst>
                </a:gridCol>
                <a:gridCol w="914400">
                  <a:extLst>
                    <a:ext uri="{9D8B030D-6E8A-4147-A177-3AD203B41FA5}">
                      <a16:colId xmlns:a16="http://schemas.microsoft.com/office/drawing/2014/main" val="2370677579"/>
                    </a:ext>
                  </a:extLst>
                </a:gridCol>
                <a:gridCol w="1117600">
                  <a:extLst>
                    <a:ext uri="{9D8B030D-6E8A-4147-A177-3AD203B41FA5}">
                      <a16:colId xmlns:a16="http://schemas.microsoft.com/office/drawing/2014/main" val="3727134370"/>
                    </a:ext>
                  </a:extLst>
                </a:gridCol>
                <a:gridCol w="1219200">
                  <a:extLst>
                    <a:ext uri="{9D8B030D-6E8A-4147-A177-3AD203B41FA5}">
                      <a16:colId xmlns:a16="http://schemas.microsoft.com/office/drawing/2014/main" val="4154495380"/>
                    </a:ext>
                  </a:extLst>
                </a:gridCol>
                <a:gridCol w="1727200">
                  <a:extLst>
                    <a:ext uri="{9D8B030D-6E8A-4147-A177-3AD203B41FA5}">
                      <a16:colId xmlns:a16="http://schemas.microsoft.com/office/drawing/2014/main" val="2448573974"/>
                    </a:ext>
                  </a:extLst>
                </a:gridCol>
                <a:gridCol w="1320800">
                  <a:extLst>
                    <a:ext uri="{9D8B030D-6E8A-4147-A177-3AD203B41FA5}">
                      <a16:colId xmlns:a16="http://schemas.microsoft.com/office/drawing/2014/main" val="976992439"/>
                    </a:ext>
                  </a:extLst>
                </a:gridCol>
                <a:gridCol w="1219200">
                  <a:extLst>
                    <a:ext uri="{9D8B030D-6E8A-4147-A177-3AD203B41FA5}">
                      <a16:colId xmlns:a16="http://schemas.microsoft.com/office/drawing/2014/main" val="1317298347"/>
                    </a:ext>
                  </a:extLst>
                </a:gridCol>
                <a:gridCol w="2235197">
                  <a:extLst>
                    <a:ext uri="{9D8B030D-6E8A-4147-A177-3AD203B41FA5}">
                      <a16:colId xmlns:a16="http://schemas.microsoft.com/office/drawing/2014/main" val="164551530"/>
                    </a:ext>
                  </a:extLst>
                </a:gridCol>
              </a:tblGrid>
              <a:tr h="355600">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700" b="1"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p</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01"/>
                    </a:solid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700" b="1"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q</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01"/>
                    </a:solid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700" b="1"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r</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01"/>
                    </a:solid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700" b="1"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q </a:t>
                      </a:r>
                      <a:r>
                        <a:rPr kumimoji="0" lang="en-US" altLang="en-US" sz="1700" b="1" i="0" u="none" strike="noStrike" cap="none" normalizeH="0" baseline="0" dirty="0">
                          <a:ln>
                            <a:noFill/>
                          </a:ln>
                          <a:solidFill>
                            <a:srgbClr val="000000"/>
                          </a:solidFill>
                          <a:effectLst/>
                          <a:latin typeface="Century Gothic" panose="020B0502020202020204" pitchFamily="34" charset="0"/>
                          <a:ea typeface="Calibri" panose="020F0502020204030204" pitchFamily="34" charset="0"/>
                          <a:cs typeface="Times New Roman" panose="02020603050405020304" pitchFamily="18" charset="0"/>
                        </a:rPr>
                        <a:t>⋀</a:t>
                      </a:r>
                      <a:r>
                        <a:rPr kumimoji="0" lang="en-US" altLang="en-US" sz="1700" b="1"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 r</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01"/>
                    </a:solid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700" b="1"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p </a:t>
                      </a:r>
                      <a:r>
                        <a:rPr kumimoji="0" lang="en-US" altLang="en-US" sz="1700" b="1" i="0" u="none" strike="noStrike" cap="none" normalizeH="0" baseline="0" dirty="0">
                          <a:ln>
                            <a:noFill/>
                          </a:ln>
                          <a:solidFill>
                            <a:srgbClr val="000000"/>
                          </a:solidFill>
                          <a:effectLst/>
                          <a:latin typeface="Century Gothic" panose="020B0502020202020204" pitchFamily="34" charset="0"/>
                          <a:ea typeface="Calibri" panose="020F0502020204030204" pitchFamily="34" charset="0"/>
                          <a:cs typeface="Times New Roman" panose="02020603050405020304" pitchFamily="18" charset="0"/>
                        </a:rPr>
                        <a:t>⋁</a:t>
                      </a:r>
                      <a:r>
                        <a:rPr kumimoji="0" lang="en-US" altLang="en-US" sz="1700" b="1"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 (q </a:t>
                      </a:r>
                      <a:r>
                        <a:rPr kumimoji="0" lang="en-US" altLang="en-US" sz="1700" b="1" i="0" u="none" strike="noStrike" cap="none" normalizeH="0" baseline="0" dirty="0">
                          <a:ln>
                            <a:noFill/>
                          </a:ln>
                          <a:solidFill>
                            <a:srgbClr val="000000"/>
                          </a:solidFill>
                          <a:effectLst/>
                          <a:latin typeface="Century Gothic" panose="020B0502020202020204" pitchFamily="34" charset="0"/>
                        </a:rPr>
                        <a:t>⋀</a:t>
                      </a:r>
                      <a:r>
                        <a:rPr kumimoji="0" lang="en-US" altLang="en-US" sz="1700" b="1" i="0" u="none" strike="noStrike" cap="none" normalizeH="0" baseline="0" dirty="0">
                          <a:ln>
                            <a:noFill/>
                          </a:ln>
                          <a:solidFill>
                            <a:schemeClr val="tx1"/>
                          </a:solidFill>
                          <a:effectLst/>
                          <a:latin typeface="Century Gothic" panose="020B0502020202020204" pitchFamily="34" charset="0"/>
                          <a:cs typeface="Calibri" panose="020F0502020204030204" pitchFamily="34" charset="0"/>
                        </a:rPr>
                        <a:t> r)</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01"/>
                    </a:solid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700" b="1"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p</a:t>
                      </a:r>
                      <a:r>
                        <a:rPr kumimoji="0" lang="en-US" altLang="en-US" sz="1700" b="1" i="0" u="none" strike="noStrike" cap="none" normalizeH="0" baseline="0" dirty="0">
                          <a:ln>
                            <a:noFill/>
                          </a:ln>
                          <a:solidFill>
                            <a:srgbClr val="000000"/>
                          </a:solidFill>
                          <a:effectLst/>
                          <a:latin typeface="Century Gothic" panose="020B0502020202020204" pitchFamily="34" charset="0"/>
                          <a:ea typeface="Calibri" panose="020F0502020204030204" pitchFamily="34" charset="0"/>
                          <a:cs typeface="Times New Roman" panose="02020603050405020304" pitchFamily="18" charset="0"/>
                        </a:rPr>
                        <a:t>⋁</a:t>
                      </a:r>
                      <a:r>
                        <a:rPr kumimoji="0" lang="en-US" altLang="en-US" sz="1700" b="1"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 q</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01"/>
                    </a:solid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700" b="1"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p </a:t>
                      </a:r>
                      <a:r>
                        <a:rPr kumimoji="0" lang="en-US" altLang="en-US" sz="1700" b="1" i="0" u="none" strike="noStrike" cap="none" normalizeH="0" baseline="0" dirty="0">
                          <a:ln>
                            <a:noFill/>
                          </a:ln>
                          <a:solidFill>
                            <a:srgbClr val="000000"/>
                          </a:solidFill>
                          <a:effectLst/>
                          <a:latin typeface="Century Gothic" panose="020B0502020202020204" pitchFamily="34" charset="0"/>
                          <a:ea typeface="Calibri" panose="020F0502020204030204" pitchFamily="34" charset="0"/>
                          <a:cs typeface="Times New Roman" panose="02020603050405020304" pitchFamily="18" charset="0"/>
                        </a:rPr>
                        <a:t>⋁</a:t>
                      </a:r>
                      <a:r>
                        <a:rPr kumimoji="0" lang="en-US" altLang="en-US" sz="1700" b="1"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 r</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01"/>
                    </a:solid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700" b="1"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(p </a:t>
                      </a:r>
                      <a:r>
                        <a:rPr kumimoji="0" lang="en-US" altLang="en-US" sz="1700" b="1" i="0" u="none" strike="noStrike" cap="none" normalizeH="0" baseline="0" dirty="0">
                          <a:ln>
                            <a:noFill/>
                          </a:ln>
                          <a:solidFill>
                            <a:srgbClr val="000000"/>
                          </a:solidFill>
                          <a:effectLst/>
                          <a:latin typeface="Century Gothic" panose="020B0502020202020204" pitchFamily="34" charset="0"/>
                          <a:ea typeface="Calibri" panose="020F0502020204030204" pitchFamily="34" charset="0"/>
                          <a:cs typeface="Times New Roman" panose="02020603050405020304" pitchFamily="18" charset="0"/>
                        </a:rPr>
                        <a:t>⋁</a:t>
                      </a:r>
                      <a:r>
                        <a:rPr kumimoji="0" lang="en-US" altLang="en-US" sz="1700" b="1"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 q) </a:t>
                      </a:r>
                      <a:r>
                        <a:rPr kumimoji="0" lang="en-US" altLang="en-US" sz="1700" b="1" i="0" u="none" strike="noStrike" cap="none" normalizeH="0" baseline="0" dirty="0">
                          <a:ln>
                            <a:noFill/>
                          </a:ln>
                          <a:solidFill>
                            <a:srgbClr val="000000"/>
                          </a:solidFill>
                          <a:effectLst/>
                          <a:latin typeface="Century Gothic" panose="020B0502020202020204" pitchFamily="34" charset="0"/>
                        </a:rPr>
                        <a:t>⋀</a:t>
                      </a:r>
                      <a:r>
                        <a:rPr kumimoji="0" lang="en-US" altLang="en-US" sz="1700" b="1" i="0" u="none" strike="noStrike" cap="none" normalizeH="0" baseline="0" dirty="0">
                          <a:ln>
                            <a:noFill/>
                          </a:ln>
                          <a:solidFill>
                            <a:schemeClr val="tx1"/>
                          </a:solidFill>
                          <a:effectLst/>
                          <a:latin typeface="Century Gothic" panose="020B0502020202020204" pitchFamily="34" charset="0"/>
                          <a:cs typeface="Calibri" panose="020F0502020204030204" pitchFamily="34" charset="0"/>
                        </a:rPr>
                        <a:t> (p </a:t>
                      </a:r>
                      <a:r>
                        <a:rPr kumimoji="0" lang="en-US" altLang="en-US" sz="1700" b="1" i="0" u="none" strike="noStrike" cap="none" normalizeH="0" baseline="0" dirty="0">
                          <a:ln>
                            <a:noFill/>
                          </a:ln>
                          <a:solidFill>
                            <a:srgbClr val="000000"/>
                          </a:solidFill>
                          <a:effectLst/>
                          <a:latin typeface="Century Gothic" panose="020B0502020202020204" pitchFamily="34" charset="0"/>
                        </a:rPr>
                        <a:t>⋁</a:t>
                      </a:r>
                      <a:r>
                        <a:rPr kumimoji="0" lang="en-US" altLang="en-US" sz="1700" b="1" i="0" u="none" strike="noStrike" cap="none" normalizeH="0" baseline="0" dirty="0">
                          <a:ln>
                            <a:noFill/>
                          </a:ln>
                          <a:solidFill>
                            <a:schemeClr val="tx1"/>
                          </a:solidFill>
                          <a:effectLst/>
                          <a:latin typeface="Century Gothic" panose="020B0502020202020204" pitchFamily="34" charset="0"/>
                        </a:rPr>
                        <a:t> </a:t>
                      </a:r>
                      <a:r>
                        <a:rPr kumimoji="0" lang="en-US" altLang="en-US" sz="1700" b="1" i="0" u="none" strike="noStrike" cap="none" normalizeH="0" baseline="0" dirty="0">
                          <a:ln>
                            <a:noFill/>
                          </a:ln>
                          <a:solidFill>
                            <a:schemeClr val="tx1"/>
                          </a:solidFill>
                          <a:effectLst/>
                          <a:latin typeface="Century Gothic" panose="020B0502020202020204" pitchFamily="34" charset="0"/>
                          <a:cs typeface="Calibri" panose="020F0502020204030204" pitchFamily="34" charset="0"/>
                        </a:rPr>
                        <a:t>r)</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01"/>
                    </a:solidFill>
                  </a:tcPr>
                </a:tc>
                <a:extLst>
                  <a:ext uri="{0D108BD9-81ED-4DB2-BD59-A6C34878D82A}">
                    <a16:rowId xmlns:a16="http://schemas.microsoft.com/office/drawing/2014/main" val="465087008"/>
                  </a:ext>
                </a:extLst>
              </a:tr>
              <a:tr h="355600">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64993442"/>
                  </a:ext>
                </a:extLst>
              </a:tr>
              <a:tr h="355600">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F</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F</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422829322"/>
                  </a:ext>
                </a:extLst>
              </a:tr>
              <a:tr h="355600">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F</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F</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45336595"/>
                  </a:ext>
                </a:extLst>
              </a:tr>
              <a:tr h="355600">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F</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F</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F</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474466935"/>
                  </a:ext>
                </a:extLst>
              </a:tr>
              <a:tr h="355600">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F</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71972562"/>
                  </a:ext>
                </a:extLst>
              </a:tr>
              <a:tr h="355600">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F</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F</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F</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F</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F</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F</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31811134"/>
                  </a:ext>
                </a:extLst>
              </a:tr>
              <a:tr h="355600">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F</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F</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F</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F</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F</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F</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791341415"/>
                  </a:ext>
                </a:extLst>
              </a:tr>
              <a:tr h="355600">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F</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F</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F</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F</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F</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F</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F</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F</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629905856"/>
                  </a:ext>
                </a:extLst>
              </a:tr>
            </a:tbl>
          </a:graphicData>
        </a:graphic>
      </p:graphicFrame>
      <p:sp>
        <p:nvSpPr>
          <p:cNvPr id="7" name="TextBox 6">
            <a:extLst>
              <a:ext uri="{FF2B5EF4-FFF2-40B4-BE49-F238E27FC236}">
                <a16:creationId xmlns:a16="http://schemas.microsoft.com/office/drawing/2014/main" id="{00106EFA-5171-4653-A093-70807B313F37}"/>
              </a:ext>
            </a:extLst>
          </p:cNvPr>
          <p:cNvSpPr txBox="1"/>
          <p:nvPr/>
        </p:nvSpPr>
        <p:spPr>
          <a:xfrm>
            <a:off x="720436" y="5738336"/>
            <a:ext cx="10655837" cy="707886"/>
          </a:xfrm>
          <a:prstGeom prst="rect">
            <a:avLst/>
          </a:prstGeom>
          <a:noFill/>
        </p:spPr>
        <p:txBody>
          <a:bodyPr wrap="square">
            <a:spAutoFit/>
          </a:bodyPr>
          <a:lstStyle/>
          <a:p>
            <a:r>
              <a:rPr lang="en-US" altLang="en-US" sz="2000" dirty="0">
                <a:latin typeface="Century Gothic" panose="020B0502020202020204" pitchFamily="34" charset="0"/>
              </a:rPr>
              <a:t>Since the entries in the 5th and the last column are same, so the two propositions are logically equivalent.</a:t>
            </a:r>
          </a:p>
        </p:txBody>
      </p:sp>
    </p:spTree>
    <p:extLst>
      <p:ext uri="{BB962C8B-B14F-4D97-AF65-F5344CB8AC3E}">
        <p14:creationId xmlns:p14="http://schemas.microsoft.com/office/powerpoint/2010/main" val="372282517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left)">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
                                            <p:txEl>
                                              <p:pRg st="0" end="0"/>
                                            </p:txEl>
                                          </p:spTgt>
                                        </p:tgtEl>
                                        <p:attrNameLst>
                                          <p:attrName>style.visibility</p:attrName>
                                        </p:attrNameLst>
                                      </p:cBhvr>
                                      <p:to>
                                        <p:strVal val="visible"/>
                                      </p:to>
                                    </p:set>
                                    <p:animEffect transition="in" filter="wipe(left)">
                                      <p:cBhvr>
                                        <p:cTn id="22"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11EAED7-C8F9-45D8-A96E-859AC6FA8DAD}"/>
              </a:ext>
            </a:extLst>
          </p:cNvPr>
          <p:cNvSpPr txBox="1"/>
          <p:nvPr/>
        </p:nvSpPr>
        <p:spPr>
          <a:xfrm>
            <a:off x="4673927" y="892555"/>
            <a:ext cx="2337499" cy="543675"/>
          </a:xfrm>
          <a:prstGeom prst="rect">
            <a:avLst/>
          </a:prstGeom>
          <a:noFill/>
        </p:spPr>
        <p:txBody>
          <a:bodyPr wrap="none" rtlCol="0">
            <a:spAutoFit/>
          </a:bodyPr>
          <a:lstStyle/>
          <a:p>
            <a:r>
              <a:rPr lang="en-US" altLang="en-US" sz="2933" dirty="0">
                <a:solidFill>
                  <a:schemeClr val="tx1">
                    <a:lumMod val="95000"/>
                    <a:lumOff val="5000"/>
                  </a:schemeClr>
                </a:solidFill>
                <a:latin typeface="Century Gothic" panose="020B0502020202020204" pitchFamily="34" charset="0"/>
                <a:cs typeface="Arial" pitchFamily="34" charset="0"/>
              </a:rPr>
              <a:t>Example…..</a:t>
            </a:r>
          </a:p>
        </p:txBody>
      </p:sp>
      <p:sp>
        <p:nvSpPr>
          <p:cNvPr id="5" name="TextBox 4">
            <a:extLst>
              <a:ext uri="{FF2B5EF4-FFF2-40B4-BE49-F238E27FC236}">
                <a16:creationId xmlns:a16="http://schemas.microsoft.com/office/drawing/2014/main" id="{01B16CEC-5382-4936-91C2-86CA7AF3650A}"/>
              </a:ext>
            </a:extLst>
          </p:cNvPr>
          <p:cNvSpPr txBox="1"/>
          <p:nvPr/>
        </p:nvSpPr>
        <p:spPr>
          <a:xfrm>
            <a:off x="723363" y="1611721"/>
            <a:ext cx="10655837" cy="1631216"/>
          </a:xfrm>
          <a:prstGeom prst="rect">
            <a:avLst/>
          </a:prstGeom>
          <a:noFill/>
        </p:spPr>
        <p:txBody>
          <a:bodyPr wrap="square">
            <a:spAutoFit/>
          </a:bodyPr>
          <a:lstStyle/>
          <a:p>
            <a:pPr algn="just"/>
            <a:r>
              <a:rPr lang="en-US" altLang="en-US" sz="2000" dirty="0">
                <a:latin typeface="Century Gothic" panose="020B0502020202020204" pitchFamily="34" charset="0"/>
                <a:cs typeface="Times New Roman" panose="02020603050405020304" pitchFamily="18" charset="0"/>
              </a:rPr>
              <a:t>Show that </a:t>
            </a:r>
            <a:r>
              <a:rPr lang="en-US" altLang="en-US" sz="2000" dirty="0" err="1">
                <a:latin typeface="Century Gothic" panose="020B0502020202020204" pitchFamily="34" charset="0"/>
                <a:cs typeface="Times New Roman" panose="02020603050405020304" pitchFamily="18" charset="0"/>
              </a:rPr>
              <a:t>p↔q</a:t>
            </a:r>
            <a:r>
              <a:rPr lang="en-US" altLang="en-US" sz="2000" dirty="0">
                <a:latin typeface="Century Gothic" panose="020B0502020202020204" pitchFamily="34" charset="0"/>
                <a:cs typeface="Times New Roman" panose="02020603050405020304" pitchFamily="18" charset="0"/>
              </a:rPr>
              <a:t>    ≡    (p ⋁ q) → (p ⋀ q), using</a:t>
            </a:r>
          </a:p>
          <a:p>
            <a:pPr marL="457189" indent="-457189" algn="just">
              <a:buFont typeface="+mj-lt"/>
              <a:buAutoNum type="arabicPeriod"/>
            </a:pPr>
            <a:r>
              <a:rPr lang="en-US" altLang="en-US" sz="2000" dirty="0">
                <a:latin typeface="Century Gothic" panose="020B0502020202020204" pitchFamily="34" charset="0"/>
                <a:cs typeface="Times New Roman" panose="02020603050405020304" pitchFamily="18" charset="0"/>
              </a:rPr>
              <a:t>Truth table</a:t>
            </a:r>
          </a:p>
          <a:p>
            <a:pPr marL="457189" indent="-457189" algn="just">
              <a:buFont typeface="+mj-lt"/>
              <a:buAutoNum type="arabicPeriod"/>
            </a:pPr>
            <a:r>
              <a:rPr lang="en-US" altLang="en-US" sz="2000" dirty="0">
                <a:latin typeface="Century Gothic" panose="020B0502020202020204" pitchFamily="34" charset="0"/>
                <a:cs typeface="Times New Roman" panose="02020603050405020304" pitchFamily="18" charset="0"/>
              </a:rPr>
              <a:t>Algebra of propositions</a:t>
            </a:r>
          </a:p>
          <a:p>
            <a:pPr algn="just"/>
            <a:endParaRPr lang="en-US" altLang="en-US" sz="2000" dirty="0">
              <a:latin typeface="Century Gothic" panose="020B0502020202020204" pitchFamily="34" charset="0"/>
              <a:cs typeface="Times New Roman" panose="02020603050405020304" pitchFamily="18" charset="0"/>
            </a:endParaRPr>
          </a:p>
          <a:p>
            <a:pPr marL="380990" indent="-380990" algn="just">
              <a:buFont typeface="Arial" panose="020B0604020202020204" pitchFamily="34" charset="0"/>
              <a:buChar char="•"/>
            </a:pPr>
            <a:r>
              <a:rPr lang="en-US" altLang="en-US" sz="2000" b="1" dirty="0">
                <a:latin typeface="Century Gothic" panose="020B0502020202020204" pitchFamily="34" charset="0"/>
                <a:cs typeface="Times New Roman" panose="02020603050405020304" pitchFamily="18" charset="0"/>
              </a:rPr>
              <a:t>By truth table</a:t>
            </a:r>
          </a:p>
        </p:txBody>
      </p:sp>
      <p:sp>
        <p:nvSpPr>
          <p:cNvPr id="6" name="TextBox 5">
            <a:extLst>
              <a:ext uri="{FF2B5EF4-FFF2-40B4-BE49-F238E27FC236}">
                <a16:creationId xmlns:a16="http://schemas.microsoft.com/office/drawing/2014/main" id="{01216A52-5642-4464-B3D6-C58469A1A9B8}"/>
              </a:ext>
            </a:extLst>
          </p:cNvPr>
          <p:cNvSpPr txBox="1"/>
          <p:nvPr/>
        </p:nvSpPr>
        <p:spPr>
          <a:xfrm>
            <a:off x="720436" y="6042888"/>
            <a:ext cx="10655837" cy="400110"/>
          </a:xfrm>
          <a:prstGeom prst="rect">
            <a:avLst/>
          </a:prstGeom>
          <a:noFill/>
        </p:spPr>
        <p:txBody>
          <a:bodyPr wrap="square">
            <a:spAutoFit/>
          </a:bodyPr>
          <a:lstStyle/>
          <a:p>
            <a:pPr algn="just"/>
            <a:r>
              <a:rPr lang="en-US" altLang="en-US" sz="2000" dirty="0">
                <a:latin typeface="Century Gothic" panose="020B0502020202020204" pitchFamily="34" charset="0"/>
                <a:cs typeface="Times New Roman" panose="02020603050405020304" pitchFamily="18" charset="0"/>
              </a:rPr>
              <a:t>Truth values in column 3rd and 6th shows the equivalency.</a:t>
            </a:r>
          </a:p>
        </p:txBody>
      </p:sp>
      <p:graphicFrame>
        <p:nvGraphicFramePr>
          <p:cNvPr id="4" name="Group 212">
            <a:extLst>
              <a:ext uri="{FF2B5EF4-FFF2-40B4-BE49-F238E27FC236}">
                <a16:creationId xmlns:a16="http://schemas.microsoft.com/office/drawing/2014/main" id="{0A254CE1-070E-4A6E-94A6-60A2D198C353}"/>
              </a:ext>
            </a:extLst>
          </p:cNvPr>
          <p:cNvGraphicFramePr>
            <a:graphicFrameLocks noGrp="1"/>
          </p:cNvGraphicFramePr>
          <p:nvPr/>
        </p:nvGraphicFramePr>
        <p:xfrm>
          <a:off x="1574800" y="3598861"/>
          <a:ext cx="9042401" cy="2268536"/>
        </p:xfrm>
        <a:graphic>
          <a:graphicData uri="http://schemas.openxmlformats.org/drawingml/2006/table">
            <a:tbl>
              <a:tblPr/>
              <a:tblGrid>
                <a:gridCol w="780799">
                  <a:extLst>
                    <a:ext uri="{9D8B030D-6E8A-4147-A177-3AD203B41FA5}">
                      <a16:colId xmlns:a16="http://schemas.microsoft.com/office/drawing/2014/main" val="4202514240"/>
                    </a:ext>
                  </a:extLst>
                </a:gridCol>
                <a:gridCol w="550279">
                  <a:extLst>
                    <a:ext uri="{9D8B030D-6E8A-4147-A177-3AD203B41FA5}">
                      <a16:colId xmlns:a16="http://schemas.microsoft.com/office/drawing/2014/main" val="204153495"/>
                    </a:ext>
                  </a:extLst>
                </a:gridCol>
                <a:gridCol w="1440140">
                  <a:extLst>
                    <a:ext uri="{9D8B030D-6E8A-4147-A177-3AD203B41FA5}">
                      <a16:colId xmlns:a16="http://schemas.microsoft.com/office/drawing/2014/main" val="3378418146"/>
                    </a:ext>
                  </a:extLst>
                </a:gridCol>
                <a:gridCol w="1603739">
                  <a:extLst>
                    <a:ext uri="{9D8B030D-6E8A-4147-A177-3AD203B41FA5}">
                      <a16:colId xmlns:a16="http://schemas.microsoft.com/office/drawing/2014/main" val="1457177515"/>
                    </a:ext>
                  </a:extLst>
                </a:gridCol>
                <a:gridCol w="1455013">
                  <a:extLst>
                    <a:ext uri="{9D8B030D-6E8A-4147-A177-3AD203B41FA5}">
                      <a16:colId xmlns:a16="http://schemas.microsoft.com/office/drawing/2014/main" val="2541142714"/>
                    </a:ext>
                  </a:extLst>
                </a:gridCol>
                <a:gridCol w="3212431">
                  <a:extLst>
                    <a:ext uri="{9D8B030D-6E8A-4147-A177-3AD203B41FA5}">
                      <a16:colId xmlns:a16="http://schemas.microsoft.com/office/drawing/2014/main" val="3254068171"/>
                    </a:ext>
                  </a:extLst>
                </a:gridCol>
              </a:tblGrid>
              <a:tr h="581384">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p</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00"/>
                    </a:solid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q</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00"/>
                    </a:solid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err="1">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p↔q</a:t>
                      </a:r>
                      <a:endParaRPr kumimoji="0" lang="en-US" altLang="en-US" sz="2000" b="1"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00"/>
                    </a:solid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p </a:t>
                      </a:r>
                      <a:r>
                        <a:rPr kumimoji="0" lang="en-US" altLang="en-US" sz="2000" b="1" i="0" u="none" strike="noStrike" cap="none" normalizeH="0" baseline="0" dirty="0">
                          <a:ln>
                            <a:noFill/>
                          </a:ln>
                          <a:solidFill>
                            <a:srgbClr val="000000"/>
                          </a:solidFill>
                          <a:effectLst/>
                          <a:latin typeface="Century Gothic" panose="020B0502020202020204" pitchFamily="34" charset="0"/>
                          <a:ea typeface="Calibri" panose="020F0502020204030204" pitchFamily="34" charset="0"/>
                          <a:cs typeface="Times New Roman" panose="02020603050405020304" pitchFamily="18" charset="0"/>
                        </a:rPr>
                        <a:t>⋁</a:t>
                      </a:r>
                      <a:r>
                        <a:rPr kumimoji="0" lang="en-US" altLang="en-US" sz="2000" b="1"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 q</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00"/>
                    </a:solid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p </a:t>
                      </a:r>
                      <a:r>
                        <a:rPr kumimoji="0" lang="en-US" altLang="en-US" sz="2000" b="1" i="0" u="none" strike="noStrike" cap="none" normalizeH="0" baseline="0" dirty="0">
                          <a:ln>
                            <a:noFill/>
                          </a:ln>
                          <a:solidFill>
                            <a:srgbClr val="000000"/>
                          </a:solidFill>
                          <a:effectLst/>
                          <a:latin typeface="Century Gothic" panose="020B0502020202020204" pitchFamily="34" charset="0"/>
                          <a:ea typeface="Calibri" panose="020F0502020204030204" pitchFamily="34" charset="0"/>
                          <a:cs typeface="Times New Roman" panose="02020603050405020304" pitchFamily="18" charset="0"/>
                        </a:rPr>
                        <a:t>⋀</a:t>
                      </a:r>
                      <a:r>
                        <a:rPr kumimoji="0" lang="en-US" altLang="en-US" sz="2000" b="1"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 q</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00"/>
                    </a:solid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(p </a:t>
                      </a:r>
                      <a:r>
                        <a:rPr kumimoji="0" lang="en-US" altLang="en-US" sz="2000" b="1" i="0" u="none" strike="noStrike" cap="none" normalizeH="0" baseline="0" dirty="0">
                          <a:ln>
                            <a:noFill/>
                          </a:ln>
                          <a:solidFill>
                            <a:srgbClr val="000000"/>
                          </a:solidFill>
                          <a:effectLst/>
                          <a:latin typeface="Century Gothic" panose="020B0502020202020204" pitchFamily="34" charset="0"/>
                          <a:ea typeface="Calibri" panose="020F0502020204030204" pitchFamily="34" charset="0"/>
                          <a:cs typeface="Times New Roman" panose="02020603050405020304" pitchFamily="18" charset="0"/>
                        </a:rPr>
                        <a:t>⋁</a:t>
                      </a:r>
                      <a:r>
                        <a:rPr kumimoji="0" lang="en-US" altLang="en-US" sz="2000" b="1"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 q) → (p </a:t>
                      </a:r>
                      <a:r>
                        <a:rPr kumimoji="0" lang="en-US" altLang="en-US" sz="2000" b="1" i="0" u="none" strike="noStrike" cap="none" normalizeH="0" baseline="0" dirty="0">
                          <a:ln>
                            <a:noFill/>
                          </a:ln>
                          <a:solidFill>
                            <a:srgbClr val="000000"/>
                          </a:solidFill>
                          <a:effectLst/>
                          <a:latin typeface="Century Gothic" panose="020B0502020202020204" pitchFamily="34" charset="0"/>
                        </a:rPr>
                        <a:t>⋀</a:t>
                      </a:r>
                      <a:r>
                        <a:rPr kumimoji="0" lang="en-US" altLang="en-US" sz="2000" b="1" i="0" u="none" strike="noStrike" cap="none" normalizeH="0" baseline="0" dirty="0">
                          <a:ln>
                            <a:noFill/>
                          </a:ln>
                          <a:solidFill>
                            <a:schemeClr val="tx1"/>
                          </a:solidFill>
                          <a:effectLst/>
                          <a:latin typeface="Century Gothic" panose="020B0502020202020204" pitchFamily="34" charset="0"/>
                          <a:cs typeface="Calibri" panose="020F0502020204030204" pitchFamily="34" charset="0"/>
                        </a:rPr>
                        <a:t> q)</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00"/>
                    </a:solidFill>
                  </a:tcPr>
                </a:tc>
                <a:extLst>
                  <a:ext uri="{0D108BD9-81ED-4DB2-BD59-A6C34878D82A}">
                    <a16:rowId xmlns:a16="http://schemas.microsoft.com/office/drawing/2014/main" val="2732667546"/>
                  </a:ext>
                </a:extLst>
              </a:tr>
              <a:tr h="421788">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723353784"/>
                  </a:ext>
                </a:extLst>
              </a:tr>
              <a:tr h="421788">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F</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F</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F</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F</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56967586"/>
                  </a:ext>
                </a:extLst>
              </a:tr>
              <a:tr h="421788">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F</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F</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F</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F</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77588804"/>
                  </a:ext>
                </a:extLst>
              </a:tr>
              <a:tr h="421788">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F</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F</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F</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F</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99520036"/>
                  </a:ext>
                </a:extLst>
              </a:tr>
            </a:tbl>
          </a:graphicData>
        </a:graphic>
      </p:graphicFrame>
    </p:spTree>
    <p:extLst>
      <p:ext uri="{BB962C8B-B14F-4D97-AF65-F5344CB8AC3E}">
        <p14:creationId xmlns:p14="http://schemas.microsoft.com/office/powerpoint/2010/main" val="38118145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wipe(left)">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wipe(left)">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txEl>
                                              <p:pRg st="4" end="4"/>
                                            </p:txEl>
                                          </p:spTgt>
                                        </p:tgtEl>
                                        <p:attrNameLst>
                                          <p:attrName>style.visibility</p:attrName>
                                        </p:attrNameLst>
                                      </p:cBhvr>
                                      <p:to>
                                        <p:strVal val="visible"/>
                                      </p:to>
                                    </p:set>
                                    <p:animEffect transition="in" filter="wipe(left)">
                                      <p:cBhvr>
                                        <p:cTn id="22" dur="500"/>
                                        <p:tgtEl>
                                          <p:spTgt spid="5">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left)">
                                      <p:cBhvr>
                                        <p:cTn id="27"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6">
                                            <p:txEl>
                                              <p:pRg st="0" end="0"/>
                                            </p:txEl>
                                          </p:spTgt>
                                        </p:tgtEl>
                                        <p:attrNameLst>
                                          <p:attrName>style.visibility</p:attrName>
                                        </p:attrNameLst>
                                      </p:cBhvr>
                                      <p:to>
                                        <p:strVal val="visible"/>
                                      </p:to>
                                    </p:set>
                                    <p:animEffect transition="in" filter="wipe(left)">
                                      <p:cBhvr>
                                        <p:cTn id="32"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11EAED7-C8F9-45D8-A96E-859AC6FA8DAD}"/>
              </a:ext>
            </a:extLst>
          </p:cNvPr>
          <p:cNvSpPr txBox="1"/>
          <p:nvPr/>
        </p:nvSpPr>
        <p:spPr>
          <a:xfrm>
            <a:off x="4538619" y="324051"/>
            <a:ext cx="1752403" cy="543675"/>
          </a:xfrm>
          <a:prstGeom prst="rect">
            <a:avLst/>
          </a:prstGeom>
          <a:noFill/>
        </p:spPr>
        <p:txBody>
          <a:bodyPr wrap="none" rtlCol="0">
            <a:spAutoFit/>
          </a:bodyPr>
          <a:lstStyle/>
          <a:p>
            <a:r>
              <a:rPr lang="en-US" altLang="en-US" sz="2933" dirty="0">
                <a:solidFill>
                  <a:schemeClr val="tx1">
                    <a:lumMod val="95000"/>
                    <a:lumOff val="5000"/>
                  </a:schemeClr>
                </a:solidFill>
                <a:latin typeface="Century Gothic" panose="020B0502020202020204" pitchFamily="34" charset="0"/>
                <a:cs typeface="Arial" pitchFamily="34" charset="0"/>
              </a:rPr>
              <a:t>Example</a:t>
            </a:r>
          </a:p>
        </p:txBody>
      </p:sp>
      <p:sp>
        <p:nvSpPr>
          <p:cNvPr id="5" name="TextBox 4">
            <a:extLst>
              <a:ext uri="{FF2B5EF4-FFF2-40B4-BE49-F238E27FC236}">
                <a16:creationId xmlns:a16="http://schemas.microsoft.com/office/drawing/2014/main" id="{01B16CEC-5382-4936-91C2-86CA7AF3650A}"/>
              </a:ext>
            </a:extLst>
          </p:cNvPr>
          <p:cNvSpPr txBox="1"/>
          <p:nvPr/>
        </p:nvSpPr>
        <p:spPr>
          <a:xfrm>
            <a:off x="723363" y="1611721"/>
            <a:ext cx="10655837" cy="4093428"/>
          </a:xfrm>
          <a:prstGeom prst="rect">
            <a:avLst/>
          </a:prstGeom>
          <a:noFill/>
        </p:spPr>
        <p:txBody>
          <a:bodyPr wrap="square">
            <a:spAutoFit/>
          </a:bodyPr>
          <a:lstStyle/>
          <a:p>
            <a:pPr marL="457189" indent="-457189" algn="just">
              <a:buAutoNum type="arabicPeriod" startAt="2"/>
            </a:pPr>
            <a:r>
              <a:rPr lang="en-US" altLang="en-US" sz="2000" dirty="0">
                <a:latin typeface="Century Gothic" panose="020B0502020202020204" pitchFamily="34" charset="0"/>
                <a:cs typeface="Times New Roman" panose="02020603050405020304" pitchFamily="18" charset="0"/>
              </a:rPr>
              <a:t>By algebra of propositions</a:t>
            </a:r>
          </a:p>
          <a:p>
            <a:pPr marL="457189" indent="-457189" algn="just">
              <a:buAutoNum type="arabicPeriod" startAt="2"/>
            </a:pPr>
            <a:endParaRPr lang="en-US" altLang="en-US" sz="2000" dirty="0">
              <a:latin typeface="Century Gothic" panose="020B0502020202020204" pitchFamily="34" charset="0"/>
              <a:cs typeface="Times New Roman" panose="02020603050405020304" pitchFamily="18" charset="0"/>
            </a:endParaRPr>
          </a:p>
          <a:p>
            <a:r>
              <a:rPr lang="en-IN" altLang="en-US" sz="2000" dirty="0" err="1">
                <a:latin typeface="Century Gothic" panose="020B0502020202020204" pitchFamily="34" charset="0"/>
              </a:rPr>
              <a:t>p↔q</a:t>
            </a:r>
            <a:r>
              <a:rPr lang="en-IN" altLang="en-US" sz="2000" dirty="0">
                <a:latin typeface="Century Gothic" panose="020B0502020202020204" pitchFamily="34" charset="0"/>
              </a:rPr>
              <a:t>     ≡   (p → q) </a:t>
            </a:r>
            <a:r>
              <a:rPr lang="en-US" altLang="en-US" sz="2000" dirty="0">
                <a:solidFill>
                  <a:srgbClr val="000000"/>
                </a:solidFill>
                <a:latin typeface="Century Gothic" panose="020B0502020202020204" pitchFamily="34" charset="0"/>
              </a:rPr>
              <a:t>⋀</a:t>
            </a:r>
            <a:r>
              <a:rPr lang="en-IN" altLang="en-US" sz="2000" dirty="0">
                <a:latin typeface="Century Gothic" panose="020B0502020202020204" pitchFamily="34" charset="0"/>
              </a:rPr>
              <a:t> ( q → p)</a:t>
            </a:r>
          </a:p>
          <a:p>
            <a:endParaRPr lang="en-IN" altLang="en-US" sz="2000" dirty="0">
              <a:latin typeface="Century Gothic" panose="020B0502020202020204" pitchFamily="34" charset="0"/>
            </a:endParaRPr>
          </a:p>
          <a:p>
            <a:r>
              <a:rPr lang="en-IN" altLang="en-US" sz="2000" dirty="0">
                <a:latin typeface="Century Gothic" panose="020B0502020202020204" pitchFamily="34" charset="0"/>
              </a:rPr>
              <a:t>              ≡   (~p </a:t>
            </a:r>
            <a:r>
              <a:rPr lang="en-US" altLang="en-US" sz="2000" dirty="0">
                <a:solidFill>
                  <a:srgbClr val="000000"/>
                </a:solidFill>
                <a:latin typeface="Century Gothic" panose="020B0502020202020204" pitchFamily="34" charset="0"/>
              </a:rPr>
              <a:t>⋁</a:t>
            </a:r>
            <a:r>
              <a:rPr lang="en-IN" altLang="en-US" sz="2000" dirty="0">
                <a:latin typeface="Century Gothic" panose="020B0502020202020204" pitchFamily="34" charset="0"/>
              </a:rPr>
              <a:t> q) </a:t>
            </a:r>
            <a:r>
              <a:rPr lang="en-US" altLang="en-US" sz="2000" dirty="0">
                <a:solidFill>
                  <a:srgbClr val="000000"/>
                </a:solidFill>
                <a:latin typeface="Century Gothic" panose="020B0502020202020204" pitchFamily="34" charset="0"/>
              </a:rPr>
              <a:t>⋀</a:t>
            </a:r>
            <a:r>
              <a:rPr lang="en-IN" altLang="en-US" sz="2000" dirty="0">
                <a:latin typeface="Century Gothic" panose="020B0502020202020204" pitchFamily="34" charset="0"/>
              </a:rPr>
              <a:t> (~q </a:t>
            </a:r>
            <a:r>
              <a:rPr lang="en-US" altLang="en-US" sz="2000" dirty="0">
                <a:solidFill>
                  <a:srgbClr val="000000"/>
                </a:solidFill>
                <a:latin typeface="Century Gothic" panose="020B0502020202020204" pitchFamily="34" charset="0"/>
              </a:rPr>
              <a:t>⋁</a:t>
            </a:r>
            <a:r>
              <a:rPr lang="en-IN" altLang="en-US" sz="2000" dirty="0">
                <a:latin typeface="Century Gothic" panose="020B0502020202020204" pitchFamily="34" charset="0"/>
              </a:rPr>
              <a:t> p)</a:t>
            </a:r>
          </a:p>
          <a:p>
            <a:endParaRPr lang="en-IN" altLang="en-US" sz="2000" dirty="0">
              <a:latin typeface="Century Gothic" panose="020B0502020202020204" pitchFamily="34" charset="0"/>
            </a:endParaRPr>
          </a:p>
          <a:p>
            <a:r>
              <a:rPr lang="en-IN" altLang="en-US" sz="2000" dirty="0">
                <a:latin typeface="Century Gothic" panose="020B0502020202020204" pitchFamily="34" charset="0"/>
              </a:rPr>
              <a:t>              ≡   [(~p </a:t>
            </a:r>
            <a:r>
              <a:rPr lang="en-US" altLang="en-US" sz="2000" dirty="0">
                <a:solidFill>
                  <a:srgbClr val="000000"/>
                </a:solidFill>
                <a:latin typeface="Century Gothic" panose="020B0502020202020204" pitchFamily="34" charset="0"/>
              </a:rPr>
              <a:t>⋁</a:t>
            </a:r>
            <a:r>
              <a:rPr lang="en-IN" altLang="en-US" sz="2000" dirty="0">
                <a:latin typeface="Century Gothic" panose="020B0502020202020204" pitchFamily="34" charset="0"/>
              </a:rPr>
              <a:t> q) </a:t>
            </a:r>
            <a:r>
              <a:rPr lang="en-US" altLang="en-US" sz="2000" dirty="0">
                <a:solidFill>
                  <a:srgbClr val="000000"/>
                </a:solidFill>
                <a:latin typeface="Century Gothic" panose="020B0502020202020204" pitchFamily="34" charset="0"/>
              </a:rPr>
              <a:t>⋀</a:t>
            </a:r>
            <a:r>
              <a:rPr lang="en-IN" altLang="en-US" sz="2000" dirty="0">
                <a:latin typeface="Century Gothic" panose="020B0502020202020204" pitchFamily="34" charset="0"/>
              </a:rPr>
              <a:t>~q] </a:t>
            </a:r>
            <a:r>
              <a:rPr lang="en-US" altLang="en-US" sz="2000" dirty="0">
                <a:solidFill>
                  <a:srgbClr val="000000"/>
                </a:solidFill>
                <a:latin typeface="Century Gothic" panose="020B0502020202020204" pitchFamily="34" charset="0"/>
              </a:rPr>
              <a:t>⋁</a:t>
            </a:r>
            <a:r>
              <a:rPr lang="en-IN" altLang="en-US" sz="2000" dirty="0">
                <a:latin typeface="Century Gothic" panose="020B0502020202020204" pitchFamily="34" charset="0"/>
              </a:rPr>
              <a:t>[(~p </a:t>
            </a:r>
            <a:r>
              <a:rPr lang="en-US" altLang="en-US" sz="2000" dirty="0">
                <a:solidFill>
                  <a:srgbClr val="000000"/>
                </a:solidFill>
                <a:latin typeface="Century Gothic" panose="020B0502020202020204" pitchFamily="34" charset="0"/>
              </a:rPr>
              <a:t>⋁</a:t>
            </a:r>
            <a:r>
              <a:rPr lang="en-IN" altLang="en-US" sz="2000" dirty="0">
                <a:latin typeface="Century Gothic" panose="020B0502020202020204" pitchFamily="34" charset="0"/>
              </a:rPr>
              <a:t> q)</a:t>
            </a:r>
            <a:r>
              <a:rPr lang="en-US" altLang="en-US" sz="2000" dirty="0">
                <a:solidFill>
                  <a:srgbClr val="000000"/>
                </a:solidFill>
                <a:latin typeface="Century Gothic" panose="020B0502020202020204" pitchFamily="34" charset="0"/>
              </a:rPr>
              <a:t>⋀</a:t>
            </a:r>
            <a:r>
              <a:rPr lang="en-IN" altLang="en-US" sz="2000" dirty="0">
                <a:latin typeface="Century Gothic" panose="020B0502020202020204" pitchFamily="34" charset="0"/>
              </a:rPr>
              <a:t> p] Distributive law</a:t>
            </a:r>
          </a:p>
          <a:p>
            <a:r>
              <a:rPr lang="en-IN" altLang="en-US" sz="2000" dirty="0">
                <a:latin typeface="Century Gothic" panose="020B0502020202020204" pitchFamily="34" charset="0"/>
              </a:rPr>
              <a:t> </a:t>
            </a:r>
          </a:p>
          <a:p>
            <a:r>
              <a:rPr lang="en-IN" altLang="en-US" sz="2000" dirty="0">
                <a:latin typeface="Century Gothic" panose="020B0502020202020204" pitchFamily="34" charset="0"/>
              </a:rPr>
              <a:t>              ≡  [~q </a:t>
            </a:r>
            <a:r>
              <a:rPr lang="en-US" altLang="en-US" sz="2000" dirty="0">
                <a:solidFill>
                  <a:srgbClr val="000000"/>
                </a:solidFill>
                <a:latin typeface="Century Gothic" panose="020B0502020202020204" pitchFamily="34" charset="0"/>
              </a:rPr>
              <a:t>⋀</a:t>
            </a:r>
            <a:r>
              <a:rPr lang="en-IN" altLang="en-US" sz="2000" dirty="0">
                <a:latin typeface="Century Gothic" panose="020B0502020202020204" pitchFamily="34" charset="0"/>
              </a:rPr>
              <a:t> (~p </a:t>
            </a:r>
            <a:r>
              <a:rPr lang="en-US" altLang="en-US" sz="2000" dirty="0">
                <a:solidFill>
                  <a:srgbClr val="000000"/>
                </a:solidFill>
                <a:latin typeface="Century Gothic" panose="020B0502020202020204" pitchFamily="34" charset="0"/>
              </a:rPr>
              <a:t>⋁</a:t>
            </a:r>
            <a:r>
              <a:rPr lang="en-IN" altLang="en-US" sz="2000" dirty="0">
                <a:latin typeface="Century Gothic" panose="020B0502020202020204" pitchFamily="34" charset="0"/>
              </a:rPr>
              <a:t> q)] </a:t>
            </a:r>
            <a:r>
              <a:rPr lang="en-US" altLang="en-US" sz="2000" dirty="0">
                <a:solidFill>
                  <a:srgbClr val="000000"/>
                </a:solidFill>
                <a:latin typeface="Century Gothic" panose="020B0502020202020204" pitchFamily="34" charset="0"/>
              </a:rPr>
              <a:t>⋁</a:t>
            </a:r>
            <a:r>
              <a:rPr lang="en-IN" altLang="en-US" sz="2000" dirty="0">
                <a:latin typeface="Century Gothic" panose="020B0502020202020204" pitchFamily="34" charset="0"/>
              </a:rPr>
              <a:t> [p </a:t>
            </a:r>
            <a:r>
              <a:rPr lang="en-US" altLang="en-US" sz="2000" dirty="0">
                <a:solidFill>
                  <a:srgbClr val="000000"/>
                </a:solidFill>
                <a:latin typeface="Century Gothic" panose="020B0502020202020204" pitchFamily="34" charset="0"/>
              </a:rPr>
              <a:t>⋀</a:t>
            </a:r>
            <a:r>
              <a:rPr lang="en-IN" altLang="en-US" sz="2000" dirty="0">
                <a:latin typeface="Century Gothic" panose="020B0502020202020204" pitchFamily="34" charset="0"/>
              </a:rPr>
              <a:t>(~p </a:t>
            </a:r>
            <a:r>
              <a:rPr lang="en-US" altLang="en-US" sz="2000" dirty="0">
                <a:solidFill>
                  <a:srgbClr val="000000"/>
                </a:solidFill>
                <a:latin typeface="Century Gothic" panose="020B0502020202020204" pitchFamily="34" charset="0"/>
              </a:rPr>
              <a:t>⋁</a:t>
            </a:r>
            <a:r>
              <a:rPr lang="en-IN" altLang="en-US" sz="2000" dirty="0">
                <a:latin typeface="Century Gothic" panose="020B0502020202020204" pitchFamily="34" charset="0"/>
              </a:rPr>
              <a:t> q)]  comm. Law</a:t>
            </a:r>
          </a:p>
          <a:p>
            <a:endParaRPr lang="en-IN" altLang="en-US" sz="2000" dirty="0">
              <a:latin typeface="Century Gothic" panose="020B0502020202020204" pitchFamily="34" charset="0"/>
            </a:endParaRPr>
          </a:p>
          <a:p>
            <a:r>
              <a:rPr lang="en-IN" altLang="en-US" sz="2000" dirty="0">
                <a:latin typeface="Century Gothic" panose="020B0502020202020204" pitchFamily="34" charset="0"/>
              </a:rPr>
              <a:t>              ≡  [(~q </a:t>
            </a:r>
            <a:r>
              <a:rPr lang="en-US" altLang="en-US" sz="2000" dirty="0">
                <a:solidFill>
                  <a:srgbClr val="000000"/>
                </a:solidFill>
                <a:latin typeface="Century Gothic" panose="020B0502020202020204" pitchFamily="34" charset="0"/>
              </a:rPr>
              <a:t>⋀</a:t>
            </a:r>
            <a:r>
              <a:rPr lang="en-IN" altLang="en-US" sz="2000" dirty="0">
                <a:latin typeface="Century Gothic" panose="020B0502020202020204" pitchFamily="34" charset="0"/>
              </a:rPr>
              <a:t> q) </a:t>
            </a:r>
            <a:r>
              <a:rPr lang="en-US" altLang="en-US" sz="2000" dirty="0">
                <a:solidFill>
                  <a:srgbClr val="000000"/>
                </a:solidFill>
                <a:latin typeface="Century Gothic" panose="020B0502020202020204" pitchFamily="34" charset="0"/>
              </a:rPr>
              <a:t>⋁</a:t>
            </a:r>
            <a:r>
              <a:rPr lang="en-IN" altLang="en-US" sz="2000" dirty="0">
                <a:latin typeface="Century Gothic" panose="020B0502020202020204" pitchFamily="34" charset="0"/>
              </a:rPr>
              <a:t> (~q </a:t>
            </a:r>
            <a:r>
              <a:rPr lang="en-US" altLang="en-US" sz="2000" dirty="0">
                <a:solidFill>
                  <a:srgbClr val="000000"/>
                </a:solidFill>
                <a:latin typeface="Century Gothic" panose="020B0502020202020204" pitchFamily="34" charset="0"/>
              </a:rPr>
              <a:t>⋀</a:t>
            </a:r>
            <a:r>
              <a:rPr lang="en-IN" altLang="en-US" sz="2000" dirty="0">
                <a:latin typeface="Century Gothic" panose="020B0502020202020204" pitchFamily="34" charset="0"/>
              </a:rPr>
              <a:t> ~p)]</a:t>
            </a:r>
            <a:r>
              <a:rPr lang="en-US" altLang="en-US" sz="2000" dirty="0">
                <a:solidFill>
                  <a:srgbClr val="000000"/>
                </a:solidFill>
                <a:latin typeface="Century Gothic" panose="020B0502020202020204" pitchFamily="34" charset="0"/>
              </a:rPr>
              <a:t>⋁</a:t>
            </a:r>
            <a:r>
              <a:rPr lang="en-IN" altLang="en-US" sz="2000" dirty="0">
                <a:latin typeface="Century Gothic" panose="020B0502020202020204" pitchFamily="34" charset="0"/>
              </a:rPr>
              <a:t>[(p </a:t>
            </a:r>
            <a:r>
              <a:rPr lang="en-US" altLang="en-US" sz="2000" dirty="0">
                <a:solidFill>
                  <a:srgbClr val="000000"/>
                </a:solidFill>
                <a:latin typeface="Century Gothic" panose="020B0502020202020204" pitchFamily="34" charset="0"/>
              </a:rPr>
              <a:t>⋀</a:t>
            </a:r>
            <a:r>
              <a:rPr lang="en-IN" altLang="en-US" sz="2000" dirty="0">
                <a:latin typeface="Century Gothic" panose="020B0502020202020204" pitchFamily="34" charset="0"/>
              </a:rPr>
              <a:t>q) ˅ (p </a:t>
            </a:r>
            <a:r>
              <a:rPr lang="en-US" altLang="en-US" sz="2000" dirty="0">
                <a:solidFill>
                  <a:srgbClr val="000000"/>
                </a:solidFill>
                <a:latin typeface="Century Gothic" panose="020B0502020202020204" pitchFamily="34" charset="0"/>
              </a:rPr>
              <a:t>⋀</a:t>
            </a:r>
            <a:r>
              <a:rPr lang="en-IN" altLang="en-US" sz="2000" dirty="0">
                <a:latin typeface="Century Gothic" panose="020B0502020202020204" pitchFamily="34" charset="0"/>
              </a:rPr>
              <a:t> ~p)] dist.</a:t>
            </a:r>
          </a:p>
          <a:p>
            <a:endParaRPr lang="en-IN" altLang="en-US" sz="2000" dirty="0">
              <a:latin typeface="Century Gothic" panose="020B0502020202020204" pitchFamily="34" charset="0"/>
            </a:endParaRPr>
          </a:p>
          <a:p>
            <a:r>
              <a:rPr lang="en-IN" altLang="en-US" sz="2000" dirty="0">
                <a:latin typeface="Century Gothic" panose="020B0502020202020204" pitchFamily="34" charset="0"/>
              </a:rPr>
              <a:t>              ≡ [F </a:t>
            </a:r>
            <a:r>
              <a:rPr lang="en-US" altLang="en-US" sz="2000" dirty="0">
                <a:solidFill>
                  <a:srgbClr val="000000"/>
                </a:solidFill>
                <a:latin typeface="Century Gothic" panose="020B0502020202020204" pitchFamily="34" charset="0"/>
              </a:rPr>
              <a:t>⋁</a:t>
            </a:r>
            <a:r>
              <a:rPr lang="en-IN" altLang="en-US" sz="2000" dirty="0">
                <a:latin typeface="Century Gothic" panose="020B0502020202020204" pitchFamily="34" charset="0"/>
              </a:rPr>
              <a:t> (~q </a:t>
            </a:r>
            <a:r>
              <a:rPr lang="en-US" altLang="en-US" sz="2000" dirty="0">
                <a:solidFill>
                  <a:srgbClr val="000000"/>
                </a:solidFill>
                <a:latin typeface="Century Gothic" panose="020B0502020202020204" pitchFamily="34" charset="0"/>
              </a:rPr>
              <a:t>⋀</a:t>
            </a:r>
            <a:r>
              <a:rPr lang="en-IN" altLang="en-US" sz="2000" dirty="0">
                <a:latin typeface="Century Gothic" panose="020B0502020202020204" pitchFamily="34" charset="0"/>
              </a:rPr>
              <a:t> ~p)] </a:t>
            </a:r>
            <a:r>
              <a:rPr lang="en-US" altLang="en-US" sz="2000" dirty="0">
                <a:solidFill>
                  <a:srgbClr val="000000"/>
                </a:solidFill>
                <a:latin typeface="Century Gothic" panose="020B0502020202020204" pitchFamily="34" charset="0"/>
              </a:rPr>
              <a:t>⋁</a:t>
            </a:r>
            <a:r>
              <a:rPr lang="en-IN" altLang="en-US" sz="2000" dirty="0">
                <a:latin typeface="Century Gothic" panose="020B0502020202020204" pitchFamily="34" charset="0"/>
              </a:rPr>
              <a:t> [(p </a:t>
            </a:r>
            <a:r>
              <a:rPr lang="en-US" altLang="en-US" sz="2000" dirty="0">
                <a:solidFill>
                  <a:srgbClr val="000000"/>
                </a:solidFill>
                <a:latin typeface="Century Gothic" panose="020B0502020202020204" pitchFamily="34" charset="0"/>
              </a:rPr>
              <a:t>⋀</a:t>
            </a:r>
            <a:r>
              <a:rPr lang="en-IN" altLang="en-US" sz="2000" dirty="0">
                <a:latin typeface="Century Gothic" panose="020B0502020202020204" pitchFamily="34" charset="0"/>
              </a:rPr>
              <a:t> q) </a:t>
            </a:r>
            <a:r>
              <a:rPr lang="en-US" altLang="en-US" sz="2000" dirty="0">
                <a:solidFill>
                  <a:srgbClr val="000000"/>
                </a:solidFill>
                <a:latin typeface="Century Gothic" panose="020B0502020202020204" pitchFamily="34" charset="0"/>
              </a:rPr>
              <a:t>⋁</a:t>
            </a:r>
            <a:r>
              <a:rPr lang="en-IN" altLang="en-US" sz="2000" dirty="0">
                <a:latin typeface="Century Gothic" panose="020B0502020202020204" pitchFamily="34" charset="0"/>
              </a:rPr>
              <a:t> F]  comp. law</a:t>
            </a:r>
          </a:p>
        </p:txBody>
      </p:sp>
    </p:spTree>
    <p:extLst>
      <p:ext uri="{BB962C8B-B14F-4D97-AF65-F5344CB8AC3E}">
        <p14:creationId xmlns:p14="http://schemas.microsoft.com/office/powerpoint/2010/main" val="169432871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wipe(left)">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wipe(left)">
                                      <p:cBhvr>
                                        <p:cTn id="17" dur="500"/>
                                        <p:tgtEl>
                                          <p:spTgt spid="5">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txEl>
                                              <p:pRg st="6" end="6"/>
                                            </p:txEl>
                                          </p:spTgt>
                                        </p:tgtEl>
                                        <p:attrNameLst>
                                          <p:attrName>style.visibility</p:attrName>
                                        </p:attrNameLst>
                                      </p:cBhvr>
                                      <p:to>
                                        <p:strVal val="visible"/>
                                      </p:to>
                                    </p:set>
                                    <p:animEffect transition="in" filter="wipe(left)">
                                      <p:cBhvr>
                                        <p:cTn id="22" dur="500"/>
                                        <p:tgtEl>
                                          <p:spTgt spid="5">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
                                            <p:txEl>
                                              <p:pRg st="7" end="7"/>
                                            </p:txEl>
                                          </p:spTgt>
                                        </p:tgtEl>
                                        <p:attrNameLst>
                                          <p:attrName>style.visibility</p:attrName>
                                        </p:attrNameLst>
                                      </p:cBhvr>
                                      <p:to>
                                        <p:strVal val="visible"/>
                                      </p:to>
                                    </p:set>
                                    <p:animEffect transition="in" filter="wipe(left)">
                                      <p:cBhvr>
                                        <p:cTn id="27" dur="500"/>
                                        <p:tgtEl>
                                          <p:spTgt spid="5">
                                            <p:txEl>
                                              <p:pRg st="7" end="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
                                            <p:txEl>
                                              <p:pRg st="8" end="8"/>
                                            </p:txEl>
                                          </p:spTgt>
                                        </p:tgtEl>
                                        <p:attrNameLst>
                                          <p:attrName>style.visibility</p:attrName>
                                        </p:attrNameLst>
                                      </p:cBhvr>
                                      <p:to>
                                        <p:strVal val="visible"/>
                                      </p:to>
                                    </p:set>
                                    <p:animEffect transition="in" filter="wipe(left)">
                                      <p:cBhvr>
                                        <p:cTn id="32" dur="500"/>
                                        <p:tgtEl>
                                          <p:spTgt spid="5">
                                            <p:txEl>
                                              <p:pRg st="8" end="8"/>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5">
                                            <p:txEl>
                                              <p:pRg st="10" end="10"/>
                                            </p:txEl>
                                          </p:spTgt>
                                        </p:tgtEl>
                                        <p:attrNameLst>
                                          <p:attrName>style.visibility</p:attrName>
                                        </p:attrNameLst>
                                      </p:cBhvr>
                                      <p:to>
                                        <p:strVal val="visible"/>
                                      </p:to>
                                    </p:set>
                                    <p:animEffect transition="in" filter="wipe(left)">
                                      <p:cBhvr>
                                        <p:cTn id="37" dur="500"/>
                                        <p:tgtEl>
                                          <p:spTgt spid="5">
                                            <p:txEl>
                                              <p:pRg st="10" end="1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5">
                                            <p:txEl>
                                              <p:pRg st="12" end="12"/>
                                            </p:txEl>
                                          </p:spTgt>
                                        </p:tgtEl>
                                        <p:attrNameLst>
                                          <p:attrName>style.visibility</p:attrName>
                                        </p:attrNameLst>
                                      </p:cBhvr>
                                      <p:to>
                                        <p:strVal val="visible"/>
                                      </p:to>
                                    </p:set>
                                    <p:animEffect transition="in" filter="wipe(left)">
                                      <p:cBhvr>
                                        <p:cTn id="42" dur="500"/>
                                        <p:tgtEl>
                                          <p:spTgt spid="5">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11EAED7-C8F9-45D8-A96E-859AC6FA8DAD}"/>
              </a:ext>
            </a:extLst>
          </p:cNvPr>
          <p:cNvSpPr txBox="1"/>
          <p:nvPr/>
        </p:nvSpPr>
        <p:spPr>
          <a:xfrm>
            <a:off x="4617447" y="410761"/>
            <a:ext cx="2337499" cy="543675"/>
          </a:xfrm>
          <a:prstGeom prst="rect">
            <a:avLst/>
          </a:prstGeom>
          <a:noFill/>
        </p:spPr>
        <p:txBody>
          <a:bodyPr wrap="none" rtlCol="0">
            <a:spAutoFit/>
          </a:bodyPr>
          <a:lstStyle/>
          <a:p>
            <a:r>
              <a:rPr lang="en-US" altLang="en-US" sz="2933" dirty="0">
                <a:solidFill>
                  <a:schemeClr val="tx1">
                    <a:lumMod val="95000"/>
                    <a:lumOff val="5000"/>
                  </a:schemeClr>
                </a:solidFill>
                <a:latin typeface="Century Gothic" panose="020B0502020202020204" pitchFamily="34" charset="0"/>
                <a:cs typeface="Arial" pitchFamily="34" charset="0"/>
              </a:rPr>
              <a:t>Example…..</a:t>
            </a:r>
          </a:p>
        </p:txBody>
      </p:sp>
      <p:sp>
        <p:nvSpPr>
          <p:cNvPr id="5" name="TextBox 4">
            <a:extLst>
              <a:ext uri="{FF2B5EF4-FFF2-40B4-BE49-F238E27FC236}">
                <a16:creationId xmlns:a16="http://schemas.microsoft.com/office/drawing/2014/main" id="{01B16CEC-5382-4936-91C2-86CA7AF3650A}"/>
              </a:ext>
            </a:extLst>
          </p:cNvPr>
          <p:cNvSpPr txBox="1"/>
          <p:nvPr/>
        </p:nvSpPr>
        <p:spPr>
          <a:xfrm>
            <a:off x="723363" y="1611721"/>
            <a:ext cx="10655837" cy="1938992"/>
          </a:xfrm>
          <a:prstGeom prst="rect">
            <a:avLst/>
          </a:prstGeom>
          <a:noFill/>
        </p:spPr>
        <p:txBody>
          <a:bodyPr wrap="square">
            <a:spAutoFit/>
          </a:bodyPr>
          <a:lstStyle/>
          <a:p>
            <a:pPr algn="just"/>
            <a:r>
              <a:rPr lang="en-IN" altLang="en-US" sz="2000" dirty="0">
                <a:latin typeface="Century Gothic" panose="020B0502020202020204" pitchFamily="34" charset="0"/>
              </a:rPr>
              <a:t>              ≡  [(~q </a:t>
            </a:r>
            <a:r>
              <a:rPr lang="en-US" altLang="en-US" sz="2000" dirty="0">
                <a:solidFill>
                  <a:srgbClr val="000000"/>
                </a:solidFill>
                <a:latin typeface="Century Gothic" panose="020B0502020202020204" pitchFamily="34" charset="0"/>
              </a:rPr>
              <a:t>⋀</a:t>
            </a:r>
            <a:r>
              <a:rPr lang="en-IN" altLang="en-US" sz="2000" dirty="0">
                <a:latin typeface="Century Gothic" panose="020B0502020202020204" pitchFamily="34" charset="0"/>
              </a:rPr>
              <a:t> ~p) </a:t>
            </a:r>
            <a:r>
              <a:rPr lang="en-US" altLang="en-US" sz="2000" dirty="0">
                <a:solidFill>
                  <a:srgbClr val="000000"/>
                </a:solidFill>
                <a:latin typeface="Century Gothic" panose="020B0502020202020204" pitchFamily="34" charset="0"/>
              </a:rPr>
              <a:t>⋁</a:t>
            </a:r>
            <a:r>
              <a:rPr lang="en-IN" altLang="en-US" sz="2000" dirty="0">
                <a:latin typeface="Century Gothic" panose="020B0502020202020204" pitchFamily="34" charset="0"/>
              </a:rPr>
              <a:t> (p </a:t>
            </a:r>
            <a:r>
              <a:rPr lang="en-US" altLang="en-US" sz="2000" dirty="0">
                <a:solidFill>
                  <a:srgbClr val="000000"/>
                </a:solidFill>
                <a:latin typeface="Century Gothic" panose="020B0502020202020204" pitchFamily="34" charset="0"/>
              </a:rPr>
              <a:t>⋀</a:t>
            </a:r>
            <a:r>
              <a:rPr lang="en-IN" altLang="en-US" sz="2000" dirty="0">
                <a:latin typeface="Century Gothic" panose="020B0502020202020204" pitchFamily="34" charset="0"/>
              </a:rPr>
              <a:t> q)]  Identity law</a:t>
            </a:r>
          </a:p>
          <a:p>
            <a:endParaRPr lang="en-IN" altLang="en-US" sz="2000" dirty="0">
              <a:latin typeface="Century Gothic" panose="020B0502020202020204" pitchFamily="34" charset="0"/>
            </a:endParaRPr>
          </a:p>
          <a:p>
            <a:r>
              <a:rPr lang="en-IN" altLang="en-US" sz="2000" dirty="0">
                <a:latin typeface="Century Gothic" panose="020B0502020202020204" pitchFamily="34" charset="0"/>
              </a:rPr>
              <a:t>              ≡  [~(p </a:t>
            </a:r>
            <a:r>
              <a:rPr lang="en-US" altLang="en-US" sz="2000" dirty="0">
                <a:solidFill>
                  <a:srgbClr val="000000"/>
                </a:solidFill>
                <a:latin typeface="Century Gothic" panose="020B0502020202020204" pitchFamily="34" charset="0"/>
              </a:rPr>
              <a:t>⋁</a:t>
            </a:r>
            <a:r>
              <a:rPr lang="en-IN" altLang="en-US" sz="2000" dirty="0">
                <a:latin typeface="Century Gothic" panose="020B0502020202020204" pitchFamily="34" charset="0"/>
              </a:rPr>
              <a:t> q)] </a:t>
            </a:r>
            <a:r>
              <a:rPr lang="en-US" altLang="en-US" sz="2000" dirty="0">
                <a:solidFill>
                  <a:srgbClr val="000000"/>
                </a:solidFill>
                <a:latin typeface="Century Gothic" panose="020B0502020202020204" pitchFamily="34" charset="0"/>
              </a:rPr>
              <a:t>⋁</a:t>
            </a:r>
            <a:r>
              <a:rPr lang="en-IN" altLang="en-US" sz="2000" dirty="0">
                <a:latin typeface="Century Gothic" panose="020B0502020202020204" pitchFamily="34" charset="0"/>
              </a:rPr>
              <a:t> (p </a:t>
            </a:r>
            <a:r>
              <a:rPr lang="en-US" altLang="en-US" sz="2000" dirty="0">
                <a:solidFill>
                  <a:srgbClr val="000000"/>
                </a:solidFill>
                <a:latin typeface="Century Gothic" panose="020B0502020202020204" pitchFamily="34" charset="0"/>
              </a:rPr>
              <a:t>⋀</a:t>
            </a:r>
            <a:r>
              <a:rPr lang="en-IN" altLang="en-US" sz="2000" dirty="0">
                <a:latin typeface="Century Gothic" panose="020B0502020202020204" pitchFamily="34" charset="0"/>
              </a:rPr>
              <a:t> q) </a:t>
            </a:r>
            <a:r>
              <a:rPr lang="en-IN" altLang="en-US" sz="2000" dirty="0" err="1">
                <a:latin typeface="Century Gothic" panose="020B0502020202020204" pitchFamily="34" charset="0"/>
              </a:rPr>
              <a:t>DeMorgan’s</a:t>
            </a:r>
            <a:r>
              <a:rPr lang="en-IN" altLang="en-US" sz="2000" dirty="0">
                <a:latin typeface="Century Gothic" panose="020B0502020202020204" pitchFamily="34" charset="0"/>
              </a:rPr>
              <a:t> law</a:t>
            </a:r>
          </a:p>
          <a:p>
            <a:endParaRPr lang="en-IN" altLang="en-US" sz="2000" dirty="0">
              <a:latin typeface="Century Gothic" panose="020B0502020202020204" pitchFamily="34" charset="0"/>
            </a:endParaRPr>
          </a:p>
          <a:p>
            <a:r>
              <a:rPr lang="en-IN" altLang="en-US" sz="2000" dirty="0">
                <a:latin typeface="Century Gothic" panose="020B0502020202020204" pitchFamily="34" charset="0"/>
              </a:rPr>
              <a:t>              ≡ (p </a:t>
            </a:r>
            <a:r>
              <a:rPr lang="en-US" altLang="en-US" sz="2000" dirty="0">
                <a:solidFill>
                  <a:srgbClr val="000000"/>
                </a:solidFill>
                <a:latin typeface="Century Gothic" panose="020B0502020202020204" pitchFamily="34" charset="0"/>
              </a:rPr>
              <a:t>⋁</a:t>
            </a:r>
            <a:r>
              <a:rPr lang="en-IN" altLang="en-US" sz="2000" dirty="0">
                <a:latin typeface="Century Gothic" panose="020B0502020202020204" pitchFamily="34" charset="0"/>
              </a:rPr>
              <a:t> q) →  (p </a:t>
            </a:r>
            <a:r>
              <a:rPr lang="en-US" altLang="en-US" sz="2000" dirty="0">
                <a:solidFill>
                  <a:srgbClr val="000000"/>
                </a:solidFill>
                <a:latin typeface="Century Gothic" panose="020B0502020202020204" pitchFamily="34" charset="0"/>
              </a:rPr>
              <a:t>⋀</a:t>
            </a:r>
            <a:r>
              <a:rPr lang="en-IN" altLang="en-US" sz="2000" dirty="0">
                <a:latin typeface="Century Gothic" panose="020B0502020202020204" pitchFamily="34" charset="0"/>
              </a:rPr>
              <a:t>q)</a:t>
            </a:r>
          </a:p>
          <a:p>
            <a:pPr marL="457189" indent="-457189" algn="just">
              <a:buAutoNum type="arabicPeriod" startAt="2"/>
            </a:pPr>
            <a:endParaRPr lang="en-US" altLang="en-US" sz="2000" dirty="0">
              <a:latin typeface="Century Gothic" panose="020B0502020202020204" pitchFamily="34" charset="0"/>
              <a:cs typeface="Times New Roman" panose="02020603050405020304" pitchFamily="18" charset="0"/>
            </a:endParaRPr>
          </a:p>
        </p:txBody>
      </p:sp>
    </p:spTree>
    <p:extLst>
      <p:ext uri="{BB962C8B-B14F-4D97-AF65-F5344CB8AC3E}">
        <p14:creationId xmlns:p14="http://schemas.microsoft.com/office/powerpoint/2010/main" val="106961710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wipe(left)">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wipe(left)">
                                      <p:cBhvr>
                                        <p:cTn id="17"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2ED1AF7-2E15-4F91-A46B-3C77A3032F4C}"/>
              </a:ext>
            </a:extLst>
          </p:cNvPr>
          <p:cNvSpPr txBox="1"/>
          <p:nvPr/>
        </p:nvSpPr>
        <p:spPr>
          <a:xfrm>
            <a:off x="4530737" y="355582"/>
            <a:ext cx="1810111" cy="543675"/>
          </a:xfrm>
          <a:prstGeom prst="rect">
            <a:avLst/>
          </a:prstGeom>
          <a:noFill/>
        </p:spPr>
        <p:txBody>
          <a:bodyPr wrap="none" rtlCol="0">
            <a:spAutoFit/>
          </a:bodyPr>
          <a:lstStyle/>
          <a:p>
            <a:r>
              <a:rPr lang="en-US" sz="2933" dirty="0">
                <a:solidFill>
                  <a:schemeClr val="tx1">
                    <a:lumMod val="95000"/>
                    <a:lumOff val="5000"/>
                  </a:schemeClr>
                </a:solidFill>
                <a:latin typeface="Century Gothic" panose="020B0502020202020204" pitchFamily="34" charset="0"/>
                <a:cs typeface="Arial" pitchFamily="34" charset="0"/>
              </a:rPr>
              <a:t>MCQ - 1 </a:t>
            </a:r>
          </a:p>
        </p:txBody>
      </p:sp>
      <p:sp>
        <p:nvSpPr>
          <p:cNvPr id="2" name="TextBox 2">
            <a:extLst>
              <a:ext uri="{FF2B5EF4-FFF2-40B4-BE49-F238E27FC236}">
                <a16:creationId xmlns:a16="http://schemas.microsoft.com/office/drawing/2014/main" id="{7FC0A8A0-F297-4146-9D7D-E2940EEC9D83}"/>
              </a:ext>
            </a:extLst>
          </p:cNvPr>
          <p:cNvSpPr txBox="1"/>
          <p:nvPr/>
        </p:nvSpPr>
        <p:spPr>
          <a:xfrm>
            <a:off x="726253" y="1609436"/>
            <a:ext cx="10652948" cy="415498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US" sz="2400" b="1" dirty="0">
                <a:latin typeface="Century Gothic" panose="020B0502020202020204" pitchFamily="34" charset="0"/>
                <a:cs typeface="Arial" panose="020B0604020202020204" pitchFamily="34" charset="0"/>
              </a:rPr>
              <a:t>Which of the following is a tautology?</a:t>
            </a:r>
          </a:p>
          <a:p>
            <a:pPr algn="just"/>
            <a:endParaRPr lang="en-US" sz="2400" b="1" dirty="0">
              <a:latin typeface="Century Gothic" panose="020B0502020202020204" pitchFamily="34" charset="0"/>
              <a:cs typeface="Arial" panose="020B0604020202020204" pitchFamily="34" charset="0"/>
            </a:endParaRPr>
          </a:p>
          <a:p>
            <a:pPr marL="533387" indent="-533387" algn="just">
              <a:buFont typeface="+mj-lt"/>
              <a:buAutoNum type="alphaUcPeriod"/>
            </a:pPr>
            <a:r>
              <a:rPr lang="en-US" sz="2400" dirty="0">
                <a:latin typeface="Century Gothic" panose="020B0502020202020204" pitchFamily="34" charset="0"/>
                <a:cs typeface="Arial" panose="020B0604020202020204" pitchFamily="34" charset="0"/>
              </a:rPr>
              <a:t>(a </a:t>
            </a:r>
            <a:r>
              <a:rPr lang="en-US" altLang="en-US" sz="2400" dirty="0">
                <a:latin typeface="Century Gothic" panose="020B0502020202020204" pitchFamily="34" charset="0"/>
                <a:cs typeface="Times New Roman" panose="02020603050405020304" pitchFamily="18" charset="0"/>
              </a:rPr>
              <a:t>⋁ b) </a:t>
            </a:r>
            <a:r>
              <a:rPr lang="en-IN" altLang="en-US" sz="2400" dirty="0">
                <a:latin typeface="Century Gothic" panose="020B0502020202020204" pitchFamily="34" charset="0"/>
              </a:rPr>
              <a:t>→ (b</a:t>
            </a:r>
            <a:r>
              <a:rPr lang="en-US" altLang="en-US" sz="2400" dirty="0">
                <a:solidFill>
                  <a:srgbClr val="000000"/>
                </a:solidFill>
                <a:latin typeface="Century Gothic" panose="020B0502020202020204" pitchFamily="34" charset="0"/>
              </a:rPr>
              <a:t> ⋀ c)</a:t>
            </a:r>
            <a:endParaRPr lang="en-US" sz="2400" dirty="0">
              <a:latin typeface="Century Gothic" panose="020B0502020202020204" pitchFamily="34" charset="0"/>
              <a:cs typeface="Arial" panose="020B0604020202020204" pitchFamily="34" charset="0"/>
            </a:endParaRPr>
          </a:p>
          <a:p>
            <a:pPr marL="533387" indent="-533387" algn="just">
              <a:buFont typeface="+mj-lt"/>
              <a:buAutoNum type="alphaUcPeriod"/>
            </a:pPr>
            <a:endParaRPr lang="en-US" sz="2400" dirty="0">
              <a:latin typeface="Century Gothic" panose="020B0502020202020204" pitchFamily="34" charset="0"/>
              <a:cs typeface="Arial" panose="020B0604020202020204" pitchFamily="34" charset="0"/>
            </a:endParaRPr>
          </a:p>
          <a:p>
            <a:pPr marL="533387" indent="-533387" algn="just">
              <a:buFont typeface="+mj-lt"/>
              <a:buAutoNum type="alphaUcPeriod"/>
            </a:pPr>
            <a:r>
              <a:rPr lang="en-US" sz="2400" dirty="0">
                <a:latin typeface="Century Gothic" panose="020B0502020202020204" pitchFamily="34" charset="0"/>
                <a:cs typeface="Arial" panose="020B0604020202020204" pitchFamily="34" charset="0"/>
              </a:rPr>
              <a:t>(a </a:t>
            </a:r>
            <a:r>
              <a:rPr lang="en-US" altLang="en-US" sz="2400" dirty="0">
                <a:solidFill>
                  <a:srgbClr val="000000"/>
                </a:solidFill>
                <a:latin typeface="Century Gothic" panose="020B0502020202020204" pitchFamily="34" charset="0"/>
              </a:rPr>
              <a:t>⋀</a:t>
            </a:r>
            <a:r>
              <a:rPr lang="en-US" altLang="en-US" sz="2400" dirty="0">
                <a:latin typeface="Century Gothic" panose="020B0502020202020204" pitchFamily="34" charset="0"/>
                <a:cs typeface="Times New Roman" panose="02020603050405020304" pitchFamily="18" charset="0"/>
              </a:rPr>
              <a:t> b) </a:t>
            </a:r>
            <a:r>
              <a:rPr lang="en-IN" altLang="en-US" sz="2400" dirty="0">
                <a:latin typeface="Century Gothic" panose="020B0502020202020204" pitchFamily="34" charset="0"/>
              </a:rPr>
              <a:t>→ (b</a:t>
            </a:r>
            <a:r>
              <a:rPr lang="en-US" altLang="en-US" sz="2400" dirty="0">
                <a:solidFill>
                  <a:srgbClr val="000000"/>
                </a:solidFill>
                <a:latin typeface="Century Gothic" panose="020B0502020202020204" pitchFamily="34" charset="0"/>
              </a:rPr>
              <a:t> </a:t>
            </a:r>
            <a:r>
              <a:rPr lang="en-US" altLang="en-US" sz="2400" dirty="0">
                <a:latin typeface="Century Gothic" panose="020B0502020202020204" pitchFamily="34" charset="0"/>
                <a:cs typeface="Times New Roman" panose="02020603050405020304" pitchFamily="18" charset="0"/>
              </a:rPr>
              <a:t>⋁</a:t>
            </a:r>
            <a:r>
              <a:rPr lang="en-US" altLang="en-US" sz="2400" dirty="0">
                <a:solidFill>
                  <a:srgbClr val="000000"/>
                </a:solidFill>
                <a:latin typeface="Century Gothic" panose="020B0502020202020204" pitchFamily="34" charset="0"/>
              </a:rPr>
              <a:t> c)</a:t>
            </a:r>
            <a:endParaRPr lang="en-US" sz="2400" dirty="0">
              <a:latin typeface="Century Gothic" panose="020B0502020202020204" pitchFamily="34" charset="0"/>
              <a:cs typeface="Arial" panose="020B0604020202020204" pitchFamily="34" charset="0"/>
            </a:endParaRPr>
          </a:p>
          <a:p>
            <a:pPr marL="533387" indent="-533387" algn="just">
              <a:buFont typeface="+mj-lt"/>
              <a:buAutoNum type="alphaUcPeriod"/>
            </a:pPr>
            <a:endParaRPr lang="en-US" sz="2400" dirty="0">
              <a:latin typeface="Century Gothic" panose="020B0502020202020204" pitchFamily="34" charset="0"/>
              <a:cs typeface="Arial" panose="020B0604020202020204" pitchFamily="34" charset="0"/>
            </a:endParaRPr>
          </a:p>
          <a:p>
            <a:pPr marL="533387" indent="-533387" algn="just">
              <a:buFont typeface="+mj-lt"/>
              <a:buAutoNum type="alphaUcPeriod"/>
            </a:pPr>
            <a:r>
              <a:rPr lang="en-US" sz="2400" dirty="0">
                <a:latin typeface="Century Gothic" panose="020B0502020202020204" pitchFamily="34" charset="0"/>
                <a:cs typeface="Arial" panose="020B0604020202020204" pitchFamily="34" charset="0"/>
              </a:rPr>
              <a:t>(a </a:t>
            </a:r>
            <a:r>
              <a:rPr lang="en-US" altLang="en-US" sz="2400" dirty="0">
                <a:latin typeface="Century Gothic" panose="020B0502020202020204" pitchFamily="34" charset="0"/>
                <a:cs typeface="Times New Roman" panose="02020603050405020304" pitchFamily="18" charset="0"/>
              </a:rPr>
              <a:t>⋁ b) </a:t>
            </a:r>
            <a:r>
              <a:rPr lang="en-IN" altLang="en-US" sz="2400" dirty="0">
                <a:latin typeface="Century Gothic" panose="020B0502020202020204" pitchFamily="34" charset="0"/>
              </a:rPr>
              <a:t>→ (b</a:t>
            </a:r>
            <a:r>
              <a:rPr lang="en-US" altLang="en-US" sz="2400" dirty="0">
                <a:solidFill>
                  <a:srgbClr val="000000"/>
                </a:solidFill>
                <a:latin typeface="Century Gothic" panose="020B0502020202020204" pitchFamily="34" charset="0"/>
              </a:rPr>
              <a:t> </a:t>
            </a:r>
            <a:r>
              <a:rPr lang="en-IN" altLang="en-US" sz="2400" dirty="0">
                <a:latin typeface="Century Gothic" panose="020B0502020202020204" pitchFamily="34" charset="0"/>
              </a:rPr>
              <a:t>→</a:t>
            </a:r>
            <a:r>
              <a:rPr lang="en-US" altLang="en-US" sz="2400" dirty="0">
                <a:solidFill>
                  <a:srgbClr val="000000"/>
                </a:solidFill>
                <a:latin typeface="Century Gothic" panose="020B0502020202020204" pitchFamily="34" charset="0"/>
              </a:rPr>
              <a:t> c)</a:t>
            </a:r>
            <a:endParaRPr lang="en-US" sz="2400" dirty="0">
              <a:latin typeface="Century Gothic" panose="020B0502020202020204" pitchFamily="34" charset="0"/>
              <a:cs typeface="Arial" panose="020B0604020202020204" pitchFamily="34" charset="0"/>
            </a:endParaRPr>
          </a:p>
          <a:p>
            <a:pPr marL="533387" indent="-533387" algn="just">
              <a:buFont typeface="+mj-lt"/>
              <a:buAutoNum type="alphaUcPeriod"/>
            </a:pPr>
            <a:endParaRPr lang="en-US" sz="2400" dirty="0">
              <a:latin typeface="Century Gothic" panose="020B0502020202020204" pitchFamily="34" charset="0"/>
              <a:cs typeface="Arial" panose="020B0604020202020204" pitchFamily="34" charset="0"/>
            </a:endParaRPr>
          </a:p>
          <a:p>
            <a:pPr marL="533387" indent="-533387" algn="just">
              <a:buFont typeface="+mj-lt"/>
              <a:buAutoNum type="alphaUcPeriod"/>
            </a:pPr>
            <a:r>
              <a:rPr lang="en-US" sz="2400" dirty="0">
                <a:latin typeface="Century Gothic" panose="020B0502020202020204" pitchFamily="34" charset="0"/>
                <a:cs typeface="Arial" panose="020B0604020202020204" pitchFamily="34" charset="0"/>
              </a:rPr>
              <a:t>(a </a:t>
            </a:r>
            <a:r>
              <a:rPr lang="en-IN" altLang="en-US" sz="2400" dirty="0">
                <a:latin typeface="Century Gothic" panose="020B0502020202020204" pitchFamily="34" charset="0"/>
              </a:rPr>
              <a:t>→</a:t>
            </a:r>
            <a:r>
              <a:rPr lang="en-US" altLang="en-US" sz="2400" dirty="0">
                <a:latin typeface="Century Gothic" panose="020B0502020202020204" pitchFamily="34" charset="0"/>
                <a:cs typeface="Times New Roman" panose="02020603050405020304" pitchFamily="18" charset="0"/>
              </a:rPr>
              <a:t> b) </a:t>
            </a:r>
            <a:r>
              <a:rPr lang="en-IN" altLang="en-US" sz="2400" dirty="0">
                <a:latin typeface="Century Gothic" panose="020B0502020202020204" pitchFamily="34" charset="0"/>
              </a:rPr>
              <a:t>→ (b</a:t>
            </a:r>
            <a:r>
              <a:rPr lang="en-US" altLang="en-US" sz="2400" dirty="0">
                <a:solidFill>
                  <a:srgbClr val="000000"/>
                </a:solidFill>
                <a:latin typeface="Century Gothic" panose="020B0502020202020204" pitchFamily="34" charset="0"/>
              </a:rPr>
              <a:t> </a:t>
            </a:r>
            <a:r>
              <a:rPr lang="en-IN" altLang="en-US" sz="2400" dirty="0">
                <a:latin typeface="Century Gothic" panose="020B0502020202020204" pitchFamily="34" charset="0"/>
              </a:rPr>
              <a:t>→</a:t>
            </a:r>
            <a:r>
              <a:rPr lang="en-US" altLang="en-US" sz="2400" dirty="0">
                <a:solidFill>
                  <a:srgbClr val="000000"/>
                </a:solidFill>
                <a:latin typeface="Century Gothic" panose="020B0502020202020204" pitchFamily="34" charset="0"/>
              </a:rPr>
              <a:t> c)</a:t>
            </a:r>
            <a:endParaRPr lang="en-US" sz="2400" dirty="0">
              <a:latin typeface="Century Gothic" panose="020B0502020202020204" pitchFamily="34" charset="0"/>
              <a:cs typeface="Arial" panose="020B0604020202020204" pitchFamily="34" charset="0"/>
            </a:endParaRPr>
          </a:p>
          <a:p>
            <a:pPr marL="457189" indent="-457189" algn="just">
              <a:buAutoNum type="alphaUcPeriod"/>
            </a:pPr>
            <a:endParaRPr lang="en-US" sz="2400" dirty="0">
              <a:latin typeface="Century Gothic" panose="020B0502020202020204" pitchFamily="34" charset="0"/>
              <a:cs typeface="Arial" panose="020B0604020202020204" pitchFamily="34" charset="0"/>
            </a:endParaRPr>
          </a:p>
          <a:p>
            <a:pPr algn="just"/>
            <a:r>
              <a:rPr lang="en-US" sz="2400" dirty="0">
                <a:latin typeface="Century Gothic" panose="020B0502020202020204" pitchFamily="34" charset="0"/>
                <a:cs typeface="Arial" panose="020B0604020202020204" pitchFamily="34" charset="0"/>
              </a:rPr>
              <a:t>Answer: B.</a:t>
            </a:r>
          </a:p>
        </p:txBody>
      </p:sp>
    </p:spTree>
    <p:extLst>
      <p:ext uri="{BB962C8B-B14F-4D97-AF65-F5344CB8AC3E}">
        <p14:creationId xmlns:p14="http://schemas.microsoft.com/office/powerpoint/2010/main" val="290975230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wipe(left)">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animEffect transition="in" filter="wipe(left)">
                                      <p:cBhvr>
                                        <p:cTn id="17" dur="500"/>
                                        <p:tgtEl>
                                          <p:spTgt spid="2">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
                                            <p:txEl>
                                              <p:pRg st="6" end="6"/>
                                            </p:txEl>
                                          </p:spTgt>
                                        </p:tgtEl>
                                        <p:attrNameLst>
                                          <p:attrName>style.visibility</p:attrName>
                                        </p:attrNameLst>
                                      </p:cBhvr>
                                      <p:to>
                                        <p:strVal val="visible"/>
                                      </p:to>
                                    </p:set>
                                    <p:animEffect transition="in" filter="wipe(left)">
                                      <p:cBhvr>
                                        <p:cTn id="22" dur="500"/>
                                        <p:tgtEl>
                                          <p:spTgt spid="2">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
                                            <p:txEl>
                                              <p:pRg st="8" end="8"/>
                                            </p:txEl>
                                          </p:spTgt>
                                        </p:tgtEl>
                                        <p:attrNameLst>
                                          <p:attrName>style.visibility</p:attrName>
                                        </p:attrNameLst>
                                      </p:cBhvr>
                                      <p:to>
                                        <p:strVal val="visible"/>
                                      </p:to>
                                    </p:set>
                                    <p:animEffect transition="in" filter="wipe(left)">
                                      <p:cBhvr>
                                        <p:cTn id="27" dur="500"/>
                                        <p:tgtEl>
                                          <p:spTgt spid="2">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
                                            <p:txEl>
                                              <p:pRg st="10" end="10"/>
                                            </p:txEl>
                                          </p:spTgt>
                                        </p:tgtEl>
                                        <p:attrNameLst>
                                          <p:attrName>style.visibility</p:attrName>
                                        </p:attrNameLst>
                                      </p:cBhvr>
                                      <p:to>
                                        <p:strVal val="visible"/>
                                      </p:to>
                                    </p:set>
                                    <p:animEffect transition="in" filter="wipe(left)">
                                      <p:cBhvr>
                                        <p:cTn id="32" dur="500"/>
                                        <p:tgtEl>
                                          <p:spTgt spid="2">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2ED1AF7-2E15-4F91-A46B-3C77A3032F4C}"/>
              </a:ext>
            </a:extLst>
          </p:cNvPr>
          <p:cNvSpPr txBox="1"/>
          <p:nvPr/>
        </p:nvSpPr>
        <p:spPr>
          <a:xfrm>
            <a:off x="4585915" y="489589"/>
            <a:ext cx="1810111" cy="543675"/>
          </a:xfrm>
          <a:prstGeom prst="rect">
            <a:avLst/>
          </a:prstGeom>
          <a:noFill/>
        </p:spPr>
        <p:txBody>
          <a:bodyPr wrap="none" rtlCol="0">
            <a:spAutoFit/>
          </a:bodyPr>
          <a:lstStyle/>
          <a:p>
            <a:r>
              <a:rPr lang="en-US" sz="2933" dirty="0">
                <a:solidFill>
                  <a:schemeClr val="tx1">
                    <a:lumMod val="95000"/>
                    <a:lumOff val="5000"/>
                  </a:schemeClr>
                </a:solidFill>
                <a:latin typeface="Century Gothic" panose="020B0502020202020204" pitchFamily="34" charset="0"/>
                <a:cs typeface="Arial" pitchFamily="34" charset="0"/>
              </a:rPr>
              <a:t>MCQ - 2 </a:t>
            </a:r>
          </a:p>
        </p:txBody>
      </p:sp>
      <p:sp>
        <p:nvSpPr>
          <p:cNvPr id="2" name="TextBox 2">
            <a:extLst>
              <a:ext uri="{FF2B5EF4-FFF2-40B4-BE49-F238E27FC236}">
                <a16:creationId xmlns:a16="http://schemas.microsoft.com/office/drawing/2014/main" id="{7FC0A8A0-F297-4146-9D7D-E2940EEC9D83}"/>
              </a:ext>
            </a:extLst>
          </p:cNvPr>
          <p:cNvSpPr txBox="1"/>
          <p:nvPr/>
        </p:nvSpPr>
        <p:spPr>
          <a:xfrm>
            <a:off x="726253" y="1609436"/>
            <a:ext cx="10652948" cy="415498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US" sz="2400" b="1" dirty="0">
                <a:latin typeface="Century Gothic" panose="020B0502020202020204" pitchFamily="34" charset="0"/>
                <a:cs typeface="Arial" panose="020B0604020202020204" pitchFamily="34" charset="0"/>
              </a:rPr>
              <a:t>Which of the following statements is correct?</a:t>
            </a:r>
          </a:p>
          <a:p>
            <a:pPr algn="just"/>
            <a:endParaRPr lang="en-US" sz="2400" b="1" dirty="0">
              <a:latin typeface="Century Gothic" panose="020B0502020202020204" pitchFamily="34" charset="0"/>
              <a:cs typeface="Arial" panose="020B0604020202020204" pitchFamily="34" charset="0"/>
            </a:endParaRPr>
          </a:p>
          <a:p>
            <a:pPr marL="533387" indent="-533387" algn="just">
              <a:buFont typeface="+mj-lt"/>
              <a:buAutoNum type="alphaUcPeriod"/>
            </a:pPr>
            <a:r>
              <a:rPr lang="en-US" sz="2400" dirty="0">
                <a:latin typeface="Century Gothic" panose="020B0502020202020204" pitchFamily="34" charset="0"/>
                <a:cs typeface="Arial" panose="020B0604020202020204" pitchFamily="34" charset="0"/>
              </a:rPr>
              <a:t>p v q </a:t>
            </a:r>
            <a:r>
              <a:rPr lang="en-IN" altLang="en-US" sz="2400" dirty="0">
                <a:latin typeface="Century Gothic" panose="020B0502020202020204" pitchFamily="34" charset="0"/>
              </a:rPr>
              <a:t>≡</a:t>
            </a:r>
            <a:r>
              <a:rPr lang="en-US" sz="2400" dirty="0">
                <a:latin typeface="Century Gothic" panose="020B0502020202020204" pitchFamily="34" charset="0"/>
                <a:cs typeface="Arial" panose="020B0604020202020204" pitchFamily="34" charset="0"/>
              </a:rPr>
              <a:t> q v</a:t>
            </a:r>
            <a:r>
              <a:rPr lang="en-US" altLang="en-US" sz="2400" dirty="0">
                <a:solidFill>
                  <a:srgbClr val="000000"/>
                </a:solidFill>
                <a:latin typeface="Century Gothic" panose="020B0502020202020204" pitchFamily="34" charset="0"/>
              </a:rPr>
              <a:t> p</a:t>
            </a:r>
          </a:p>
          <a:p>
            <a:pPr marL="533387" indent="-533387" algn="just">
              <a:buFont typeface="+mj-lt"/>
              <a:buAutoNum type="alphaUcPeriod"/>
            </a:pPr>
            <a:endParaRPr lang="en-US" sz="2400" dirty="0">
              <a:latin typeface="Century Gothic" panose="020B0502020202020204" pitchFamily="34" charset="0"/>
              <a:cs typeface="Arial" panose="020B0604020202020204" pitchFamily="34" charset="0"/>
            </a:endParaRPr>
          </a:p>
          <a:p>
            <a:pPr marL="533387" indent="-533387" algn="just">
              <a:buFont typeface="+mj-lt"/>
              <a:buAutoNum type="alphaUcPeriod"/>
            </a:pPr>
            <a:r>
              <a:rPr lang="en-US" sz="2400" dirty="0">
                <a:latin typeface="Century Gothic" panose="020B0502020202020204" pitchFamily="34" charset="0"/>
                <a:cs typeface="Arial" panose="020B0604020202020204" pitchFamily="34" charset="0"/>
              </a:rPr>
              <a:t>~ (p </a:t>
            </a:r>
            <a:r>
              <a:rPr lang="en-US" altLang="en-US" sz="2400" dirty="0">
                <a:solidFill>
                  <a:srgbClr val="000000"/>
                </a:solidFill>
                <a:latin typeface="Century Gothic" panose="020B0502020202020204" pitchFamily="34" charset="0"/>
              </a:rPr>
              <a:t>⋀</a:t>
            </a:r>
            <a:r>
              <a:rPr lang="en-US" sz="2400" dirty="0">
                <a:latin typeface="Century Gothic" panose="020B0502020202020204" pitchFamily="34" charset="0"/>
                <a:cs typeface="Arial" panose="020B0604020202020204" pitchFamily="34" charset="0"/>
              </a:rPr>
              <a:t> q) </a:t>
            </a:r>
            <a:r>
              <a:rPr lang="en-IN" altLang="en-US" sz="2400" dirty="0">
                <a:latin typeface="Century Gothic" panose="020B0502020202020204" pitchFamily="34" charset="0"/>
              </a:rPr>
              <a:t>≡</a:t>
            </a:r>
            <a:r>
              <a:rPr lang="en-US" sz="2400" dirty="0">
                <a:latin typeface="Century Gothic" panose="020B0502020202020204" pitchFamily="34" charset="0"/>
                <a:cs typeface="Arial" panose="020B0604020202020204" pitchFamily="34" charset="0"/>
              </a:rPr>
              <a:t> ~  p v ~ q</a:t>
            </a:r>
          </a:p>
          <a:p>
            <a:pPr marL="533387" indent="-533387" algn="just">
              <a:buFont typeface="+mj-lt"/>
              <a:buAutoNum type="alphaUcPeriod"/>
            </a:pPr>
            <a:endParaRPr lang="en-US" sz="2400" dirty="0">
              <a:latin typeface="Century Gothic" panose="020B0502020202020204" pitchFamily="34" charset="0"/>
              <a:cs typeface="Arial" panose="020B0604020202020204" pitchFamily="34" charset="0"/>
            </a:endParaRPr>
          </a:p>
          <a:p>
            <a:pPr marL="533387" indent="-533387" algn="just">
              <a:buFont typeface="+mj-lt"/>
              <a:buAutoNum type="alphaUcPeriod"/>
            </a:pPr>
            <a:r>
              <a:rPr lang="en-US" sz="2400" dirty="0">
                <a:latin typeface="Century Gothic" panose="020B0502020202020204" pitchFamily="34" charset="0"/>
                <a:cs typeface="Arial" panose="020B0604020202020204" pitchFamily="34" charset="0"/>
              </a:rPr>
              <a:t>(p v q) </a:t>
            </a:r>
            <a:r>
              <a:rPr lang="en-US" altLang="en-US" sz="2400" dirty="0">
                <a:latin typeface="Century Gothic" panose="020B0502020202020204" pitchFamily="34" charset="0"/>
                <a:cs typeface="Times New Roman" panose="02020603050405020304" pitchFamily="18" charset="0"/>
              </a:rPr>
              <a:t>⋁ r</a:t>
            </a:r>
            <a:r>
              <a:rPr lang="en-US" sz="2400" dirty="0">
                <a:latin typeface="Century Gothic" panose="020B0502020202020204" pitchFamily="34" charset="0"/>
                <a:cs typeface="Arial" panose="020B0604020202020204" pitchFamily="34" charset="0"/>
              </a:rPr>
              <a:t> </a:t>
            </a:r>
            <a:r>
              <a:rPr lang="en-IN" altLang="en-US" sz="2400" dirty="0">
                <a:latin typeface="Century Gothic" panose="020B0502020202020204" pitchFamily="34" charset="0"/>
              </a:rPr>
              <a:t>≡</a:t>
            </a:r>
            <a:r>
              <a:rPr lang="en-US" sz="2400" dirty="0">
                <a:latin typeface="Century Gothic" panose="020B0502020202020204" pitchFamily="34" charset="0"/>
                <a:cs typeface="Arial" panose="020B0604020202020204" pitchFamily="34" charset="0"/>
              </a:rPr>
              <a:t>  p v (q v r )</a:t>
            </a:r>
          </a:p>
          <a:p>
            <a:pPr marL="533387" indent="-533387" algn="just">
              <a:buFont typeface="+mj-lt"/>
              <a:buAutoNum type="alphaUcPeriod"/>
            </a:pPr>
            <a:endParaRPr lang="en-US" sz="2400" dirty="0">
              <a:latin typeface="Century Gothic" panose="020B0502020202020204" pitchFamily="34" charset="0"/>
              <a:cs typeface="Arial" panose="020B0604020202020204" pitchFamily="34" charset="0"/>
            </a:endParaRPr>
          </a:p>
          <a:p>
            <a:pPr marL="457189" indent="-457189" algn="just">
              <a:buFont typeface="+mj-lt"/>
              <a:buAutoNum type="alphaUcPeriod"/>
            </a:pPr>
            <a:r>
              <a:rPr lang="en-US" sz="2400" dirty="0">
                <a:latin typeface="Century Gothic" panose="020B0502020202020204" pitchFamily="34" charset="0"/>
                <a:cs typeface="Arial" panose="020B0604020202020204" pitchFamily="34" charset="0"/>
              </a:rPr>
              <a:t>All of mentioned</a:t>
            </a:r>
          </a:p>
          <a:p>
            <a:pPr marL="457189" indent="-457189" algn="just">
              <a:buFont typeface="+mj-lt"/>
              <a:buAutoNum type="alphaUcPeriod"/>
            </a:pPr>
            <a:endParaRPr lang="en-US" sz="2400" dirty="0">
              <a:latin typeface="Century Gothic" panose="020B0502020202020204" pitchFamily="34" charset="0"/>
              <a:cs typeface="Arial" panose="020B0604020202020204" pitchFamily="34" charset="0"/>
            </a:endParaRPr>
          </a:p>
          <a:p>
            <a:pPr algn="just"/>
            <a:r>
              <a:rPr lang="en-US" sz="2400" dirty="0">
                <a:latin typeface="Century Gothic" panose="020B0502020202020204" pitchFamily="34" charset="0"/>
                <a:cs typeface="Arial" panose="020B0604020202020204" pitchFamily="34" charset="0"/>
              </a:rPr>
              <a:t>Answer: d).</a:t>
            </a:r>
          </a:p>
        </p:txBody>
      </p:sp>
    </p:spTree>
    <p:extLst>
      <p:ext uri="{BB962C8B-B14F-4D97-AF65-F5344CB8AC3E}">
        <p14:creationId xmlns:p14="http://schemas.microsoft.com/office/powerpoint/2010/main" val="393693082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wipe(left)">
                                      <p:cBhvr>
                                        <p:cTn id="7" dur="500"/>
                                        <p:tgtEl>
                                          <p:spTgt spid="2">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xEl>
                                              <p:pRg st="4" end="4"/>
                                            </p:txEl>
                                          </p:spTgt>
                                        </p:tgtEl>
                                        <p:attrNameLst>
                                          <p:attrName>style.visibility</p:attrName>
                                        </p:attrNameLst>
                                      </p:cBhvr>
                                      <p:to>
                                        <p:strVal val="visible"/>
                                      </p:to>
                                    </p:set>
                                    <p:animEffect transition="in" filter="wipe(left)">
                                      <p:cBhvr>
                                        <p:cTn id="12" dur="500"/>
                                        <p:tgtEl>
                                          <p:spTgt spid="2">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
                                            <p:txEl>
                                              <p:pRg st="6" end="6"/>
                                            </p:txEl>
                                          </p:spTgt>
                                        </p:tgtEl>
                                        <p:attrNameLst>
                                          <p:attrName>style.visibility</p:attrName>
                                        </p:attrNameLst>
                                      </p:cBhvr>
                                      <p:to>
                                        <p:strVal val="visible"/>
                                      </p:to>
                                    </p:set>
                                    <p:animEffect transition="in" filter="wipe(left)">
                                      <p:cBhvr>
                                        <p:cTn id="17" dur="500"/>
                                        <p:tgtEl>
                                          <p:spTgt spid="2">
                                            <p:txEl>
                                              <p:pRg st="6" end="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
                                            <p:txEl>
                                              <p:pRg st="8" end="8"/>
                                            </p:txEl>
                                          </p:spTgt>
                                        </p:tgtEl>
                                        <p:attrNameLst>
                                          <p:attrName>style.visibility</p:attrName>
                                        </p:attrNameLst>
                                      </p:cBhvr>
                                      <p:to>
                                        <p:strVal val="visible"/>
                                      </p:to>
                                    </p:set>
                                    <p:animEffect transition="in" filter="wipe(left)">
                                      <p:cBhvr>
                                        <p:cTn id="22" dur="500"/>
                                        <p:tgtEl>
                                          <p:spTgt spid="2">
                                            <p:txEl>
                                              <p:pRg st="8" end="8"/>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
                                            <p:txEl>
                                              <p:pRg st="10" end="10"/>
                                            </p:txEl>
                                          </p:spTgt>
                                        </p:tgtEl>
                                        <p:attrNameLst>
                                          <p:attrName>style.visibility</p:attrName>
                                        </p:attrNameLst>
                                      </p:cBhvr>
                                      <p:to>
                                        <p:strVal val="visible"/>
                                      </p:to>
                                    </p:set>
                                    <p:animEffect transition="in" filter="wipe(left)">
                                      <p:cBhvr>
                                        <p:cTn id="27" dur="500"/>
                                        <p:tgtEl>
                                          <p:spTgt spid="2">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11EAED7-C8F9-45D8-A96E-859AC6FA8DAD}"/>
              </a:ext>
            </a:extLst>
          </p:cNvPr>
          <p:cNvSpPr txBox="1"/>
          <p:nvPr/>
        </p:nvSpPr>
        <p:spPr>
          <a:xfrm>
            <a:off x="3954835" y="1023561"/>
            <a:ext cx="3340979" cy="543675"/>
          </a:xfrm>
          <a:prstGeom prst="rect">
            <a:avLst/>
          </a:prstGeom>
          <a:noFill/>
        </p:spPr>
        <p:txBody>
          <a:bodyPr wrap="none" rtlCol="0">
            <a:spAutoFit/>
          </a:bodyPr>
          <a:lstStyle/>
          <a:p>
            <a:r>
              <a:rPr lang="en-US" altLang="en-US" sz="2933" dirty="0">
                <a:solidFill>
                  <a:schemeClr val="tx1">
                    <a:lumMod val="95000"/>
                    <a:lumOff val="5000"/>
                  </a:schemeClr>
                </a:solidFill>
                <a:latin typeface="Century Gothic" panose="020B0502020202020204" pitchFamily="34" charset="0"/>
                <a:cs typeface="Arial" pitchFamily="34" charset="0"/>
              </a:rPr>
              <a:t>Switching Circuits</a:t>
            </a:r>
          </a:p>
        </p:txBody>
      </p:sp>
      <p:sp>
        <p:nvSpPr>
          <p:cNvPr id="5" name="TextBox 4">
            <a:extLst>
              <a:ext uri="{FF2B5EF4-FFF2-40B4-BE49-F238E27FC236}">
                <a16:creationId xmlns:a16="http://schemas.microsoft.com/office/drawing/2014/main" id="{01B16CEC-5382-4936-91C2-86CA7AF3650A}"/>
              </a:ext>
            </a:extLst>
          </p:cNvPr>
          <p:cNvSpPr txBox="1"/>
          <p:nvPr/>
        </p:nvSpPr>
        <p:spPr>
          <a:xfrm>
            <a:off x="723363" y="1611722"/>
            <a:ext cx="10655837" cy="2554545"/>
          </a:xfrm>
          <a:prstGeom prst="rect">
            <a:avLst/>
          </a:prstGeom>
          <a:noFill/>
        </p:spPr>
        <p:txBody>
          <a:bodyPr wrap="square">
            <a:spAutoFit/>
          </a:bodyPr>
          <a:lstStyle/>
          <a:p>
            <a:pPr algn="just"/>
            <a:r>
              <a:rPr lang="en-US" altLang="en-US" sz="2000" dirty="0">
                <a:latin typeface="Century Gothic" panose="020B0502020202020204" pitchFamily="34" charset="0"/>
                <a:cs typeface="Times New Roman" panose="02020603050405020304" pitchFamily="18" charset="0"/>
              </a:rPr>
              <a:t>A switch is a device which is attached to a point in an electrical circuit.</a:t>
            </a:r>
          </a:p>
          <a:p>
            <a:pPr algn="just"/>
            <a:endParaRPr lang="en-US" altLang="en-US" sz="2000" dirty="0">
              <a:latin typeface="Century Gothic" panose="020B0502020202020204" pitchFamily="34" charset="0"/>
              <a:cs typeface="Times New Roman" panose="02020603050405020304" pitchFamily="18" charset="0"/>
            </a:endParaRPr>
          </a:p>
          <a:p>
            <a:pPr algn="just"/>
            <a:r>
              <a:rPr lang="en-US" altLang="en-US" sz="2000" b="1" dirty="0">
                <a:latin typeface="Century Gothic" panose="020B0502020202020204" pitchFamily="34" charset="0"/>
                <a:cs typeface="Times New Roman" panose="02020603050405020304" pitchFamily="18" charset="0"/>
              </a:rPr>
              <a:t>The switch can be in either of two states, open or closed:</a:t>
            </a:r>
          </a:p>
          <a:p>
            <a:pPr algn="just"/>
            <a:endParaRPr lang="en-US" altLang="en-US" sz="2000" dirty="0">
              <a:latin typeface="Century Gothic" panose="020B0502020202020204" pitchFamily="34" charset="0"/>
              <a:cs typeface="Times New Roman" panose="02020603050405020304" pitchFamily="18" charset="0"/>
            </a:endParaRPr>
          </a:p>
          <a:p>
            <a:pPr marL="380990" indent="-380990" algn="just">
              <a:buFont typeface="Arial" panose="020B0604020202020204" pitchFamily="34" charset="0"/>
              <a:buChar char="•"/>
            </a:pPr>
            <a:r>
              <a:rPr lang="en-US" altLang="en-US" sz="2000" dirty="0">
                <a:latin typeface="Century Gothic" panose="020B0502020202020204" pitchFamily="34" charset="0"/>
                <a:cs typeface="Times New Roman" panose="02020603050405020304" pitchFamily="18" charset="0"/>
              </a:rPr>
              <a:t>In the open state the switch does not allow current to flow through the point.</a:t>
            </a:r>
          </a:p>
          <a:p>
            <a:pPr marL="380990" indent="-380990" algn="just">
              <a:buFont typeface="Arial" panose="020B0604020202020204" pitchFamily="34" charset="0"/>
              <a:buChar char="•"/>
            </a:pPr>
            <a:endParaRPr lang="en-US" altLang="en-US" sz="2000" dirty="0">
              <a:latin typeface="Century Gothic" panose="020B0502020202020204" pitchFamily="34" charset="0"/>
              <a:cs typeface="Times New Roman" panose="02020603050405020304" pitchFamily="18" charset="0"/>
            </a:endParaRPr>
          </a:p>
          <a:p>
            <a:pPr marL="380990" indent="-380990" algn="just">
              <a:buFont typeface="Arial" panose="020B0604020202020204" pitchFamily="34" charset="0"/>
              <a:buChar char="•"/>
            </a:pPr>
            <a:r>
              <a:rPr lang="en-US" altLang="en-US" sz="2000" dirty="0">
                <a:latin typeface="Century Gothic" panose="020B0502020202020204" pitchFamily="34" charset="0"/>
                <a:cs typeface="Times New Roman" panose="02020603050405020304" pitchFamily="18" charset="0"/>
              </a:rPr>
              <a:t>In the closed state the switch does allow current to flow through the point.</a:t>
            </a:r>
          </a:p>
          <a:p>
            <a:pPr algn="just"/>
            <a:endParaRPr lang="en-US" altLang="en-US" sz="2000" dirty="0">
              <a:latin typeface="Century Gothic" panose="020B0502020202020204" pitchFamily="34" charset="0"/>
              <a:cs typeface="Times New Roman" panose="02020603050405020304" pitchFamily="18" charset="0"/>
            </a:endParaRPr>
          </a:p>
        </p:txBody>
      </p:sp>
      <p:pic>
        <p:nvPicPr>
          <p:cNvPr id="2" name="Picture 1">
            <a:extLst>
              <a:ext uri="{FF2B5EF4-FFF2-40B4-BE49-F238E27FC236}">
                <a16:creationId xmlns:a16="http://schemas.microsoft.com/office/drawing/2014/main" id="{0D05CC32-0E23-42A9-ACB9-FDF02A88F6B1}"/>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saturation sat="0"/>
                    </a14:imgEffect>
                  </a14:imgLayer>
                </a14:imgProps>
              </a:ext>
            </a:extLst>
          </a:blip>
          <a:stretch>
            <a:fillRect/>
          </a:stretch>
        </p:blipFill>
        <p:spPr>
          <a:xfrm>
            <a:off x="3017254" y="4068952"/>
            <a:ext cx="6157493" cy="1493649"/>
          </a:xfrm>
          <a:prstGeom prst="rect">
            <a:avLst/>
          </a:prstGeom>
        </p:spPr>
      </p:pic>
      <p:sp>
        <p:nvSpPr>
          <p:cNvPr id="6" name="TextBox 5">
            <a:extLst>
              <a:ext uri="{FF2B5EF4-FFF2-40B4-BE49-F238E27FC236}">
                <a16:creationId xmlns:a16="http://schemas.microsoft.com/office/drawing/2014/main" id="{C380C532-AEE0-4251-8137-7ACFFF2D32DA}"/>
              </a:ext>
            </a:extLst>
          </p:cNvPr>
          <p:cNvSpPr txBox="1"/>
          <p:nvPr/>
        </p:nvSpPr>
        <p:spPr>
          <a:xfrm>
            <a:off x="720436" y="5747329"/>
            <a:ext cx="10655837" cy="707886"/>
          </a:xfrm>
          <a:prstGeom prst="rect">
            <a:avLst/>
          </a:prstGeom>
          <a:noFill/>
        </p:spPr>
        <p:txBody>
          <a:bodyPr wrap="square">
            <a:spAutoFit/>
          </a:bodyPr>
          <a:lstStyle/>
          <a:p>
            <a:pPr algn="just"/>
            <a:r>
              <a:rPr lang="en-US" altLang="en-US" sz="2000" dirty="0">
                <a:latin typeface="Century Gothic" panose="020B0502020202020204" pitchFamily="34" charset="0"/>
                <a:cs typeface="Times New Roman" panose="02020603050405020304" pitchFamily="18" charset="0"/>
              </a:rPr>
              <a:t>In principle, </a:t>
            </a:r>
            <a:r>
              <a:rPr lang="en-US" altLang="en-US" sz="2000" b="1" dirty="0">
                <a:latin typeface="Century Gothic" panose="020B0502020202020204" pitchFamily="34" charset="0"/>
                <a:cs typeface="Times New Roman" panose="02020603050405020304" pitchFamily="18" charset="0"/>
              </a:rPr>
              <a:t>”x“ </a:t>
            </a:r>
            <a:r>
              <a:rPr lang="en-US" altLang="en-US" sz="2000" dirty="0">
                <a:latin typeface="Century Gothic" panose="020B0502020202020204" pitchFamily="34" charset="0"/>
                <a:cs typeface="Times New Roman" panose="02020603050405020304" pitchFamily="18" charset="0"/>
              </a:rPr>
              <a:t>indicates a sentence such that the associated switch is closed when x is true and it is open when x is false. Another notation is</a:t>
            </a:r>
          </a:p>
        </p:txBody>
      </p:sp>
      <p:pic>
        <p:nvPicPr>
          <p:cNvPr id="3" name="Picture 2">
            <a:extLst>
              <a:ext uri="{FF2B5EF4-FFF2-40B4-BE49-F238E27FC236}">
                <a16:creationId xmlns:a16="http://schemas.microsoft.com/office/drawing/2014/main" id="{9BD4DA75-25F1-42C3-A624-2A4565FA75E8}"/>
              </a:ext>
            </a:extLst>
          </p:cNvPr>
          <p:cNvPicPr>
            <a:picLocks noChangeAspect="1"/>
          </p:cNvPicPr>
          <p:nvPr/>
        </p:nvPicPr>
        <p:blipFill>
          <a:blip r:embed="rId4">
            <a:extLst>
              <a:ext uri="{BEBA8EAE-BF5A-486C-A8C5-ECC9F3942E4B}">
                <a14:imgProps xmlns:a14="http://schemas.microsoft.com/office/drawing/2010/main">
                  <a14:imgLayer r:embed="rId5">
                    <a14:imgEffect>
                      <a14:artisticPhotocopy/>
                    </a14:imgEffect>
                    <a14:imgEffect>
                      <a14:sharpenSoften amount="50000"/>
                    </a14:imgEffect>
                    <a14:imgEffect>
                      <a14:saturation sat="400000"/>
                    </a14:imgEffect>
                  </a14:imgLayer>
                </a14:imgProps>
              </a:ext>
            </a:extLst>
          </a:blip>
          <a:stretch>
            <a:fillRect/>
          </a:stretch>
        </p:blipFill>
        <p:spPr>
          <a:xfrm>
            <a:off x="7804728" y="6130977"/>
            <a:ext cx="576000" cy="318316"/>
          </a:xfrm>
          <a:prstGeom prst="rect">
            <a:avLst/>
          </a:prstGeom>
        </p:spPr>
      </p:pic>
    </p:spTree>
    <p:extLst>
      <p:ext uri="{BB962C8B-B14F-4D97-AF65-F5344CB8AC3E}">
        <p14:creationId xmlns:p14="http://schemas.microsoft.com/office/powerpoint/2010/main" val="334718643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wipe(left)">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wipe(left)">
                                      <p:cBhvr>
                                        <p:cTn id="17" dur="500"/>
                                        <p:tgtEl>
                                          <p:spTgt spid="5">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
                                            <p:txEl>
                                              <p:pRg st="6" end="6"/>
                                            </p:txEl>
                                          </p:spTgt>
                                        </p:tgtEl>
                                        <p:attrNameLst>
                                          <p:attrName>style.visibility</p:attrName>
                                        </p:attrNameLst>
                                      </p:cBhvr>
                                      <p:to>
                                        <p:strVal val="visible"/>
                                      </p:to>
                                    </p:set>
                                    <p:animEffect transition="in" filter="wipe(left)">
                                      <p:cBhvr>
                                        <p:cTn id="22" dur="500"/>
                                        <p:tgtEl>
                                          <p:spTgt spid="5">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left)">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6">
                                            <p:txEl>
                                              <p:pRg st="0" end="0"/>
                                            </p:txEl>
                                          </p:spTgt>
                                        </p:tgtEl>
                                        <p:attrNameLst>
                                          <p:attrName>style.visibility</p:attrName>
                                        </p:attrNameLst>
                                      </p:cBhvr>
                                      <p:to>
                                        <p:strVal val="visible"/>
                                      </p:to>
                                    </p:set>
                                    <p:animEffect transition="in" filter="wipe(left)">
                                      <p:cBhvr>
                                        <p:cTn id="32" dur="500"/>
                                        <p:tgtEl>
                                          <p:spTgt spid="6">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wipe(left)">
                                      <p:cBhvr>
                                        <p:cTn id="3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11EAED7-C8F9-45D8-A96E-859AC6FA8DAD}"/>
              </a:ext>
            </a:extLst>
          </p:cNvPr>
          <p:cNvSpPr txBox="1"/>
          <p:nvPr/>
        </p:nvSpPr>
        <p:spPr>
          <a:xfrm>
            <a:off x="3786159" y="1026483"/>
            <a:ext cx="3926075" cy="543675"/>
          </a:xfrm>
          <a:prstGeom prst="rect">
            <a:avLst/>
          </a:prstGeom>
          <a:noFill/>
        </p:spPr>
        <p:txBody>
          <a:bodyPr wrap="none" rtlCol="0">
            <a:spAutoFit/>
          </a:bodyPr>
          <a:lstStyle/>
          <a:p>
            <a:r>
              <a:rPr lang="en-US" altLang="en-US" sz="2933" dirty="0">
                <a:solidFill>
                  <a:schemeClr val="tx1">
                    <a:lumMod val="95000"/>
                    <a:lumOff val="5000"/>
                  </a:schemeClr>
                </a:solidFill>
                <a:latin typeface="Century Gothic" panose="020B0502020202020204" pitchFamily="34" charset="0"/>
                <a:cs typeface="Arial" pitchFamily="34" charset="0"/>
              </a:rPr>
              <a:t>Switching Circuits…..</a:t>
            </a:r>
          </a:p>
        </p:txBody>
      </p:sp>
      <p:sp>
        <p:nvSpPr>
          <p:cNvPr id="5" name="TextBox 4">
            <a:extLst>
              <a:ext uri="{FF2B5EF4-FFF2-40B4-BE49-F238E27FC236}">
                <a16:creationId xmlns:a16="http://schemas.microsoft.com/office/drawing/2014/main" id="{01B16CEC-5382-4936-91C2-86CA7AF3650A}"/>
              </a:ext>
            </a:extLst>
          </p:cNvPr>
          <p:cNvSpPr txBox="1"/>
          <p:nvPr/>
        </p:nvSpPr>
        <p:spPr>
          <a:xfrm>
            <a:off x="723363" y="1611722"/>
            <a:ext cx="10655837" cy="1015663"/>
          </a:xfrm>
          <a:prstGeom prst="rect">
            <a:avLst/>
          </a:prstGeom>
          <a:noFill/>
        </p:spPr>
        <p:txBody>
          <a:bodyPr wrap="square">
            <a:spAutoFit/>
          </a:bodyPr>
          <a:lstStyle/>
          <a:p>
            <a:pPr algn="just"/>
            <a:r>
              <a:rPr lang="en-US" altLang="en-US" sz="2000" dirty="0">
                <a:latin typeface="Century Gothic" panose="020B0502020202020204" pitchFamily="34" charset="0"/>
                <a:cs typeface="Times New Roman" panose="02020603050405020304" pitchFamily="18" charset="0"/>
              </a:rPr>
              <a:t>Two points (available to the outside) are connected by a switching circuit if and only if they are connected by wires on which a finite collection of switches are located. For example, the following</a:t>
            </a:r>
          </a:p>
        </p:txBody>
      </p:sp>
      <p:sp>
        <p:nvSpPr>
          <p:cNvPr id="6" name="TextBox 5">
            <a:extLst>
              <a:ext uri="{FF2B5EF4-FFF2-40B4-BE49-F238E27FC236}">
                <a16:creationId xmlns:a16="http://schemas.microsoft.com/office/drawing/2014/main" id="{C380C532-AEE0-4251-8137-7ACFFF2D32DA}"/>
              </a:ext>
            </a:extLst>
          </p:cNvPr>
          <p:cNvSpPr txBox="1"/>
          <p:nvPr/>
        </p:nvSpPr>
        <p:spPr>
          <a:xfrm>
            <a:off x="720436" y="5747328"/>
            <a:ext cx="10655837" cy="707886"/>
          </a:xfrm>
          <a:prstGeom prst="rect">
            <a:avLst/>
          </a:prstGeom>
          <a:noFill/>
        </p:spPr>
        <p:txBody>
          <a:bodyPr wrap="square">
            <a:spAutoFit/>
          </a:bodyPr>
          <a:lstStyle/>
          <a:p>
            <a:pPr algn="just"/>
            <a:r>
              <a:rPr lang="en-US" altLang="en-US" sz="2000" dirty="0">
                <a:latin typeface="Century Gothic" panose="020B0502020202020204" pitchFamily="34" charset="0"/>
                <a:cs typeface="Times New Roman" panose="02020603050405020304" pitchFamily="18" charset="0"/>
              </a:rPr>
              <a:t>is a switching circuit, making use of an energy source (battery) an output (light) as well as a switching system.</a:t>
            </a:r>
          </a:p>
        </p:txBody>
      </p:sp>
      <p:pic>
        <p:nvPicPr>
          <p:cNvPr id="4" name="Picture 3">
            <a:extLst>
              <a:ext uri="{FF2B5EF4-FFF2-40B4-BE49-F238E27FC236}">
                <a16:creationId xmlns:a16="http://schemas.microsoft.com/office/drawing/2014/main" id="{0428D49A-7E0F-41E2-B95E-ED40511E8172}"/>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saturation sat="0"/>
                    </a14:imgEffect>
                  </a14:imgLayer>
                </a14:imgProps>
              </a:ext>
            </a:extLst>
          </a:blip>
          <a:stretch>
            <a:fillRect/>
          </a:stretch>
        </p:blipFill>
        <p:spPr>
          <a:xfrm>
            <a:off x="3246920" y="2784200"/>
            <a:ext cx="5698160" cy="2880000"/>
          </a:xfrm>
          <a:prstGeom prst="rect">
            <a:avLst/>
          </a:prstGeom>
        </p:spPr>
      </p:pic>
    </p:spTree>
    <p:extLst>
      <p:ext uri="{BB962C8B-B14F-4D97-AF65-F5344CB8AC3E}">
        <p14:creationId xmlns:p14="http://schemas.microsoft.com/office/powerpoint/2010/main" val="376498690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animEffect transition="in" filter="wipe(left)">
                                      <p:cBhvr>
                                        <p:cTn id="17"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11EAED7-C8F9-45D8-A96E-859AC6FA8DAD}"/>
              </a:ext>
            </a:extLst>
          </p:cNvPr>
          <p:cNvSpPr txBox="1"/>
          <p:nvPr/>
        </p:nvSpPr>
        <p:spPr>
          <a:xfrm>
            <a:off x="3972591" y="1068046"/>
            <a:ext cx="3926075" cy="543675"/>
          </a:xfrm>
          <a:prstGeom prst="rect">
            <a:avLst/>
          </a:prstGeom>
          <a:noFill/>
        </p:spPr>
        <p:txBody>
          <a:bodyPr wrap="none" rtlCol="0">
            <a:spAutoFit/>
          </a:bodyPr>
          <a:lstStyle/>
          <a:p>
            <a:r>
              <a:rPr lang="en-US" altLang="en-US" sz="2933" dirty="0">
                <a:solidFill>
                  <a:schemeClr val="tx1">
                    <a:lumMod val="95000"/>
                    <a:lumOff val="5000"/>
                  </a:schemeClr>
                </a:solidFill>
                <a:latin typeface="Century Gothic" panose="020B0502020202020204" pitchFamily="34" charset="0"/>
                <a:cs typeface="Arial" pitchFamily="34" charset="0"/>
              </a:rPr>
              <a:t>Switching Circuits…..</a:t>
            </a:r>
          </a:p>
        </p:txBody>
      </p:sp>
      <p:sp>
        <p:nvSpPr>
          <p:cNvPr id="5" name="TextBox 4">
            <a:extLst>
              <a:ext uri="{FF2B5EF4-FFF2-40B4-BE49-F238E27FC236}">
                <a16:creationId xmlns:a16="http://schemas.microsoft.com/office/drawing/2014/main" id="{01B16CEC-5382-4936-91C2-86CA7AF3650A}"/>
              </a:ext>
            </a:extLst>
          </p:cNvPr>
          <p:cNvSpPr txBox="1"/>
          <p:nvPr/>
        </p:nvSpPr>
        <p:spPr>
          <a:xfrm>
            <a:off x="723363" y="1611721"/>
            <a:ext cx="10655837" cy="707886"/>
          </a:xfrm>
          <a:prstGeom prst="rect">
            <a:avLst/>
          </a:prstGeom>
          <a:noFill/>
        </p:spPr>
        <p:txBody>
          <a:bodyPr wrap="square">
            <a:spAutoFit/>
          </a:bodyPr>
          <a:lstStyle/>
          <a:p>
            <a:pPr algn="just"/>
            <a:r>
              <a:rPr lang="en-US" altLang="en-US" sz="2000" dirty="0">
                <a:latin typeface="Century Gothic" panose="020B0502020202020204" pitchFamily="34" charset="0"/>
                <a:cs typeface="Times New Roman" panose="02020603050405020304" pitchFamily="18" charset="0"/>
              </a:rPr>
              <a:t>If switches x and z are open while switch y is closed, then the state of the switching system may be represented by </a:t>
            </a:r>
          </a:p>
        </p:txBody>
      </p:sp>
      <p:sp>
        <p:nvSpPr>
          <p:cNvPr id="6" name="TextBox 5">
            <a:extLst>
              <a:ext uri="{FF2B5EF4-FFF2-40B4-BE49-F238E27FC236}">
                <a16:creationId xmlns:a16="http://schemas.microsoft.com/office/drawing/2014/main" id="{C380C532-AEE0-4251-8137-7ACFFF2D32DA}"/>
              </a:ext>
            </a:extLst>
          </p:cNvPr>
          <p:cNvSpPr txBox="1"/>
          <p:nvPr/>
        </p:nvSpPr>
        <p:spPr>
          <a:xfrm>
            <a:off x="720436" y="5122783"/>
            <a:ext cx="10655837" cy="1323439"/>
          </a:xfrm>
          <a:prstGeom prst="rect">
            <a:avLst/>
          </a:prstGeom>
          <a:noFill/>
        </p:spPr>
        <p:txBody>
          <a:bodyPr wrap="square">
            <a:spAutoFit/>
          </a:bodyPr>
          <a:lstStyle/>
          <a:p>
            <a:pPr algn="just"/>
            <a:r>
              <a:rPr lang="en-US" altLang="en-US" sz="2000" dirty="0">
                <a:latin typeface="Century Gothic" panose="020B0502020202020204" pitchFamily="34" charset="0"/>
                <a:cs typeface="Times New Roman" panose="02020603050405020304" pitchFamily="18" charset="0"/>
              </a:rPr>
              <a:t>In order to describe switching systems formally and mathematically, we denote open and closed states by 0 and 1, respectively. </a:t>
            </a:r>
          </a:p>
          <a:p>
            <a:pPr algn="just"/>
            <a:r>
              <a:rPr lang="en-US" altLang="en-US" sz="2000" dirty="0">
                <a:latin typeface="Century Gothic" panose="020B0502020202020204" pitchFamily="34" charset="0"/>
                <a:cs typeface="Times New Roman" panose="02020603050405020304" pitchFamily="18" charset="0"/>
              </a:rPr>
              <a:t>It’s obvious that the state space S for any switch or switching system is composed of two states: 0 (open) and 1 (closed), i.e., S = {0, 1}. </a:t>
            </a:r>
          </a:p>
        </p:txBody>
      </p:sp>
      <p:pic>
        <p:nvPicPr>
          <p:cNvPr id="2" name="Picture 1">
            <a:extLst>
              <a:ext uri="{FF2B5EF4-FFF2-40B4-BE49-F238E27FC236}">
                <a16:creationId xmlns:a16="http://schemas.microsoft.com/office/drawing/2014/main" id="{B1658030-C882-4C62-8F54-65ED617AD440}"/>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saturation sat="0"/>
                    </a14:imgEffect>
                  </a14:imgLayer>
                </a14:imgProps>
              </a:ext>
            </a:extLst>
          </a:blip>
          <a:stretch>
            <a:fillRect/>
          </a:stretch>
        </p:blipFill>
        <p:spPr>
          <a:xfrm>
            <a:off x="3254783" y="3124200"/>
            <a:ext cx="5682435" cy="1488000"/>
          </a:xfrm>
          <a:prstGeom prst="rect">
            <a:avLst/>
          </a:prstGeom>
        </p:spPr>
      </p:pic>
    </p:spTree>
    <p:extLst>
      <p:ext uri="{BB962C8B-B14F-4D97-AF65-F5344CB8AC3E}">
        <p14:creationId xmlns:p14="http://schemas.microsoft.com/office/powerpoint/2010/main" val="421404079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animEffect transition="in" filter="wipe(left)">
                                      <p:cBhvr>
                                        <p:cTn id="17" dur="500"/>
                                        <p:tgtEl>
                                          <p:spTgt spid="6">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
                                            <p:txEl>
                                              <p:pRg st="1" end="1"/>
                                            </p:txEl>
                                          </p:spTgt>
                                        </p:tgtEl>
                                        <p:attrNameLst>
                                          <p:attrName>style.visibility</p:attrName>
                                        </p:attrNameLst>
                                      </p:cBhvr>
                                      <p:to>
                                        <p:strVal val="visible"/>
                                      </p:to>
                                    </p:set>
                                    <p:animEffect transition="in" filter="wipe(left)">
                                      <p:cBhvr>
                                        <p:cTn id="22" dur="500"/>
                                        <p:tgtEl>
                                          <p:spTgt spid="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11EAED7-C8F9-45D8-A96E-859AC6FA8DAD}"/>
              </a:ext>
            </a:extLst>
          </p:cNvPr>
          <p:cNvSpPr txBox="1"/>
          <p:nvPr/>
        </p:nvSpPr>
        <p:spPr>
          <a:xfrm>
            <a:off x="3573095" y="1016363"/>
            <a:ext cx="3926075" cy="543675"/>
          </a:xfrm>
          <a:prstGeom prst="rect">
            <a:avLst/>
          </a:prstGeom>
          <a:noFill/>
        </p:spPr>
        <p:txBody>
          <a:bodyPr wrap="none" rtlCol="0">
            <a:spAutoFit/>
          </a:bodyPr>
          <a:lstStyle/>
          <a:p>
            <a:r>
              <a:rPr lang="en-US" altLang="en-US" sz="2933" dirty="0">
                <a:solidFill>
                  <a:schemeClr val="tx1">
                    <a:lumMod val="95000"/>
                    <a:lumOff val="5000"/>
                  </a:schemeClr>
                </a:solidFill>
                <a:latin typeface="Century Gothic" panose="020B0502020202020204" pitchFamily="34" charset="0"/>
                <a:cs typeface="Arial" pitchFamily="34" charset="0"/>
              </a:rPr>
              <a:t>Switching Circuits…..</a:t>
            </a:r>
          </a:p>
        </p:txBody>
      </p:sp>
      <p:sp>
        <p:nvSpPr>
          <p:cNvPr id="5" name="TextBox 4">
            <a:extLst>
              <a:ext uri="{FF2B5EF4-FFF2-40B4-BE49-F238E27FC236}">
                <a16:creationId xmlns:a16="http://schemas.microsoft.com/office/drawing/2014/main" id="{01B16CEC-5382-4936-91C2-86CA7AF3650A}"/>
              </a:ext>
            </a:extLst>
          </p:cNvPr>
          <p:cNvSpPr txBox="1"/>
          <p:nvPr/>
        </p:nvSpPr>
        <p:spPr>
          <a:xfrm>
            <a:off x="723363" y="1611722"/>
            <a:ext cx="10655837" cy="707886"/>
          </a:xfrm>
          <a:prstGeom prst="rect">
            <a:avLst/>
          </a:prstGeom>
          <a:noFill/>
        </p:spPr>
        <p:txBody>
          <a:bodyPr wrap="square">
            <a:spAutoFit/>
          </a:bodyPr>
          <a:lstStyle/>
          <a:p>
            <a:pPr algn="just"/>
            <a:r>
              <a:rPr lang="en-US" altLang="en-US" sz="2000" dirty="0">
                <a:latin typeface="Century Gothic" panose="020B0502020202020204" pitchFamily="34" charset="0"/>
                <a:cs typeface="Times New Roman" panose="02020603050405020304" pitchFamily="18" charset="0"/>
              </a:rPr>
              <a:t>In a switching system, switches may be connected with one another. In parallel: current flows between points a and b </a:t>
            </a:r>
            <a:r>
              <a:rPr lang="en-US" altLang="en-US" sz="2000" dirty="0" err="1">
                <a:latin typeface="Century Gothic" panose="020B0502020202020204" pitchFamily="34" charset="0"/>
                <a:cs typeface="Times New Roman" panose="02020603050405020304" pitchFamily="18" charset="0"/>
              </a:rPr>
              <a:t>iff</a:t>
            </a:r>
            <a:r>
              <a:rPr lang="en-US" altLang="en-US" sz="2000" dirty="0">
                <a:latin typeface="Century Gothic" panose="020B0502020202020204" pitchFamily="34" charset="0"/>
                <a:cs typeface="Times New Roman" panose="02020603050405020304" pitchFamily="18" charset="0"/>
              </a:rPr>
              <a:t> x ∨ y is true</a:t>
            </a:r>
          </a:p>
        </p:txBody>
      </p:sp>
      <p:sp>
        <p:nvSpPr>
          <p:cNvPr id="6" name="TextBox 5">
            <a:extLst>
              <a:ext uri="{FF2B5EF4-FFF2-40B4-BE49-F238E27FC236}">
                <a16:creationId xmlns:a16="http://schemas.microsoft.com/office/drawing/2014/main" id="{C380C532-AEE0-4251-8137-7ACFFF2D32DA}"/>
              </a:ext>
            </a:extLst>
          </p:cNvPr>
          <p:cNvSpPr txBox="1"/>
          <p:nvPr/>
        </p:nvSpPr>
        <p:spPr>
          <a:xfrm>
            <a:off x="720436" y="5020877"/>
            <a:ext cx="10655837" cy="400110"/>
          </a:xfrm>
          <a:prstGeom prst="rect">
            <a:avLst/>
          </a:prstGeom>
          <a:noFill/>
        </p:spPr>
        <p:txBody>
          <a:bodyPr wrap="square">
            <a:spAutoFit/>
          </a:bodyPr>
          <a:lstStyle/>
          <a:p>
            <a:pPr algn="just"/>
            <a:r>
              <a:rPr lang="en-US" altLang="en-US" sz="2000" dirty="0">
                <a:latin typeface="Century Gothic" panose="020B0502020202020204" pitchFamily="34" charset="0"/>
                <a:cs typeface="Times New Roman" panose="02020603050405020304" pitchFamily="18" charset="0"/>
              </a:rPr>
              <a:t>In series: current flows between points a and b </a:t>
            </a:r>
            <a:r>
              <a:rPr lang="en-US" altLang="en-US" sz="2000" dirty="0" err="1">
                <a:latin typeface="Century Gothic" panose="020B0502020202020204" pitchFamily="34" charset="0"/>
                <a:cs typeface="Times New Roman" panose="02020603050405020304" pitchFamily="18" charset="0"/>
              </a:rPr>
              <a:t>iff</a:t>
            </a:r>
            <a:r>
              <a:rPr lang="en-US" altLang="en-US" sz="2000" dirty="0">
                <a:latin typeface="Century Gothic" panose="020B0502020202020204" pitchFamily="34" charset="0"/>
                <a:cs typeface="Times New Roman" panose="02020603050405020304" pitchFamily="18" charset="0"/>
              </a:rPr>
              <a:t> x ∧ y is true</a:t>
            </a:r>
          </a:p>
        </p:txBody>
      </p:sp>
      <p:pic>
        <p:nvPicPr>
          <p:cNvPr id="3" name="Picture 2">
            <a:extLst>
              <a:ext uri="{FF2B5EF4-FFF2-40B4-BE49-F238E27FC236}">
                <a16:creationId xmlns:a16="http://schemas.microsoft.com/office/drawing/2014/main" id="{AF5D1809-91CD-4DEC-83E8-438FC6AC5D94}"/>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saturation sat="0"/>
                    </a14:imgEffect>
                  </a14:imgLayer>
                </a14:imgProps>
              </a:ext>
            </a:extLst>
          </a:blip>
          <a:stretch>
            <a:fillRect/>
          </a:stretch>
        </p:blipFill>
        <p:spPr>
          <a:xfrm>
            <a:off x="1630294" y="2422976"/>
            <a:ext cx="8931413" cy="2123624"/>
          </a:xfrm>
          <a:prstGeom prst="rect">
            <a:avLst/>
          </a:prstGeom>
        </p:spPr>
      </p:pic>
      <p:pic>
        <p:nvPicPr>
          <p:cNvPr id="4" name="Picture 3">
            <a:extLst>
              <a:ext uri="{FF2B5EF4-FFF2-40B4-BE49-F238E27FC236}">
                <a16:creationId xmlns:a16="http://schemas.microsoft.com/office/drawing/2014/main" id="{95DDD0AC-1F0A-48B5-8654-735C96611F99}"/>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Effect>
                      <a14:saturation sat="0"/>
                    </a14:imgEffect>
                  </a14:imgLayer>
                </a14:imgProps>
              </a:ext>
            </a:extLst>
          </a:blip>
          <a:stretch>
            <a:fillRect/>
          </a:stretch>
        </p:blipFill>
        <p:spPr>
          <a:xfrm>
            <a:off x="2336475" y="5664130"/>
            <a:ext cx="7519052" cy="812871"/>
          </a:xfrm>
          <a:prstGeom prst="rect">
            <a:avLst/>
          </a:prstGeom>
        </p:spPr>
      </p:pic>
    </p:spTree>
    <p:extLst>
      <p:ext uri="{BB962C8B-B14F-4D97-AF65-F5344CB8AC3E}">
        <p14:creationId xmlns:p14="http://schemas.microsoft.com/office/powerpoint/2010/main" val="182713763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animEffect transition="in" filter="wipe(left)">
                                      <p:cBhvr>
                                        <p:cTn id="17" dur="500"/>
                                        <p:tgtEl>
                                          <p:spTgt spid="6">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left)">
                                      <p:cBhvr>
                                        <p:cTn id="2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11EAED7-C8F9-45D8-A96E-859AC6FA8DAD}"/>
              </a:ext>
            </a:extLst>
          </p:cNvPr>
          <p:cNvSpPr txBox="1"/>
          <p:nvPr/>
        </p:nvSpPr>
        <p:spPr>
          <a:xfrm>
            <a:off x="3910447" y="1068047"/>
            <a:ext cx="3926075" cy="543675"/>
          </a:xfrm>
          <a:prstGeom prst="rect">
            <a:avLst/>
          </a:prstGeom>
          <a:noFill/>
        </p:spPr>
        <p:txBody>
          <a:bodyPr wrap="none" rtlCol="0">
            <a:spAutoFit/>
          </a:bodyPr>
          <a:lstStyle/>
          <a:p>
            <a:r>
              <a:rPr lang="en-US" altLang="en-US" sz="2933" dirty="0">
                <a:solidFill>
                  <a:schemeClr val="tx1">
                    <a:lumMod val="95000"/>
                    <a:lumOff val="5000"/>
                  </a:schemeClr>
                </a:solidFill>
                <a:latin typeface="Century Gothic" panose="020B0502020202020204" pitchFamily="34" charset="0"/>
                <a:cs typeface="Arial" pitchFamily="34" charset="0"/>
              </a:rPr>
              <a:t>Switching Circuits…..</a:t>
            </a:r>
          </a:p>
        </p:txBody>
      </p:sp>
      <p:sp>
        <p:nvSpPr>
          <p:cNvPr id="5" name="TextBox 4">
            <a:extLst>
              <a:ext uri="{FF2B5EF4-FFF2-40B4-BE49-F238E27FC236}">
                <a16:creationId xmlns:a16="http://schemas.microsoft.com/office/drawing/2014/main" id="{01B16CEC-5382-4936-91C2-86CA7AF3650A}"/>
              </a:ext>
            </a:extLst>
          </p:cNvPr>
          <p:cNvSpPr txBox="1"/>
          <p:nvPr/>
        </p:nvSpPr>
        <p:spPr>
          <a:xfrm>
            <a:off x="723363" y="1611722"/>
            <a:ext cx="10655837" cy="1015663"/>
          </a:xfrm>
          <a:prstGeom prst="rect">
            <a:avLst/>
          </a:prstGeom>
          <a:noFill/>
        </p:spPr>
        <p:txBody>
          <a:bodyPr wrap="square">
            <a:spAutoFit/>
          </a:bodyPr>
          <a:lstStyle/>
          <a:p>
            <a:pPr algn="just"/>
            <a:r>
              <a:rPr lang="en-US" altLang="en-US" sz="2000" dirty="0">
                <a:latin typeface="Century Gothic" panose="020B0502020202020204" pitchFamily="34" charset="0"/>
                <a:cs typeface="Times New Roman" panose="02020603050405020304" pitchFamily="18" charset="0"/>
              </a:rPr>
              <a:t>Through the use of complementary switches: for any given switch x, the corresponding complementary switch, denoted by x’ , is always in the opposite state to that of x.</a:t>
            </a:r>
          </a:p>
        </p:txBody>
      </p:sp>
      <p:pic>
        <p:nvPicPr>
          <p:cNvPr id="2" name="Picture 1">
            <a:extLst>
              <a:ext uri="{FF2B5EF4-FFF2-40B4-BE49-F238E27FC236}">
                <a16:creationId xmlns:a16="http://schemas.microsoft.com/office/drawing/2014/main" id="{0CE7FC83-C178-4DF1-8135-D79A5F34E05A}"/>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saturation sat="0"/>
                    </a14:imgEffect>
                  </a14:imgLayer>
                </a14:imgProps>
              </a:ext>
            </a:extLst>
          </a:blip>
          <a:stretch>
            <a:fillRect/>
          </a:stretch>
        </p:blipFill>
        <p:spPr>
          <a:xfrm>
            <a:off x="2869922" y="3429001"/>
            <a:ext cx="6452159" cy="1889924"/>
          </a:xfrm>
          <a:prstGeom prst="rect">
            <a:avLst/>
          </a:prstGeom>
        </p:spPr>
      </p:pic>
    </p:spTree>
    <p:extLst>
      <p:ext uri="{BB962C8B-B14F-4D97-AF65-F5344CB8AC3E}">
        <p14:creationId xmlns:p14="http://schemas.microsoft.com/office/powerpoint/2010/main" val="42668047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1B16CEC-5382-4936-91C2-86CA7AF3650A}"/>
              </a:ext>
            </a:extLst>
          </p:cNvPr>
          <p:cNvSpPr txBox="1"/>
          <p:nvPr/>
        </p:nvSpPr>
        <p:spPr>
          <a:xfrm>
            <a:off x="723363" y="1611721"/>
            <a:ext cx="10655837" cy="4708981"/>
          </a:xfrm>
          <a:prstGeom prst="rect">
            <a:avLst/>
          </a:prstGeom>
          <a:noFill/>
        </p:spPr>
        <p:txBody>
          <a:bodyPr wrap="square">
            <a:spAutoFit/>
          </a:bodyPr>
          <a:lstStyle/>
          <a:p>
            <a:pPr algn="just"/>
            <a:r>
              <a:rPr lang="en-US" altLang="en-US" sz="2000" dirty="0">
                <a:latin typeface="Century Gothic" panose="020B0502020202020204" pitchFamily="34" charset="0"/>
                <a:cs typeface="Times New Roman" panose="02020603050405020304" pitchFamily="18" charset="0"/>
              </a:rPr>
              <a:t>Easy </a:t>
            </a:r>
            <a:r>
              <a:rPr lang="en-US" altLang="en-US" sz="2000" dirty="0" err="1">
                <a:latin typeface="Century Gothic" panose="020B0502020202020204" pitchFamily="34" charset="0"/>
                <a:cs typeface="Times New Roman" panose="02020603050405020304" pitchFamily="18" charset="0"/>
              </a:rPr>
              <a:t>generalisation</a:t>
            </a:r>
            <a:r>
              <a:rPr lang="en-US" altLang="en-US" sz="2000" dirty="0">
                <a:latin typeface="Century Gothic" panose="020B0502020202020204" pitchFamily="34" charset="0"/>
                <a:cs typeface="Times New Roman" panose="02020603050405020304" pitchFamily="18" charset="0"/>
              </a:rPr>
              <a:t> to the case of a finite number of switches x1, x2, . . . , </a:t>
            </a:r>
            <a:r>
              <a:rPr lang="en-US" altLang="en-US" sz="2000" dirty="0" err="1">
                <a:latin typeface="Century Gothic" panose="020B0502020202020204" pitchFamily="34" charset="0"/>
                <a:cs typeface="Times New Roman" panose="02020603050405020304" pitchFamily="18" charset="0"/>
              </a:rPr>
              <a:t>xn</a:t>
            </a:r>
            <a:r>
              <a:rPr lang="en-US" altLang="en-US" sz="2000" dirty="0">
                <a:latin typeface="Century Gothic" panose="020B0502020202020204" pitchFamily="34" charset="0"/>
                <a:cs typeface="Times New Roman" panose="02020603050405020304" pitchFamily="18" charset="0"/>
              </a:rPr>
              <a:t>:</a:t>
            </a:r>
          </a:p>
          <a:p>
            <a:pPr marL="380990" indent="-380990" algn="just">
              <a:buFont typeface="Arial" panose="020B0604020202020204" pitchFamily="34" charset="0"/>
              <a:buChar char="•"/>
            </a:pPr>
            <a:endParaRPr lang="en-US" altLang="en-US" sz="2000" dirty="0">
              <a:latin typeface="Century Gothic" panose="020B0502020202020204" pitchFamily="34" charset="0"/>
              <a:cs typeface="Times New Roman" panose="02020603050405020304" pitchFamily="18" charset="0"/>
            </a:endParaRPr>
          </a:p>
          <a:p>
            <a:pPr marL="380990" indent="-380990" algn="just">
              <a:buFont typeface="Arial" panose="020B0604020202020204" pitchFamily="34" charset="0"/>
              <a:buChar char="•"/>
            </a:pPr>
            <a:r>
              <a:rPr lang="en-US" altLang="en-US" sz="2000" b="1" dirty="0">
                <a:latin typeface="Century Gothic" panose="020B0502020202020204" pitchFamily="34" charset="0"/>
                <a:cs typeface="Times New Roman" panose="02020603050405020304" pitchFamily="18" charset="0"/>
              </a:rPr>
              <a:t>connected in parallel:</a:t>
            </a:r>
          </a:p>
          <a:p>
            <a:pPr algn="just"/>
            <a:endParaRPr lang="en-US" altLang="en-US" sz="2000" b="1" dirty="0">
              <a:latin typeface="Century Gothic" panose="020B0502020202020204" pitchFamily="34" charset="0"/>
              <a:cs typeface="Times New Roman" panose="02020603050405020304" pitchFamily="18" charset="0"/>
            </a:endParaRPr>
          </a:p>
          <a:p>
            <a:pPr marL="431989" algn="just"/>
            <a:r>
              <a:rPr lang="en-US" altLang="en-US" sz="2000" dirty="0">
                <a:latin typeface="Century Gothic" panose="020B0502020202020204" pitchFamily="34" charset="0"/>
                <a:cs typeface="Times New Roman" panose="02020603050405020304" pitchFamily="18" charset="0"/>
              </a:rPr>
              <a:t>current flows through the circuit </a:t>
            </a:r>
            <a:r>
              <a:rPr lang="en-US" altLang="en-US" sz="2000" dirty="0" err="1">
                <a:latin typeface="Century Gothic" panose="020B0502020202020204" pitchFamily="34" charset="0"/>
                <a:cs typeface="Times New Roman" panose="02020603050405020304" pitchFamily="18" charset="0"/>
              </a:rPr>
              <a:t>iff</a:t>
            </a:r>
            <a:r>
              <a:rPr lang="en-US" altLang="en-US" sz="2000" dirty="0">
                <a:latin typeface="Century Gothic" panose="020B0502020202020204" pitchFamily="34" charset="0"/>
                <a:cs typeface="Times New Roman" panose="02020603050405020304" pitchFamily="18" charset="0"/>
              </a:rPr>
              <a:t> x1 ∨ x2 ∨ . . . ∨ </a:t>
            </a:r>
            <a:r>
              <a:rPr lang="en-US" altLang="en-US" sz="2000" dirty="0" err="1">
                <a:latin typeface="Century Gothic" panose="020B0502020202020204" pitchFamily="34" charset="0"/>
                <a:cs typeface="Times New Roman" panose="02020603050405020304" pitchFamily="18" charset="0"/>
              </a:rPr>
              <a:t>xn</a:t>
            </a:r>
            <a:r>
              <a:rPr lang="en-US" altLang="en-US" sz="2000" dirty="0">
                <a:latin typeface="Century Gothic" panose="020B0502020202020204" pitchFamily="34" charset="0"/>
                <a:cs typeface="Times New Roman" panose="02020603050405020304" pitchFamily="18" charset="0"/>
              </a:rPr>
              <a:t> is true.</a:t>
            </a:r>
          </a:p>
          <a:p>
            <a:pPr algn="just"/>
            <a:endParaRPr lang="en-US" altLang="en-US" sz="2000" dirty="0">
              <a:latin typeface="Century Gothic" panose="020B0502020202020204" pitchFamily="34" charset="0"/>
              <a:cs typeface="Times New Roman" panose="02020603050405020304" pitchFamily="18" charset="0"/>
            </a:endParaRPr>
          </a:p>
          <a:p>
            <a:pPr marL="380990" indent="-380990" algn="just">
              <a:buFont typeface="Arial" panose="020B0604020202020204" pitchFamily="34" charset="0"/>
              <a:buChar char="•"/>
            </a:pPr>
            <a:r>
              <a:rPr lang="en-US" altLang="en-US" sz="2000" b="1" dirty="0">
                <a:latin typeface="Century Gothic" panose="020B0502020202020204" pitchFamily="34" charset="0"/>
                <a:cs typeface="Times New Roman" panose="02020603050405020304" pitchFamily="18" charset="0"/>
              </a:rPr>
              <a:t>connected in series:</a:t>
            </a:r>
          </a:p>
          <a:p>
            <a:pPr algn="just"/>
            <a:endParaRPr lang="en-US" altLang="en-US" sz="2000" b="1" dirty="0">
              <a:latin typeface="Century Gothic" panose="020B0502020202020204" pitchFamily="34" charset="0"/>
              <a:cs typeface="Times New Roman" panose="02020603050405020304" pitchFamily="18" charset="0"/>
            </a:endParaRPr>
          </a:p>
          <a:p>
            <a:pPr marL="431989" algn="just"/>
            <a:r>
              <a:rPr lang="en-US" altLang="en-US" sz="2000" dirty="0">
                <a:latin typeface="Century Gothic" panose="020B0502020202020204" pitchFamily="34" charset="0"/>
                <a:cs typeface="Times New Roman" panose="02020603050405020304" pitchFamily="18" charset="0"/>
              </a:rPr>
              <a:t>current flows through the circuit </a:t>
            </a:r>
            <a:r>
              <a:rPr lang="en-US" altLang="en-US" sz="2000" dirty="0" err="1">
                <a:latin typeface="Century Gothic" panose="020B0502020202020204" pitchFamily="34" charset="0"/>
                <a:cs typeface="Times New Roman" panose="02020603050405020304" pitchFamily="18" charset="0"/>
              </a:rPr>
              <a:t>iff</a:t>
            </a:r>
            <a:r>
              <a:rPr lang="en-US" altLang="en-US" sz="2000" dirty="0">
                <a:latin typeface="Century Gothic" panose="020B0502020202020204" pitchFamily="34" charset="0"/>
                <a:cs typeface="Times New Roman" panose="02020603050405020304" pitchFamily="18" charset="0"/>
              </a:rPr>
              <a:t> x1 ∧ x2 ∧ . . . ∧ </a:t>
            </a:r>
            <a:r>
              <a:rPr lang="en-US" altLang="en-US" sz="2000" dirty="0" err="1">
                <a:latin typeface="Century Gothic" panose="020B0502020202020204" pitchFamily="34" charset="0"/>
                <a:cs typeface="Times New Roman" panose="02020603050405020304" pitchFamily="18" charset="0"/>
              </a:rPr>
              <a:t>xn</a:t>
            </a:r>
            <a:r>
              <a:rPr lang="en-US" altLang="en-US" sz="2000" dirty="0">
                <a:latin typeface="Century Gothic" panose="020B0502020202020204" pitchFamily="34" charset="0"/>
                <a:cs typeface="Times New Roman" panose="02020603050405020304" pitchFamily="18" charset="0"/>
              </a:rPr>
              <a:t> is true.</a:t>
            </a:r>
          </a:p>
          <a:p>
            <a:pPr marL="431989" algn="just"/>
            <a:endParaRPr lang="en-US" altLang="en-US" sz="2000" dirty="0">
              <a:latin typeface="Century Gothic" panose="020B0502020202020204" pitchFamily="34" charset="0"/>
              <a:cs typeface="Times New Roman" panose="02020603050405020304" pitchFamily="18" charset="0"/>
            </a:endParaRPr>
          </a:p>
          <a:p>
            <a:pPr marL="431989" algn="just"/>
            <a:r>
              <a:rPr lang="en-US" altLang="en-US" sz="2000" dirty="0">
                <a:latin typeface="Century Gothic" panose="020B0502020202020204" pitchFamily="34" charset="0"/>
                <a:cs typeface="Times New Roman" panose="02020603050405020304" pitchFamily="18" charset="0"/>
              </a:rPr>
              <a:t>For any two switches x and y, we use x + y and x · y to denote their parallel and series connections respectively.</a:t>
            </a:r>
          </a:p>
          <a:p>
            <a:pPr marL="431989" algn="just"/>
            <a:endParaRPr lang="en-US" altLang="en-US" sz="2000" dirty="0">
              <a:latin typeface="Century Gothic" panose="020B0502020202020204" pitchFamily="34" charset="0"/>
              <a:cs typeface="Times New Roman" panose="02020603050405020304" pitchFamily="18" charset="0"/>
            </a:endParaRPr>
          </a:p>
          <a:p>
            <a:pPr marL="431989" algn="just"/>
            <a:r>
              <a:rPr lang="en-US" altLang="en-US" sz="2000" dirty="0">
                <a:latin typeface="Century Gothic" panose="020B0502020202020204" pitchFamily="34" charset="0"/>
                <a:cs typeface="Times New Roman" panose="02020603050405020304" pitchFamily="18" charset="0"/>
              </a:rPr>
              <a:t>The symbols </a:t>
            </a:r>
            <a:r>
              <a:rPr lang="en-US" altLang="en-US" sz="2000" b="1" dirty="0">
                <a:latin typeface="Century Gothic" panose="020B0502020202020204" pitchFamily="34" charset="0"/>
                <a:cs typeface="Times New Roman" panose="02020603050405020304" pitchFamily="18" charset="0"/>
              </a:rPr>
              <a:t>”.”</a:t>
            </a:r>
            <a:r>
              <a:rPr lang="en-US" altLang="en-US" sz="2000" dirty="0">
                <a:latin typeface="Century Gothic" panose="020B0502020202020204" pitchFamily="34" charset="0"/>
                <a:cs typeface="Times New Roman" panose="02020603050405020304" pitchFamily="18" charset="0"/>
              </a:rPr>
              <a:t> and </a:t>
            </a:r>
            <a:r>
              <a:rPr lang="en-US" altLang="en-US" sz="2000" b="1" dirty="0">
                <a:latin typeface="Century Gothic" panose="020B0502020202020204" pitchFamily="34" charset="0"/>
                <a:cs typeface="Times New Roman" panose="02020603050405020304" pitchFamily="18" charset="0"/>
              </a:rPr>
              <a:t>”+” </a:t>
            </a:r>
            <a:r>
              <a:rPr lang="en-US" altLang="en-US" sz="2000" dirty="0">
                <a:latin typeface="Century Gothic" panose="020B0502020202020204" pitchFamily="34" charset="0"/>
                <a:cs typeface="Times New Roman" panose="02020603050405020304" pitchFamily="18" charset="0"/>
              </a:rPr>
              <a:t>here shouldn’t be confused with those in the arithmetic, although there exist some similarities.</a:t>
            </a:r>
          </a:p>
        </p:txBody>
      </p:sp>
      <p:sp>
        <p:nvSpPr>
          <p:cNvPr id="2" name="TextBox 1">
            <a:extLst>
              <a:ext uri="{FF2B5EF4-FFF2-40B4-BE49-F238E27FC236}">
                <a16:creationId xmlns:a16="http://schemas.microsoft.com/office/drawing/2014/main" id="{7B27624C-1BD7-42A3-B63C-2F14738C36D8}"/>
              </a:ext>
            </a:extLst>
          </p:cNvPr>
          <p:cNvSpPr txBox="1"/>
          <p:nvPr/>
        </p:nvSpPr>
        <p:spPr>
          <a:xfrm>
            <a:off x="3919325" y="1068046"/>
            <a:ext cx="3926075" cy="543675"/>
          </a:xfrm>
          <a:prstGeom prst="rect">
            <a:avLst/>
          </a:prstGeom>
          <a:noFill/>
        </p:spPr>
        <p:txBody>
          <a:bodyPr wrap="none" rtlCol="0">
            <a:spAutoFit/>
          </a:bodyPr>
          <a:lstStyle/>
          <a:p>
            <a:r>
              <a:rPr lang="en-US" altLang="en-US" sz="2933" dirty="0">
                <a:solidFill>
                  <a:schemeClr val="tx1">
                    <a:lumMod val="95000"/>
                    <a:lumOff val="5000"/>
                  </a:schemeClr>
                </a:solidFill>
                <a:latin typeface="Century Gothic" panose="020B0502020202020204" pitchFamily="34" charset="0"/>
                <a:cs typeface="Arial" pitchFamily="34" charset="0"/>
              </a:rPr>
              <a:t>Switching Circuits…..</a:t>
            </a:r>
          </a:p>
        </p:txBody>
      </p:sp>
    </p:spTree>
    <p:extLst>
      <p:ext uri="{BB962C8B-B14F-4D97-AF65-F5344CB8AC3E}">
        <p14:creationId xmlns:p14="http://schemas.microsoft.com/office/powerpoint/2010/main" val="164417267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wipe(left)">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wipe(left)">
                                      <p:cBhvr>
                                        <p:cTn id="17" dur="500"/>
                                        <p:tgtEl>
                                          <p:spTgt spid="5">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
                                            <p:txEl>
                                              <p:pRg st="6" end="6"/>
                                            </p:txEl>
                                          </p:spTgt>
                                        </p:tgtEl>
                                        <p:attrNameLst>
                                          <p:attrName>style.visibility</p:attrName>
                                        </p:attrNameLst>
                                      </p:cBhvr>
                                      <p:to>
                                        <p:strVal val="visible"/>
                                      </p:to>
                                    </p:set>
                                    <p:animEffect transition="in" filter="wipe(left)">
                                      <p:cBhvr>
                                        <p:cTn id="22" dur="500"/>
                                        <p:tgtEl>
                                          <p:spTgt spid="5">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
                                            <p:txEl>
                                              <p:pRg st="8" end="8"/>
                                            </p:txEl>
                                          </p:spTgt>
                                        </p:tgtEl>
                                        <p:attrNameLst>
                                          <p:attrName>style.visibility</p:attrName>
                                        </p:attrNameLst>
                                      </p:cBhvr>
                                      <p:to>
                                        <p:strVal val="visible"/>
                                      </p:to>
                                    </p:set>
                                    <p:animEffect transition="in" filter="wipe(left)">
                                      <p:cBhvr>
                                        <p:cTn id="27" dur="500"/>
                                        <p:tgtEl>
                                          <p:spTgt spid="5">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5">
                                            <p:txEl>
                                              <p:pRg st="10" end="10"/>
                                            </p:txEl>
                                          </p:spTgt>
                                        </p:tgtEl>
                                        <p:attrNameLst>
                                          <p:attrName>style.visibility</p:attrName>
                                        </p:attrNameLst>
                                      </p:cBhvr>
                                      <p:to>
                                        <p:strVal val="visible"/>
                                      </p:to>
                                    </p:set>
                                    <p:animEffect transition="in" filter="wipe(left)">
                                      <p:cBhvr>
                                        <p:cTn id="32" dur="500"/>
                                        <p:tgtEl>
                                          <p:spTgt spid="5">
                                            <p:txEl>
                                              <p:pRg st="10" end="1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5">
                                            <p:txEl>
                                              <p:pRg st="12" end="12"/>
                                            </p:txEl>
                                          </p:spTgt>
                                        </p:tgtEl>
                                        <p:attrNameLst>
                                          <p:attrName>style.visibility</p:attrName>
                                        </p:attrNameLst>
                                      </p:cBhvr>
                                      <p:to>
                                        <p:strVal val="visible"/>
                                      </p:to>
                                    </p:set>
                                    <p:animEffect transition="in" filter="wipe(left)">
                                      <p:cBhvr>
                                        <p:cTn id="37" dur="500"/>
                                        <p:tgtEl>
                                          <p:spTgt spid="5">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1B16CEC-5382-4936-91C2-86CA7AF3650A}"/>
              </a:ext>
            </a:extLst>
          </p:cNvPr>
          <p:cNvSpPr txBox="1"/>
          <p:nvPr/>
        </p:nvSpPr>
        <p:spPr>
          <a:xfrm>
            <a:off x="723363" y="1611722"/>
            <a:ext cx="10655837" cy="707886"/>
          </a:xfrm>
          <a:prstGeom prst="rect">
            <a:avLst/>
          </a:prstGeom>
          <a:noFill/>
        </p:spPr>
        <p:txBody>
          <a:bodyPr wrap="square">
            <a:spAutoFit/>
          </a:bodyPr>
          <a:lstStyle/>
          <a:p>
            <a:pPr algn="just"/>
            <a:r>
              <a:rPr lang="en-US" altLang="en-US" sz="2000" dirty="0">
                <a:latin typeface="Century Gothic" panose="020B0502020202020204" pitchFamily="34" charset="0"/>
                <a:cs typeface="Times New Roman" panose="02020603050405020304" pitchFamily="18" charset="0"/>
              </a:rPr>
              <a:t>With the above introduced notations, we can represent the state of, or the effect of switches in parallel, in series and so on by the following tables</a:t>
            </a:r>
          </a:p>
        </p:txBody>
      </p:sp>
      <p:sp>
        <p:nvSpPr>
          <p:cNvPr id="2" name="TextBox 1">
            <a:extLst>
              <a:ext uri="{FF2B5EF4-FFF2-40B4-BE49-F238E27FC236}">
                <a16:creationId xmlns:a16="http://schemas.microsoft.com/office/drawing/2014/main" id="{7B27624C-1BD7-42A3-B63C-2F14738C36D8}"/>
              </a:ext>
            </a:extLst>
          </p:cNvPr>
          <p:cNvSpPr txBox="1"/>
          <p:nvPr/>
        </p:nvSpPr>
        <p:spPr>
          <a:xfrm>
            <a:off x="4025856" y="1068047"/>
            <a:ext cx="3926075" cy="543675"/>
          </a:xfrm>
          <a:prstGeom prst="rect">
            <a:avLst/>
          </a:prstGeom>
          <a:noFill/>
        </p:spPr>
        <p:txBody>
          <a:bodyPr wrap="none" rtlCol="0">
            <a:spAutoFit/>
          </a:bodyPr>
          <a:lstStyle/>
          <a:p>
            <a:r>
              <a:rPr lang="en-US" altLang="en-US" sz="2933" dirty="0">
                <a:solidFill>
                  <a:schemeClr val="tx1">
                    <a:lumMod val="95000"/>
                    <a:lumOff val="5000"/>
                  </a:schemeClr>
                </a:solidFill>
                <a:latin typeface="Century Gothic" panose="020B0502020202020204" pitchFamily="34" charset="0"/>
                <a:cs typeface="Arial" pitchFamily="34" charset="0"/>
              </a:rPr>
              <a:t>Switching Circuits…..</a:t>
            </a:r>
          </a:p>
        </p:txBody>
      </p:sp>
      <p:pic>
        <p:nvPicPr>
          <p:cNvPr id="3" name="Picture 2">
            <a:extLst>
              <a:ext uri="{FF2B5EF4-FFF2-40B4-BE49-F238E27FC236}">
                <a16:creationId xmlns:a16="http://schemas.microsoft.com/office/drawing/2014/main" id="{F519409F-E119-4169-984D-7C2F410FE3C3}"/>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saturation sat="0"/>
                    </a14:imgEffect>
                  </a14:imgLayer>
                </a14:imgProps>
              </a:ext>
            </a:extLst>
          </a:blip>
          <a:stretch>
            <a:fillRect/>
          </a:stretch>
        </p:blipFill>
        <p:spPr>
          <a:xfrm>
            <a:off x="1127330" y="2717475"/>
            <a:ext cx="9937341" cy="3759525"/>
          </a:xfrm>
          <a:prstGeom prst="rect">
            <a:avLst/>
          </a:prstGeom>
        </p:spPr>
      </p:pic>
    </p:spTree>
    <p:extLst>
      <p:ext uri="{BB962C8B-B14F-4D97-AF65-F5344CB8AC3E}">
        <p14:creationId xmlns:p14="http://schemas.microsoft.com/office/powerpoint/2010/main" val="24480738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1B16CEC-5382-4936-91C2-86CA7AF3650A}"/>
              </a:ext>
            </a:extLst>
          </p:cNvPr>
          <p:cNvSpPr txBox="1"/>
          <p:nvPr/>
        </p:nvSpPr>
        <p:spPr>
          <a:xfrm>
            <a:off x="723363" y="1611722"/>
            <a:ext cx="10655837" cy="2246769"/>
          </a:xfrm>
          <a:prstGeom prst="rect">
            <a:avLst/>
          </a:prstGeom>
          <a:noFill/>
        </p:spPr>
        <p:txBody>
          <a:bodyPr wrap="square">
            <a:spAutoFit/>
          </a:bodyPr>
          <a:lstStyle/>
          <a:p>
            <a:pPr algn="just"/>
            <a:r>
              <a:rPr lang="en-US" altLang="en-US" sz="2000" dirty="0">
                <a:latin typeface="Century Gothic" panose="020B0502020202020204" pitchFamily="34" charset="0"/>
                <a:cs typeface="Times New Roman" panose="02020603050405020304" pitchFamily="18" charset="0"/>
              </a:rPr>
              <a:t>As the special case in the above tables we have in particular 1 + 1 = 1.</a:t>
            </a:r>
          </a:p>
          <a:p>
            <a:pPr algn="just"/>
            <a:endParaRPr lang="en-US" altLang="en-US" sz="2000" dirty="0">
              <a:latin typeface="Century Gothic" panose="020B0502020202020204" pitchFamily="34" charset="0"/>
              <a:cs typeface="Times New Roman" panose="02020603050405020304" pitchFamily="18" charset="0"/>
            </a:endParaRPr>
          </a:p>
          <a:p>
            <a:pPr algn="just"/>
            <a:r>
              <a:rPr lang="en-US" altLang="en-US" sz="2000" dirty="0">
                <a:latin typeface="Century Gothic" panose="020B0502020202020204" pitchFamily="34" charset="0"/>
                <a:cs typeface="Times New Roman" panose="02020603050405020304" pitchFamily="18" charset="0"/>
              </a:rPr>
              <a:t> Notice a similarity between these tables and truth tables: here 0 can be considered as a F(</a:t>
            </a:r>
            <a:r>
              <a:rPr lang="en-US" altLang="en-US" sz="2000" dirty="0" err="1">
                <a:latin typeface="Century Gothic" panose="020B0502020202020204" pitchFamily="34" charset="0"/>
                <a:cs typeface="Times New Roman" panose="02020603050405020304" pitchFamily="18" charset="0"/>
              </a:rPr>
              <a:t>alse</a:t>
            </a:r>
            <a:r>
              <a:rPr lang="en-US" altLang="en-US" sz="2000" dirty="0">
                <a:latin typeface="Century Gothic" panose="020B0502020202020204" pitchFamily="34" charset="0"/>
                <a:cs typeface="Times New Roman" panose="02020603050405020304" pitchFamily="18" charset="0"/>
              </a:rPr>
              <a:t>) and 1 as a T(rue). </a:t>
            </a:r>
          </a:p>
          <a:p>
            <a:pPr algn="just"/>
            <a:endParaRPr lang="en-US" altLang="en-US" sz="2000" dirty="0">
              <a:latin typeface="Century Gothic" panose="020B0502020202020204" pitchFamily="34" charset="0"/>
              <a:cs typeface="Times New Roman" panose="02020603050405020304" pitchFamily="18" charset="0"/>
            </a:endParaRPr>
          </a:p>
          <a:p>
            <a:pPr algn="just"/>
            <a:r>
              <a:rPr lang="en-US" altLang="en-US" sz="2000" dirty="0">
                <a:latin typeface="Century Gothic" panose="020B0502020202020204" pitchFamily="34" charset="0"/>
                <a:cs typeface="Times New Roman" panose="02020603050405020304" pitchFamily="18" charset="0"/>
              </a:rPr>
              <a:t>The first two columns are constructed in a similar way to truth tables (with F’s first instead of T’s) to capture all possible combinations of 0’s and 1’s. </a:t>
            </a:r>
          </a:p>
        </p:txBody>
      </p:sp>
      <p:sp>
        <p:nvSpPr>
          <p:cNvPr id="2" name="TextBox 1">
            <a:extLst>
              <a:ext uri="{FF2B5EF4-FFF2-40B4-BE49-F238E27FC236}">
                <a16:creationId xmlns:a16="http://schemas.microsoft.com/office/drawing/2014/main" id="{7B27624C-1BD7-42A3-B63C-2F14738C36D8}"/>
              </a:ext>
            </a:extLst>
          </p:cNvPr>
          <p:cNvSpPr txBox="1"/>
          <p:nvPr/>
        </p:nvSpPr>
        <p:spPr>
          <a:xfrm>
            <a:off x="3812793" y="1068047"/>
            <a:ext cx="3926075" cy="543675"/>
          </a:xfrm>
          <a:prstGeom prst="rect">
            <a:avLst/>
          </a:prstGeom>
          <a:noFill/>
        </p:spPr>
        <p:txBody>
          <a:bodyPr wrap="none" rtlCol="0">
            <a:spAutoFit/>
          </a:bodyPr>
          <a:lstStyle/>
          <a:p>
            <a:r>
              <a:rPr lang="en-US" altLang="en-US" sz="2933" dirty="0">
                <a:solidFill>
                  <a:schemeClr val="tx1">
                    <a:lumMod val="95000"/>
                    <a:lumOff val="5000"/>
                  </a:schemeClr>
                </a:solidFill>
                <a:latin typeface="Century Gothic" panose="020B0502020202020204" pitchFamily="34" charset="0"/>
                <a:cs typeface="Arial" pitchFamily="34" charset="0"/>
              </a:rPr>
              <a:t>Switching Circuits…..</a:t>
            </a:r>
          </a:p>
        </p:txBody>
      </p:sp>
    </p:spTree>
    <p:extLst>
      <p:ext uri="{BB962C8B-B14F-4D97-AF65-F5344CB8AC3E}">
        <p14:creationId xmlns:p14="http://schemas.microsoft.com/office/powerpoint/2010/main" val="126779707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wipe(left)">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wipe(left)">
                                      <p:cBhvr>
                                        <p:cTn id="17"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2ED1AF7-2E15-4F91-A46B-3C77A3032F4C}"/>
              </a:ext>
            </a:extLst>
          </p:cNvPr>
          <p:cNvSpPr txBox="1"/>
          <p:nvPr/>
        </p:nvSpPr>
        <p:spPr>
          <a:xfrm>
            <a:off x="4940257" y="1065762"/>
            <a:ext cx="1810111" cy="543675"/>
          </a:xfrm>
          <a:prstGeom prst="rect">
            <a:avLst/>
          </a:prstGeom>
          <a:noFill/>
        </p:spPr>
        <p:txBody>
          <a:bodyPr wrap="none" rtlCol="0">
            <a:spAutoFit/>
          </a:bodyPr>
          <a:lstStyle/>
          <a:p>
            <a:r>
              <a:rPr lang="en-US" sz="2933" dirty="0">
                <a:solidFill>
                  <a:schemeClr val="tx1">
                    <a:lumMod val="95000"/>
                    <a:lumOff val="5000"/>
                  </a:schemeClr>
                </a:solidFill>
                <a:latin typeface="Century Gothic" panose="020B0502020202020204" pitchFamily="34" charset="0"/>
                <a:cs typeface="Arial" pitchFamily="34" charset="0"/>
              </a:rPr>
              <a:t>MCQ - 1 </a:t>
            </a:r>
          </a:p>
        </p:txBody>
      </p:sp>
      <p:sp>
        <p:nvSpPr>
          <p:cNvPr id="2" name="TextBox 2">
            <a:extLst>
              <a:ext uri="{FF2B5EF4-FFF2-40B4-BE49-F238E27FC236}">
                <a16:creationId xmlns:a16="http://schemas.microsoft.com/office/drawing/2014/main" id="{7FC0A8A0-F297-4146-9D7D-E2940EEC9D83}"/>
              </a:ext>
            </a:extLst>
          </p:cNvPr>
          <p:cNvSpPr txBox="1"/>
          <p:nvPr/>
        </p:nvSpPr>
        <p:spPr>
          <a:xfrm>
            <a:off x="726253" y="1609437"/>
            <a:ext cx="10652948" cy="452431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US" sz="2400" b="1" dirty="0">
                <a:latin typeface="Century Gothic" panose="020B0502020202020204" pitchFamily="34" charset="0"/>
                <a:cs typeface="Arial" panose="020B0604020202020204" pitchFamily="34" charset="0"/>
              </a:rPr>
              <a:t>If there are ‘M’ switches in series numbered from 1, 2, …, M. For circuit to be complete and bulb to glow which of the following is necessary?</a:t>
            </a:r>
          </a:p>
          <a:p>
            <a:pPr algn="just"/>
            <a:endParaRPr lang="en-US" sz="2400" b="1" dirty="0">
              <a:latin typeface="Century Gothic" panose="020B0502020202020204" pitchFamily="34" charset="0"/>
              <a:cs typeface="Arial" panose="020B0604020202020204" pitchFamily="34" charset="0"/>
            </a:endParaRPr>
          </a:p>
          <a:p>
            <a:pPr marL="457189" indent="-457189" algn="just">
              <a:buAutoNum type="alphaLcParenR"/>
            </a:pPr>
            <a:r>
              <a:rPr lang="en-US" sz="2400" dirty="0">
                <a:latin typeface="Century Gothic" panose="020B0502020202020204" pitchFamily="34" charset="0"/>
                <a:cs typeface="Arial" panose="020B0604020202020204" pitchFamily="34" charset="0"/>
              </a:rPr>
              <a:t>1∧ 2∧ 3 ∧ … ∧M should be on</a:t>
            </a:r>
          </a:p>
          <a:p>
            <a:pPr algn="just"/>
            <a:br>
              <a:rPr lang="en-US" sz="2400" dirty="0">
                <a:latin typeface="Century Gothic" panose="020B0502020202020204" pitchFamily="34" charset="0"/>
                <a:cs typeface="Arial" panose="020B0604020202020204" pitchFamily="34" charset="0"/>
              </a:rPr>
            </a:br>
            <a:r>
              <a:rPr lang="en-US" sz="2400" dirty="0">
                <a:latin typeface="Century Gothic" panose="020B0502020202020204" pitchFamily="34" charset="0"/>
                <a:cs typeface="Arial" panose="020B0604020202020204" pitchFamily="34" charset="0"/>
              </a:rPr>
              <a:t>b) 1∧ 2∧ 3 ∧ … ∧M should be off</a:t>
            </a:r>
          </a:p>
          <a:p>
            <a:pPr algn="just"/>
            <a:br>
              <a:rPr lang="en-US" sz="2400" dirty="0">
                <a:latin typeface="Century Gothic" panose="020B0502020202020204" pitchFamily="34" charset="0"/>
                <a:cs typeface="Arial" panose="020B0604020202020204" pitchFamily="34" charset="0"/>
              </a:rPr>
            </a:br>
            <a:r>
              <a:rPr lang="en-US" sz="2400" dirty="0">
                <a:latin typeface="Century Gothic" panose="020B0502020202020204" pitchFamily="34" charset="0"/>
                <a:cs typeface="Arial" panose="020B0604020202020204" pitchFamily="34" charset="0"/>
              </a:rPr>
              <a:t>c) 1 v 2 v 3 v … v M should be on</a:t>
            </a:r>
          </a:p>
          <a:p>
            <a:pPr algn="just"/>
            <a:br>
              <a:rPr lang="en-US" sz="2400" dirty="0">
                <a:latin typeface="Century Gothic" panose="020B0502020202020204" pitchFamily="34" charset="0"/>
                <a:cs typeface="Arial" panose="020B0604020202020204" pitchFamily="34" charset="0"/>
              </a:rPr>
            </a:br>
            <a:r>
              <a:rPr lang="en-US" sz="2400" dirty="0">
                <a:latin typeface="Century Gothic" panose="020B0502020202020204" pitchFamily="34" charset="0"/>
                <a:cs typeface="Arial" panose="020B0604020202020204" pitchFamily="34" charset="0"/>
              </a:rPr>
              <a:t>d) None of the mentioned</a:t>
            </a:r>
          </a:p>
          <a:p>
            <a:pPr algn="just"/>
            <a:endParaRPr lang="en-US" sz="2400" dirty="0">
              <a:latin typeface="Century Gothic" panose="020B0502020202020204" pitchFamily="34" charset="0"/>
              <a:cs typeface="Arial" panose="020B0604020202020204" pitchFamily="34" charset="0"/>
            </a:endParaRPr>
          </a:p>
          <a:p>
            <a:pPr algn="just"/>
            <a:r>
              <a:rPr lang="en-US" sz="2400" dirty="0">
                <a:latin typeface="Century Gothic" panose="020B0502020202020204" pitchFamily="34" charset="0"/>
                <a:cs typeface="Arial" panose="020B0604020202020204" pitchFamily="34" charset="0"/>
              </a:rPr>
              <a:t>Answer: a).</a:t>
            </a:r>
          </a:p>
        </p:txBody>
      </p:sp>
    </p:spTree>
    <p:extLst>
      <p:ext uri="{BB962C8B-B14F-4D97-AF65-F5344CB8AC3E}">
        <p14:creationId xmlns:p14="http://schemas.microsoft.com/office/powerpoint/2010/main" val="229024740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wipe(left)">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wipe(left)">
                                      <p:cBhvr>
                                        <p:cTn id="17" dur="5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wipe(left)">
                                      <p:cBhvr>
                                        <p:cTn id="22" dur="500"/>
                                        <p:tgtEl>
                                          <p:spTgt spid="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animEffect transition="in" filter="wipe(left)">
                                      <p:cBhvr>
                                        <p:cTn id="27" dur="500"/>
                                        <p:tgtEl>
                                          <p:spTgt spid="2">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
                                            <p:txEl>
                                              <p:pRg st="7" end="7"/>
                                            </p:txEl>
                                          </p:spTgt>
                                        </p:tgtEl>
                                        <p:attrNameLst>
                                          <p:attrName>style.visibility</p:attrName>
                                        </p:attrNameLst>
                                      </p:cBhvr>
                                      <p:to>
                                        <p:strVal val="visible"/>
                                      </p:to>
                                    </p:set>
                                    <p:animEffect transition="in" filter="wipe(left)">
                                      <p:cBhvr>
                                        <p:cTn id="32" dur="50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2ED1AF7-2E15-4F91-A46B-3C77A3032F4C}"/>
              </a:ext>
            </a:extLst>
          </p:cNvPr>
          <p:cNvSpPr txBox="1"/>
          <p:nvPr/>
        </p:nvSpPr>
        <p:spPr>
          <a:xfrm>
            <a:off x="4833726" y="1065762"/>
            <a:ext cx="1810111" cy="543675"/>
          </a:xfrm>
          <a:prstGeom prst="rect">
            <a:avLst/>
          </a:prstGeom>
          <a:noFill/>
        </p:spPr>
        <p:txBody>
          <a:bodyPr wrap="none" rtlCol="0">
            <a:spAutoFit/>
          </a:bodyPr>
          <a:lstStyle/>
          <a:p>
            <a:r>
              <a:rPr lang="en-US" sz="2933" dirty="0">
                <a:solidFill>
                  <a:schemeClr val="tx1">
                    <a:lumMod val="95000"/>
                    <a:lumOff val="5000"/>
                  </a:schemeClr>
                </a:solidFill>
                <a:latin typeface="Century Gothic" panose="020B0502020202020204" pitchFamily="34" charset="0"/>
                <a:cs typeface="Arial" pitchFamily="34" charset="0"/>
              </a:rPr>
              <a:t>MCQ - 2 </a:t>
            </a:r>
          </a:p>
        </p:txBody>
      </p:sp>
      <p:sp>
        <p:nvSpPr>
          <p:cNvPr id="2" name="TextBox 2">
            <a:extLst>
              <a:ext uri="{FF2B5EF4-FFF2-40B4-BE49-F238E27FC236}">
                <a16:creationId xmlns:a16="http://schemas.microsoft.com/office/drawing/2014/main" id="{7FC0A8A0-F297-4146-9D7D-E2940EEC9D83}"/>
              </a:ext>
            </a:extLst>
          </p:cNvPr>
          <p:cNvSpPr txBox="1"/>
          <p:nvPr/>
        </p:nvSpPr>
        <p:spPr>
          <a:xfrm>
            <a:off x="726253" y="1609437"/>
            <a:ext cx="10652948" cy="489364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US" sz="2400" b="1" dirty="0">
                <a:latin typeface="Century Gothic" panose="020B0502020202020204" pitchFamily="34" charset="0"/>
                <a:cs typeface="Arial" panose="020B0604020202020204" pitchFamily="34" charset="0"/>
              </a:rPr>
              <a:t>If there are ‘M’ switches in parallel numbered from 1, 2, …, M. For circuit to be complete and bulb to glow which of the following is necessary</a:t>
            </a:r>
          </a:p>
          <a:p>
            <a:pPr algn="just"/>
            <a:endParaRPr lang="en-US" sz="2400" b="1" dirty="0">
              <a:latin typeface="Century Gothic" panose="020B0502020202020204" pitchFamily="34" charset="0"/>
              <a:cs typeface="Arial" panose="020B0604020202020204" pitchFamily="34" charset="0"/>
            </a:endParaRPr>
          </a:p>
          <a:p>
            <a:pPr marL="457189" indent="-457189">
              <a:buFont typeface="+mj-lt"/>
              <a:buAutoNum type="alphaLcParenR"/>
            </a:pPr>
            <a:r>
              <a:rPr lang="en-US" sz="2400" dirty="0">
                <a:latin typeface="Century Gothic" panose="020B0502020202020204" pitchFamily="34" charset="0"/>
                <a:cs typeface="Arial" panose="020B0604020202020204" pitchFamily="34" charset="0"/>
              </a:rPr>
              <a:t>1∧ 2∧ 3 ∧ … ∧M should be on</a:t>
            </a:r>
          </a:p>
          <a:p>
            <a:pPr marL="457189" indent="-457189">
              <a:buFont typeface="+mj-lt"/>
              <a:buAutoNum type="alphaLcParenR"/>
            </a:pPr>
            <a:endParaRPr lang="en-US" sz="2400" dirty="0">
              <a:latin typeface="Century Gothic" panose="020B0502020202020204" pitchFamily="34" charset="0"/>
              <a:cs typeface="Arial" panose="020B0604020202020204" pitchFamily="34" charset="0"/>
            </a:endParaRPr>
          </a:p>
          <a:p>
            <a:pPr marL="457189" indent="-457189">
              <a:buFont typeface="+mj-lt"/>
              <a:buAutoNum type="alphaLcParenR"/>
            </a:pPr>
            <a:r>
              <a:rPr lang="en-US" sz="2400" dirty="0">
                <a:latin typeface="Century Gothic" panose="020B0502020202020204" pitchFamily="34" charset="0"/>
                <a:cs typeface="Arial" panose="020B0604020202020204" pitchFamily="34" charset="0"/>
              </a:rPr>
              <a:t>1∧ 2∧ 3 ∧ … ∧M should be off</a:t>
            </a:r>
          </a:p>
          <a:p>
            <a:pPr marL="457189" indent="-457189">
              <a:buFont typeface="+mj-lt"/>
              <a:buAutoNum type="alphaLcParenR"/>
            </a:pPr>
            <a:endParaRPr lang="en-US" sz="2400" dirty="0">
              <a:latin typeface="Century Gothic" panose="020B0502020202020204" pitchFamily="34" charset="0"/>
              <a:cs typeface="Arial" panose="020B0604020202020204" pitchFamily="34" charset="0"/>
            </a:endParaRPr>
          </a:p>
          <a:p>
            <a:pPr marL="457189" indent="-457189">
              <a:buFont typeface="+mj-lt"/>
              <a:buAutoNum type="alphaLcParenR"/>
            </a:pPr>
            <a:r>
              <a:rPr lang="en-US" sz="2400" dirty="0">
                <a:latin typeface="Century Gothic" panose="020B0502020202020204" pitchFamily="34" charset="0"/>
                <a:cs typeface="Arial" panose="020B0604020202020204" pitchFamily="34" charset="0"/>
              </a:rPr>
              <a:t>1 v 2 v 3 v … v M should be on</a:t>
            </a:r>
          </a:p>
          <a:p>
            <a:pPr marL="457189" indent="-457189">
              <a:buFont typeface="+mj-lt"/>
              <a:buAutoNum type="alphaLcParenR"/>
            </a:pPr>
            <a:endParaRPr lang="en-US" sz="2400" dirty="0">
              <a:latin typeface="Century Gothic" panose="020B0502020202020204" pitchFamily="34" charset="0"/>
              <a:cs typeface="Arial" panose="020B0604020202020204" pitchFamily="34" charset="0"/>
            </a:endParaRPr>
          </a:p>
          <a:p>
            <a:pPr marL="457189" indent="-457189">
              <a:buFont typeface="+mj-lt"/>
              <a:buAutoNum type="alphaLcParenR"/>
            </a:pPr>
            <a:r>
              <a:rPr lang="en-US" sz="2400" dirty="0">
                <a:latin typeface="Century Gothic" panose="020B0502020202020204" pitchFamily="34" charset="0"/>
                <a:cs typeface="Arial" panose="020B0604020202020204" pitchFamily="34" charset="0"/>
              </a:rPr>
              <a:t>None of the mentioned</a:t>
            </a:r>
          </a:p>
          <a:p>
            <a:endParaRPr lang="en-US" sz="2400" dirty="0">
              <a:latin typeface="Century Gothic" panose="020B0502020202020204" pitchFamily="34" charset="0"/>
              <a:cs typeface="Arial" panose="020B0604020202020204" pitchFamily="34" charset="0"/>
            </a:endParaRPr>
          </a:p>
          <a:p>
            <a:r>
              <a:rPr lang="en-US" sz="2400" dirty="0">
                <a:latin typeface="Century Gothic" panose="020B0502020202020204" pitchFamily="34" charset="0"/>
                <a:cs typeface="Arial" panose="020B0604020202020204" pitchFamily="34" charset="0"/>
              </a:rPr>
              <a:t>Answer: c).</a:t>
            </a:r>
          </a:p>
        </p:txBody>
      </p:sp>
    </p:spTree>
    <p:extLst>
      <p:ext uri="{BB962C8B-B14F-4D97-AF65-F5344CB8AC3E}">
        <p14:creationId xmlns:p14="http://schemas.microsoft.com/office/powerpoint/2010/main" val="127126874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wipe(left)">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animEffect transition="in" filter="wipe(left)">
                                      <p:cBhvr>
                                        <p:cTn id="17" dur="500"/>
                                        <p:tgtEl>
                                          <p:spTgt spid="2">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
                                            <p:txEl>
                                              <p:pRg st="6" end="6"/>
                                            </p:txEl>
                                          </p:spTgt>
                                        </p:tgtEl>
                                        <p:attrNameLst>
                                          <p:attrName>style.visibility</p:attrName>
                                        </p:attrNameLst>
                                      </p:cBhvr>
                                      <p:to>
                                        <p:strVal val="visible"/>
                                      </p:to>
                                    </p:set>
                                    <p:animEffect transition="in" filter="wipe(left)">
                                      <p:cBhvr>
                                        <p:cTn id="22" dur="500"/>
                                        <p:tgtEl>
                                          <p:spTgt spid="2">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
                                            <p:txEl>
                                              <p:pRg st="8" end="8"/>
                                            </p:txEl>
                                          </p:spTgt>
                                        </p:tgtEl>
                                        <p:attrNameLst>
                                          <p:attrName>style.visibility</p:attrName>
                                        </p:attrNameLst>
                                      </p:cBhvr>
                                      <p:to>
                                        <p:strVal val="visible"/>
                                      </p:to>
                                    </p:set>
                                    <p:animEffect transition="in" filter="wipe(left)">
                                      <p:cBhvr>
                                        <p:cTn id="27" dur="500"/>
                                        <p:tgtEl>
                                          <p:spTgt spid="2">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
                                            <p:txEl>
                                              <p:pRg st="10" end="10"/>
                                            </p:txEl>
                                          </p:spTgt>
                                        </p:tgtEl>
                                        <p:attrNameLst>
                                          <p:attrName>style.visibility</p:attrName>
                                        </p:attrNameLst>
                                      </p:cBhvr>
                                      <p:to>
                                        <p:strVal val="visible"/>
                                      </p:to>
                                    </p:set>
                                    <p:animEffect transition="in" filter="wipe(left)">
                                      <p:cBhvr>
                                        <p:cTn id="32" dur="500"/>
                                        <p:tgtEl>
                                          <p:spTgt spid="2">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TotalTime>
  <Words>5380</Words>
  <Application>Microsoft Office PowerPoint</Application>
  <PresentationFormat>Widescreen</PresentationFormat>
  <Paragraphs>965</Paragraphs>
  <Slides>71</Slides>
  <Notes>1</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71</vt:i4>
      </vt:variant>
    </vt:vector>
  </HeadingPairs>
  <TitlesOfParts>
    <vt:vector size="80" baseType="lpstr">
      <vt:lpstr>Arial</vt:lpstr>
      <vt:lpstr>Calibri</vt:lpstr>
      <vt:lpstr>Century Gothic</vt:lpstr>
      <vt:lpstr>erdana</vt:lpstr>
      <vt:lpstr>Times New Roman</vt:lpstr>
      <vt:lpstr>verdana</vt:lpstr>
      <vt:lpstr>verdana</vt:lpstr>
      <vt:lpstr>Default Design</vt:lpstr>
      <vt:lpstr>Equation</vt:lpstr>
      <vt:lpstr>Amity Institute of Information Technology BCA , Ist Semester  Basic Mathematics- Mathematical Logic Dr Sarika Jain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Amity Institute of Information Technology MCA , Ist Semester  Graph Theory  Dr Sarika Jain</dc:title>
  <dc:creator>Lalit Kumar</dc:creator>
  <cp:lastModifiedBy>Sarika Jain</cp:lastModifiedBy>
  <cp:revision>5</cp:revision>
  <dcterms:created xsi:type="dcterms:W3CDTF">2020-09-10T06:54:54Z</dcterms:created>
  <dcterms:modified xsi:type="dcterms:W3CDTF">2025-01-28T04:14:33Z</dcterms:modified>
</cp:coreProperties>
</file>