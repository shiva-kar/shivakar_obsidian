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6"/>
  </p:notesMasterIdLst>
  <p:sldIdLst>
    <p:sldId id="257" r:id="rId2"/>
    <p:sldId id="259" r:id="rId3"/>
    <p:sldId id="351" r:id="rId4"/>
    <p:sldId id="352" r:id="rId5"/>
    <p:sldId id="353" r:id="rId6"/>
    <p:sldId id="421" r:id="rId7"/>
    <p:sldId id="401" r:id="rId8"/>
    <p:sldId id="422" r:id="rId9"/>
    <p:sldId id="423" r:id="rId10"/>
    <p:sldId id="424" r:id="rId11"/>
    <p:sldId id="425" r:id="rId12"/>
    <p:sldId id="465" r:id="rId13"/>
    <p:sldId id="433" r:id="rId14"/>
    <p:sldId id="463" r:id="rId15"/>
    <p:sldId id="466" r:id="rId16"/>
    <p:sldId id="467" r:id="rId17"/>
    <p:sldId id="468" r:id="rId18"/>
    <p:sldId id="470" r:id="rId19"/>
    <p:sldId id="469" r:id="rId20"/>
    <p:sldId id="471" r:id="rId21"/>
    <p:sldId id="472" r:id="rId22"/>
    <p:sldId id="435" r:id="rId23"/>
    <p:sldId id="436" r:id="rId24"/>
    <p:sldId id="437" r:id="rId25"/>
    <p:sldId id="438" r:id="rId26"/>
    <p:sldId id="473" r:id="rId27"/>
    <p:sldId id="474" r:id="rId28"/>
    <p:sldId id="475" r:id="rId29"/>
    <p:sldId id="476" r:id="rId30"/>
    <p:sldId id="477" r:id="rId31"/>
    <p:sldId id="478" r:id="rId32"/>
    <p:sldId id="479" r:id="rId33"/>
    <p:sldId id="426" r:id="rId34"/>
    <p:sldId id="427" r:id="rId35"/>
    <p:sldId id="428" r:id="rId36"/>
    <p:sldId id="430" r:id="rId37"/>
    <p:sldId id="429" r:id="rId38"/>
    <p:sldId id="431" r:id="rId39"/>
    <p:sldId id="446" r:id="rId40"/>
    <p:sldId id="447" r:id="rId41"/>
    <p:sldId id="449" r:id="rId42"/>
    <p:sldId id="450" r:id="rId43"/>
    <p:sldId id="448" r:id="rId44"/>
    <p:sldId id="451" r:id="rId45"/>
    <p:sldId id="452" r:id="rId46"/>
    <p:sldId id="453" r:id="rId47"/>
    <p:sldId id="454" r:id="rId48"/>
    <p:sldId id="455" r:id="rId49"/>
    <p:sldId id="456" r:id="rId50"/>
    <p:sldId id="480" r:id="rId51"/>
    <p:sldId id="481" r:id="rId52"/>
    <p:sldId id="482" r:id="rId53"/>
    <p:sldId id="483" r:id="rId54"/>
    <p:sldId id="484" r:id="rId55"/>
    <p:sldId id="439" r:id="rId56"/>
    <p:sldId id="440" r:id="rId57"/>
    <p:sldId id="441" r:id="rId58"/>
    <p:sldId id="442" r:id="rId59"/>
    <p:sldId id="443" r:id="rId60"/>
    <p:sldId id="444" r:id="rId61"/>
    <p:sldId id="445" r:id="rId62"/>
    <p:sldId id="485" r:id="rId63"/>
    <p:sldId id="486" r:id="rId64"/>
    <p:sldId id="487" r:id="rId65"/>
    <p:sldId id="488" r:id="rId66"/>
    <p:sldId id="489" r:id="rId67"/>
    <p:sldId id="490" r:id="rId68"/>
    <p:sldId id="491" r:id="rId69"/>
    <p:sldId id="492" r:id="rId70"/>
    <p:sldId id="493" r:id="rId71"/>
    <p:sldId id="494" r:id="rId72"/>
    <p:sldId id="495" r:id="rId73"/>
    <p:sldId id="496" r:id="rId74"/>
    <p:sldId id="497" r:id="rId75"/>
    <p:sldId id="498" r:id="rId76"/>
    <p:sldId id="461" r:id="rId77"/>
    <p:sldId id="499" r:id="rId78"/>
    <p:sldId id="500" r:id="rId79"/>
    <p:sldId id="501" r:id="rId80"/>
    <p:sldId id="502" r:id="rId81"/>
    <p:sldId id="503" r:id="rId82"/>
    <p:sldId id="504" r:id="rId83"/>
    <p:sldId id="505" r:id="rId84"/>
    <p:sldId id="506"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8" autoAdjust="0"/>
    <p:restoredTop sz="94660"/>
  </p:normalViewPr>
  <p:slideViewPr>
    <p:cSldViewPr snapToGrid="0">
      <p:cViewPr varScale="1">
        <p:scale>
          <a:sx n="82" d="100"/>
          <a:sy n="82" d="100"/>
        </p:scale>
        <p:origin x="58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6D4FF-DEA4-4892-92B1-559585551894}" type="datetimeFigureOut">
              <a:rPr lang="en-IN" smtClean="0"/>
              <a:t>24-01-2025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3A5FB5-0710-47CC-8F83-FD860005E88A}" type="slidenum">
              <a:rPr lang="en-IN" smtClean="0"/>
              <a:t>‹#›</a:t>
            </a:fld>
            <a:endParaRPr lang="en-IN"/>
          </a:p>
        </p:txBody>
      </p:sp>
    </p:spTree>
    <p:extLst>
      <p:ext uri="{BB962C8B-B14F-4D97-AF65-F5344CB8AC3E}">
        <p14:creationId xmlns:p14="http://schemas.microsoft.com/office/powerpoint/2010/main" val="2418103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B8F9BCF-6C3B-4706-A57E-62DF77EB85B1}"/>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Amity Institute of Information Technology</a:t>
            </a:r>
          </a:p>
        </p:txBody>
      </p:sp>
      <p:sp>
        <p:nvSpPr>
          <p:cNvPr id="5123" name="Rectangle 7">
            <a:extLst>
              <a:ext uri="{FF2B5EF4-FFF2-40B4-BE49-F238E27FC236}">
                <a16:creationId xmlns:a16="http://schemas.microsoft.com/office/drawing/2014/main" id="{A9643575-2427-488D-9ACC-8601D357AE2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4B0C161-B90F-4386-A4C0-CF9C7E8033D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4" name="Rectangle 2">
            <a:extLst>
              <a:ext uri="{FF2B5EF4-FFF2-40B4-BE49-F238E27FC236}">
                <a16:creationId xmlns:a16="http://schemas.microsoft.com/office/drawing/2014/main" id="{4B098021-E45A-46DC-8FB4-8B7C02CA01AE}"/>
              </a:ext>
            </a:extLst>
          </p:cNvPr>
          <p:cNvSpPr>
            <a:spLocks noGrp="1" noRot="1" noChangeAspect="1" noChangeArrowheads="1" noTextEdit="1"/>
          </p:cNvSpPr>
          <p:nvPr>
            <p:ph type="sldImg"/>
          </p:nvPr>
        </p:nvSpPr>
        <p:spPr>
          <a:ln/>
        </p:spPr>
      </p:sp>
      <p:sp>
        <p:nvSpPr>
          <p:cNvPr id="5125" name="Rectangle 3">
            <a:extLst>
              <a:ext uri="{FF2B5EF4-FFF2-40B4-BE49-F238E27FC236}">
                <a16:creationId xmlns:a16="http://schemas.microsoft.com/office/drawing/2014/main" id="{5DDACB0A-87E8-404A-9A9D-CEBF51E825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6">
            <a:extLst>
              <a:ext uri="{FF2B5EF4-FFF2-40B4-BE49-F238E27FC236}">
                <a16:creationId xmlns:a16="http://schemas.microsoft.com/office/drawing/2014/main" id="{697815AB-70D8-49EB-A36D-D442E40DD67F}"/>
              </a:ext>
            </a:extLst>
          </p:cNvPr>
          <p:cNvSpPr>
            <a:spLocks noGrp="1" noChangeArrowheads="1"/>
          </p:cNvSpPr>
          <p:nvPr>
            <p:ph type="sldNum" sz="quarter" idx="10"/>
          </p:nvPr>
        </p:nvSpPr>
        <p:spPr>
          <a:ln/>
        </p:spPr>
        <p:txBody>
          <a:bodyPr/>
          <a:lstStyle>
            <a:lvl1pPr>
              <a:defRPr/>
            </a:lvl1pPr>
          </a:lstStyle>
          <a:p>
            <a:pPr>
              <a:defRPr/>
            </a:pPr>
            <a:fld id="{2DBB581B-2F53-4A21-A360-4A739774B45E}" type="slidenum">
              <a:rPr lang="en-US" altLang="en-US"/>
              <a:pPr>
                <a:defRPr/>
              </a:pPr>
              <a:t>‹#›</a:t>
            </a:fld>
            <a:endParaRPr lang="en-US" altLang="en-US"/>
          </a:p>
        </p:txBody>
      </p:sp>
    </p:spTree>
    <p:extLst>
      <p:ext uri="{BB962C8B-B14F-4D97-AF65-F5344CB8AC3E}">
        <p14:creationId xmlns:p14="http://schemas.microsoft.com/office/powerpoint/2010/main" val="1587785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DADD6217-5E64-455F-8FDC-A22BBF22A3A9}"/>
              </a:ext>
            </a:extLst>
          </p:cNvPr>
          <p:cNvSpPr>
            <a:spLocks noGrp="1" noChangeArrowheads="1"/>
          </p:cNvSpPr>
          <p:nvPr>
            <p:ph type="sldNum" sz="quarter" idx="10"/>
          </p:nvPr>
        </p:nvSpPr>
        <p:spPr>
          <a:ln/>
        </p:spPr>
        <p:txBody>
          <a:bodyPr/>
          <a:lstStyle>
            <a:lvl1pPr>
              <a:defRPr/>
            </a:lvl1pPr>
          </a:lstStyle>
          <a:p>
            <a:pPr>
              <a:defRPr/>
            </a:pPr>
            <a:fld id="{941F7A49-95A6-4D3E-8239-B64543B8D690}" type="slidenum">
              <a:rPr lang="en-US" altLang="en-US"/>
              <a:pPr>
                <a:defRPr/>
              </a:pPr>
              <a:t>‹#›</a:t>
            </a:fld>
            <a:endParaRPr lang="en-US" altLang="en-US"/>
          </a:p>
        </p:txBody>
      </p:sp>
    </p:spTree>
    <p:extLst>
      <p:ext uri="{BB962C8B-B14F-4D97-AF65-F5344CB8AC3E}">
        <p14:creationId xmlns:p14="http://schemas.microsoft.com/office/powerpoint/2010/main" val="1891958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140E1339-A830-4559-98A3-35372A9481FD}"/>
              </a:ext>
            </a:extLst>
          </p:cNvPr>
          <p:cNvSpPr>
            <a:spLocks noGrp="1" noChangeArrowheads="1"/>
          </p:cNvSpPr>
          <p:nvPr>
            <p:ph type="sldNum" sz="quarter" idx="10"/>
          </p:nvPr>
        </p:nvSpPr>
        <p:spPr>
          <a:ln/>
        </p:spPr>
        <p:txBody>
          <a:bodyPr/>
          <a:lstStyle>
            <a:lvl1pPr>
              <a:defRPr/>
            </a:lvl1pPr>
          </a:lstStyle>
          <a:p>
            <a:pPr>
              <a:defRPr/>
            </a:pPr>
            <a:fld id="{27EC55A9-C5C2-4034-8C68-E5E00DA01365}" type="slidenum">
              <a:rPr lang="en-US" altLang="en-US"/>
              <a:pPr>
                <a:defRPr/>
              </a:pPr>
              <a:t>‹#›</a:t>
            </a:fld>
            <a:endParaRPr lang="en-US" altLang="en-US"/>
          </a:p>
        </p:txBody>
      </p:sp>
    </p:spTree>
    <p:extLst>
      <p:ext uri="{BB962C8B-B14F-4D97-AF65-F5344CB8AC3E}">
        <p14:creationId xmlns:p14="http://schemas.microsoft.com/office/powerpoint/2010/main" val="128151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a:extLst>
              <a:ext uri="{FF2B5EF4-FFF2-40B4-BE49-F238E27FC236}">
                <a16:creationId xmlns:a16="http://schemas.microsoft.com/office/drawing/2014/main" id="{2E924A73-6C50-4AC3-9D70-9BF5CD770347}"/>
              </a:ext>
            </a:extLst>
          </p:cNvPr>
          <p:cNvSpPr>
            <a:spLocks noGrp="1" noChangeArrowheads="1"/>
          </p:cNvSpPr>
          <p:nvPr>
            <p:ph type="sldNum" sz="quarter" idx="10"/>
          </p:nvPr>
        </p:nvSpPr>
        <p:spPr>
          <a:ln/>
        </p:spPr>
        <p:txBody>
          <a:bodyPr/>
          <a:lstStyle>
            <a:lvl1pPr>
              <a:defRPr/>
            </a:lvl1pPr>
          </a:lstStyle>
          <a:p>
            <a:pPr>
              <a:defRPr/>
            </a:pPr>
            <a:fld id="{BC88B6BB-978E-4895-9FE3-804546364DB5}" type="slidenum">
              <a:rPr lang="en-US" altLang="en-US"/>
              <a:pPr>
                <a:defRPr/>
              </a:pPr>
              <a:t>‹#›</a:t>
            </a:fld>
            <a:endParaRPr lang="en-US" altLang="en-US"/>
          </a:p>
        </p:txBody>
      </p:sp>
    </p:spTree>
    <p:extLst>
      <p:ext uri="{BB962C8B-B14F-4D97-AF65-F5344CB8AC3E}">
        <p14:creationId xmlns:p14="http://schemas.microsoft.com/office/powerpoint/2010/main" val="111234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6">
            <a:extLst>
              <a:ext uri="{FF2B5EF4-FFF2-40B4-BE49-F238E27FC236}">
                <a16:creationId xmlns:a16="http://schemas.microsoft.com/office/drawing/2014/main" id="{56EA8121-B2D3-41F8-8E89-A3FE9A413EE6}"/>
              </a:ext>
            </a:extLst>
          </p:cNvPr>
          <p:cNvSpPr>
            <a:spLocks noGrp="1" noChangeArrowheads="1"/>
          </p:cNvSpPr>
          <p:nvPr>
            <p:ph type="sldNum" sz="quarter" idx="10"/>
          </p:nvPr>
        </p:nvSpPr>
        <p:spPr>
          <a:ln/>
        </p:spPr>
        <p:txBody>
          <a:bodyPr/>
          <a:lstStyle>
            <a:lvl1pPr>
              <a:defRPr/>
            </a:lvl1pPr>
          </a:lstStyle>
          <a:p>
            <a:pPr>
              <a:defRPr/>
            </a:pPr>
            <a:fld id="{A5E00F77-6DD8-4988-B35E-0535D76BCEF6}" type="slidenum">
              <a:rPr lang="en-US" altLang="en-US"/>
              <a:pPr>
                <a:defRPr/>
              </a:pPr>
              <a:t>‹#›</a:t>
            </a:fld>
            <a:endParaRPr lang="en-US" altLang="en-US"/>
          </a:p>
        </p:txBody>
      </p:sp>
    </p:spTree>
    <p:extLst>
      <p:ext uri="{BB962C8B-B14F-4D97-AF65-F5344CB8AC3E}">
        <p14:creationId xmlns:p14="http://schemas.microsoft.com/office/powerpoint/2010/main" val="3471602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Rectangle 6">
            <a:extLst>
              <a:ext uri="{FF2B5EF4-FFF2-40B4-BE49-F238E27FC236}">
                <a16:creationId xmlns:a16="http://schemas.microsoft.com/office/drawing/2014/main" id="{9A4A9970-884C-47F6-8626-E1D4CD9DE41A}"/>
              </a:ext>
            </a:extLst>
          </p:cNvPr>
          <p:cNvSpPr>
            <a:spLocks noGrp="1" noChangeArrowheads="1"/>
          </p:cNvSpPr>
          <p:nvPr>
            <p:ph type="sldNum" sz="quarter" idx="10"/>
          </p:nvPr>
        </p:nvSpPr>
        <p:spPr>
          <a:ln/>
        </p:spPr>
        <p:txBody>
          <a:bodyPr/>
          <a:lstStyle>
            <a:lvl1pPr>
              <a:defRPr/>
            </a:lvl1pPr>
          </a:lstStyle>
          <a:p>
            <a:pPr>
              <a:defRPr/>
            </a:pPr>
            <a:fld id="{4FFCD857-033F-41E3-AE3F-066F8AF172C6}" type="slidenum">
              <a:rPr lang="en-US" altLang="en-US"/>
              <a:pPr>
                <a:defRPr/>
              </a:pPr>
              <a:t>‹#›</a:t>
            </a:fld>
            <a:endParaRPr lang="en-US" altLang="en-US"/>
          </a:p>
        </p:txBody>
      </p:sp>
    </p:spTree>
    <p:extLst>
      <p:ext uri="{BB962C8B-B14F-4D97-AF65-F5344CB8AC3E}">
        <p14:creationId xmlns:p14="http://schemas.microsoft.com/office/powerpoint/2010/main" val="102726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EEFACFA-D5B0-4964-A16D-E8A4CBC7117D}"/>
              </a:ext>
            </a:extLst>
          </p:cNvPr>
          <p:cNvSpPr>
            <a:spLocks noGrp="1" noChangeArrowheads="1"/>
          </p:cNvSpPr>
          <p:nvPr>
            <p:ph type="sldNum" sz="quarter" idx="10"/>
          </p:nvPr>
        </p:nvSpPr>
        <p:spPr>
          <a:ln/>
        </p:spPr>
        <p:txBody>
          <a:bodyPr/>
          <a:lstStyle>
            <a:lvl1pPr>
              <a:defRPr/>
            </a:lvl1pPr>
          </a:lstStyle>
          <a:p>
            <a:pPr>
              <a:defRPr/>
            </a:pPr>
            <a:fld id="{40CE7F4D-6297-41C0-ACE0-955D72B832BD}" type="slidenum">
              <a:rPr lang="en-US" altLang="en-US"/>
              <a:pPr>
                <a:defRPr/>
              </a:pPr>
              <a:t>‹#›</a:t>
            </a:fld>
            <a:endParaRPr lang="en-US" altLang="en-US"/>
          </a:p>
        </p:txBody>
      </p:sp>
    </p:spTree>
    <p:extLst>
      <p:ext uri="{BB962C8B-B14F-4D97-AF65-F5344CB8AC3E}">
        <p14:creationId xmlns:p14="http://schemas.microsoft.com/office/powerpoint/2010/main" val="2078777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8EB96FA9-73D7-4AB6-8917-C92D30A6B63A}"/>
              </a:ext>
            </a:extLst>
          </p:cNvPr>
          <p:cNvSpPr>
            <a:spLocks noGrp="1" noChangeArrowheads="1"/>
          </p:cNvSpPr>
          <p:nvPr>
            <p:ph type="sldNum" sz="quarter" idx="10"/>
          </p:nvPr>
        </p:nvSpPr>
        <p:spPr>
          <a:ln/>
        </p:spPr>
        <p:txBody>
          <a:bodyPr/>
          <a:lstStyle>
            <a:lvl1pPr>
              <a:defRPr/>
            </a:lvl1pPr>
          </a:lstStyle>
          <a:p>
            <a:pPr>
              <a:defRPr/>
            </a:pPr>
            <a:fld id="{69B29622-9F7E-4FEE-927C-378CA5783F19}" type="slidenum">
              <a:rPr lang="en-US" altLang="en-US"/>
              <a:pPr>
                <a:defRPr/>
              </a:pPr>
              <a:t>‹#›</a:t>
            </a:fld>
            <a:endParaRPr lang="en-US" altLang="en-US"/>
          </a:p>
        </p:txBody>
      </p:sp>
    </p:spTree>
    <p:extLst>
      <p:ext uri="{BB962C8B-B14F-4D97-AF65-F5344CB8AC3E}">
        <p14:creationId xmlns:p14="http://schemas.microsoft.com/office/powerpoint/2010/main" val="47768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CF7CD70D-4D46-46B4-BEE2-A008FF3640C8}"/>
              </a:ext>
            </a:extLst>
          </p:cNvPr>
          <p:cNvSpPr>
            <a:spLocks noGrp="1" noChangeArrowheads="1"/>
          </p:cNvSpPr>
          <p:nvPr>
            <p:ph type="sldNum" sz="quarter" idx="10"/>
          </p:nvPr>
        </p:nvSpPr>
        <p:spPr>
          <a:ln/>
        </p:spPr>
        <p:txBody>
          <a:bodyPr/>
          <a:lstStyle>
            <a:lvl1pPr>
              <a:defRPr/>
            </a:lvl1pPr>
          </a:lstStyle>
          <a:p>
            <a:pPr>
              <a:defRPr/>
            </a:pPr>
            <a:fld id="{EF827498-146B-4988-8324-4FDA45D96EE1}" type="slidenum">
              <a:rPr lang="en-US" altLang="en-US"/>
              <a:pPr>
                <a:defRPr/>
              </a:pPr>
              <a:t>‹#›</a:t>
            </a:fld>
            <a:endParaRPr lang="en-US" altLang="en-US"/>
          </a:p>
        </p:txBody>
      </p:sp>
    </p:spTree>
    <p:extLst>
      <p:ext uri="{BB962C8B-B14F-4D97-AF65-F5344CB8AC3E}">
        <p14:creationId xmlns:p14="http://schemas.microsoft.com/office/powerpoint/2010/main" val="2301845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8968565-86CB-4886-8DC6-AAC02891B8FB}"/>
              </a:ext>
            </a:extLst>
          </p:cNvPr>
          <p:cNvSpPr>
            <a:spLocks noGrp="1" noChangeArrowheads="1"/>
          </p:cNvSpPr>
          <p:nvPr>
            <p:ph type="sldNum" sz="quarter" idx="10"/>
          </p:nvPr>
        </p:nvSpPr>
        <p:spPr>
          <a:ln/>
        </p:spPr>
        <p:txBody>
          <a:bodyPr/>
          <a:lstStyle>
            <a:lvl1pPr>
              <a:defRPr/>
            </a:lvl1pPr>
          </a:lstStyle>
          <a:p>
            <a:pPr>
              <a:defRPr/>
            </a:pPr>
            <a:fld id="{1CF355AD-7026-4A51-92AC-BDE138BCA4A8}" type="slidenum">
              <a:rPr lang="en-US" altLang="en-US"/>
              <a:pPr>
                <a:defRPr/>
              </a:pPr>
              <a:t>‹#›</a:t>
            </a:fld>
            <a:endParaRPr lang="en-US" altLang="en-US"/>
          </a:p>
        </p:txBody>
      </p:sp>
    </p:spTree>
    <p:extLst>
      <p:ext uri="{BB962C8B-B14F-4D97-AF65-F5344CB8AC3E}">
        <p14:creationId xmlns:p14="http://schemas.microsoft.com/office/powerpoint/2010/main" val="1238090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125B6C0-0E44-4A4E-819E-36CEE900B639}"/>
              </a:ext>
            </a:extLst>
          </p:cNvPr>
          <p:cNvSpPr>
            <a:spLocks noGrp="1" noChangeArrowheads="1"/>
          </p:cNvSpPr>
          <p:nvPr>
            <p:ph type="sldNum" sz="quarter" idx="10"/>
          </p:nvPr>
        </p:nvSpPr>
        <p:spPr>
          <a:ln/>
        </p:spPr>
        <p:txBody>
          <a:bodyPr/>
          <a:lstStyle>
            <a:lvl1pPr>
              <a:defRPr/>
            </a:lvl1pPr>
          </a:lstStyle>
          <a:p>
            <a:pPr>
              <a:defRPr/>
            </a:pPr>
            <a:fld id="{52F2FCC7-3B50-42FE-BACC-7717F049D3C3}" type="slidenum">
              <a:rPr lang="en-US" altLang="en-US"/>
              <a:pPr>
                <a:defRPr/>
              </a:pPr>
              <a:t>‹#›</a:t>
            </a:fld>
            <a:endParaRPr lang="en-US" altLang="en-US"/>
          </a:p>
        </p:txBody>
      </p:sp>
    </p:spTree>
    <p:extLst>
      <p:ext uri="{BB962C8B-B14F-4D97-AF65-F5344CB8AC3E}">
        <p14:creationId xmlns:p14="http://schemas.microsoft.com/office/powerpoint/2010/main" val="1695484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Vertical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BD7087-FF66-4DC3-89BC-F97889426A8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Picture 2" descr="A close up of a sign&#10;&#10;Description automatically generated">
            <a:extLst>
              <a:ext uri="{FF2B5EF4-FFF2-40B4-BE49-F238E27FC236}">
                <a16:creationId xmlns:a16="http://schemas.microsoft.com/office/drawing/2014/main" id="{E1123F4C-6A31-4C1F-A6F6-826F5AEAF06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44000" y="177800"/>
            <a:ext cx="2885445" cy="1202947"/>
          </a:xfrm>
          <a:prstGeom prst="rect">
            <a:avLst/>
          </a:prstGeom>
        </p:spPr>
      </p:pic>
    </p:spTree>
    <p:extLst>
      <p:ext uri="{BB962C8B-B14F-4D97-AF65-F5344CB8AC3E}">
        <p14:creationId xmlns:p14="http://schemas.microsoft.com/office/powerpoint/2010/main" val="556770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933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a:extLst>
              <a:ext uri="{FF2B5EF4-FFF2-40B4-BE49-F238E27FC236}">
                <a16:creationId xmlns:a16="http://schemas.microsoft.com/office/drawing/2014/main" id="{8449A887-5DE0-4487-B255-3AF567F9C735}"/>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b="83365"/>
          <a:stretch>
            <a:fillRect/>
          </a:stretch>
        </p:blipFill>
        <p:spPr bwMode="auto">
          <a:xfrm>
            <a:off x="0" y="76201"/>
            <a:ext cx="1218353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a:extLst>
              <a:ext uri="{FF2B5EF4-FFF2-40B4-BE49-F238E27FC236}">
                <a16:creationId xmlns:a16="http://schemas.microsoft.com/office/drawing/2014/main" id="{3725FC8C-A2FB-4E54-9109-26A80C5FA7A2}"/>
              </a:ext>
            </a:extLst>
          </p:cNvPr>
          <p:cNvSpPr>
            <a:spLocks noGrp="1" noChangeArrowheads="1"/>
          </p:cNvSpPr>
          <p:nvPr>
            <p:ph type="sldNum" sz="quarter" idx="4"/>
          </p:nvPr>
        </p:nvSpPr>
        <p:spPr bwMode="auto">
          <a:xfrm>
            <a:off x="9065684" y="6400800"/>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100" smtClean="0"/>
            </a:lvl1pPr>
          </a:lstStyle>
          <a:p>
            <a:pPr>
              <a:defRPr/>
            </a:pPr>
            <a:fld id="{87D83082-6E93-47F3-BCEC-6D6F7AC7DA64}" type="slidenum">
              <a:rPr lang="en-US" altLang="en-US"/>
              <a:pPr>
                <a:defRPr/>
              </a:pPr>
              <a:t>‹#›</a:t>
            </a:fld>
            <a:endParaRPr lang="en-US" altLang="en-US"/>
          </a:p>
        </p:txBody>
      </p:sp>
      <p:sp>
        <p:nvSpPr>
          <p:cNvPr id="1028" name="Rectangle 8">
            <a:extLst>
              <a:ext uri="{FF2B5EF4-FFF2-40B4-BE49-F238E27FC236}">
                <a16:creationId xmlns:a16="http://schemas.microsoft.com/office/drawing/2014/main" id="{F2006CED-6E1C-4C80-84FC-50B3EA341DF5}"/>
              </a:ext>
            </a:extLst>
          </p:cNvPr>
          <p:cNvSpPr>
            <a:spLocks noChangeArrowheads="1"/>
          </p:cNvSpPr>
          <p:nvPr/>
        </p:nvSpPr>
        <p:spPr bwMode="auto">
          <a:xfrm>
            <a:off x="4656667" y="611188"/>
            <a:ext cx="721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en-US" altLang="en-US" sz="1600" b="1">
                <a:solidFill>
                  <a:schemeClr val="accent2"/>
                </a:solidFill>
              </a:rPr>
              <a:t>Amity Institute of Information Technology</a:t>
            </a:r>
          </a:p>
        </p:txBody>
      </p:sp>
      <p:sp>
        <p:nvSpPr>
          <p:cNvPr id="1029" name="Rectangle 10">
            <a:extLst>
              <a:ext uri="{FF2B5EF4-FFF2-40B4-BE49-F238E27FC236}">
                <a16:creationId xmlns:a16="http://schemas.microsoft.com/office/drawing/2014/main" id="{85D5D199-E1F6-467A-A88F-299499A5AE56}"/>
              </a:ext>
            </a:extLst>
          </p:cNvPr>
          <p:cNvSpPr>
            <a:spLocks noChangeArrowheads="1"/>
          </p:cNvSpPr>
          <p:nvPr userDrawn="1"/>
        </p:nvSpPr>
        <p:spPr bwMode="auto">
          <a:xfrm>
            <a:off x="3251200" y="6705600"/>
            <a:ext cx="8940800" cy="152400"/>
          </a:xfrm>
          <a:prstGeom prst="rect">
            <a:avLst/>
          </a:prstGeom>
          <a:solidFill>
            <a:srgbClr val="F1B4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sz="1800"/>
          </a:p>
        </p:txBody>
      </p:sp>
    </p:spTree>
    <p:extLst>
      <p:ext uri="{BB962C8B-B14F-4D97-AF65-F5344CB8AC3E}">
        <p14:creationId xmlns:p14="http://schemas.microsoft.com/office/powerpoint/2010/main" val="694566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7.xml"/><Relationship Id="rId4"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4.bin"/><Relationship Id="rId1" Type="http://schemas.openxmlformats.org/officeDocument/2006/relationships/slideLayout" Target="../slideLayouts/slideLayout7.xml"/><Relationship Id="rId4" Type="http://schemas.openxmlformats.org/officeDocument/2006/relationships/oleObject" Target="../embeddings/oleObject5.bin"/></Relationships>
</file>

<file path=ppt/slides/_rels/slide3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6.bin"/><Relationship Id="rId1" Type="http://schemas.openxmlformats.org/officeDocument/2006/relationships/slideLayout" Target="../slideLayouts/slideLayout7.xml"/><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9.bin"/><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upload.wikimedia.org/wikipedia/commons/3/30/Venn0111.svg"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upload.wikimedia.org/wikipedia/commons/9/99/Venn0001.svg"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upload.wikimedia.org/wikipedia/commons/4/46/Venn0110.svg"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upload.wikimedia.org/wikipedia/commons/5/5a/Venn0010.svg" TargetMode="Externa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17.wmf"/><Relationship Id="rId7" Type="http://schemas.openxmlformats.org/officeDocument/2006/relationships/oleObject" Target="../embeddings/oleObject14.bin"/><Relationship Id="rId2"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 Id="rId9" Type="http://schemas.openxmlformats.org/officeDocument/2006/relationships/image" Target="../media/image18.wmf"/></Relationships>
</file>

<file path=ppt/slides/_rels/slide59.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9.wmf"/><Relationship Id="rId7" Type="http://schemas.openxmlformats.org/officeDocument/2006/relationships/oleObject" Target="../embeddings/oleObject20.bin"/><Relationship Id="rId2" Type="http://schemas.openxmlformats.org/officeDocument/2006/relationships/oleObject" Target="../embeddings/oleObject16.bin"/><Relationship Id="rId1" Type="http://schemas.openxmlformats.org/officeDocument/2006/relationships/slideLayout" Target="../slideLayouts/slideLayout7.xml"/><Relationship Id="rId6" Type="http://schemas.openxmlformats.org/officeDocument/2006/relationships/oleObject" Target="../embeddings/oleObject19.bin"/><Relationship Id="rId5" Type="http://schemas.openxmlformats.org/officeDocument/2006/relationships/oleObject" Target="../embeddings/oleObject18.bin"/><Relationship Id="rId4" Type="http://schemas.openxmlformats.org/officeDocument/2006/relationships/oleObject" Target="../embeddings/oleObject17.bin"/></Relationships>
</file>

<file path=ppt/slides/_rels/slide60.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28.bin"/><Relationship Id="rId3" Type="http://schemas.openxmlformats.org/officeDocument/2006/relationships/image" Target="../media/image21.wmf"/><Relationship Id="rId7" Type="http://schemas.openxmlformats.org/officeDocument/2006/relationships/oleObject" Target="../embeddings/oleObject25.bin"/><Relationship Id="rId12" Type="http://schemas.openxmlformats.org/officeDocument/2006/relationships/image" Target="../media/image24.wmf"/><Relationship Id="rId2" Type="http://schemas.openxmlformats.org/officeDocument/2006/relationships/oleObject" Target="../embeddings/oleObject21.bin"/><Relationship Id="rId1" Type="http://schemas.openxmlformats.org/officeDocument/2006/relationships/slideLayout" Target="../slideLayouts/slideLayout7.xml"/><Relationship Id="rId6" Type="http://schemas.openxmlformats.org/officeDocument/2006/relationships/oleObject" Target="../embeddings/oleObject24.bin"/><Relationship Id="rId11" Type="http://schemas.openxmlformats.org/officeDocument/2006/relationships/oleObject" Target="../embeddings/oleObject27.bin"/><Relationship Id="rId5" Type="http://schemas.openxmlformats.org/officeDocument/2006/relationships/oleObject" Target="../embeddings/oleObject23.bin"/><Relationship Id="rId10" Type="http://schemas.openxmlformats.org/officeDocument/2006/relationships/image" Target="../media/image23.wmf"/><Relationship Id="rId4" Type="http://schemas.openxmlformats.org/officeDocument/2006/relationships/oleObject" Target="../embeddings/oleObject22.bin"/><Relationship Id="rId9" Type="http://schemas.openxmlformats.org/officeDocument/2006/relationships/oleObject" Target="../embeddings/oleObject26.bin"/></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oleObject" Target="../embeddings/oleObject37.bin"/><Relationship Id="rId3" Type="http://schemas.openxmlformats.org/officeDocument/2006/relationships/image" Target="../media/image22.wmf"/><Relationship Id="rId7" Type="http://schemas.openxmlformats.org/officeDocument/2006/relationships/oleObject" Target="../embeddings/oleObject32.bin"/><Relationship Id="rId12" Type="http://schemas.openxmlformats.org/officeDocument/2006/relationships/oleObject" Target="../embeddings/oleObject36.bin"/><Relationship Id="rId2" Type="http://schemas.openxmlformats.org/officeDocument/2006/relationships/oleObject" Target="../embeddings/oleObject29.bin"/><Relationship Id="rId1" Type="http://schemas.openxmlformats.org/officeDocument/2006/relationships/slideLayout" Target="../slideLayouts/slideLayout7.xml"/><Relationship Id="rId6" Type="http://schemas.openxmlformats.org/officeDocument/2006/relationships/oleObject" Target="../embeddings/oleObject31.bin"/><Relationship Id="rId11" Type="http://schemas.openxmlformats.org/officeDocument/2006/relationships/image" Target="../media/image24.wmf"/><Relationship Id="rId5" Type="http://schemas.openxmlformats.org/officeDocument/2006/relationships/image" Target="../media/image25.wmf"/><Relationship Id="rId10" Type="http://schemas.openxmlformats.org/officeDocument/2006/relationships/oleObject" Target="../embeddings/oleObject35.bin"/><Relationship Id="rId4" Type="http://schemas.openxmlformats.org/officeDocument/2006/relationships/oleObject" Target="../embeddings/oleObject30.bin"/><Relationship Id="rId9" Type="http://schemas.openxmlformats.org/officeDocument/2006/relationships/oleObject" Target="../embeddings/oleObject34.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28.wmf"/><Relationship Id="rId3" Type="http://schemas.openxmlformats.org/officeDocument/2006/relationships/image" Target="../media/image26.wmf"/><Relationship Id="rId7" Type="http://schemas.openxmlformats.org/officeDocument/2006/relationships/oleObject" Target="../embeddings/oleObject42.bin"/><Relationship Id="rId12" Type="http://schemas.openxmlformats.org/officeDocument/2006/relationships/oleObject" Target="../embeddings/oleObject46.bin"/><Relationship Id="rId2" Type="http://schemas.openxmlformats.org/officeDocument/2006/relationships/oleObject" Target="../embeddings/oleObject38.bin"/><Relationship Id="rId1" Type="http://schemas.openxmlformats.org/officeDocument/2006/relationships/slideLayout" Target="../slideLayouts/slideLayout7.xml"/><Relationship Id="rId6" Type="http://schemas.openxmlformats.org/officeDocument/2006/relationships/oleObject" Target="../embeddings/oleObject41.bin"/><Relationship Id="rId11" Type="http://schemas.openxmlformats.org/officeDocument/2006/relationships/oleObject" Target="../embeddings/oleObject45.bin"/><Relationship Id="rId5" Type="http://schemas.openxmlformats.org/officeDocument/2006/relationships/oleObject" Target="../embeddings/oleObject40.bin"/><Relationship Id="rId10" Type="http://schemas.openxmlformats.org/officeDocument/2006/relationships/image" Target="../media/image27.wmf"/><Relationship Id="rId4" Type="http://schemas.openxmlformats.org/officeDocument/2006/relationships/oleObject" Target="../embeddings/oleObject39.bin"/><Relationship Id="rId9" Type="http://schemas.openxmlformats.org/officeDocument/2006/relationships/oleObject" Target="../embeddings/oleObject44.bin"/><Relationship Id="rId14" Type="http://schemas.openxmlformats.org/officeDocument/2006/relationships/oleObject" Target="../embeddings/oleObject47.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image" Target="../media/image29.wmf"/><Relationship Id="rId7" Type="http://schemas.openxmlformats.org/officeDocument/2006/relationships/oleObject" Target="../embeddings/oleObject52.bin"/><Relationship Id="rId2" Type="http://schemas.openxmlformats.org/officeDocument/2006/relationships/oleObject" Target="../embeddings/oleObject48.bin"/><Relationship Id="rId1" Type="http://schemas.openxmlformats.org/officeDocument/2006/relationships/slideLayout" Target="../slideLayouts/slideLayout7.xml"/><Relationship Id="rId6" Type="http://schemas.openxmlformats.org/officeDocument/2006/relationships/oleObject" Target="../embeddings/oleObject51.bin"/><Relationship Id="rId5" Type="http://schemas.openxmlformats.org/officeDocument/2006/relationships/oleObject" Target="../embeddings/oleObject50.bin"/><Relationship Id="rId4" Type="http://schemas.openxmlformats.org/officeDocument/2006/relationships/oleObject" Target="../embeddings/oleObject49.bin"/><Relationship Id="rId9" Type="http://schemas.openxmlformats.org/officeDocument/2006/relationships/image" Target="../media/image30.wmf"/></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image" Target="../media/image30.wmf"/><Relationship Id="rId7" Type="http://schemas.openxmlformats.org/officeDocument/2006/relationships/oleObject" Target="../embeddings/oleObject57.bin"/><Relationship Id="rId2" Type="http://schemas.openxmlformats.org/officeDocument/2006/relationships/oleObject" Target="../embeddings/oleObject54.bin"/><Relationship Id="rId1" Type="http://schemas.openxmlformats.org/officeDocument/2006/relationships/slideLayout" Target="../slideLayouts/slideLayout7.xml"/><Relationship Id="rId6" Type="http://schemas.openxmlformats.org/officeDocument/2006/relationships/oleObject" Target="../embeddings/oleObject56.bin"/><Relationship Id="rId5" Type="http://schemas.openxmlformats.org/officeDocument/2006/relationships/image" Target="../media/image31.wmf"/><Relationship Id="rId10" Type="http://schemas.openxmlformats.org/officeDocument/2006/relationships/oleObject" Target="../embeddings/oleObject60.bin"/><Relationship Id="rId4" Type="http://schemas.openxmlformats.org/officeDocument/2006/relationships/oleObject" Target="../embeddings/oleObject55.bin"/><Relationship Id="rId9" Type="http://schemas.openxmlformats.org/officeDocument/2006/relationships/oleObject" Target="../embeddings/oleObject59.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32.wmf"/><Relationship Id="rId7" Type="http://schemas.openxmlformats.org/officeDocument/2006/relationships/oleObject" Target="../embeddings/oleObject65.bin"/><Relationship Id="rId2" Type="http://schemas.openxmlformats.org/officeDocument/2006/relationships/oleObject" Target="../embeddings/oleObject61.bin"/><Relationship Id="rId1" Type="http://schemas.openxmlformats.org/officeDocument/2006/relationships/slideLayout" Target="../slideLayouts/slideLayout7.xml"/><Relationship Id="rId6" Type="http://schemas.openxmlformats.org/officeDocument/2006/relationships/oleObject" Target="../embeddings/oleObject64.bin"/><Relationship Id="rId5" Type="http://schemas.openxmlformats.org/officeDocument/2006/relationships/oleObject" Target="../embeddings/oleObject63.bin"/><Relationship Id="rId4" Type="http://schemas.openxmlformats.org/officeDocument/2006/relationships/oleObject" Target="../embeddings/oleObject62.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a:extLst>
              <a:ext uri="{FF2B5EF4-FFF2-40B4-BE49-F238E27FC236}">
                <a16:creationId xmlns:a16="http://schemas.microsoft.com/office/drawing/2014/main" id="{8469C9C1-BD22-4CF2-9C58-53B367FE92B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48AB5C7E-C987-4B17-8B6C-FB2215A95668}" type="slidenum">
              <a:rPr lang="en-US" altLang="en-US">
                <a:solidFill>
                  <a:srgbClr val="000000"/>
                </a:solidFill>
              </a:rPr>
              <a:pPr fontAlgn="base">
                <a:spcBef>
                  <a:spcPct val="0"/>
                </a:spcBef>
                <a:spcAft>
                  <a:spcPct val="0"/>
                </a:spcAft>
              </a:pPr>
              <a:t>1</a:t>
            </a:fld>
            <a:endParaRPr lang="en-US" altLang="en-US">
              <a:solidFill>
                <a:srgbClr val="000000"/>
              </a:solidFill>
            </a:endParaRPr>
          </a:p>
        </p:txBody>
      </p:sp>
      <p:sp>
        <p:nvSpPr>
          <p:cNvPr id="4099" name="Rectangle 4">
            <a:extLst>
              <a:ext uri="{FF2B5EF4-FFF2-40B4-BE49-F238E27FC236}">
                <a16:creationId xmlns:a16="http://schemas.microsoft.com/office/drawing/2014/main" id="{A377AE03-F191-4623-A034-86DA79FC7120}"/>
              </a:ext>
            </a:extLst>
          </p:cNvPr>
          <p:cNvSpPr>
            <a:spLocks noGrp="1" noChangeArrowheads="1"/>
          </p:cNvSpPr>
          <p:nvPr>
            <p:ph type="ctrTitle"/>
          </p:nvPr>
        </p:nvSpPr>
        <p:spPr bwMode="auto">
          <a:xfrm>
            <a:off x="2209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pPr>
            <a:r>
              <a:rPr lang="en-US" altLang="en-US" sz="4500" dirty="0">
                <a:solidFill>
                  <a:schemeClr val="tx1"/>
                </a:solidFill>
                <a:latin typeface="Times New Roman" panose="02020603050405020304" pitchFamily="18" charset="0"/>
              </a:rPr>
              <a:t>Amity Institute of Information Technology</a:t>
            </a:r>
            <a:br>
              <a:rPr lang="en-US" altLang="en-US" sz="4500" b="1" dirty="0">
                <a:solidFill>
                  <a:schemeClr val="tx1"/>
                </a:solidFill>
                <a:latin typeface="Times New Roman" panose="02020603050405020304" pitchFamily="18" charset="0"/>
              </a:rPr>
            </a:br>
            <a:r>
              <a:rPr lang="en-US" altLang="en-US" sz="2500" b="1" dirty="0">
                <a:solidFill>
                  <a:schemeClr val="tx1"/>
                </a:solidFill>
                <a:latin typeface="Times New Roman" panose="02020603050405020304" pitchFamily="18" charset="0"/>
              </a:rPr>
              <a:t>BCA </a:t>
            </a:r>
            <a:r>
              <a:rPr lang="en-US" altLang="en-US" sz="2500" dirty="0">
                <a:solidFill>
                  <a:schemeClr val="tx1"/>
                </a:solidFill>
                <a:latin typeface="Times New Roman" panose="02020603050405020304" pitchFamily="18" charset="0"/>
              </a:rPr>
              <a:t>, </a:t>
            </a:r>
            <a:r>
              <a:rPr lang="en-US" altLang="en-US" sz="2500" dirty="0" err="1">
                <a:solidFill>
                  <a:schemeClr val="tx1"/>
                </a:solidFill>
                <a:latin typeface="Times New Roman" panose="02020603050405020304" pitchFamily="18" charset="0"/>
              </a:rPr>
              <a:t>Ist</a:t>
            </a:r>
            <a:r>
              <a:rPr lang="en-US" altLang="en-US" sz="2500" dirty="0">
                <a:solidFill>
                  <a:schemeClr val="tx1"/>
                </a:solidFill>
                <a:latin typeface="Times New Roman" panose="02020603050405020304" pitchFamily="18" charset="0"/>
              </a:rPr>
              <a:t> Semester </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Basic Mathematics- Set Theory</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Dr Sarika Jain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3">
            <a:extLst>
              <a:ext uri="{FF2B5EF4-FFF2-40B4-BE49-F238E27FC236}">
                <a16:creationId xmlns:a16="http://schemas.microsoft.com/office/drawing/2014/main" id="{2D5AD5BD-5F1D-430F-9837-FBA13C9F2F2A}"/>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8195" name="TextBox 5">
            <a:extLst>
              <a:ext uri="{FF2B5EF4-FFF2-40B4-BE49-F238E27FC236}">
                <a16:creationId xmlns:a16="http://schemas.microsoft.com/office/drawing/2014/main" id="{8DA08E7D-9AFB-47A2-A0EA-1F51A75CFB81}"/>
              </a:ext>
            </a:extLst>
          </p:cNvPr>
          <p:cNvSpPr txBox="1">
            <a:spLocks noChangeArrowheads="1"/>
          </p:cNvSpPr>
          <p:nvPr/>
        </p:nvSpPr>
        <p:spPr bwMode="auto">
          <a:xfrm>
            <a:off x="1524000" y="3457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Introduction</a:t>
            </a:r>
          </a:p>
        </p:txBody>
      </p:sp>
      <p:sp>
        <p:nvSpPr>
          <p:cNvPr id="8196" name="TextBox 6">
            <a:extLst>
              <a:ext uri="{FF2B5EF4-FFF2-40B4-BE49-F238E27FC236}">
                <a16:creationId xmlns:a16="http://schemas.microsoft.com/office/drawing/2014/main" id="{B997A270-025A-4B82-BC93-48385BCD7F2F}"/>
              </a:ext>
            </a:extLst>
          </p:cNvPr>
          <p:cNvSpPr txBox="1">
            <a:spLocks noChangeArrowheads="1"/>
          </p:cNvSpPr>
          <p:nvPr/>
        </p:nvSpPr>
        <p:spPr bwMode="auto">
          <a:xfrm>
            <a:off x="2286000" y="2255840"/>
            <a:ext cx="7848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dirty="0">
                <a:latin typeface="Calibri" panose="020F0502020204030204" pitchFamily="34" charset="0"/>
              </a:rPr>
              <a:t>The theory of sets was originated in the 1895 by the German mathematician</a:t>
            </a:r>
          </a:p>
          <a:p>
            <a:pPr algn="ctr" eaLnBrk="1" hangingPunct="1"/>
            <a:r>
              <a:rPr lang="en-US" altLang="en-US" b="1" dirty="0">
                <a:latin typeface="Calibri" panose="020F0502020204030204" pitchFamily="34" charset="0"/>
              </a:rPr>
              <a:t>G. Cantor who defined a set as a collection or aggregate of definite and </a:t>
            </a:r>
          </a:p>
          <a:p>
            <a:pPr algn="ctr" eaLnBrk="1" hangingPunct="1"/>
            <a:r>
              <a:rPr lang="en-US" altLang="en-US" b="1" dirty="0">
                <a:latin typeface="Calibri" panose="020F0502020204030204" pitchFamily="34" charset="0"/>
              </a:rPr>
              <a:t>distinguishable objects selected by means of some rule or description.</a:t>
            </a:r>
          </a:p>
          <a:p>
            <a:pPr algn="ctr" eaLnBrk="1" hangingPunct="1"/>
            <a:r>
              <a:rPr lang="en-US" altLang="en-US" b="1" dirty="0">
                <a:latin typeface="Calibri" panose="020F0502020204030204" pitchFamily="34" charset="0"/>
              </a:rPr>
              <a:t>It is one of the principal foundation of mathematics, and nearly every </a:t>
            </a:r>
          </a:p>
          <a:p>
            <a:pPr algn="ctr" eaLnBrk="1" hangingPunct="1"/>
            <a:r>
              <a:rPr lang="en-US" altLang="en-US" b="1" dirty="0">
                <a:latin typeface="Calibri" panose="020F0502020204030204" pitchFamily="34" charset="0"/>
              </a:rPr>
              <a:t>mathematical object of interest is a set of some kind.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3">
            <a:extLst>
              <a:ext uri="{FF2B5EF4-FFF2-40B4-BE49-F238E27FC236}">
                <a16:creationId xmlns:a16="http://schemas.microsoft.com/office/drawing/2014/main" id="{E41EB34F-031D-4353-8A0C-F9BE1301C6DE}"/>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9219" name="TextBox 5">
            <a:extLst>
              <a:ext uri="{FF2B5EF4-FFF2-40B4-BE49-F238E27FC236}">
                <a16:creationId xmlns:a16="http://schemas.microsoft.com/office/drawing/2014/main" id="{790D2509-4878-472A-B66B-F22B9359C983}"/>
              </a:ext>
            </a:extLst>
          </p:cNvPr>
          <p:cNvSpPr txBox="1">
            <a:spLocks noChangeArrowheads="1"/>
          </p:cNvSpPr>
          <p:nvPr/>
        </p:nvSpPr>
        <p:spPr bwMode="auto">
          <a:xfrm>
            <a:off x="1422400" y="3076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Basic  Concepts, Terminology and Notation</a:t>
            </a:r>
          </a:p>
        </p:txBody>
      </p:sp>
      <p:sp>
        <p:nvSpPr>
          <p:cNvPr id="9220" name="TextBox 7">
            <a:extLst>
              <a:ext uri="{FF2B5EF4-FFF2-40B4-BE49-F238E27FC236}">
                <a16:creationId xmlns:a16="http://schemas.microsoft.com/office/drawing/2014/main" id="{99D51B58-1743-4978-8319-CABF63AB11E8}"/>
              </a:ext>
            </a:extLst>
          </p:cNvPr>
          <p:cNvSpPr txBox="1">
            <a:spLocks noChangeArrowheads="1"/>
          </p:cNvSpPr>
          <p:nvPr/>
        </p:nvSpPr>
        <p:spPr bwMode="auto">
          <a:xfrm>
            <a:off x="2590800" y="2505077"/>
            <a:ext cx="73152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A set is any well-defined collection of objects, called the elements or members of the set. These elements may be anything: numbers, points in geometry, letters of alphabets, etc. The following are examples of sets:</a:t>
            </a:r>
          </a:p>
          <a:p>
            <a:pPr algn="just" eaLnBrk="1" hangingPunct="1"/>
            <a:endParaRPr lang="en-US" altLang="en-US">
              <a:latin typeface="Calibri" panose="020F0502020204030204" pitchFamily="34" charset="0"/>
            </a:endParaRPr>
          </a:p>
          <a:p>
            <a:pPr algn="just" eaLnBrk="1" hangingPunct="1">
              <a:buFontTx/>
              <a:buAutoNum type="arabicParenR"/>
            </a:pPr>
            <a:r>
              <a:rPr lang="en-US" altLang="en-US">
                <a:latin typeface="Calibri" panose="020F0502020204030204" pitchFamily="34" charset="0"/>
              </a:rPr>
              <a:t>A battalion of soldiers</a:t>
            </a:r>
          </a:p>
          <a:p>
            <a:pPr algn="just" eaLnBrk="1" hangingPunct="1">
              <a:buFontTx/>
              <a:buAutoNum type="arabicParenR"/>
            </a:pPr>
            <a:r>
              <a:rPr lang="en-US" altLang="en-US">
                <a:latin typeface="Calibri" panose="020F0502020204030204" pitchFamily="34" charset="0"/>
              </a:rPr>
              <a:t>The rivers in a country</a:t>
            </a:r>
          </a:p>
          <a:p>
            <a:pPr algn="just" eaLnBrk="1" hangingPunct="1">
              <a:buFontTx/>
              <a:buAutoNum type="arabicParenR"/>
            </a:pPr>
            <a:r>
              <a:rPr lang="en-US" altLang="en-US">
                <a:latin typeface="Calibri" panose="020F0502020204030204" pitchFamily="34" charset="0"/>
              </a:rPr>
              <a:t>The vowels of alphabets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3">
            <a:extLst>
              <a:ext uri="{FF2B5EF4-FFF2-40B4-BE49-F238E27FC236}">
                <a16:creationId xmlns:a16="http://schemas.microsoft.com/office/drawing/2014/main" id="{6D88C3E3-C1E6-4E3D-9BD8-D09732AC105D}"/>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10243" name="TextBox 7">
            <a:extLst>
              <a:ext uri="{FF2B5EF4-FFF2-40B4-BE49-F238E27FC236}">
                <a16:creationId xmlns:a16="http://schemas.microsoft.com/office/drawing/2014/main" id="{BE0145F3-30FE-480C-8BC2-2A02A716B959}"/>
              </a:ext>
            </a:extLst>
          </p:cNvPr>
          <p:cNvSpPr txBox="1">
            <a:spLocks noChangeArrowheads="1"/>
          </p:cNvSpPr>
          <p:nvPr/>
        </p:nvSpPr>
        <p:spPr bwMode="auto">
          <a:xfrm>
            <a:off x="2590800" y="1981202"/>
            <a:ext cx="73152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2000">
                <a:latin typeface="Calibri" panose="020F0502020204030204" pitchFamily="34" charset="0"/>
              </a:rPr>
              <a:t>Capital letters A, B, C….. are ordinarily used to denote sets and lower case letters a, b, c…. to denote elements of sets. Well defined means it is possible to decide if a given element belongs to the collection or not. The statement ‘x is an element of A’ or equivalently ‘x belongs to A’ is written as x </a:t>
            </a:r>
            <a:r>
              <a:rPr lang="el-GR" altLang="en-US" sz="2000">
                <a:latin typeface="Calibri" panose="020F0502020204030204" pitchFamily="34" charset="0"/>
                <a:cs typeface="Calibri" panose="020F0502020204030204" pitchFamily="34" charset="0"/>
              </a:rPr>
              <a:t>ϵ</a:t>
            </a:r>
            <a:r>
              <a:rPr lang="en-US" altLang="en-US" sz="2000">
                <a:latin typeface="Calibri" panose="020F0502020204030204" pitchFamily="34" charset="0"/>
              </a:rPr>
              <a:t> A. The statement ‘x is not an element of A’ is written as</a:t>
            </a:r>
          </a:p>
          <a:p>
            <a:pPr algn="just" eaLnBrk="1" hangingPunct="1"/>
            <a:r>
              <a:rPr lang="en-US" altLang="en-US" sz="2000">
                <a:latin typeface="Calibri" panose="020F0502020204030204" pitchFamily="34" charset="0"/>
              </a:rPr>
              <a:t>       x </a:t>
            </a:r>
            <a:r>
              <a:rPr lang="en-US" altLang="en-US" sz="2000"/>
              <a:t>      A.</a:t>
            </a:r>
            <a:endParaRPr lang="en-US" altLang="en-US" sz="2000">
              <a:latin typeface="Calibri" panose="020F0502020204030204" pitchFamily="34" charset="0"/>
            </a:endParaRPr>
          </a:p>
        </p:txBody>
      </p:sp>
      <p:graphicFrame>
        <p:nvGraphicFramePr>
          <p:cNvPr id="10245" name="Object 5">
            <a:extLst>
              <a:ext uri="{FF2B5EF4-FFF2-40B4-BE49-F238E27FC236}">
                <a16:creationId xmlns:a16="http://schemas.microsoft.com/office/drawing/2014/main" id="{60B46942-36EE-49B6-853A-22C1627CC9A8}"/>
              </a:ext>
            </a:extLst>
          </p:cNvPr>
          <p:cNvGraphicFramePr>
            <a:graphicFrameLocks noChangeAspect="1"/>
          </p:cNvGraphicFramePr>
          <p:nvPr/>
        </p:nvGraphicFramePr>
        <p:xfrm>
          <a:off x="3327400" y="3886200"/>
          <a:ext cx="254000" cy="304800"/>
        </p:xfrm>
        <a:graphic>
          <a:graphicData uri="http://schemas.openxmlformats.org/presentationml/2006/ole">
            <mc:AlternateContent xmlns:mc="http://schemas.openxmlformats.org/markup-compatibility/2006">
              <mc:Choice xmlns:v="urn:schemas-microsoft-com:vml" Requires="v">
                <p:oleObj name="Equation" r:id="rId2" imgW="126720" imgH="152280" progId="Equation.3">
                  <p:embed/>
                </p:oleObj>
              </mc:Choice>
              <mc:Fallback>
                <p:oleObj name="Equation" r:id="rId2" imgW="126720" imgH="152280" progId="Equation.3">
                  <p:embed/>
                  <p:pic>
                    <p:nvPicPr>
                      <p:cNvPr id="10245" name="Object 5">
                        <a:extLst>
                          <a:ext uri="{FF2B5EF4-FFF2-40B4-BE49-F238E27FC236}">
                            <a16:creationId xmlns:a16="http://schemas.microsoft.com/office/drawing/2014/main" id="{60B46942-36EE-49B6-853A-22C1627CC9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7400" y="3886200"/>
                        <a:ext cx="254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3">
            <a:extLst>
              <a:ext uri="{FF2B5EF4-FFF2-40B4-BE49-F238E27FC236}">
                <a16:creationId xmlns:a16="http://schemas.microsoft.com/office/drawing/2014/main" id="{83B8D9FC-86D7-4BD8-82B6-CB4131AE38F3}"/>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11267" name="TextBox 5">
            <a:extLst>
              <a:ext uri="{FF2B5EF4-FFF2-40B4-BE49-F238E27FC236}">
                <a16:creationId xmlns:a16="http://schemas.microsoft.com/office/drawing/2014/main" id="{4CE4EBFD-79A2-40FE-B023-CD5DCCB4A418}"/>
              </a:ext>
            </a:extLst>
          </p:cNvPr>
          <p:cNvSpPr txBox="1">
            <a:spLocks noChangeArrowheads="1"/>
          </p:cNvSpPr>
          <p:nvPr/>
        </p:nvSpPr>
        <p:spPr bwMode="auto">
          <a:xfrm>
            <a:off x="1524000" y="31718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Representation of a set</a:t>
            </a:r>
          </a:p>
        </p:txBody>
      </p:sp>
      <p:sp>
        <p:nvSpPr>
          <p:cNvPr id="5" name="TextBox 4">
            <a:extLst>
              <a:ext uri="{FF2B5EF4-FFF2-40B4-BE49-F238E27FC236}">
                <a16:creationId xmlns:a16="http://schemas.microsoft.com/office/drawing/2014/main" id="{268C9D52-37F1-4A5C-AB71-0C9860375D60}"/>
              </a:ext>
            </a:extLst>
          </p:cNvPr>
          <p:cNvSpPr txBox="1"/>
          <p:nvPr/>
        </p:nvSpPr>
        <p:spPr>
          <a:xfrm>
            <a:off x="3800475" y="2408240"/>
            <a:ext cx="4429418" cy="2031325"/>
          </a:xfrm>
          <a:prstGeom prst="rect">
            <a:avLst/>
          </a:prstGeom>
          <a:noFill/>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There are two ways of representing a set.</a:t>
            </a:r>
          </a:p>
          <a:p>
            <a:pPr eaLnBrk="1" hangingPunct="1"/>
            <a:endParaRPr lang="en-US" altLang="en-US"/>
          </a:p>
          <a:p>
            <a:pPr lvl="1" eaLnBrk="1" hangingPunct="1">
              <a:buFontTx/>
              <a:buAutoNum type="arabicParenR"/>
            </a:pPr>
            <a:r>
              <a:rPr lang="en-US" altLang="en-US"/>
              <a:t>   Roster or Tabular Form</a:t>
            </a:r>
          </a:p>
          <a:p>
            <a:pPr eaLnBrk="1" hangingPunct="1"/>
            <a:r>
              <a:rPr lang="en-US" altLang="en-US"/>
              <a:t>        </a:t>
            </a:r>
          </a:p>
          <a:p>
            <a:pPr eaLnBrk="1" hangingPunct="1"/>
            <a:r>
              <a:rPr lang="en-US" altLang="en-US"/>
              <a:t>       2)	Rule method or Set builder form</a:t>
            </a:r>
          </a:p>
          <a:p>
            <a:pPr eaLnBrk="1" hangingPunct="1">
              <a:buFontTx/>
              <a:buChar char="•"/>
            </a:pPr>
            <a:endParaRPr lang="en-US" altLang="en-US"/>
          </a:p>
          <a:p>
            <a:pPr eaLnBrk="1" hangingPunct="1"/>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5">
            <a:extLst>
              <a:ext uri="{FF2B5EF4-FFF2-40B4-BE49-F238E27FC236}">
                <a16:creationId xmlns:a16="http://schemas.microsoft.com/office/drawing/2014/main" id="{2BAD5DE2-98F9-4993-8973-9DDB31E034CB}"/>
              </a:ext>
            </a:extLst>
          </p:cNvPr>
          <p:cNvSpPr txBox="1">
            <a:spLocks noChangeArrowheads="1"/>
          </p:cNvSpPr>
          <p:nvPr/>
        </p:nvSpPr>
        <p:spPr bwMode="auto">
          <a:xfrm>
            <a:off x="1524000" y="3810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Roster or Tabular form</a:t>
            </a:r>
          </a:p>
        </p:txBody>
      </p:sp>
      <p:sp>
        <p:nvSpPr>
          <p:cNvPr id="12291" name="TextBox 2">
            <a:extLst>
              <a:ext uri="{FF2B5EF4-FFF2-40B4-BE49-F238E27FC236}">
                <a16:creationId xmlns:a16="http://schemas.microsoft.com/office/drawing/2014/main" id="{A629C120-EF70-474C-8AEA-D45B3B91CBD4}"/>
              </a:ext>
            </a:extLst>
          </p:cNvPr>
          <p:cNvSpPr txBox="1">
            <a:spLocks noChangeArrowheads="1"/>
          </p:cNvSpPr>
          <p:nvPr/>
        </p:nvSpPr>
        <p:spPr bwMode="auto">
          <a:xfrm>
            <a:off x="2590800" y="1752600"/>
            <a:ext cx="7840608"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In this form all the elements of the set are listed, the elements being </a:t>
            </a:r>
          </a:p>
          <a:p>
            <a:pPr eaLnBrk="1" hangingPunct="1"/>
            <a:r>
              <a:rPr lang="en-US" altLang="en-US"/>
              <a:t>Separated by commas and are enclosed within braces.</a:t>
            </a:r>
          </a:p>
          <a:p>
            <a:pPr eaLnBrk="1" hangingPunct="1"/>
            <a:endParaRPr lang="en-US" altLang="en-US"/>
          </a:p>
          <a:p>
            <a:pPr eaLnBrk="1" hangingPunct="1"/>
            <a:r>
              <a:rPr lang="en-US" altLang="en-US"/>
              <a:t>Examples</a:t>
            </a:r>
          </a:p>
          <a:p>
            <a:pPr eaLnBrk="1" hangingPunct="1"/>
            <a:endParaRPr lang="en-US" altLang="en-US"/>
          </a:p>
          <a:p>
            <a:pPr eaLnBrk="1" hangingPunct="1"/>
            <a:r>
              <a:rPr lang="en-US" altLang="en-US"/>
              <a:t> 1)  The set of binary digits, i.e., A = {0, 1}</a:t>
            </a:r>
          </a:p>
          <a:p>
            <a:pPr eaLnBrk="1" hangingPunct="1"/>
            <a:r>
              <a:rPr lang="en-US" altLang="en-US"/>
              <a:t> 2)   The set of vowels on English alphabets, i.e. B ={a, e, i, o, u}</a:t>
            </a:r>
          </a:p>
          <a:p>
            <a:pPr eaLnBrk="1" hangingPunct="1"/>
            <a:endParaRPr lang="en-US" altLang="en-US"/>
          </a:p>
          <a:p>
            <a:pPr eaLnBrk="1" hangingPunct="1"/>
            <a:r>
              <a:rPr lang="en-US" altLang="en-US"/>
              <a:t>The order in which the elements of a set are listed is not important.</a:t>
            </a:r>
          </a:p>
          <a:p>
            <a:pPr eaLnBrk="1" hangingPunct="1"/>
            <a:r>
              <a:rPr lang="en-US" altLang="en-US"/>
              <a:t>Thus {1. 2, 3}, {1, 3, 2} and {2, 3, 1} are all representations of the same set.</a:t>
            </a:r>
          </a:p>
          <a:p>
            <a:pPr eaLnBrk="1" hangingPunct="1"/>
            <a:endParaRPr lang="en-US" altLang="en-US"/>
          </a:p>
          <a:p>
            <a:pPr eaLnBrk="1" hangingPunct="1"/>
            <a:r>
              <a:rPr lang="en-US" altLang="en-US"/>
              <a:t>Repeated elements in the listing of the elements of a set can be ignored.</a:t>
            </a:r>
          </a:p>
          <a:p>
            <a:pPr eaLnBrk="1" hangingPunct="1"/>
            <a:r>
              <a:rPr lang="en-US" altLang="en-US"/>
              <a:t>Thus {1, 3, 2, 3, 1} is another representation of the set {1, 2, 3}.</a:t>
            </a:r>
          </a:p>
          <a:p>
            <a:pPr eaLnBrk="1" hangingPunct="1"/>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Box 3">
            <a:extLst>
              <a:ext uri="{FF2B5EF4-FFF2-40B4-BE49-F238E27FC236}">
                <a16:creationId xmlns:a16="http://schemas.microsoft.com/office/drawing/2014/main" id="{8131D8F5-F194-4E61-8642-00545CC45B20}"/>
              </a:ext>
            </a:extLst>
          </p:cNvPr>
          <p:cNvSpPr txBox="1">
            <a:spLocks noChangeArrowheads="1"/>
          </p:cNvSpPr>
          <p:nvPr/>
        </p:nvSpPr>
        <p:spPr bwMode="auto">
          <a:xfrm>
            <a:off x="2438400" y="1905000"/>
            <a:ext cx="7620000" cy="3970318"/>
          </a:xfrm>
          <a:prstGeom prst="rect">
            <a:avLst/>
          </a:prstGeom>
          <a:noFill/>
          <a:ln w="9525">
            <a:no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t>In this method a set is defined by specifying a property that elements of the set have in common. The set is then described as follows:</a:t>
            </a:r>
          </a:p>
          <a:p>
            <a:pPr algn="just" eaLnBrk="1" hangingPunct="1"/>
            <a:endParaRPr lang="en-US" altLang="en-US"/>
          </a:p>
          <a:p>
            <a:pPr algn="ctr" eaLnBrk="1" hangingPunct="1"/>
            <a:r>
              <a:rPr lang="en-US" altLang="en-US"/>
              <a:t>A = { x: p(x)}</a:t>
            </a:r>
          </a:p>
          <a:p>
            <a:pPr algn="ctr" eaLnBrk="1" hangingPunct="1"/>
            <a:endParaRPr lang="en-US" altLang="en-US"/>
          </a:p>
          <a:p>
            <a:pPr algn="ctr" eaLnBrk="1" hangingPunct="1"/>
            <a:r>
              <a:rPr lang="en-US" altLang="en-US"/>
              <a:t>A vertical bar is also used in place of colon (:).</a:t>
            </a:r>
          </a:p>
          <a:p>
            <a:pPr algn="just" eaLnBrk="1" hangingPunct="1"/>
            <a:endParaRPr lang="en-US" altLang="en-US"/>
          </a:p>
          <a:p>
            <a:pPr algn="just" eaLnBrk="1" hangingPunct="1"/>
            <a:r>
              <a:rPr lang="en-US" altLang="en-US"/>
              <a:t>Examples</a:t>
            </a:r>
          </a:p>
          <a:p>
            <a:pPr algn="just" eaLnBrk="1" hangingPunct="1"/>
            <a:endParaRPr lang="en-US" altLang="en-US"/>
          </a:p>
          <a:p>
            <a:pPr algn="just" eaLnBrk="1" hangingPunct="1">
              <a:buFontTx/>
              <a:buAutoNum type="arabicParenR"/>
            </a:pPr>
            <a:r>
              <a:rPr lang="en-US" altLang="en-US"/>
              <a:t>   A = {x: x is a vowel in the English alphabets}</a:t>
            </a:r>
          </a:p>
          <a:p>
            <a:pPr algn="just" eaLnBrk="1" hangingPunct="1">
              <a:buFontTx/>
              <a:buAutoNum type="arabicParenR"/>
            </a:pPr>
            <a:endParaRPr lang="en-US" altLang="en-US"/>
          </a:p>
          <a:p>
            <a:pPr algn="just" eaLnBrk="1" hangingPunct="1">
              <a:buFontTx/>
              <a:buAutoNum type="arabicParenR"/>
            </a:pPr>
            <a:r>
              <a:rPr lang="en-US" altLang="en-US"/>
              <a:t>   B = {x: x = n</a:t>
            </a:r>
            <a:r>
              <a:rPr lang="en-US" altLang="en-US" baseline="30000"/>
              <a:t>2</a:t>
            </a:r>
            <a:r>
              <a:rPr lang="en-US" altLang="en-US"/>
              <a:t>, where n is a natural number ≤ 6} = {1, 4, 9, 16, 25, 36}</a:t>
            </a:r>
          </a:p>
          <a:p>
            <a:pPr algn="just" eaLnBrk="1" hangingPunct="1">
              <a:buFontTx/>
              <a:buAutoNum type="arabicParenR"/>
            </a:pPr>
            <a:endParaRPr lang="en-US" altLang="en-US"/>
          </a:p>
          <a:p>
            <a:pPr algn="just" eaLnBrk="1" hangingPunct="1">
              <a:buFontTx/>
              <a:buAutoNum type="arabicParenR"/>
            </a:pPr>
            <a:r>
              <a:rPr lang="en-US" altLang="en-US"/>
              <a:t>   C = {x: x is an even integer between 1 and 8} = {2, 4, 6, 8}</a:t>
            </a:r>
          </a:p>
        </p:txBody>
      </p:sp>
      <p:sp>
        <p:nvSpPr>
          <p:cNvPr id="13315" name="TextBox 4">
            <a:extLst>
              <a:ext uri="{FF2B5EF4-FFF2-40B4-BE49-F238E27FC236}">
                <a16:creationId xmlns:a16="http://schemas.microsoft.com/office/drawing/2014/main" id="{36A862D0-27A2-457F-804C-340211D9103B}"/>
              </a:ext>
            </a:extLst>
          </p:cNvPr>
          <p:cNvSpPr txBox="1">
            <a:spLocks noChangeArrowheads="1"/>
          </p:cNvSpPr>
          <p:nvPr/>
        </p:nvSpPr>
        <p:spPr bwMode="auto">
          <a:xfrm>
            <a:off x="1524000" y="1778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Rule method or Set builder form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CCAEC3-D1A1-4835-A601-ECE0754F956A}"/>
              </a:ext>
            </a:extLst>
          </p:cNvPr>
          <p:cNvSpPr txBox="1"/>
          <p:nvPr/>
        </p:nvSpPr>
        <p:spPr>
          <a:xfrm>
            <a:off x="2362200" y="2132014"/>
            <a:ext cx="7712368" cy="2308324"/>
          </a:xfrm>
          <a:prstGeom prst="rect">
            <a:avLst/>
          </a:prstGeom>
          <a:noFill/>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Some sets are so important that they are represented by special symbols.</a:t>
            </a:r>
          </a:p>
          <a:p>
            <a:pPr eaLnBrk="1" hangingPunct="1"/>
            <a:r>
              <a:rPr lang="en-US" altLang="en-US"/>
              <a:t>In particular:</a:t>
            </a:r>
          </a:p>
          <a:p>
            <a:pPr eaLnBrk="1" hangingPunct="1"/>
            <a:endParaRPr lang="en-US" altLang="en-US"/>
          </a:p>
          <a:p>
            <a:pPr eaLnBrk="1" hangingPunct="1">
              <a:buFontTx/>
              <a:buAutoNum type="arabicParenR"/>
            </a:pPr>
            <a:r>
              <a:rPr lang="en-US" altLang="en-US"/>
              <a:t>  The set of natural numbers is represented by N.</a:t>
            </a:r>
          </a:p>
          <a:p>
            <a:pPr eaLnBrk="1" hangingPunct="1">
              <a:buFontTx/>
              <a:buAutoNum type="arabicParenR"/>
            </a:pPr>
            <a:endParaRPr lang="en-US" altLang="en-US"/>
          </a:p>
          <a:p>
            <a:pPr eaLnBrk="1" hangingPunct="1">
              <a:buFontTx/>
              <a:buAutoNum type="arabicParenR"/>
            </a:pPr>
            <a:r>
              <a:rPr lang="en-US" altLang="en-US"/>
              <a:t>  The set of integers is represented by Z.</a:t>
            </a:r>
          </a:p>
          <a:p>
            <a:pPr eaLnBrk="1" hangingPunct="1">
              <a:buFontTx/>
              <a:buAutoNum type="arabicParenR"/>
            </a:pPr>
            <a:endParaRPr lang="en-US" altLang="en-US"/>
          </a:p>
          <a:p>
            <a:pPr eaLnBrk="1" hangingPunct="1">
              <a:buFontTx/>
              <a:buAutoNum type="arabicParenR"/>
            </a:pPr>
            <a:r>
              <a:rPr lang="en-US" altLang="en-US"/>
              <a:t>  The set of real numbers is represented by 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4">
            <a:extLst>
              <a:ext uri="{FF2B5EF4-FFF2-40B4-BE49-F238E27FC236}">
                <a16:creationId xmlns:a16="http://schemas.microsoft.com/office/drawing/2014/main" id="{173A0A24-C2E0-40FF-9E85-D9FD6F228E85}"/>
              </a:ext>
            </a:extLst>
          </p:cNvPr>
          <p:cNvSpPr txBox="1">
            <a:spLocks noChangeArrowheads="1"/>
          </p:cNvSpPr>
          <p:nvPr/>
        </p:nvSpPr>
        <p:spPr bwMode="auto">
          <a:xfrm>
            <a:off x="1422400" y="334862"/>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Finite and Infinite Set</a:t>
            </a:r>
          </a:p>
        </p:txBody>
      </p:sp>
      <p:sp>
        <p:nvSpPr>
          <p:cNvPr id="3" name="TextBox 2">
            <a:extLst>
              <a:ext uri="{FF2B5EF4-FFF2-40B4-BE49-F238E27FC236}">
                <a16:creationId xmlns:a16="http://schemas.microsoft.com/office/drawing/2014/main" id="{CF2BBF1D-DBC7-465D-ADA9-FAD3D74503CF}"/>
              </a:ext>
            </a:extLst>
          </p:cNvPr>
          <p:cNvSpPr txBox="1"/>
          <p:nvPr/>
        </p:nvSpPr>
        <p:spPr>
          <a:xfrm>
            <a:off x="2362201" y="1752602"/>
            <a:ext cx="6942991" cy="4247317"/>
          </a:xfrm>
          <a:prstGeom prst="rect">
            <a:avLst/>
          </a:prstGeom>
          <a:noFill/>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 set with finite number of elements in it, is called a finite set.</a:t>
            </a:r>
          </a:p>
          <a:p>
            <a:pPr eaLnBrk="1" hangingPunct="1"/>
            <a:endParaRPr lang="en-US" altLang="en-US"/>
          </a:p>
          <a:p>
            <a:pPr eaLnBrk="1" hangingPunct="1"/>
            <a:r>
              <a:rPr lang="en-US" altLang="en-US"/>
              <a:t>For example:</a:t>
            </a:r>
          </a:p>
          <a:p>
            <a:pPr eaLnBrk="1" hangingPunct="1"/>
            <a:endParaRPr lang="en-US" altLang="en-US"/>
          </a:p>
          <a:p>
            <a:pPr eaLnBrk="1" hangingPunct="1">
              <a:buFontTx/>
              <a:buAutoNum type="arabicParenR"/>
            </a:pPr>
            <a:r>
              <a:rPr lang="en-US" altLang="en-US"/>
              <a:t>  The set of months in a year.</a:t>
            </a:r>
          </a:p>
          <a:p>
            <a:pPr eaLnBrk="1" hangingPunct="1">
              <a:buFontTx/>
              <a:buAutoNum type="arabicParenR"/>
            </a:pPr>
            <a:r>
              <a:rPr lang="en-US" altLang="en-US"/>
              <a:t>  The se of students in a class</a:t>
            </a:r>
          </a:p>
          <a:p>
            <a:pPr eaLnBrk="1" hangingPunct="1">
              <a:buFontTx/>
              <a:buAutoNum type="arabicParenR"/>
            </a:pPr>
            <a:r>
              <a:rPr lang="en-US" altLang="en-US"/>
              <a:t>  The set of vowels in English alphabets.</a:t>
            </a:r>
          </a:p>
          <a:p>
            <a:pPr eaLnBrk="1" hangingPunct="1">
              <a:buFontTx/>
              <a:buAutoNum type="arabicParenR"/>
            </a:pPr>
            <a:endParaRPr lang="en-US" altLang="en-US"/>
          </a:p>
          <a:p>
            <a:pPr eaLnBrk="1" hangingPunct="1"/>
            <a:r>
              <a:rPr lang="en-US" altLang="en-US"/>
              <a:t>A set with infinite number of elements in it, is called an  infinite set.</a:t>
            </a:r>
          </a:p>
          <a:p>
            <a:pPr eaLnBrk="1" hangingPunct="1"/>
            <a:endParaRPr lang="en-US" altLang="en-US"/>
          </a:p>
          <a:p>
            <a:pPr eaLnBrk="1" hangingPunct="1"/>
            <a:r>
              <a:rPr lang="en-US" altLang="en-US"/>
              <a:t>For example:</a:t>
            </a:r>
          </a:p>
          <a:p>
            <a:pPr eaLnBrk="1" hangingPunct="1"/>
            <a:endParaRPr lang="en-US" altLang="en-US"/>
          </a:p>
          <a:p>
            <a:pPr eaLnBrk="1" hangingPunct="1">
              <a:buFontTx/>
              <a:buAutoNum type="arabicParenR"/>
            </a:pPr>
            <a:r>
              <a:rPr lang="en-US" altLang="en-US"/>
              <a:t>  N = a set of natural numbers = {1, 2, 3, 4, …..}</a:t>
            </a:r>
          </a:p>
          <a:p>
            <a:pPr eaLnBrk="1" hangingPunct="1">
              <a:buFontTx/>
              <a:buAutoNum type="arabicParenR"/>
            </a:pPr>
            <a:r>
              <a:rPr lang="en-US" altLang="en-US"/>
              <a:t>  B = {1, 1/3, 1/9, 1/27,….}</a:t>
            </a:r>
          </a:p>
          <a:p>
            <a:pPr eaLnBrk="1" hangingPunct="1"/>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4">
            <a:extLst>
              <a:ext uri="{FF2B5EF4-FFF2-40B4-BE49-F238E27FC236}">
                <a16:creationId xmlns:a16="http://schemas.microsoft.com/office/drawing/2014/main" id="{D2D497A0-61A1-4F97-906C-86917D628558}"/>
              </a:ext>
            </a:extLst>
          </p:cNvPr>
          <p:cNvSpPr txBox="1">
            <a:spLocks noChangeArrowheads="1"/>
          </p:cNvSpPr>
          <p:nvPr/>
        </p:nvSpPr>
        <p:spPr bwMode="auto">
          <a:xfrm>
            <a:off x="1409389"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Null Set</a:t>
            </a:r>
          </a:p>
        </p:txBody>
      </p:sp>
      <p:sp>
        <p:nvSpPr>
          <p:cNvPr id="3" name="TextBox 2">
            <a:extLst>
              <a:ext uri="{FF2B5EF4-FFF2-40B4-BE49-F238E27FC236}">
                <a16:creationId xmlns:a16="http://schemas.microsoft.com/office/drawing/2014/main" id="{86404A9E-7117-4D58-BF6E-0C33DD7E8CAD}"/>
              </a:ext>
            </a:extLst>
          </p:cNvPr>
          <p:cNvSpPr txBox="1"/>
          <p:nvPr/>
        </p:nvSpPr>
        <p:spPr>
          <a:xfrm>
            <a:off x="2209801" y="1905000"/>
            <a:ext cx="7481600" cy="2862322"/>
          </a:xfrm>
          <a:prstGeom prst="rect">
            <a:avLst/>
          </a:prstGeom>
          <a:noFill/>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 set which contains no element at all is called the Null set or empty set</a:t>
            </a:r>
          </a:p>
          <a:p>
            <a:pPr eaLnBrk="1" hangingPunct="1"/>
            <a:r>
              <a:rPr lang="en-US" altLang="en-US"/>
              <a:t>or void set. It is denoted by the symbol </a:t>
            </a:r>
            <a:r>
              <a:rPr lang="el-GR" altLang="en-US">
                <a:cs typeface="Arial" panose="020B0604020202020204" pitchFamily="34" charset="0"/>
              </a:rPr>
              <a:t>Φ</a:t>
            </a:r>
            <a:r>
              <a:rPr lang="en-US" altLang="en-US"/>
              <a:t>.</a:t>
            </a:r>
          </a:p>
          <a:p>
            <a:pPr eaLnBrk="1" hangingPunct="1"/>
            <a:endParaRPr lang="en-US" altLang="en-US"/>
          </a:p>
          <a:p>
            <a:pPr eaLnBrk="1" hangingPunct="1"/>
            <a:r>
              <a:rPr lang="en-US" altLang="en-US"/>
              <a:t>The following sets are null sets:</a:t>
            </a:r>
          </a:p>
          <a:p>
            <a:pPr eaLnBrk="1" hangingPunct="1"/>
            <a:endParaRPr lang="en-US" altLang="en-US"/>
          </a:p>
          <a:p>
            <a:pPr eaLnBrk="1" hangingPunct="1">
              <a:buFontTx/>
              <a:buAutoNum type="arabicParenR"/>
            </a:pPr>
            <a:r>
              <a:rPr lang="en-US" altLang="en-US"/>
              <a:t>   A = {x: x</a:t>
            </a:r>
            <a:r>
              <a:rPr lang="en-US" altLang="en-US" baseline="30000"/>
              <a:t>2</a:t>
            </a:r>
            <a:r>
              <a:rPr lang="en-US" altLang="en-US"/>
              <a:t> + 4 = 0, x real}</a:t>
            </a:r>
          </a:p>
          <a:p>
            <a:pPr eaLnBrk="1" hangingPunct="1">
              <a:buFontTx/>
              <a:buAutoNum type="arabicParenR"/>
            </a:pPr>
            <a:endParaRPr lang="en-US" altLang="en-US"/>
          </a:p>
          <a:p>
            <a:pPr eaLnBrk="1" hangingPunct="1">
              <a:buFontTx/>
              <a:buAutoNum type="arabicParenR"/>
            </a:pPr>
            <a:r>
              <a:rPr lang="en-US" altLang="en-US"/>
              <a:t>   B = {x: x is a multiple of 4, x odd}</a:t>
            </a:r>
          </a:p>
          <a:p>
            <a:pPr eaLnBrk="1" hangingPunct="1">
              <a:buFontTx/>
              <a:buAutoNum type="arabicParenR"/>
            </a:pPr>
            <a:endParaRPr lang="en-US" altLang="en-US"/>
          </a:p>
          <a:p>
            <a:pPr eaLnBrk="1" hangingPunct="1">
              <a:buFontTx/>
              <a:buAutoNum type="arabicParenR"/>
            </a:pPr>
            <a:r>
              <a:rPr lang="en-US" altLang="en-US"/>
              <a:t>   C = {x: x is the number of points in a single throw of a die, x &gt; 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4">
            <a:extLst>
              <a:ext uri="{FF2B5EF4-FFF2-40B4-BE49-F238E27FC236}">
                <a16:creationId xmlns:a16="http://schemas.microsoft.com/office/drawing/2014/main" id="{F44FB7C3-73CF-4C28-8A26-EAEAFC035CEF}"/>
              </a:ext>
            </a:extLst>
          </p:cNvPr>
          <p:cNvSpPr txBox="1">
            <a:spLocks noChangeArrowheads="1"/>
          </p:cNvSpPr>
          <p:nvPr/>
        </p:nvSpPr>
        <p:spPr bwMode="auto">
          <a:xfrm>
            <a:off x="15240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Singleton Set</a:t>
            </a:r>
          </a:p>
        </p:txBody>
      </p:sp>
      <p:sp>
        <p:nvSpPr>
          <p:cNvPr id="17411" name="TextBox 2">
            <a:extLst>
              <a:ext uri="{FF2B5EF4-FFF2-40B4-BE49-F238E27FC236}">
                <a16:creationId xmlns:a16="http://schemas.microsoft.com/office/drawing/2014/main" id="{10BD10AD-4BA7-4420-93E5-A953E70543D6}"/>
              </a:ext>
            </a:extLst>
          </p:cNvPr>
          <p:cNvSpPr txBox="1">
            <a:spLocks noChangeArrowheads="1"/>
          </p:cNvSpPr>
          <p:nvPr/>
        </p:nvSpPr>
        <p:spPr bwMode="auto">
          <a:xfrm>
            <a:off x="3143251" y="2725739"/>
            <a:ext cx="612225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A set which has only one element is called a singleton set.</a:t>
            </a:r>
          </a:p>
          <a:p>
            <a:pPr eaLnBrk="1" hangingPunct="1"/>
            <a:endParaRPr lang="en-US" altLang="en-US" dirty="0"/>
          </a:p>
          <a:p>
            <a:pPr eaLnBrk="1" hangingPunct="1"/>
            <a:r>
              <a:rPr lang="en-US" altLang="en-US" dirty="0"/>
              <a:t>For example:</a:t>
            </a:r>
          </a:p>
          <a:p>
            <a:pPr eaLnBrk="1" hangingPunct="1"/>
            <a:endParaRPr lang="en-US" altLang="en-US" dirty="0"/>
          </a:p>
          <a:p>
            <a:pPr eaLnBrk="1" hangingPunct="1"/>
            <a:r>
              <a:rPr lang="en-US" altLang="en-US" dirty="0"/>
              <a:t>S = {a} is a singleton 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A4D1BC0-DA68-4BBC-AA04-1A5E203175D6}"/>
              </a:ext>
            </a:extLst>
          </p:cNvPr>
          <p:cNvSpPr/>
          <p:nvPr/>
        </p:nvSpPr>
        <p:spPr>
          <a:xfrm>
            <a:off x="1828800" y="2074783"/>
            <a:ext cx="8839200" cy="2954655"/>
          </a:xfrm>
          <a:prstGeom prst="rect">
            <a:avLst/>
          </a:prstGeom>
        </p:spPr>
        <p:txBody>
          <a:bodyPr wrap="square">
            <a:spAutoFit/>
          </a:bodyPr>
          <a:lstStyle/>
          <a:p>
            <a:r>
              <a:rPr lang="en-US" dirty="0">
                <a:latin typeface="Arial" panose="020B0604020202020204" pitchFamily="34" charset="0"/>
              </a:rPr>
              <a:t>Two sets A and B are said to be equal if they have exactly the same elements and we write A = B. Otherwise, the sets are said to be unequal and we write A ≠ B.</a:t>
            </a:r>
          </a:p>
          <a:p>
            <a:endParaRPr lang="en-US" dirty="0">
              <a:latin typeface="Arial" panose="020B0604020202020204" pitchFamily="34" charset="0"/>
            </a:endParaRPr>
          </a:p>
          <a:p>
            <a:r>
              <a:rPr lang="en-US" dirty="0">
                <a:latin typeface="Arial" panose="020B0604020202020204" pitchFamily="34" charset="0"/>
              </a:rPr>
              <a:t>We consider the following examples :</a:t>
            </a:r>
          </a:p>
          <a:p>
            <a:endParaRPr lang="en-US" dirty="0">
              <a:latin typeface="Arial" panose="020B0604020202020204" pitchFamily="34" charset="0"/>
            </a:endParaRPr>
          </a:p>
          <a:p>
            <a:pPr marL="533387" indent="-533387">
              <a:buAutoNum type="romanLcParenBoth"/>
            </a:pPr>
            <a:r>
              <a:rPr lang="en-US" dirty="0">
                <a:latin typeface="Arial" panose="020B0604020202020204" pitchFamily="34" charset="0"/>
              </a:rPr>
              <a:t>Let A = {1, 2, 3, 4} and B = {3, 1, 4, 2}. Then A = B.</a:t>
            </a:r>
          </a:p>
          <a:p>
            <a:endParaRPr lang="en-US" dirty="0">
              <a:latin typeface="Arial" panose="020B0604020202020204" pitchFamily="34" charset="0"/>
            </a:endParaRPr>
          </a:p>
          <a:p>
            <a:r>
              <a:rPr lang="en-US" dirty="0">
                <a:latin typeface="Arial" panose="020B0604020202020204" pitchFamily="34" charset="0"/>
              </a:rPr>
              <a:t>(ii) Let A be the set of prime numbers less than 6 and P the set of prime factors of 30. Then A and P are equal, since 2, 3 and 5 are the only prime factors of 30 and also these are less than 6</a:t>
            </a:r>
            <a:r>
              <a:rPr lang="en-US" sz="2400" dirty="0"/>
              <a:t>.</a:t>
            </a:r>
            <a:endParaRPr lang="en-IN" sz="2400" dirty="0"/>
          </a:p>
        </p:txBody>
      </p:sp>
      <p:sp>
        <p:nvSpPr>
          <p:cNvPr id="4" name="TextBox 4">
            <a:extLst>
              <a:ext uri="{FF2B5EF4-FFF2-40B4-BE49-F238E27FC236}">
                <a16:creationId xmlns:a16="http://schemas.microsoft.com/office/drawing/2014/main" id="{31D46964-D71C-4EA8-A8DA-2364E867AFF2}"/>
              </a:ext>
            </a:extLst>
          </p:cNvPr>
          <p:cNvSpPr txBox="1">
            <a:spLocks noChangeArrowheads="1"/>
          </p:cNvSpPr>
          <p:nvPr/>
        </p:nvSpPr>
        <p:spPr bwMode="auto">
          <a:xfrm>
            <a:off x="15240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Equal Sets</a:t>
            </a:r>
          </a:p>
        </p:txBody>
      </p:sp>
    </p:spTree>
    <p:extLst>
      <p:ext uri="{BB962C8B-B14F-4D97-AF65-F5344CB8AC3E}">
        <p14:creationId xmlns:p14="http://schemas.microsoft.com/office/powerpoint/2010/main" val="2259332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4">
            <a:extLst>
              <a:ext uri="{FF2B5EF4-FFF2-40B4-BE49-F238E27FC236}">
                <a16:creationId xmlns:a16="http://schemas.microsoft.com/office/drawing/2014/main" id="{3C1B2B0B-C5B7-4DDD-8F45-195E8CE7E7D6}"/>
              </a:ext>
            </a:extLst>
          </p:cNvPr>
          <p:cNvSpPr txBox="1">
            <a:spLocks noChangeArrowheads="1"/>
          </p:cNvSpPr>
          <p:nvPr/>
        </p:nvSpPr>
        <p:spPr bwMode="auto">
          <a:xfrm>
            <a:off x="1524000" y="3810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Universal  Set</a:t>
            </a:r>
          </a:p>
        </p:txBody>
      </p:sp>
      <p:sp>
        <p:nvSpPr>
          <p:cNvPr id="25603" name="TextBox 2">
            <a:extLst>
              <a:ext uri="{FF2B5EF4-FFF2-40B4-BE49-F238E27FC236}">
                <a16:creationId xmlns:a16="http://schemas.microsoft.com/office/drawing/2014/main" id="{8929F2E1-83B6-415A-902F-446527982980}"/>
              </a:ext>
            </a:extLst>
          </p:cNvPr>
          <p:cNvSpPr txBox="1">
            <a:spLocks noChangeArrowheads="1"/>
          </p:cNvSpPr>
          <p:nvPr/>
        </p:nvSpPr>
        <p:spPr bwMode="auto">
          <a:xfrm>
            <a:off x="2286002" y="2428876"/>
            <a:ext cx="800315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In any application of set theory, all the sets under investigation are likely</a:t>
            </a:r>
          </a:p>
          <a:p>
            <a:pPr eaLnBrk="1" hangingPunct="1"/>
            <a:r>
              <a:rPr lang="en-US" altLang="en-US"/>
              <a:t>to be considered as subsets of particular set. This set is called the Universal </a:t>
            </a:r>
          </a:p>
          <a:p>
            <a:pPr eaLnBrk="1" hangingPunct="1"/>
            <a:r>
              <a:rPr lang="en-US" altLang="en-US"/>
              <a:t>set or Universe of Discourse set and is denoted by U.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320800" y="889001"/>
            <a:ext cx="8928637" cy="5427576"/>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Which of the following are examples of the null set</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Set of odd natural numbers divisible by 2</a:t>
            </a:r>
          </a:p>
          <a:p>
            <a:r>
              <a:rPr lang="en-US" sz="2400" dirty="0">
                <a:latin typeface="Century Gothic" panose="020B0502020202020204" pitchFamily="34" charset="0"/>
                <a:cs typeface="Arial" panose="020B0604020202020204" pitchFamily="34" charset="0"/>
              </a:rPr>
              <a:t>(ii) Set of even prime numbers</a:t>
            </a:r>
          </a:p>
          <a:p>
            <a:r>
              <a:rPr lang="en-US" sz="2400" dirty="0">
                <a:latin typeface="Century Gothic" panose="020B0502020202020204" pitchFamily="34" charset="0"/>
                <a:cs typeface="Arial" panose="020B0604020202020204" pitchFamily="34" charset="0"/>
              </a:rPr>
              <a:t>(iii) { x : x is a natural numbers, x &lt; 5 and x &gt; 7 }</a:t>
            </a:r>
          </a:p>
          <a:p>
            <a:r>
              <a:rPr lang="en-US" sz="2400" dirty="0">
                <a:latin typeface="Century Gothic" panose="020B0502020202020204" pitchFamily="34" charset="0"/>
                <a:cs typeface="Arial" panose="020B0604020202020204" pitchFamily="34" charset="0"/>
              </a:rPr>
              <a:t>(iv) { y : y is a point common to any two parallel lines}</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r>
              <a:rPr lang="en-IN" sz="2400" dirty="0">
                <a:latin typeface="Century Gothic" panose="020B0502020202020204" pitchFamily="34" charset="0"/>
                <a:cs typeface="Arial" panose="020B0604020202020204" pitchFamily="34" charset="0"/>
              </a:rPr>
              <a:t>, iii, iv</a:t>
            </a:r>
          </a:p>
          <a:p>
            <a:endParaRPr lang="en-IN" sz="2400" dirty="0">
              <a:latin typeface="Century Gothic" panose="020B0502020202020204" pitchFamily="34" charset="0"/>
              <a:cs typeface="Arial" panose="020B0604020202020204" pitchFamily="34" charset="0"/>
            </a:endParaRPr>
          </a:p>
          <a:p>
            <a:r>
              <a:rPr lang="en-US" sz="1867" b="1" dirty="0"/>
              <a:t>(</a:t>
            </a:r>
            <a:r>
              <a:rPr lang="en-US" sz="1867" b="1" dirty="0" err="1"/>
              <a:t>i</a:t>
            </a:r>
            <a:r>
              <a:rPr lang="en-US" sz="1867" b="1" dirty="0"/>
              <a:t>)</a:t>
            </a:r>
            <a:r>
              <a:rPr lang="en-US" sz="1867" dirty="0"/>
              <a:t> Set of odd natural numbers divisible by 2 is a null set because odd natural numbers are not divisible by 2.</a:t>
            </a:r>
            <a:br>
              <a:rPr lang="en-US" sz="1867" dirty="0"/>
            </a:br>
            <a:r>
              <a:rPr lang="en-US" sz="1867" b="1" dirty="0"/>
              <a:t>(ii)</a:t>
            </a:r>
            <a:r>
              <a:rPr lang="en-US" sz="1867" dirty="0"/>
              <a:t> Set of even prime numbers is {2} which is not a null set.</a:t>
            </a:r>
            <a:br>
              <a:rPr lang="en-US" sz="1867" dirty="0"/>
            </a:br>
            <a:r>
              <a:rPr lang="en-US" sz="1867" b="1" dirty="0"/>
              <a:t>(iii)</a:t>
            </a:r>
            <a:r>
              <a:rPr lang="en-US" sz="1867" dirty="0"/>
              <a:t> {x: x is a natural number, x &lt; 5 and x &gt;7} is a null set because there is no natural number which satisfies x &lt; 5 and x &gt; 7 simultaneously,</a:t>
            </a:r>
            <a:br>
              <a:rPr lang="en-US" sz="1867" dirty="0"/>
            </a:br>
            <a:r>
              <a:rPr lang="en-US" sz="1867" b="1" dirty="0"/>
              <a:t>(iv)</a:t>
            </a:r>
            <a:r>
              <a:rPr lang="en-US" sz="1867" dirty="0"/>
              <a:t> [y: y is a point common to any two parallel lines) is a null set because two parallel lines do not have any common point.</a:t>
            </a:r>
            <a:endParaRPr lang="en-IN" sz="1867"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p:spTree>
    <p:extLst>
      <p:ext uri="{BB962C8B-B14F-4D97-AF65-F5344CB8AC3E}">
        <p14:creationId xmlns:p14="http://schemas.microsoft.com/office/powerpoint/2010/main" val="19448817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9" end="9"/>
                                            </p:txEl>
                                          </p:spTgt>
                                        </p:tgtEl>
                                        <p:attrNameLst>
                                          <p:attrName>style.visibility</p:attrName>
                                        </p:attrNameLst>
                                      </p:cBhvr>
                                      <p:to>
                                        <p:strVal val="visible"/>
                                      </p:to>
                                    </p:set>
                                    <p:anim calcmode="lin" valueType="num">
                                      <p:cBhvr additive="base">
                                        <p:cTn id="1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723363" y="2006600"/>
            <a:ext cx="8928637"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Which of the following are examples of the null set</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Set of odd natural numbers divisible by 2</a:t>
            </a:r>
          </a:p>
          <a:p>
            <a:r>
              <a:rPr lang="en-US" sz="2400" dirty="0">
                <a:latin typeface="Century Gothic" panose="020B0502020202020204" pitchFamily="34" charset="0"/>
                <a:cs typeface="Arial" panose="020B0604020202020204" pitchFamily="34" charset="0"/>
              </a:rPr>
              <a:t>(ii) Set of even prime numbers</a:t>
            </a:r>
          </a:p>
          <a:p>
            <a:r>
              <a:rPr lang="en-US" sz="2400" dirty="0">
                <a:latin typeface="Century Gothic" panose="020B0502020202020204" pitchFamily="34" charset="0"/>
                <a:cs typeface="Arial" panose="020B0604020202020204" pitchFamily="34" charset="0"/>
              </a:rPr>
              <a:t>(iii) { x : x is a natural numbers, x &lt; 5 and x &gt; 7 }</a:t>
            </a:r>
          </a:p>
          <a:p>
            <a:r>
              <a:rPr lang="en-US" sz="2400" dirty="0">
                <a:latin typeface="Century Gothic" panose="020B0502020202020204" pitchFamily="34" charset="0"/>
                <a:cs typeface="Arial" panose="020B0604020202020204" pitchFamily="34" charset="0"/>
              </a:rPr>
              <a:t>(iv) { y : y is a point common to any two parallel lines}</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r>
              <a:rPr lang="en-IN" sz="2400" dirty="0">
                <a:latin typeface="Century Gothic" panose="020B0502020202020204" pitchFamily="34" charset="0"/>
                <a:cs typeface="Arial" panose="020B0604020202020204" pitchFamily="34" charset="0"/>
              </a:rPr>
              <a:t>, iii, iv</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2</a:t>
            </a:r>
          </a:p>
        </p:txBody>
      </p:sp>
    </p:spTree>
    <p:extLst>
      <p:ext uri="{BB962C8B-B14F-4D97-AF65-F5344CB8AC3E}">
        <p14:creationId xmlns:p14="http://schemas.microsoft.com/office/powerpoint/2010/main" val="6567709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016001" y="1890117"/>
            <a:ext cx="10159999" cy="3416320"/>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In the following, state whether A = B or not:</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A = { a, b, c, d }   B = { d, c, b, a }</a:t>
            </a:r>
          </a:p>
          <a:p>
            <a:r>
              <a:rPr lang="en-US" sz="2400" dirty="0">
                <a:latin typeface="Century Gothic" panose="020B0502020202020204" pitchFamily="34" charset="0"/>
                <a:cs typeface="Arial" panose="020B0604020202020204" pitchFamily="34" charset="0"/>
              </a:rPr>
              <a:t>(ii) A = { 4, 8, 12, 16 } B = { 8, 4, 16, 18}</a:t>
            </a:r>
          </a:p>
          <a:p>
            <a:r>
              <a:rPr lang="en-US" sz="2400" dirty="0">
                <a:latin typeface="Century Gothic" panose="020B0502020202020204" pitchFamily="34" charset="0"/>
                <a:cs typeface="Arial" panose="020B0604020202020204" pitchFamily="34" charset="0"/>
              </a:rPr>
              <a:t>(iii) A = {2, 4, 6, 8, 10} B = { x : x is positive even integer and x ≤ 10}</a:t>
            </a:r>
          </a:p>
          <a:p>
            <a:r>
              <a:rPr lang="en-US" sz="2400" dirty="0">
                <a:latin typeface="Century Gothic" panose="020B0502020202020204" pitchFamily="34" charset="0"/>
                <a:cs typeface="Arial" panose="020B0604020202020204" pitchFamily="34" charset="0"/>
              </a:rPr>
              <a:t>(iv) A = { x : x is a multiple of 10}, B = { 10, 15, 20, 25, 30, . . . }</a:t>
            </a:r>
          </a:p>
          <a:p>
            <a:endParaRPr lang="en-US"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r>
              <a:rPr lang="en-IN" sz="2400" dirty="0">
                <a:latin typeface="Century Gothic" panose="020B0502020202020204" pitchFamily="34" charset="0"/>
                <a:cs typeface="Arial" panose="020B0604020202020204" pitchFamily="34" charset="0"/>
              </a:rPr>
              <a:t>, iii</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p:spTree>
    <p:extLst>
      <p:ext uri="{BB962C8B-B14F-4D97-AF65-F5344CB8AC3E}">
        <p14:creationId xmlns:p14="http://schemas.microsoft.com/office/powerpoint/2010/main" val="10626108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 calcmode="lin" valueType="num">
                                      <p:cBhvr additive="base">
                                        <p:cTn id="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812801" y="889000"/>
            <a:ext cx="10159999" cy="579690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Which of the following set is finite:</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The set of lines which are parallel to the x-axis</a:t>
            </a:r>
          </a:p>
          <a:p>
            <a:r>
              <a:rPr lang="en-US" sz="2400" dirty="0">
                <a:latin typeface="Century Gothic" panose="020B0502020202020204" pitchFamily="34" charset="0"/>
                <a:cs typeface="Arial" panose="020B0604020202020204" pitchFamily="34" charset="0"/>
              </a:rPr>
              <a:t>(ii) The set of letters in the English alphabet</a:t>
            </a:r>
          </a:p>
          <a:p>
            <a:r>
              <a:rPr lang="en-US" sz="2400" dirty="0">
                <a:latin typeface="Century Gothic" panose="020B0502020202020204" pitchFamily="34" charset="0"/>
                <a:cs typeface="Arial" panose="020B0604020202020204" pitchFamily="34" charset="0"/>
              </a:rPr>
              <a:t>(iii) The set of numbers which are multiple of 5</a:t>
            </a:r>
          </a:p>
          <a:p>
            <a:r>
              <a:rPr lang="en-US" sz="2400" dirty="0">
                <a:latin typeface="Century Gothic" panose="020B0502020202020204" pitchFamily="34" charset="0"/>
                <a:cs typeface="Arial" panose="020B0604020202020204" pitchFamily="34" charset="0"/>
              </a:rPr>
              <a:t>(iv) The set of animals living on the earth</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 iv</a:t>
            </a:r>
          </a:p>
          <a:p>
            <a:endParaRPr lang="en-IN" sz="2400" dirty="0">
              <a:latin typeface="Century Gothic" panose="020B0502020202020204" pitchFamily="34" charset="0"/>
              <a:cs typeface="Arial" panose="020B0604020202020204" pitchFamily="34" charset="0"/>
            </a:endParaRPr>
          </a:p>
          <a:p>
            <a:r>
              <a:rPr lang="en-US" sz="1867" b="1" dirty="0"/>
              <a:t>(</a:t>
            </a:r>
            <a:r>
              <a:rPr lang="en-US" sz="1867" b="1" dirty="0" err="1"/>
              <a:t>i</a:t>
            </a:r>
            <a:r>
              <a:rPr lang="en-US" sz="1867" b="1" dirty="0"/>
              <a:t>)</a:t>
            </a:r>
            <a:r>
              <a:rPr lang="en-US" sz="1867" dirty="0"/>
              <a:t> The set of lines which are parallel to the x-axis is an infinite set because we can draw infinite number of lines parallel to x-axis.</a:t>
            </a:r>
            <a:br>
              <a:rPr lang="en-US" sz="1867" dirty="0"/>
            </a:br>
            <a:r>
              <a:rPr lang="en-US" sz="1867" b="1" dirty="0"/>
              <a:t>(ii)</a:t>
            </a:r>
            <a:r>
              <a:rPr lang="en-US" sz="1867" dirty="0"/>
              <a:t> The set of letters in the English alphabet is a finite set because there are 26 letters in the English alphabet.</a:t>
            </a:r>
            <a:br>
              <a:rPr lang="en-US" sz="1867" dirty="0"/>
            </a:br>
            <a:r>
              <a:rPr lang="en-US" sz="1867" b="1" dirty="0"/>
              <a:t>(iii)</a:t>
            </a:r>
            <a:r>
              <a:rPr lang="en-US" sz="1867" dirty="0"/>
              <a:t> The set of numbers which are multiple of 5 is an infinite set because there are infinite multiples of 5.</a:t>
            </a:r>
            <a:br>
              <a:rPr lang="en-US" sz="1867" dirty="0"/>
            </a:br>
            <a:r>
              <a:rPr lang="en-US" sz="1867" b="1" dirty="0"/>
              <a:t>(iv)</a:t>
            </a:r>
            <a:r>
              <a:rPr lang="en-US" sz="1867" dirty="0"/>
              <a:t> The set of animals living on the earth is a finite set because the number of animals living on the earth is very large but finite</a:t>
            </a:r>
            <a:r>
              <a:rPr lang="en-US" sz="2400" dirty="0"/>
              <a:t>.</a:t>
            </a:r>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3</a:t>
            </a:r>
          </a:p>
        </p:txBody>
      </p:sp>
    </p:spTree>
    <p:extLst>
      <p:ext uri="{BB962C8B-B14F-4D97-AF65-F5344CB8AC3E}">
        <p14:creationId xmlns:p14="http://schemas.microsoft.com/office/powerpoint/2010/main" val="34914302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anim calcmode="lin" valueType="num">
                                      <p:cBhvr additive="base">
                                        <p:cTn id="1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723363" y="889000"/>
            <a:ext cx="10871200" cy="5427576"/>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Which of the following are sets ? </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The collection of all the months of a year beginning with the letter J.</a:t>
            </a:r>
          </a:p>
          <a:p>
            <a:r>
              <a:rPr lang="en-US" sz="2400" dirty="0">
                <a:latin typeface="Century Gothic" panose="020B0502020202020204" pitchFamily="34" charset="0"/>
                <a:cs typeface="Arial" panose="020B0604020202020204" pitchFamily="34" charset="0"/>
              </a:rPr>
              <a:t>(ii) The collection of ten most talented writers of India.</a:t>
            </a:r>
          </a:p>
          <a:p>
            <a:r>
              <a:rPr lang="en-US" sz="2400" dirty="0">
                <a:latin typeface="Century Gothic" panose="020B0502020202020204" pitchFamily="34" charset="0"/>
                <a:cs typeface="Arial" panose="020B0604020202020204" pitchFamily="34" charset="0"/>
              </a:rPr>
              <a:t>(iii) A team of eleven best-cricket batsmen of the world.</a:t>
            </a:r>
          </a:p>
          <a:p>
            <a:r>
              <a:rPr lang="en-US" sz="2400" dirty="0">
                <a:latin typeface="Century Gothic" panose="020B0502020202020204" pitchFamily="34" charset="0"/>
                <a:cs typeface="Arial" panose="020B0604020202020204" pitchFamily="34" charset="0"/>
              </a:rPr>
              <a:t>(iv) The collection of all boys in your class.</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r>
              <a:rPr lang="en-IN" sz="2400" dirty="0">
                <a:latin typeface="Century Gothic" panose="020B0502020202020204" pitchFamily="34" charset="0"/>
                <a:cs typeface="Arial" panose="020B0604020202020204" pitchFamily="34" charset="0"/>
              </a:rPr>
              <a:t>, iv</a:t>
            </a:r>
          </a:p>
          <a:p>
            <a:endParaRPr lang="en-IN" sz="2400" dirty="0">
              <a:latin typeface="Century Gothic" panose="020B0502020202020204" pitchFamily="34" charset="0"/>
              <a:cs typeface="Arial" panose="020B0604020202020204" pitchFamily="34" charset="0"/>
            </a:endParaRPr>
          </a:p>
          <a:p>
            <a:r>
              <a:rPr lang="en-US" sz="1867" b="1" dirty="0"/>
              <a:t>(</a:t>
            </a:r>
            <a:r>
              <a:rPr lang="en-US" sz="1867" b="1" dirty="0" err="1"/>
              <a:t>i</a:t>
            </a:r>
            <a:r>
              <a:rPr lang="en-US" sz="1867" b="1" dirty="0"/>
              <a:t>)</a:t>
            </a:r>
            <a:r>
              <a:rPr lang="en-US" sz="1867" dirty="0"/>
              <a:t> The collection of all months of a year beginning with J is {J </a:t>
            </a:r>
            <a:r>
              <a:rPr lang="en-US" sz="1867" dirty="0" err="1"/>
              <a:t>anuary</a:t>
            </a:r>
            <a:r>
              <a:rPr lang="en-US" sz="1867" dirty="0"/>
              <a:t>, June, July}, which is well defined and hence it forms a set.</a:t>
            </a:r>
            <a:br>
              <a:rPr lang="en-US" sz="1867" dirty="0"/>
            </a:br>
            <a:r>
              <a:rPr lang="en-US" sz="1867" b="1" dirty="0"/>
              <a:t>(ii)</a:t>
            </a:r>
            <a:r>
              <a:rPr lang="en-US" sz="1867" dirty="0"/>
              <a:t> The collection of most talented writers of India is not well defined because opinions about ‘most talented writers’ vary from person to person and hence it does not form a set.</a:t>
            </a:r>
            <a:br>
              <a:rPr lang="en-US" sz="1867" dirty="0"/>
            </a:br>
            <a:r>
              <a:rPr lang="en-US" sz="1867" b="1" dirty="0"/>
              <a:t>(iii)</a:t>
            </a:r>
            <a:r>
              <a:rPr lang="en-US" sz="1867" dirty="0"/>
              <a:t> A team of eleven best-cricket batsmen of the world is not well defined because opinions about ‘best-cricket batsmen’ vary from person to person and hence it does not form a set.</a:t>
            </a:r>
            <a:br>
              <a:rPr lang="en-US" sz="1867" dirty="0"/>
            </a:br>
            <a:r>
              <a:rPr lang="en-US" sz="1867" b="1" dirty="0"/>
              <a:t>(iv) </a:t>
            </a:r>
            <a:r>
              <a:rPr lang="en-US" sz="1867" dirty="0"/>
              <a:t>The collection of all boys in your class is well defined and hence it forms a set.</a:t>
            </a:r>
            <a:endParaRPr lang="en-IN" sz="1867"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4</a:t>
            </a:r>
          </a:p>
        </p:txBody>
      </p:sp>
    </p:spTree>
    <p:extLst>
      <p:ext uri="{BB962C8B-B14F-4D97-AF65-F5344CB8AC3E}">
        <p14:creationId xmlns:p14="http://schemas.microsoft.com/office/powerpoint/2010/main" val="37160844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anim calcmode="lin" valueType="num">
                                      <p:cBhvr additive="base">
                                        <p:cTn id="1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016001" y="1890117"/>
            <a:ext cx="10159999"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Which of the following sets are finite:</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The set of months of a year</a:t>
            </a:r>
          </a:p>
          <a:p>
            <a:r>
              <a:rPr lang="en-US" sz="2400" dirty="0">
                <a:latin typeface="Century Gothic" panose="020B0502020202020204" pitchFamily="34" charset="0"/>
                <a:cs typeface="Arial" panose="020B0604020202020204" pitchFamily="34" charset="0"/>
              </a:rPr>
              <a:t>(ii) {1, 2, 3, . . .}</a:t>
            </a:r>
          </a:p>
          <a:p>
            <a:r>
              <a:rPr lang="en-US" sz="2400" dirty="0">
                <a:latin typeface="Century Gothic" panose="020B0502020202020204" pitchFamily="34" charset="0"/>
                <a:cs typeface="Arial" panose="020B0604020202020204" pitchFamily="34" charset="0"/>
              </a:rPr>
              <a:t>(iii) {1, 2, 3, . . .99, 100}</a:t>
            </a:r>
          </a:p>
          <a:p>
            <a:r>
              <a:rPr lang="en-US" sz="2400" dirty="0">
                <a:latin typeface="Century Gothic" panose="020B0502020202020204" pitchFamily="34" charset="0"/>
                <a:cs typeface="Arial" panose="020B0604020202020204" pitchFamily="34" charset="0"/>
              </a:rPr>
              <a:t>(iv) The set of positive integers greater than 100</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r>
              <a:rPr lang="en-IN" sz="2400" dirty="0">
                <a:latin typeface="Century Gothic" panose="020B0502020202020204" pitchFamily="34" charset="0"/>
                <a:cs typeface="Arial" panose="020B0604020202020204" pitchFamily="34" charset="0"/>
              </a:rPr>
              <a:t>, iii</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5</a:t>
            </a:r>
          </a:p>
        </p:txBody>
      </p:sp>
    </p:spTree>
    <p:extLst>
      <p:ext uri="{BB962C8B-B14F-4D97-AF65-F5344CB8AC3E}">
        <p14:creationId xmlns:p14="http://schemas.microsoft.com/office/powerpoint/2010/main" val="13891523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4">
            <a:extLst>
              <a:ext uri="{FF2B5EF4-FFF2-40B4-BE49-F238E27FC236}">
                <a16:creationId xmlns:a16="http://schemas.microsoft.com/office/drawing/2014/main" id="{2B277CC7-B867-4C1B-8AC0-BD9635883544}"/>
              </a:ext>
            </a:extLst>
          </p:cNvPr>
          <p:cNvSpPr txBox="1">
            <a:spLocks noChangeArrowheads="1"/>
          </p:cNvSpPr>
          <p:nvPr/>
        </p:nvSpPr>
        <p:spPr bwMode="auto">
          <a:xfrm>
            <a:off x="11176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Introduction - Operation on Sets</a:t>
            </a:r>
          </a:p>
        </p:txBody>
      </p:sp>
      <p:sp>
        <p:nvSpPr>
          <p:cNvPr id="26627" name="TextBox 2">
            <a:extLst>
              <a:ext uri="{FF2B5EF4-FFF2-40B4-BE49-F238E27FC236}">
                <a16:creationId xmlns:a16="http://schemas.microsoft.com/office/drawing/2014/main" id="{D4981D0F-95A5-4421-8315-1B5B7C51C27E}"/>
              </a:ext>
            </a:extLst>
          </p:cNvPr>
          <p:cNvSpPr txBox="1">
            <a:spLocks noChangeArrowheads="1"/>
          </p:cNvSpPr>
          <p:nvPr/>
        </p:nvSpPr>
        <p:spPr bwMode="auto">
          <a:xfrm>
            <a:off x="711200" y="1498601"/>
            <a:ext cx="11152412" cy="435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133" dirty="0"/>
              <a:t>Operations of addition, subtraction, multiplication and division on numbers are well known. </a:t>
            </a:r>
          </a:p>
          <a:p>
            <a:pPr eaLnBrk="1" hangingPunct="1"/>
            <a:r>
              <a:rPr lang="en-US" altLang="en-US" sz="2133" dirty="0"/>
              <a:t>Each one of these operations is performed on a pair of numbers to get  another number. </a:t>
            </a:r>
          </a:p>
          <a:p>
            <a:pPr eaLnBrk="1" hangingPunct="1"/>
            <a:endParaRPr lang="en-US" altLang="en-US" sz="2133" dirty="0"/>
          </a:p>
          <a:p>
            <a:pPr eaLnBrk="1" hangingPunct="1"/>
            <a:r>
              <a:rPr lang="en-US" altLang="en-US" sz="2133" dirty="0"/>
              <a:t>For example, when we perform the operation of addition on the pair of numbers 5 and 13,</a:t>
            </a:r>
          </a:p>
          <a:p>
            <a:pPr eaLnBrk="1" hangingPunct="1"/>
            <a:r>
              <a:rPr lang="en-US" altLang="en-US" sz="2133" dirty="0"/>
              <a:t> we get the number 18.  (5 + 13 = 18)</a:t>
            </a:r>
          </a:p>
          <a:p>
            <a:pPr eaLnBrk="1" hangingPunct="1"/>
            <a:endParaRPr lang="en-US" altLang="en-US" sz="2133" dirty="0"/>
          </a:p>
          <a:p>
            <a:pPr eaLnBrk="1" hangingPunct="1"/>
            <a:r>
              <a:rPr lang="en-US" altLang="en-US" sz="2133" dirty="0"/>
              <a:t>Again, performing the operation of multiplication on the pair of numbers 5 and 13, </a:t>
            </a:r>
          </a:p>
          <a:p>
            <a:pPr eaLnBrk="1" hangingPunct="1"/>
            <a:r>
              <a:rPr lang="en-US" altLang="en-US" sz="2133" dirty="0"/>
              <a:t>we get 65. (5 X 13 = 65)</a:t>
            </a:r>
          </a:p>
          <a:p>
            <a:pPr eaLnBrk="1" hangingPunct="1"/>
            <a:endParaRPr lang="en-US" altLang="en-US" sz="2133" dirty="0"/>
          </a:p>
          <a:p>
            <a:pPr eaLnBrk="1" hangingPunct="1"/>
            <a:r>
              <a:rPr lang="en-US" altLang="en-US" sz="2133" dirty="0"/>
              <a:t>Similarly, there are some operations which when performed on two sets give rise to</a:t>
            </a:r>
          </a:p>
          <a:p>
            <a:pPr eaLnBrk="1" hangingPunct="1"/>
            <a:r>
              <a:rPr lang="en-US" altLang="en-US" sz="2133" dirty="0"/>
              <a:t>another set. </a:t>
            </a:r>
          </a:p>
          <a:p>
            <a:pPr eaLnBrk="1" hangingPunct="1"/>
            <a:endParaRPr lang="en-US" altLang="en-US" sz="2133" dirty="0"/>
          </a:p>
          <a:p>
            <a:pPr eaLnBrk="1" hangingPunct="1"/>
            <a:r>
              <a:rPr lang="en-US" altLang="en-US" sz="2133" dirty="0"/>
              <a:t>We will now define certain operations on sets and examine their properties.</a:t>
            </a:r>
          </a:p>
        </p:txBody>
      </p:sp>
    </p:spTree>
    <p:extLst>
      <p:ext uri="{BB962C8B-B14F-4D97-AF65-F5344CB8AC3E}">
        <p14:creationId xmlns:p14="http://schemas.microsoft.com/office/powerpoint/2010/main" val="2360688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4">
            <a:extLst>
              <a:ext uri="{FF2B5EF4-FFF2-40B4-BE49-F238E27FC236}">
                <a16:creationId xmlns:a16="http://schemas.microsoft.com/office/drawing/2014/main" id="{2B277CC7-B867-4C1B-8AC0-BD9635883544}"/>
              </a:ext>
            </a:extLst>
          </p:cNvPr>
          <p:cNvSpPr txBox="1">
            <a:spLocks noChangeArrowheads="1"/>
          </p:cNvSpPr>
          <p:nvPr/>
        </p:nvSpPr>
        <p:spPr bwMode="auto">
          <a:xfrm>
            <a:off x="10160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Operation on Sets – Union and Intersection</a:t>
            </a:r>
          </a:p>
        </p:txBody>
      </p:sp>
      <p:sp>
        <p:nvSpPr>
          <p:cNvPr id="26627" name="TextBox 2">
            <a:extLst>
              <a:ext uri="{FF2B5EF4-FFF2-40B4-BE49-F238E27FC236}">
                <a16:creationId xmlns:a16="http://schemas.microsoft.com/office/drawing/2014/main" id="{D4981D0F-95A5-4421-8315-1B5B7C51C27E}"/>
              </a:ext>
            </a:extLst>
          </p:cNvPr>
          <p:cNvSpPr txBox="1">
            <a:spLocks noChangeArrowheads="1"/>
          </p:cNvSpPr>
          <p:nvPr/>
        </p:nvSpPr>
        <p:spPr bwMode="auto">
          <a:xfrm>
            <a:off x="2286002" y="1828801"/>
            <a:ext cx="8604535"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Union:</a:t>
            </a:r>
          </a:p>
          <a:p>
            <a:pPr eaLnBrk="1" hangingPunct="1"/>
            <a:r>
              <a:rPr lang="en-US" altLang="en-US" dirty="0"/>
              <a:t>            The union of two sets A and B denoted by A  U  B, is the set of all </a:t>
            </a:r>
          </a:p>
          <a:p>
            <a:pPr eaLnBrk="1" hangingPunct="1"/>
            <a:r>
              <a:rPr lang="en-US" altLang="en-US" dirty="0"/>
              <a:t>elements which belong to A or to B or to both.</a:t>
            </a:r>
          </a:p>
          <a:p>
            <a:pPr eaLnBrk="1" hangingPunct="1"/>
            <a:r>
              <a:rPr lang="en-US" altLang="en-US" dirty="0"/>
              <a:t>i.e.  A U B = {x </a:t>
            </a:r>
            <a:r>
              <a:rPr lang="el-GR" altLang="en-US" dirty="0">
                <a:cs typeface="Arial" panose="020B0604020202020204" pitchFamily="34" charset="0"/>
              </a:rPr>
              <a:t>ϵ</a:t>
            </a:r>
            <a:r>
              <a:rPr lang="en-US" altLang="en-US" dirty="0"/>
              <a:t> A or x </a:t>
            </a:r>
            <a:r>
              <a:rPr lang="el-GR" altLang="en-US" dirty="0"/>
              <a:t>ϵ</a:t>
            </a:r>
            <a:r>
              <a:rPr lang="en-US" altLang="en-US" dirty="0"/>
              <a:t> B}</a:t>
            </a:r>
          </a:p>
          <a:p>
            <a:pPr eaLnBrk="1" hangingPunct="1"/>
            <a:endParaRPr lang="en-US" altLang="en-US" dirty="0"/>
          </a:p>
          <a:p>
            <a:pPr eaLnBrk="1" hangingPunct="1"/>
            <a:endParaRPr lang="en-US" altLang="en-US" dirty="0"/>
          </a:p>
          <a:p>
            <a:pPr eaLnBrk="1" hangingPunct="1"/>
            <a:r>
              <a:rPr lang="en-US" altLang="en-US" dirty="0"/>
              <a:t>Intersection:</a:t>
            </a:r>
          </a:p>
          <a:p>
            <a:pPr eaLnBrk="1" hangingPunct="1"/>
            <a:r>
              <a:rPr lang="en-US" altLang="en-US" dirty="0"/>
              <a:t>              The intersection of two sets A and B denoted by A ⋂ B, is the set of those </a:t>
            </a:r>
          </a:p>
          <a:p>
            <a:pPr eaLnBrk="1" hangingPunct="1"/>
            <a:r>
              <a:rPr lang="en-US" altLang="en-US" dirty="0"/>
              <a:t>elements which belong to A and B.</a:t>
            </a:r>
          </a:p>
          <a:p>
            <a:pPr eaLnBrk="1" hangingPunct="1"/>
            <a:r>
              <a:rPr lang="en-US" altLang="en-US" dirty="0"/>
              <a:t>i.e.   A ⋂ B = {x </a:t>
            </a:r>
            <a:r>
              <a:rPr lang="el-GR" altLang="en-US" dirty="0"/>
              <a:t>ϵ</a:t>
            </a:r>
            <a:r>
              <a:rPr lang="en-US" altLang="en-US" dirty="0"/>
              <a:t>  A and x </a:t>
            </a:r>
            <a:r>
              <a:rPr lang="el-GR" altLang="en-US" dirty="0"/>
              <a:t>ϵ</a:t>
            </a:r>
            <a:r>
              <a:rPr lang="en-US" altLang="en-US" dirty="0"/>
              <a:t> B}</a:t>
            </a:r>
          </a:p>
          <a:p>
            <a:pPr eaLnBrk="1" hangingPunct="1"/>
            <a:endParaRPr lang="en-US" altLang="en-US" dirty="0"/>
          </a:p>
          <a:p>
            <a:pPr eaLnBrk="1" hangingPunct="1"/>
            <a:r>
              <a:rPr lang="en-US" altLang="en-US" dirty="0"/>
              <a:t>If A ⋂ B = Φ, that is, if A and B do not have any element in common, then A</a:t>
            </a:r>
          </a:p>
          <a:p>
            <a:pPr eaLnBrk="1" hangingPunct="1"/>
            <a:r>
              <a:rPr lang="en-US" altLang="en-US" dirty="0"/>
              <a:t>And B are said to be disjoint or non-intersecting.</a:t>
            </a:r>
          </a:p>
        </p:txBody>
      </p:sp>
    </p:spTree>
    <p:extLst>
      <p:ext uri="{BB962C8B-B14F-4D97-AF65-F5344CB8AC3E}">
        <p14:creationId xmlns:p14="http://schemas.microsoft.com/office/powerpoint/2010/main" val="3227156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1">
            <a:extLst>
              <a:ext uri="{FF2B5EF4-FFF2-40B4-BE49-F238E27FC236}">
                <a16:creationId xmlns:a16="http://schemas.microsoft.com/office/drawing/2014/main" id="{C1231161-6B64-42E1-8286-511B15AA96EF}"/>
              </a:ext>
            </a:extLst>
          </p:cNvPr>
          <p:cNvSpPr txBox="1">
            <a:spLocks noChangeArrowheads="1"/>
          </p:cNvSpPr>
          <p:nvPr/>
        </p:nvSpPr>
        <p:spPr bwMode="auto">
          <a:xfrm>
            <a:off x="2362200" y="1066802"/>
            <a:ext cx="643650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Example:</a:t>
            </a:r>
          </a:p>
          <a:p>
            <a:pPr eaLnBrk="1" hangingPunct="1"/>
            <a:endParaRPr lang="en-US" altLang="en-US"/>
          </a:p>
          <a:p>
            <a:pPr eaLnBrk="1" hangingPunct="1"/>
            <a:endParaRPr lang="en-US" altLang="en-US"/>
          </a:p>
          <a:p>
            <a:pPr eaLnBrk="1" hangingPunct="1"/>
            <a:r>
              <a:rPr lang="en-US" altLang="en-US"/>
              <a:t>Let A = {1, 2, 3, 4}, B = {0, 1, 3, 5, 7} and C = {2, 4, 6, 8}, then</a:t>
            </a:r>
          </a:p>
          <a:p>
            <a:pPr eaLnBrk="1" hangingPunct="1"/>
            <a:endParaRPr lang="en-US" altLang="en-US"/>
          </a:p>
          <a:p>
            <a:pPr eaLnBrk="1" hangingPunct="1"/>
            <a:r>
              <a:rPr lang="en-US" altLang="en-US"/>
              <a:t>A U  B = {0, 1, 2, 3, 4, 5, 7}</a:t>
            </a:r>
          </a:p>
          <a:p>
            <a:pPr eaLnBrk="1" hangingPunct="1"/>
            <a:endParaRPr lang="en-US" altLang="en-US"/>
          </a:p>
          <a:p>
            <a:pPr eaLnBrk="1" hangingPunct="1"/>
            <a:r>
              <a:rPr lang="en-US" altLang="en-US"/>
              <a:t>B U  C = {0, 1, 2, 3, 4, 5, 6, 7, 8}</a:t>
            </a:r>
          </a:p>
          <a:p>
            <a:pPr eaLnBrk="1" hangingPunct="1"/>
            <a:endParaRPr lang="en-US" altLang="en-US"/>
          </a:p>
          <a:p>
            <a:pPr eaLnBrk="1" hangingPunct="1"/>
            <a:r>
              <a:rPr lang="en-US" altLang="en-US"/>
              <a:t>A ⋂ B = {1, 3}</a:t>
            </a:r>
          </a:p>
          <a:p>
            <a:pPr eaLnBrk="1" hangingPunct="1"/>
            <a:endParaRPr lang="en-US" altLang="en-US"/>
          </a:p>
          <a:p>
            <a:pPr eaLnBrk="1" hangingPunct="1"/>
            <a:r>
              <a:rPr lang="en-US" altLang="en-US"/>
              <a:t>B ⋂ C =  Φ</a:t>
            </a:r>
          </a:p>
        </p:txBody>
      </p:sp>
      <p:sp>
        <p:nvSpPr>
          <p:cNvPr id="3" name="TextBox 4">
            <a:extLst>
              <a:ext uri="{FF2B5EF4-FFF2-40B4-BE49-F238E27FC236}">
                <a16:creationId xmlns:a16="http://schemas.microsoft.com/office/drawing/2014/main" id="{99A1D760-AEBE-4B29-8348-023DBE7DDD13}"/>
              </a:ext>
            </a:extLst>
          </p:cNvPr>
          <p:cNvSpPr txBox="1">
            <a:spLocks noChangeArrowheads="1"/>
          </p:cNvSpPr>
          <p:nvPr/>
        </p:nvSpPr>
        <p:spPr bwMode="auto">
          <a:xfrm>
            <a:off x="10160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Example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1">
            <a:extLst>
              <a:ext uri="{FF2B5EF4-FFF2-40B4-BE49-F238E27FC236}">
                <a16:creationId xmlns:a16="http://schemas.microsoft.com/office/drawing/2014/main" id="{8BFC25C6-81F3-4CF3-9CAB-6AC453FFE178}"/>
              </a:ext>
            </a:extLst>
          </p:cNvPr>
          <p:cNvSpPr txBox="1">
            <a:spLocks noChangeArrowheads="1"/>
          </p:cNvSpPr>
          <p:nvPr/>
        </p:nvSpPr>
        <p:spPr bwMode="auto">
          <a:xfrm>
            <a:off x="2286000" y="1066802"/>
            <a:ext cx="8195642"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Complements:</a:t>
            </a:r>
          </a:p>
          <a:p>
            <a:pPr eaLnBrk="1" hangingPunct="1"/>
            <a:endParaRPr lang="en-US" altLang="en-US"/>
          </a:p>
          <a:p>
            <a:pPr eaLnBrk="1" hangingPunct="1"/>
            <a:r>
              <a:rPr lang="en-US" altLang="en-US"/>
              <a:t>Let U be the universal set and A be any subset  of U. The absolute compliment</a:t>
            </a:r>
          </a:p>
          <a:p>
            <a:pPr eaLnBrk="1" hangingPunct="1"/>
            <a:r>
              <a:rPr lang="en-US" altLang="en-US"/>
              <a:t>Of A or simply compliment of A, denoted by A’ or A</a:t>
            </a:r>
            <a:r>
              <a:rPr lang="en-US" altLang="en-US" baseline="30000"/>
              <a:t>C   </a:t>
            </a:r>
            <a:r>
              <a:rPr lang="en-US" altLang="en-US"/>
              <a:t>the set of elements</a:t>
            </a:r>
          </a:p>
          <a:p>
            <a:pPr eaLnBrk="1" hangingPunct="1"/>
            <a:r>
              <a:rPr lang="en-US" altLang="en-US"/>
              <a:t>Which belong to U but do not belong to A.</a:t>
            </a:r>
          </a:p>
          <a:p>
            <a:pPr eaLnBrk="1" hangingPunct="1"/>
            <a:r>
              <a:rPr lang="en-US" altLang="en-US"/>
              <a:t>i.e.</a:t>
            </a:r>
          </a:p>
          <a:p>
            <a:pPr eaLnBrk="1" hangingPunct="1"/>
            <a:endParaRPr lang="en-US" altLang="en-US"/>
          </a:p>
          <a:p>
            <a:pPr eaLnBrk="1" hangingPunct="1"/>
            <a:r>
              <a:rPr lang="en-US" altLang="en-US"/>
              <a:t>A’ = {x: x </a:t>
            </a:r>
            <a:r>
              <a:rPr lang="el-GR" altLang="en-US"/>
              <a:t>ϵ</a:t>
            </a:r>
            <a:r>
              <a:rPr lang="en-US" altLang="en-US"/>
              <a:t>  U and x      A}</a:t>
            </a:r>
          </a:p>
          <a:p>
            <a:pPr eaLnBrk="1" hangingPunct="1"/>
            <a:endParaRPr lang="en-US" altLang="en-US"/>
          </a:p>
          <a:p>
            <a:pPr eaLnBrk="1" hangingPunct="1"/>
            <a:endParaRPr lang="en-US" altLang="en-US"/>
          </a:p>
          <a:p>
            <a:pPr eaLnBrk="1" hangingPunct="1"/>
            <a:r>
              <a:rPr lang="en-US" altLang="en-US"/>
              <a:t>If A and B are two sets, the relative compliment of B with respect to A or</a:t>
            </a:r>
          </a:p>
          <a:p>
            <a:pPr eaLnBrk="1" hangingPunct="1"/>
            <a:r>
              <a:rPr lang="en-US" altLang="en-US"/>
              <a:t>Simply the difference of A and B , denoted by A – B, is the set of elements </a:t>
            </a:r>
          </a:p>
          <a:p>
            <a:pPr eaLnBrk="1" hangingPunct="1"/>
            <a:r>
              <a:rPr lang="en-US" altLang="en-US"/>
              <a:t>Which belong to A but do not belong to B.</a:t>
            </a:r>
          </a:p>
          <a:p>
            <a:pPr eaLnBrk="1" hangingPunct="1"/>
            <a:r>
              <a:rPr lang="en-US" altLang="en-US"/>
              <a:t>i.e.</a:t>
            </a:r>
          </a:p>
          <a:p>
            <a:pPr eaLnBrk="1" hangingPunct="1"/>
            <a:endParaRPr lang="en-US" altLang="en-US"/>
          </a:p>
          <a:p>
            <a:pPr eaLnBrk="1" hangingPunct="1"/>
            <a:r>
              <a:rPr lang="en-US" altLang="en-US"/>
              <a:t>A – B = {x: x </a:t>
            </a:r>
            <a:r>
              <a:rPr lang="el-GR" altLang="en-US"/>
              <a:t>ϵ</a:t>
            </a:r>
            <a:r>
              <a:rPr lang="en-US" altLang="en-US"/>
              <a:t>  A and x     B}</a:t>
            </a:r>
          </a:p>
          <a:p>
            <a:pPr eaLnBrk="1" hangingPunct="1"/>
            <a:r>
              <a:rPr lang="en-US" altLang="en-US" baseline="30000"/>
              <a:t>  </a:t>
            </a:r>
          </a:p>
        </p:txBody>
      </p:sp>
      <p:graphicFrame>
        <p:nvGraphicFramePr>
          <p:cNvPr id="28676" name="Object 4">
            <a:extLst>
              <a:ext uri="{FF2B5EF4-FFF2-40B4-BE49-F238E27FC236}">
                <a16:creationId xmlns:a16="http://schemas.microsoft.com/office/drawing/2014/main" id="{7A9BC3C7-BAA5-4989-BABF-1E4F3C5BD7F3}"/>
              </a:ext>
            </a:extLst>
          </p:cNvPr>
          <p:cNvGraphicFramePr>
            <a:graphicFrameLocks noChangeAspect="1"/>
          </p:cNvGraphicFramePr>
          <p:nvPr/>
        </p:nvGraphicFramePr>
        <p:xfrm>
          <a:off x="4343400" y="3048000"/>
          <a:ext cx="254000" cy="304800"/>
        </p:xfrm>
        <a:graphic>
          <a:graphicData uri="http://schemas.openxmlformats.org/presentationml/2006/ole">
            <mc:AlternateContent xmlns:mc="http://schemas.openxmlformats.org/markup-compatibility/2006">
              <mc:Choice xmlns:v="urn:schemas-microsoft-com:vml" Requires="v">
                <p:oleObj name="Equation" r:id="rId2" imgW="126720" imgH="152280" progId="Equation.3">
                  <p:embed/>
                </p:oleObj>
              </mc:Choice>
              <mc:Fallback>
                <p:oleObj name="Equation" r:id="rId2" imgW="126720" imgH="152280" progId="Equation.3">
                  <p:embed/>
                  <p:pic>
                    <p:nvPicPr>
                      <p:cNvPr id="28676" name="Object 4">
                        <a:extLst>
                          <a:ext uri="{FF2B5EF4-FFF2-40B4-BE49-F238E27FC236}">
                            <a16:creationId xmlns:a16="http://schemas.microsoft.com/office/drawing/2014/main" id="{7A9BC3C7-BAA5-4989-BABF-1E4F3C5BD7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048000"/>
                        <a:ext cx="254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7" name="Object 5">
            <a:extLst>
              <a:ext uri="{FF2B5EF4-FFF2-40B4-BE49-F238E27FC236}">
                <a16:creationId xmlns:a16="http://schemas.microsoft.com/office/drawing/2014/main" id="{026DBF9B-A530-4C9C-BA7F-11DF2EE0CC1E}"/>
              </a:ext>
            </a:extLst>
          </p:cNvPr>
          <p:cNvGraphicFramePr>
            <a:graphicFrameLocks noChangeAspect="1"/>
          </p:cNvGraphicFramePr>
          <p:nvPr/>
        </p:nvGraphicFramePr>
        <p:xfrm>
          <a:off x="4648200" y="5181600"/>
          <a:ext cx="254000" cy="304800"/>
        </p:xfrm>
        <a:graphic>
          <a:graphicData uri="http://schemas.openxmlformats.org/presentationml/2006/ole">
            <mc:AlternateContent xmlns:mc="http://schemas.openxmlformats.org/markup-compatibility/2006">
              <mc:Choice xmlns:v="urn:schemas-microsoft-com:vml" Requires="v">
                <p:oleObj name="Equation" r:id="rId4" imgW="126720" imgH="152280" progId="Equation.3">
                  <p:embed/>
                </p:oleObj>
              </mc:Choice>
              <mc:Fallback>
                <p:oleObj name="Equation" r:id="rId4" imgW="126720" imgH="152280" progId="Equation.3">
                  <p:embed/>
                  <p:pic>
                    <p:nvPicPr>
                      <p:cNvPr id="28677" name="Object 5">
                        <a:extLst>
                          <a:ext uri="{FF2B5EF4-FFF2-40B4-BE49-F238E27FC236}">
                            <a16:creationId xmlns:a16="http://schemas.microsoft.com/office/drawing/2014/main" id="{026DBF9B-A530-4C9C-BA7F-11DF2EE0C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5181600"/>
                        <a:ext cx="254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Box 4">
            <a:extLst>
              <a:ext uri="{FF2B5EF4-FFF2-40B4-BE49-F238E27FC236}">
                <a16:creationId xmlns:a16="http://schemas.microsoft.com/office/drawing/2014/main" id="{B21B947C-42C3-4023-B54A-E99FDD0E70E1}"/>
              </a:ext>
            </a:extLst>
          </p:cNvPr>
          <p:cNvSpPr txBox="1">
            <a:spLocks noChangeArrowheads="1"/>
          </p:cNvSpPr>
          <p:nvPr/>
        </p:nvSpPr>
        <p:spPr bwMode="auto">
          <a:xfrm>
            <a:off x="10160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Operation on Sets – Complement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1">
            <a:extLst>
              <a:ext uri="{FF2B5EF4-FFF2-40B4-BE49-F238E27FC236}">
                <a16:creationId xmlns:a16="http://schemas.microsoft.com/office/drawing/2014/main" id="{67CD695D-7C30-48A4-87FC-42595C1CE12B}"/>
              </a:ext>
            </a:extLst>
          </p:cNvPr>
          <p:cNvSpPr txBox="1">
            <a:spLocks noChangeArrowheads="1"/>
          </p:cNvSpPr>
          <p:nvPr/>
        </p:nvSpPr>
        <p:spPr bwMode="auto">
          <a:xfrm>
            <a:off x="2286002" y="990600"/>
            <a:ext cx="6981527"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Example:</a:t>
            </a:r>
          </a:p>
          <a:p>
            <a:pPr eaLnBrk="1" hangingPunct="1"/>
            <a:endParaRPr lang="en-US" altLang="en-US"/>
          </a:p>
          <a:p>
            <a:pPr eaLnBrk="1" hangingPunct="1"/>
            <a:r>
              <a:rPr lang="en-US" altLang="en-US"/>
              <a:t>Let N = {1, 2, 3,…..} be the universal set and A = {1, 3, 5, ….}, then</a:t>
            </a:r>
          </a:p>
          <a:p>
            <a:pPr eaLnBrk="1" hangingPunct="1"/>
            <a:endParaRPr lang="en-US" altLang="en-US"/>
          </a:p>
          <a:p>
            <a:pPr eaLnBrk="1" hangingPunct="1"/>
            <a:r>
              <a:rPr lang="en-US" altLang="en-US"/>
              <a:t>A’ = {2, 4, 6, ….}</a:t>
            </a:r>
          </a:p>
          <a:p>
            <a:pPr eaLnBrk="1" hangingPunct="1"/>
            <a:endParaRPr lang="en-US" altLang="en-US"/>
          </a:p>
          <a:p>
            <a:pPr eaLnBrk="1" hangingPunct="1"/>
            <a:endParaRPr lang="en-US" altLang="en-US"/>
          </a:p>
          <a:p>
            <a:pPr eaLnBrk="1" hangingPunct="1"/>
            <a:r>
              <a:rPr lang="en-US" altLang="en-US"/>
              <a:t>Let A = {a, b, c} and B = {b, c, d, e}</a:t>
            </a:r>
          </a:p>
          <a:p>
            <a:pPr eaLnBrk="1" hangingPunct="1"/>
            <a:endParaRPr lang="en-US" altLang="en-US"/>
          </a:p>
          <a:p>
            <a:pPr eaLnBrk="1" hangingPunct="1"/>
            <a:r>
              <a:rPr lang="en-US" altLang="en-US"/>
              <a:t>Then</a:t>
            </a:r>
          </a:p>
          <a:p>
            <a:pPr eaLnBrk="1" hangingPunct="1"/>
            <a:endParaRPr lang="en-US" altLang="en-US"/>
          </a:p>
          <a:p>
            <a:pPr eaLnBrk="1" hangingPunct="1"/>
            <a:r>
              <a:rPr lang="en-US" altLang="en-US"/>
              <a:t>A – B = {a} and</a:t>
            </a:r>
          </a:p>
          <a:p>
            <a:pPr eaLnBrk="1" hangingPunct="1"/>
            <a:endParaRPr lang="en-US" altLang="en-US"/>
          </a:p>
          <a:p>
            <a:pPr eaLnBrk="1" hangingPunct="1"/>
            <a:r>
              <a:rPr lang="en-US" altLang="en-US"/>
              <a:t>B – A = {d, e}</a:t>
            </a:r>
          </a:p>
        </p:txBody>
      </p:sp>
      <p:sp>
        <p:nvSpPr>
          <p:cNvPr id="3" name="TextBox 4">
            <a:extLst>
              <a:ext uri="{FF2B5EF4-FFF2-40B4-BE49-F238E27FC236}">
                <a16:creationId xmlns:a16="http://schemas.microsoft.com/office/drawing/2014/main" id="{5DC4EF6A-71B7-4D57-8013-13CB98A54FC1}"/>
              </a:ext>
            </a:extLst>
          </p:cNvPr>
          <p:cNvSpPr txBox="1">
            <a:spLocks noChangeArrowheads="1"/>
          </p:cNvSpPr>
          <p:nvPr/>
        </p:nvSpPr>
        <p:spPr bwMode="auto">
          <a:xfrm>
            <a:off x="10160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Example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1">
            <a:extLst>
              <a:ext uri="{FF2B5EF4-FFF2-40B4-BE49-F238E27FC236}">
                <a16:creationId xmlns:a16="http://schemas.microsoft.com/office/drawing/2014/main" id="{53237260-0863-4406-889E-B81C56622BF0}"/>
              </a:ext>
            </a:extLst>
          </p:cNvPr>
          <p:cNvSpPr txBox="1">
            <a:spLocks noChangeArrowheads="1"/>
          </p:cNvSpPr>
          <p:nvPr/>
        </p:nvSpPr>
        <p:spPr bwMode="auto">
          <a:xfrm>
            <a:off x="2438400" y="1066800"/>
            <a:ext cx="744332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Symmetric Difference:</a:t>
            </a:r>
          </a:p>
          <a:p>
            <a:pPr eaLnBrk="1" hangingPunct="1"/>
            <a:endParaRPr lang="en-US" altLang="en-US"/>
          </a:p>
          <a:p>
            <a:pPr eaLnBrk="1" hangingPunct="1"/>
            <a:r>
              <a:rPr lang="en-US" altLang="en-US"/>
              <a:t>The symmetric difference of two sets A and B, denoted by A </a:t>
            </a:r>
            <a:r>
              <a:rPr lang="el-GR" altLang="en-US"/>
              <a:t>Δ</a:t>
            </a:r>
            <a:r>
              <a:rPr lang="en-US" altLang="en-US"/>
              <a:t> B,</a:t>
            </a:r>
          </a:p>
          <a:p>
            <a:pPr eaLnBrk="1" hangingPunct="1"/>
            <a:r>
              <a:rPr lang="en-US" altLang="en-US"/>
              <a:t>Is the set of elements which belong to A or to B but not to both A and B.</a:t>
            </a:r>
          </a:p>
          <a:p>
            <a:pPr eaLnBrk="1" hangingPunct="1"/>
            <a:r>
              <a:rPr lang="en-US" altLang="en-US"/>
              <a:t>i.e.</a:t>
            </a:r>
          </a:p>
          <a:p>
            <a:pPr eaLnBrk="1" hangingPunct="1"/>
            <a:endParaRPr lang="en-US" altLang="en-US"/>
          </a:p>
          <a:p>
            <a:pPr eaLnBrk="1" hangingPunct="1"/>
            <a:r>
              <a:rPr lang="en-US" altLang="en-US"/>
              <a:t>A </a:t>
            </a:r>
            <a:r>
              <a:rPr lang="el-GR" altLang="en-US"/>
              <a:t>Δ</a:t>
            </a:r>
            <a:r>
              <a:rPr lang="en-US" altLang="en-US"/>
              <a:t> B = (A – B) U (B – A) = {x: x belongs to exactly one of A and B}.</a:t>
            </a:r>
          </a:p>
          <a:p>
            <a:pPr eaLnBrk="1" hangingPunct="1"/>
            <a:endParaRPr lang="en-US" altLang="en-US"/>
          </a:p>
          <a:p>
            <a:pPr eaLnBrk="1" hangingPunct="1"/>
            <a:r>
              <a:rPr lang="en-US" altLang="en-US"/>
              <a:t>Example:</a:t>
            </a:r>
          </a:p>
          <a:p>
            <a:pPr eaLnBrk="1" hangingPunct="1"/>
            <a:r>
              <a:rPr lang="en-US" altLang="en-US"/>
              <a:t>If A = {-3, 0, 1, 2} and B = { 1, 2, 3, 4}, then</a:t>
            </a:r>
          </a:p>
          <a:p>
            <a:pPr eaLnBrk="1" hangingPunct="1"/>
            <a:endParaRPr lang="en-US" altLang="en-US"/>
          </a:p>
          <a:p>
            <a:pPr eaLnBrk="1" hangingPunct="1"/>
            <a:r>
              <a:rPr lang="en-US" altLang="en-US"/>
              <a:t>A – B = {-3, 0}</a:t>
            </a:r>
          </a:p>
          <a:p>
            <a:pPr eaLnBrk="1" hangingPunct="1"/>
            <a:r>
              <a:rPr lang="en-US" altLang="en-US"/>
              <a:t>B – A = {3, 4}</a:t>
            </a:r>
          </a:p>
          <a:p>
            <a:pPr eaLnBrk="1" hangingPunct="1"/>
            <a:r>
              <a:rPr lang="en-US" altLang="en-US"/>
              <a:t>A </a:t>
            </a:r>
            <a:r>
              <a:rPr lang="el-GR" altLang="en-US"/>
              <a:t>Δ</a:t>
            </a:r>
            <a:r>
              <a:rPr lang="en-US" altLang="en-US"/>
              <a:t> B = {-3, 0} U { 3, 4} = {-3, 0, 3, 4}</a:t>
            </a:r>
          </a:p>
        </p:txBody>
      </p:sp>
      <p:sp>
        <p:nvSpPr>
          <p:cNvPr id="3" name="TextBox 4">
            <a:extLst>
              <a:ext uri="{FF2B5EF4-FFF2-40B4-BE49-F238E27FC236}">
                <a16:creationId xmlns:a16="http://schemas.microsoft.com/office/drawing/2014/main" id="{CF28635C-7A7D-40BD-A660-FE0BDCE309D9}"/>
              </a:ext>
            </a:extLst>
          </p:cNvPr>
          <p:cNvSpPr txBox="1">
            <a:spLocks noChangeArrowheads="1"/>
          </p:cNvSpPr>
          <p:nvPr/>
        </p:nvSpPr>
        <p:spPr bwMode="auto">
          <a:xfrm>
            <a:off x="10160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Symmetric Difference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98B507-04A2-4057-ABFD-692500F817DC}"/>
              </a:ext>
            </a:extLst>
          </p:cNvPr>
          <p:cNvSpPr/>
          <p:nvPr/>
        </p:nvSpPr>
        <p:spPr>
          <a:xfrm>
            <a:off x="1320800" y="1520786"/>
            <a:ext cx="9956800" cy="3785652"/>
          </a:xfrm>
          <a:prstGeom prst="rect">
            <a:avLst/>
          </a:prstGeom>
        </p:spPr>
        <p:txBody>
          <a:bodyPr wrap="square">
            <a:spAutoFit/>
          </a:bodyPr>
          <a:lstStyle/>
          <a:p>
            <a:r>
              <a:rPr lang="en-IN" sz="2400" dirty="0"/>
              <a:t> Let X = {Ram, Geeta, Akbar} be the set of students of Class XI, who are</a:t>
            </a:r>
          </a:p>
          <a:p>
            <a:r>
              <a:rPr lang="en-IN" sz="2400" dirty="0"/>
              <a:t>in school hockey team. Let Y = {Geeta, David, Ashok} be the set of students from Class XI who are in the school football team. Find X ∪ Y and interpret the set.</a:t>
            </a:r>
          </a:p>
          <a:p>
            <a:endParaRPr lang="en-IN" sz="2400" dirty="0"/>
          </a:p>
          <a:p>
            <a:endParaRPr lang="en-IN" sz="2400" dirty="0"/>
          </a:p>
          <a:p>
            <a:r>
              <a:rPr lang="en-IN" sz="2400" dirty="0"/>
              <a:t>We have, X ∪ Y = {Ram, Geeta, Akbar, David, Ashok}. </a:t>
            </a:r>
          </a:p>
          <a:p>
            <a:endParaRPr lang="en-IN" sz="2400" dirty="0"/>
          </a:p>
          <a:p>
            <a:r>
              <a:rPr lang="en-IN" sz="2400" dirty="0"/>
              <a:t>This is the set of students from Class XI who are in the hockey team or the football team or both.</a:t>
            </a:r>
          </a:p>
        </p:txBody>
      </p:sp>
      <p:sp>
        <p:nvSpPr>
          <p:cNvPr id="3" name="TextBox 4">
            <a:extLst>
              <a:ext uri="{FF2B5EF4-FFF2-40B4-BE49-F238E27FC236}">
                <a16:creationId xmlns:a16="http://schemas.microsoft.com/office/drawing/2014/main" id="{5FE1E61D-B00D-4806-B073-5293B3E28FCF}"/>
              </a:ext>
            </a:extLst>
          </p:cNvPr>
          <p:cNvSpPr txBox="1">
            <a:spLocks noChangeArrowheads="1"/>
          </p:cNvSpPr>
          <p:nvPr/>
        </p:nvSpPr>
        <p:spPr bwMode="auto">
          <a:xfrm>
            <a:off x="1117600" y="2413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Examples</a:t>
            </a:r>
          </a:p>
        </p:txBody>
      </p:sp>
    </p:spTree>
    <p:extLst>
      <p:ext uri="{BB962C8B-B14F-4D97-AF65-F5344CB8AC3E}">
        <p14:creationId xmlns:p14="http://schemas.microsoft.com/office/powerpoint/2010/main" val="1827766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35C249-4934-4A22-8F28-2EDF5FAACDE5}"/>
              </a:ext>
            </a:extLst>
          </p:cNvPr>
          <p:cNvSpPr/>
          <p:nvPr/>
        </p:nvSpPr>
        <p:spPr>
          <a:xfrm>
            <a:off x="1422400" y="2259449"/>
            <a:ext cx="9448800" cy="2677656"/>
          </a:xfrm>
          <a:prstGeom prst="rect">
            <a:avLst/>
          </a:prstGeom>
        </p:spPr>
        <p:txBody>
          <a:bodyPr wrap="square">
            <a:spAutoFit/>
          </a:bodyPr>
          <a:lstStyle/>
          <a:p>
            <a:r>
              <a:rPr lang="en-IN" sz="2400" dirty="0"/>
              <a:t>Let U be universal set of all the students of Class XI of a coeducational</a:t>
            </a:r>
          </a:p>
          <a:p>
            <a:r>
              <a:rPr lang="en-IN" sz="2400" dirty="0"/>
              <a:t>school and A be the set of all girls in Class XI. Find A′.</a:t>
            </a:r>
          </a:p>
          <a:p>
            <a:endParaRPr lang="en-IN" sz="2400" dirty="0"/>
          </a:p>
          <a:p>
            <a:endParaRPr lang="en-IN" sz="2400" dirty="0"/>
          </a:p>
          <a:p>
            <a:r>
              <a:rPr lang="en-IN" sz="2400" dirty="0"/>
              <a:t>Since A is the set of all girls, A′ is clearly the set of all boys in the class.</a:t>
            </a:r>
          </a:p>
        </p:txBody>
      </p:sp>
      <p:sp>
        <p:nvSpPr>
          <p:cNvPr id="3" name="TextBox 4">
            <a:extLst>
              <a:ext uri="{FF2B5EF4-FFF2-40B4-BE49-F238E27FC236}">
                <a16:creationId xmlns:a16="http://schemas.microsoft.com/office/drawing/2014/main" id="{D2E27559-0C29-478C-B121-73928D0D0A7D}"/>
              </a:ext>
            </a:extLst>
          </p:cNvPr>
          <p:cNvSpPr txBox="1">
            <a:spLocks noChangeArrowheads="1"/>
          </p:cNvSpPr>
          <p:nvPr/>
        </p:nvSpPr>
        <p:spPr bwMode="auto">
          <a:xfrm>
            <a:off x="1117600" y="2413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Examples</a:t>
            </a:r>
          </a:p>
        </p:txBody>
      </p:sp>
    </p:spTree>
    <p:extLst>
      <p:ext uri="{BB962C8B-B14F-4D97-AF65-F5344CB8AC3E}">
        <p14:creationId xmlns:p14="http://schemas.microsoft.com/office/powerpoint/2010/main" val="933180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812800" y="2006600"/>
            <a:ext cx="9652000" cy="3785652"/>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Taking the set of natural numbers as the universal set, write down the complement of the set  {x : x is an even natural number}</a:t>
            </a: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{x : x is an odd natural number}</a:t>
            </a:r>
          </a:p>
          <a:p>
            <a:r>
              <a:rPr lang="en-US" sz="2400" dirty="0">
                <a:latin typeface="Century Gothic" panose="020B0502020202020204" pitchFamily="34" charset="0"/>
                <a:cs typeface="Arial" panose="020B0604020202020204" pitchFamily="34" charset="0"/>
              </a:rPr>
              <a:t>(ii) {1, 3, 5, …..}</a:t>
            </a:r>
          </a:p>
          <a:p>
            <a:r>
              <a:rPr lang="en-US" sz="2400" dirty="0">
                <a:latin typeface="Century Gothic" panose="020B0502020202020204" pitchFamily="34" charset="0"/>
                <a:cs typeface="Arial" panose="020B0604020202020204" pitchFamily="34" charset="0"/>
              </a:rPr>
              <a:t>(iii) { x : x is a natural number} </a:t>
            </a:r>
          </a:p>
          <a:p>
            <a:r>
              <a:rPr lang="en-US" sz="2400" dirty="0">
                <a:latin typeface="Century Gothic" panose="020B0502020202020204" pitchFamily="34" charset="0"/>
                <a:cs typeface="Arial" panose="020B0604020202020204" pitchFamily="34" charset="0"/>
              </a:rPr>
              <a:t>(iv) { not defines}</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r>
              <a:rPr lang="en-IN" sz="2400" dirty="0">
                <a:latin typeface="Century Gothic" panose="020B0502020202020204" pitchFamily="34" charset="0"/>
                <a:cs typeface="Arial" panose="020B0604020202020204" pitchFamily="34" charset="0"/>
              </a:rPr>
              <a:t>, ii</a:t>
            </a: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p:spTree>
    <p:extLst>
      <p:ext uri="{BB962C8B-B14F-4D97-AF65-F5344CB8AC3E}">
        <p14:creationId xmlns:p14="http://schemas.microsoft.com/office/powerpoint/2010/main" val="4523981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 calcmode="lin" valueType="num">
                                      <p:cBhvr additive="base">
                                        <p:cTn id="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723363" y="2006600"/>
            <a:ext cx="10046237" cy="3416320"/>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Let U = { 1, 2, 3, 4, 5, 6, 7, 8, 9 }, A = { 1, 2, 3, 4}, B = { 2, 4, 6, 8 } and</a:t>
            </a:r>
          </a:p>
          <a:p>
            <a:r>
              <a:rPr lang="en-US" sz="2400" dirty="0">
                <a:latin typeface="Century Gothic" panose="020B0502020202020204" pitchFamily="34" charset="0"/>
                <a:cs typeface="Arial" panose="020B0604020202020204" pitchFamily="34" charset="0"/>
              </a:rPr>
              <a:t>C = { 3, 4, 5, 6 }. Find  (A ∪ C)′</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Null set</a:t>
            </a:r>
          </a:p>
          <a:p>
            <a:r>
              <a:rPr lang="en-US" sz="2400" dirty="0">
                <a:latin typeface="Century Gothic" panose="020B0502020202020204" pitchFamily="34" charset="0"/>
                <a:cs typeface="Arial" panose="020B0604020202020204" pitchFamily="34" charset="0"/>
              </a:rPr>
              <a:t>(ii) {1, 2, 3, 4, 6, 8}</a:t>
            </a:r>
          </a:p>
          <a:p>
            <a:r>
              <a:rPr lang="en-US" sz="2400" dirty="0">
                <a:latin typeface="Century Gothic" panose="020B0502020202020204" pitchFamily="34" charset="0"/>
                <a:cs typeface="Arial" panose="020B0604020202020204" pitchFamily="34" charset="0"/>
              </a:rPr>
              <a:t>(iii) { 7, 8, 9}</a:t>
            </a:r>
          </a:p>
          <a:p>
            <a:r>
              <a:rPr lang="en-US" sz="2400" dirty="0">
                <a:latin typeface="Century Gothic" panose="020B0502020202020204" pitchFamily="34" charset="0"/>
                <a:cs typeface="Arial" panose="020B0604020202020204" pitchFamily="34" charset="0"/>
              </a:rPr>
              <a:t>(iv) { 1, 2, 2, 3, 4, 4, 6, 8}</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iii</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2</a:t>
            </a:r>
          </a:p>
        </p:txBody>
      </p:sp>
    </p:spTree>
    <p:extLst>
      <p:ext uri="{BB962C8B-B14F-4D97-AF65-F5344CB8AC3E}">
        <p14:creationId xmlns:p14="http://schemas.microsoft.com/office/powerpoint/2010/main" val="2586464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 calcmode="lin" valueType="num">
                                      <p:cBhvr additive="base">
                                        <p:cTn id="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016001" y="1890118"/>
            <a:ext cx="10159999"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State whether each of the following sets are disjoint.</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 2, 3, 4, 5 } and { 3, 6}.</a:t>
            </a:r>
          </a:p>
          <a:p>
            <a:r>
              <a:rPr lang="en-US" sz="2400" dirty="0">
                <a:latin typeface="Century Gothic" panose="020B0502020202020204" pitchFamily="34" charset="0"/>
                <a:cs typeface="Arial" panose="020B0604020202020204" pitchFamily="34" charset="0"/>
              </a:rPr>
              <a:t>(ii) { a, e, </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o, u } and { a, b, c, d }.</a:t>
            </a:r>
          </a:p>
          <a:p>
            <a:r>
              <a:rPr lang="en-US" sz="2400" dirty="0">
                <a:latin typeface="Century Gothic" panose="020B0502020202020204" pitchFamily="34" charset="0"/>
                <a:cs typeface="Arial" panose="020B0604020202020204" pitchFamily="34" charset="0"/>
              </a:rPr>
              <a:t>(iii) { 2, 6, 10, 14 } and { 3, 7, 11, 15}.</a:t>
            </a:r>
          </a:p>
          <a:p>
            <a:r>
              <a:rPr lang="en-US" sz="2400" dirty="0">
                <a:latin typeface="Century Gothic" panose="020B0502020202020204" pitchFamily="34" charset="0"/>
                <a:cs typeface="Arial" panose="020B0604020202020204" pitchFamily="34" charset="0"/>
              </a:rPr>
              <a:t>(iv) { 2, 6, 10 } and { 3, 7, 11}.</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iii, iv</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3</a:t>
            </a:r>
          </a:p>
        </p:txBody>
      </p:sp>
    </p:spTree>
    <p:extLst>
      <p:ext uri="{BB962C8B-B14F-4D97-AF65-F5344CB8AC3E}">
        <p14:creationId xmlns:p14="http://schemas.microsoft.com/office/powerpoint/2010/main" val="7126485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812800" y="889001"/>
            <a:ext cx="10566400" cy="4524315"/>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If R is the set of real numbers and Q is the set of rational numbers, then what is R – Q?</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The set of irrational numbers.</a:t>
            </a:r>
          </a:p>
          <a:p>
            <a:r>
              <a:rPr lang="en-US" sz="2400" dirty="0">
                <a:latin typeface="Century Gothic" panose="020B0502020202020204" pitchFamily="34" charset="0"/>
                <a:cs typeface="Arial" panose="020B0604020202020204" pitchFamily="34" charset="0"/>
              </a:rPr>
              <a:t>(ii) The set of real numbers.</a:t>
            </a:r>
          </a:p>
          <a:p>
            <a:r>
              <a:rPr lang="en-US" sz="2400" dirty="0">
                <a:latin typeface="Century Gothic" panose="020B0502020202020204" pitchFamily="34" charset="0"/>
                <a:cs typeface="Arial" panose="020B0604020202020204" pitchFamily="34" charset="0"/>
              </a:rPr>
              <a:t>(iii) The set of natural numbers.</a:t>
            </a:r>
          </a:p>
          <a:p>
            <a:r>
              <a:rPr lang="en-US" sz="2400" dirty="0">
                <a:latin typeface="Century Gothic" panose="020B0502020202020204" pitchFamily="34" charset="0"/>
                <a:cs typeface="Arial" panose="020B0604020202020204" pitchFamily="34" charset="0"/>
              </a:rPr>
              <a:t>(iv) The set of complex numbers.</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US" sz="2400" dirty="0"/>
              <a:t>We know that set of real numbers contain rational and irrational numbers. So R – Q = set of irrational numbers.</a:t>
            </a:r>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4</a:t>
            </a:r>
          </a:p>
        </p:txBody>
      </p:sp>
    </p:spTree>
    <p:extLst>
      <p:ext uri="{BB962C8B-B14F-4D97-AF65-F5344CB8AC3E}">
        <p14:creationId xmlns:p14="http://schemas.microsoft.com/office/powerpoint/2010/main" val="32897817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anim calcmode="lin" valueType="num">
                                      <p:cBhvr additive="base">
                                        <p:cTn id="1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723363" y="889001"/>
            <a:ext cx="10871200" cy="5838201"/>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Which of the following pairs of sets are disjoint</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{1, 2, 3, 4} and {x : x is a natural number and 4 ≤ x ≤ 6 }</a:t>
            </a:r>
          </a:p>
          <a:p>
            <a:r>
              <a:rPr lang="en-US" sz="2400" dirty="0">
                <a:latin typeface="Century Gothic" panose="020B0502020202020204" pitchFamily="34" charset="0"/>
                <a:cs typeface="Arial" panose="020B0604020202020204" pitchFamily="34" charset="0"/>
              </a:rPr>
              <a:t>(ii) { a, e, </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o, u } and { c, d, e, f }</a:t>
            </a:r>
          </a:p>
          <a:p>
            <a:r>
              <a:rPr lang="en-US" sz="2400" dirty="0">
                <a:latin typeface="Century Gothic" panose="020B0502020202020204" pitchFamily="34" charset="0"/>
                <a:cs typeface="Arial" panose="020B0604020202020204" pitchFamily="34" charset="0"/>
              </a:rPr>
              <a:t>(iii) {x : x is an even integer } and {x : x is an odd integer}</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iii</a:t>
            </a:r>
          </a:p>
          <a:p>
            <a:r>
              <a:rPr lang="en-US" sz="1867" b="1" dirty="0"/>
              <a:t>(</a:t>
            </a:r>
            <a:r>
              <a:rPr lang="en-US" sz="1867" b="1" dirty="0" err="1"/>
              <a:t>i</a:t>
            </a:r>
            <a:r>
              <a:rPr lang="en-US" sz="1867" b="1" dirty="0"/>
              <a:t>) Let A = {1,2,3,4}</a:t>
            </a:r>
          </a:p>
          <a:p>
            <a:r>
              <a:rPr lang="en-US" sz="1867" b="1" dirty="0"/>
              <a:t>and B = {x: x is a natural number and 4 ≤ x ≤ 6} = {4, 5, 6}</a:t>
            </a:r>
          </a:p>
          <a:p>
            <a:r>
              <a:rPr lang="en-US" sz="1867" b="1" dirty="0"/>
              <a:t>∴ A ∩ B = {1,2,3,4} n {4,5, 6} = {4}</a:t>
            </a:r>
          </a:p>
          <a:p>
            <a:r>
              <a:rPr lang="en-US" sz="1867" b="1" dirty="0"/>
              <a:t>Hence A and B are not disjoint sets.</a:t>
            </a:r>
          </a:p>
          <a:p>
            <a:endParaRPr lang="en-US" sz="1867" b="1" dirty="0"/>
          </a:p>
          <a:p>
            <a:r>
              <a:rPr lang="en-US" sz="1867" b="1" dirty="0"/>
              <a:t>(ii) Let A = {a, e, </a:t>
            </a:r>
            <a:r>
              <a:rPr lang="en-US" sz="1867" b="1" dirty="0" err="1"/>
              <a:t>i</a:t>
            </a:r>
            <a:r>
              <a:rPr lang="en-US" sz="1867" b="1" dirty="0"/>
              <a:t>, o, u} and B = {c, d, e, f}</a:t>
            </a:r>
          </a:p>
          <a:p>
            <a:r>
              <a:rPr lang="en-US" sz="1867" b="1" dirty="0"/>
              <a:t>∴ A ∩ B = {e}</a:t>
            </a:r>
          </a:p>
          <a:p>
            <a:r>
              <a:rPr lang="en-US" sz="1867" b="1" dirty="0"/>
              <a:t>Hence A and B are not disjoint sets.</a:t>
            </a:r>
          </a:p>
          <a:p>
            <a:endParaRPr lang="en-US" sz="1867" b="1" dirty="0"/>
          </a:p>
          <a:p>
            <a:r>
              <a:rPr lang="en-US" sz="1867" b="1" dirty="0"/>
              <a:t>(iii) Let A = {x : x is an even integer} and B = {x: x is an odd integer}</a:t>
            </a:r>
          </a:p>
          <a:p>
            <a:r>
              <a:rPr lang="en-US" sz="1867" b="1" dirty="0"/>
              <a:t>∴ A ∩ B = </a:t>
            </a:r>
            <a:r>
              <a:rPr lang="el-GR" sz="1867" b="1" dirty="0"/>
              <a:t>φ. </a:t>
            </a:r>
            <a:r>
              <a:rPr lang="en-US" sz="1867" b="1" dirty="0"/>
              <a:t>Hence A and B are disjoint sets.</a:t>
            </a:r>
            <a:endParaRPr lang="en-IN" sz="1867"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5</a:t>
            </a:r>
          </a:p>
        </p:txBody>
      </p:sp>
    </p:spTree>
    <p:extLst>
      <p:ext uri="{BB962C8B-B14F-4D97-AF65-F5344CB8AC3E}">
        <p14:creationId xmlns:p14="http://schemas.microsoft.com/office/powerpoint/2010/main" val="27147048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 calcmode="lin" valueType="num">
                                      <p:cBhvr additive="base">
                                        <p:cTn id="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anim calcmode="lin" valueType="num">
                                      <p:cBhvr additive="base">
                                        <p:cTn id="1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anim calcmode="lin" valueType="num">
                                      <p:cBhvr additive="base">
                                        <p:cTn id="1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anim calcmode="lin" valueType="num">
                                      <p:cBhvr additive="base">
                                        <p:cTn id="1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anim calcmode="lin" valueType="num">
                                      <p:cBhvr additive="base">
                                        <p:cTn id="23"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12" end="12"/>
                                            </p:txEl>
                                          </p:spTgt>
                                        </p:tgtEl>
                                        <p:attrNameLst>
                                          <p:attrName>style.visibility</p:attrName>
                                        </p:attrNameLst>
                                      </p:cBhvr>
                                      <p:to>
                                        <p:strVal val="visible"/>
                                      </p:to>
                                    </p:set>
                                    <p:anim calcmode="lin" valueType="num">
                                      <p:cBhvr additive="base">
                                        <p:cTn id="27"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13" end="13"/>
                                            </p:txEl>
                                          </p:spTgt>
                                        </p:tgtEl>
                                        <p:attrNameLst>
                                          <p:attrName>style.visibility</p:attrName>
                                        </p:attrNameLst>
                                      </p:cBhvr>
                                      <p:to>
                                        <p:strVal val="visible"/>
                                      </p:to>
                                    </p:set>
                                    <p:anim calcmode="lin" valueType="num">
                                      <p:cBhvr additive="base">
                                        <p:cTn id="31"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14" end="14"/>
                                            </p:txEl>
                                          </p:spTgt>
                                        </p:tgtEl>
                                        <p:attrNameLst>
                                          <p:attrName>style.visibility</p:attrName>
                                        </p:attrNameLst>
                                      </p:cBhvr>
                                      <p:to>
                                        <p:strVal val="visible"/>
                                      </p:to>
                                    </p:set>
                                    <p:anim calcmode="lin" valueType="num">
                                      <p:cBhvr additive="base">
                                        <p:cTn id="35"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16" end="16"/>
                                            </p:txEl>
                                          </p:spTgt>
                                        </p:tgtEl>
                                        <p:attrNameLst>
                                          <p:attrName>style.visibility</p:attrName>
                                        </p:attrNameLst>
                                      </p:cBhvr>
                                      <p:to>
                                        <p:strVal val="visible"/>
                                      </p:to>
                                    </p:set>
                                    <p:anim calcmode="lin" valueType="num">
                                      <p:cBhvr additive="base">
                                        <p:cTn id="39" dur="500" fill="hold"/>
                                        <p:tgtEl>
                                          <p:spTgt spid="4">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16" end="1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
                                            <p:txEl>
                                              <p:pRg st="17" end="17"/>
                                            </p:txEl>
                                          </p:spTgt>
                                        </p:tgtEl>
                                        <p:attrNameLst>
                                          <p:attrName>style.visibility</p:attrName>
                                        </p:attrNameLst>
                                      </p:cBhvr>
                                      <p:to>
                                        <p:strVal val="visible"/>
                                      </p:to>
                                    </p:set>
                                    <p:anim calcmode="lin" valueType="num">
                                      <p:cBhvr additive="base">
                                        <p:cTn id="43" dur="500" fill="hold"/>
                                        <p:tgtEl>
                                          <p:spTgt spid="4">
                                            <p:txEl>
                                              <p:pRg st="17" end="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4">
            <a:extLst>
              <a:ext uri="{FF2B5EF4-FFF2-40B4-BE49-F238E27FC236}">
                <a16:creationId xmlns:a16="http://schemas.microsoft.com/office/drawing/2014/main" id="{9C262B92-17C2-4456-B9D5-B2108D8936B1}"/>
              </a:ext>
            </a:extLst>
          </p:cNvPr>
          <p:cNvSpPr txBox="1">
            <a:spLocks noChangeArrowheads="1"/>
          </p:cNvSpPr>
          <p:nvPr/>
        </p:nvSpPr>
        <p:spPr bwMode="auto">
          <a:xfrm>
            <a:off x="13208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Sub Set</a:t>
            </a:r>
          </a:p>
        </p:txBody>
      </p:sp>
      <p:sp>
        <p:nvSpPr>
          <p:cNvPr id="18435" name="TextBox 2">
            <a:extLst>
              <a:ext uri="{FF2B5EF4-FFF2-40B4-BE49-F238E27FC236}">
                <a16:creationId xmlns:a16="http://schemas.microsoft.com/office/drawing/2014/main" id="{8BDC648E-FF3B-418C-8078-B3EF0CD6E1AA}"/>
              </a:ext>
            </a:extLst>
          </p:cNvPr>
          <p:cNvSpPr txBox="1">
            <a:spLocks noChangeArrowheads="1"/>
          </p:cNvSpPr>
          <p:nvPr/>
        </p:nvSpPr>
        <p:spPr bwMode="auto">
          <a:xfrm>
            <a:off x="2819400" y="1600201"/>
            <a:ext cx="6874702"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A set A is a subset of a set B if A is "contained" inside B. </a:t>
            </a:r>
          </a:p>
          <a:p>
            <a:pPr eaLnBrk="1" hangingPunct="1"/>
            <a:r>
              <a:rPr lang="en-US" altLang="en-US" dirty="0"/>
              <a:t>A and B may coincide. The relationship of one set being a subset </a:t>
            </a:r>
          </a:p>
          <a:p>
            <a:pPr eaLnBrk="1" hangingPunct="1"/>
            <a:r>
              <a:rPr lang="en-US" altLang="en-US" dirty="0"/>
              <a:t>of another is called inclusion or sometimes containment. </a:t>
            </a:r>
          </a:p>
          <a:p>
            <a:pPr eaLnBrk="1" hangingPunct="1"/>
            <a:r>
              <a:rPr lang="en-US" altLang="en-US" dirty="0"/>
              <a:t>Correspondingly, set B is a superset of A since all elements of A </a:t>
            </a:r>
          </a:p>
          <a:p>
            <a:pPr eaLnBrk="1" hangingPunct="1"/>
            <a:r>
              <a:rPr lang="en-US" altLang="en-US" dirty="0"/>
              <a:t>are also elements of B.</a:t>
            </a:r>
          </a:p>
          <a:p>
            <a:pPr eaLnBrk="1" hangingPunct="1"/>
            <a:endParaRPr lang="en-US" altLang="en-US" dirty="0"/>
          </a:p>
          <a:p>
            <a:pPr eaLnBrk="1" hangingPunct="1"/>
            <a:endParaRPr lang="en-US" altLang="en-US" dirty="0"/>
          </a:p>
        </p:txBody>
      </p:sp>
      <p:pic>
        <p:nvPicPr>
          <p:cNvPr id="18436" name="Picture 3">
            <a:extLst>
              <a:ext uri="{FF2B5EF4-FFF2-40B4-BE49-F238E27FC236}">
                <a16:creationId xmlns:a16="http://schemas.microsoft.com/office/drawing/2014/main" id="{20C90B8D-697E-49A1-9D9D-09F6153F4D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3581400"/>
            <a:ext cx="2438400" cy="2406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Box 1">
            <a:extLst>
              <a:ext uri="{FF2B5EF4-FFF2-40B4-BE49-F238E27FC236}">
                <a16:creationId xmlns:a16="http://schemas.microsoft.com/office/drawing/2014/main" id="{B398CE3D-E036-4388-AA22-609C9CF89AFA}"/>
              </a:ext>
            </a:extLst>
          </p:cNvPr>
          <p:cNvSpPr txBox="1">
            <a:spLocks noChangeArrowheads="1"/>
          </p:cNvSpPr>
          <p:nvPr/>
        </p:nvSpPr>
        <p:spPr bwMode="auto">
          <a:xfrm>
            <a:off x="2438400" y="1066802"/>
            <a:ext cx="750744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If A and B are sets and every element of A is also an element of B, then:</a:t>
            </a:r>
          </a:p>
          <a:p>
            <a:pPr eaLnBrk="1" hangingPunct="1"/>
            <a:endParaRPr lang="en-US" altLang="en-US"/>
          </a:p>
          <a:p>
            <a:pPr eaLnBrk="1" hangingPunct="1"/>
            <a:r>
              <a:rPr lang="en-US" altLang="en-US"/>
              <a:t>A is a subset of (or is included in) B, denoted by                  ,</a:t>
            </a:r>
          </a:p>
          <a:p>
            <a:pPr eaLnBrk="1" hangingPunct="1"/>
            <a:r>
              <a:rPr lang="en-US" altLang="en-US"/>
              <a:t>or equivalently </a:t>
            </a:r>
          </a:p>
          <a:p>
            <a:pPr eaLnBrk="1" hangingPunct="1"/>
            <a:r>
              <a:rPr lang="en-US" altLang="en-US"/>
              <a:t>B is a superset of (or includes) A, denoted by </a:t>
            </a:r>
          </a:p>
          <a:p>
            <a:pPr eaLnBrk="1" hangingPunct="1"/>
            <a:endParaRPr lang="en-US" altLang="en-US"/>
          </a:p>
          <a:p>
            <a:pPr eaLnBrk="1" hangingPunct="1"/>
            <a:r>
              <a:rPr lang="en-US" altLang="en-US"/>
              <a:t>If </a:t>
            </a:r>
            <a:r>
              <a:rPr lang="en-US" altLang="en-US" i="1"/>
              <a:t>A</a:t>
            </a:r>
            <a:r>
              <a:rPr lang="en-US" altLang="en-US"/>
              <a:t> is a subset of </a:t>
            </a:r>
            <a:r>
              <a:rPr lang="en-US" altLang="en-US" i="1"/>
              <a:t>B</a:t>
            </a:r>
            <a:r>
              <a:rPr lang="en-US" altLang="en-US"/>
              <a:t>, but </a:t>
            </a:r>
            <a:r>
              <a:rPr lang="en-US" altLang="en-US" i="1"/>
              <a:t>A</a:t>
            </a:r>
            <a:r>
              <a:rPr lang="en-US" altLang="en-US"/>
              <a:t> is not equal to </a:t>
            </a:r>
            <a:r>
              <a:rPr lang="en-US" altLang="en-US" i="1"/>
              <a:t>B</a:t>
            </a:r>
            <a:r>
              <a:rPr lang="en-US" altLang="en-US"/>
              <a:t> (i.e. there exists at least one</a:t>
            </a:r>
          </a:p>
          <a:p>
            <a:pPr eaLnBrk="1" hangingPunct="1"/>
            <a:r>
              <a:rPr lang="en-US" altLang="en-US"/>
              <a:t> element of B not contained in </a:t>
            </a:r>
            <a:r>
              <a:rPr lang="en-US" altLang="en-US" i="1"/>
              <a:t>A</a:t>
            </a:r>
            <a:r>
              <a:rPr lang="en-US" altLang="en-US"/>
              <a:t>), then</a:t>
            </a:r>
          </a:p>
          <a:p>
            <a:pPr eaLnBrk="1" hangingPunct="1"/>
            <a:r>
              <a:rPr lang="en-US" altLang="en-US" i="1"/>
              <a:t>A</a:t>
            </a:r>
            <a:r>
              <a:rPr lang="en-US" altLang="en-US"/>
              <a:t> is also a </a:t>
            </a:r>
            <a:r>
              <a:rPr lang="en-US" altLang="en-US" b="1"/>
              <a:t>proper</a:t>
            </a:r>
            <a:r>
              <a:rPr lang="en-US" altLang="en-US"/>
              <a:t> (or </a:t>
            </a:r>
            <a:r>
              <a:rPr lang="en-US" altLang="en-US" b="1"/>
              <a:t>strict</a:t>
            </a:r>
            <a:r>
              <a:rPr lang="en-US" altLang="en-US"/>
              <a:t>) subset of </a:t>
            </a:r>
            <a:r>
              <a:rPr lang="en-US" altLang="en-US" i="1"/>
              <a:t>B</a:t>
            </a:r>
            <a:r>
              <a:rPr lang="en-US" altLang="en-US"/>
              <a:t>; this is written as </a:t>
            </a:r>
          </a:p>
          <a:p>
            <a:pPr eaLnBrk="1" hangingPunct="1"/>
            <a:r>
              <a:rPr lang="en-US" altLang="en-US"/>
              <a:t>or equivalently </a:t>
            </a:r>
          </a:p>
          <a:p>
            <a:pPr eaLnBrk="1" hangingPunct="1"/>
            <a:r>
              <a:rPr lang="en-US" altLang="en-US" i="1"/>
              <a:t>B</a:t>
            </a:r>
            <a:r>
              <a:rPr lang="en-US" altLang="en-US"/>
              <a:t> is a proper superset of </a:t>
            </a:r>
            <a:r>
              <a:rPr lang="en-US" altLang="en-US" i="1"/>
              <a:t>A</a:t>
            </a:r>
            <a:r>
              <a:rPr lang="en-US" altLang="en-US"/>
              <a:t>; this is written as </a:t>
            </a:r>
          </a:p>
          <a:p>
            <a:pPr eaLnBrk="1" hangingPunct="1"/>
            <a:r>
              <a:rPr lang="en-US" altLang="en-US"/>
              <a:t> </a:t>
            </a:r>
          </a:p>
        </p:txBody>
      </p:sp>
      <p:pic>
        <p:nvPicPr>
          <p:cNvPr id="19459" name="Picture 2" descr="A \subseteq B">
            <a:extLst>
              <a:ext uri="{FF2B5EF4-FFF2-40B4-BE49-F238E27FC236}">
                <a16:creationId xmlns:a16="http://schemas.microsoft.com/office/drawing/2014/main" id="{B7FB75DA-A76D-4753-90DC-E2486B241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1676400"/>
            <a:ext cx="838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Rectangle 1">
            <a:extLst>
              <a:ext uri="{FF2B5EF4-FFF2-40B4-BE49-F238E27FC236}">
                <a16:creationId xmlns:a16="http://schemas.microsoft.com/office/drawing/2014/main" id="{8B55BAD9-4037-40DC-ADE8-5463180824DC}"/>
              </a:ext>
            </a:extLst>
          </p:cNvPr>
          <p:cNvSpPr>
            <a:spLocks noChangeArrowheads="1"/>
          </p:cNvSpPr>
          <p:nvPr/>
        </p:nvSpPr>
        <p:spPr bwMode="auto">
          <a:xfrm>
            <a:off x="1524000" y="-276999"/>
            <a:ext cx="2564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5392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a:p>
            <a:endParaRPr lang="en-US" altLang="en-US"/>
          </a:p>
        </p:txBody>
      </p:sp>
      <p:pic>
        <p:nvPicPr>
          <p:cNvPr id="19461" name="Picture 5" descr="B \supseteq A.">
            <a:extLst>
              <a:ext uri="{FF2B5EF4-FFF2-40B4-BE49-F238E27FC236}">
                <a16:creationId xmlns:a16="http://schemas.microsoft.com/office/drawing/2014/main" id="{6C58310F-44C2-4FC1-9A2A-5794D88C16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1" y="2286000"/>
            <a:ext cx="971551"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6" descr="A\subsetneq B.">
            <a:extLst>
              <a:ext uri="{FF2B5EF4-FFF2-40B4-BE49-F238E27FC236}">
                <a16:creationId xmlns:a16="http://schemas.microsoft.com/office/drawing/2014/main" id="{00CDCFBA-2444-44C5-8415-0A0C09244B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8200" y="3352802"/>
            <a:ext cx="8382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7" descr="B\supsetneq A.">
            <a:extLst>
              <a:ext uri="{FF2B5EF4-FFF2-40B4-BE49-F238E27FC236}">
                <a16:creationId xmlns:a16="http://schemas.microsoft.com/office/drawing/2014/main" id="{E652B7EC-68E7-4E96-83FF-E06031CCBB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1" y="3886202"/>
            <a:ext cx="819151"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66611D-E623-4AEE-B17F-92D45639AF00}"/>
              </a:ext>
            </a:extLst>
          </p:cNvPr>
          <p:cNvSpPr txBox="1"/>
          <p:nvPr/>
        </p:nvSpPr>
        <p:spPr>
          <a:xfrm>
            <a:off x="2209802" y="1106488"/>
            <a:ext cx="7849265" cy="4801314"/>
          </a:xfrm>
          <a:prstGeom prst="rect">
            <a:avLst/>
          </a:prstGeom>
          <a:noFill/>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Examples:</a:t>
            </a:r>
          </a:p>
          <a:p>
            <a:pPr eaLnBrk="1" hangingPunct="1"/>
            <a:endParaRPr lang="en-US" altLang="en-US"/>
          </a:p>
          <a:p>
            <a:pPr eaLnBrk="1" hangingPunct="1">
              <a:buFont typeface="Arial" panose="020B0604020202020204" pitchFamily="34" charset="0"/>
              <a:buAutoNum type="arabicPeriod"/>
            </a:pPr>
            <a:r>
              <a:rPr lang="en-US" altLang="en-US"/>
              <a:t>  The set {1, 2} is a proper subset of {1, 2, 3}.</a:t>
            </a:r>
          </a:p>
          <a:p>
            <a:pPr eaLnBrk="1" hangingPunct="1">
              <a:buFont typeface="Arial" panose="020B0604020202020204" pitchFamily="34" charset="0"/>
              <a:buAutoNum type="arabicPeriod"/>
            </a:pPr>
            <a:endParaRPr lang="en-US" altLang="en-US"/>
          </a:p>
          <a:p>
            <a:pPr eaLnBrk="1" hangingPunct="1">
              <a:buFont typeface="Arial" panose="020B0604020202020204" pitchFamily="34" charset="0"/>
              <a:buAutoNum type="arabicPeriod"/>
            </a:pPr>
            <a:r>
              <a:rPr lang="en-US" altLang="en-US"/>
              <a:t>   Any set is a subset of itself, but not a proper subset.</a:t>
            </a:r>
          </a:p>
          <a:p>
            <a:pPr eaLnBrk="1" hangingPunct="1">
              <a:buFont typeface="Arial" panose="020B0604020202020204" pitchFamily="34" charset="0"/>
              <a:buAutoNum type="arabicPeriod"/>
            </a:pPr>
            <a:endParaRPr lang="en-US" altLang="en-US"/>
          </a:p>
          <a:p>
            <a:pPr eaLnBrk="1" hangingPunct="1">
              <a:buFont typeface="Arial" panose="020B0604020202020204" pitchFamily="34" charset="0"/>
              <a:buAutoNum type="arabicPeriod"/>
            </a:pPr>
            <a:r>
              <a:rPr lang="en-US" altLang="en-US"/>
              <a:t>   The empty set, denoted by </a:t>
            </a:r>
            <a:r>
              <a:rPr lang="el-GR" altLang="en-US">
                <a:cs typeface="Arial" panose="020B0604020202020204" pitchFamily="34" charset="0"/>
              </a:rPr>
              <a:t>Φ</a:t>
            </a:r>
            <a:r>
              <a:rPr lang="en-US" altLang="en-US"/>
              <a:t>, is also a subset of any given set X.</a:t>
            </a:r>
          </a:p>
          <a:p>
            <a:pPr eaLnBrk="1" hangingPunct="1"/>
            <a:r>
              <a:rPr lang="en-US" altLang="en-US"/>
              <a:t>      It also is always a proper subset, except of itself.</a:t>
            </a:r>
          </a:p>
          <a:p>
            <a:pPr eaLnBrk="1" hangingPunct="1"/>
            <a:endParaRPr lang="en-US" altLang="en-US"/>
          </a:p>
          <a:p>
            <a:pPr eaLnBrk="1" hangingPunct="1">
              <a:buFontTx/>
              <a:buAutoNum type="arabicPeriod" startAt="4"/>
            </a:pPr>
            <a:r>
              <a:rPr lang="en-US" altLang="en-US"/>
              <a:t>  The set {x: x is a prime number greater than 2000} is a proper subset</a:t>
            </a:r>
          </a:p>
          <a:p>
            <a:pPr eaLnBrk="1" hangingPunct="1"/>
            <a:r>
              <a:rPr lang="en-US" altLang="en-US"/>
              <a:t>      of {x: x is an odd number greater than 1000}</a:t>
            </a:r>
          </a:p>
          <a:p>
            <a:pPr eaLnBrk="1" hangingPunct="1"/>
            <a:endParaRPr lang="en-US" altLang="en-US"/>
          </a:p>
          <a:p>
            <a:pPr eaLnBrk="1" hangingPunct="1">
              <a:buFontTx/>
              <a:buAutoNum type="arabicPeriod" startAt="5"/>
            </a:pPr>
            <a:r>
              <a:rPr lang="en-US" altLang="en-US"/>
              <a:t>  The set of natural numbers is a proper subset of the set of rational</a:t>
            </a:r>
          </a:p>
          <a:p>
            <a:pPr eaLnBrk="1" hangingPunct="1"/>
            <a:r>
              <a:rPr lang="en-US" altLang="en-US"/>
              <a:t>      numbers and the set of points in a line segment is a proper subset </a:t>
            </a:r>
          </a:p>
          <a:p>
            <a:pPr eaLnBrk="1" hangingPunct="1"/>
            <a:r>
              <a:rPr lang="en-US" altLang="en-US"/>
              <a:t>      of the set of points in a line. These are examples in which both the part </a:t>
            </a:r>
          </a:p>
          <a:p>
            <a:pPr eaLnBrk="1" hangingPunct="1"/>
            <a:r>
              <a:rPr lang="en-US" altLang="en-US"/>
              <a:t>      and the whole are infinite.</a:t>
            </a:r>
          </a:p>
          <a:p>
            <a:pPr eaLnBrk="1" hangingPunct="1"/>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1">
            <a:extLst>
              <a:ext uri="{FF2B5EF4-FFF2-40B4-BE49-F238E27FC236}">
                <a16:creationId xmlns:a16="http://schemas.microsoft.com/office/drawing/2014/main" id="{5B23E153-4DDC-48A5-A927-F25ECAF90AB9}"/>
              </a:ext>
            </a:extLst>
          </p:cNvPr>
          <p:cNvSpPr txBox="1">
            <a:spLocks noChangeArrowheads="1"/>
          </p:cNvSpPr>
          <p:nvPr/>
        </p:nvSpPr>
        <p:spPr bwMode="auto">
          <a:xfrm>
            <a:off x="2286001" y="2133601"/>
            <a:ext cx="827675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AutoNum type="arabicPeriod" startAt="6"/>
            </a:pPr>
            <a:r>
              <a:rPr lang="en-US" altLang="en-US"/>
              <a:t>The set A = {1, 3, 4} is a subset of B  = {1, 2, 3, 4, 5}, because each element</a:t>
            </a:r>
          </a:p>
          <a:p>
            <a:pPr eaLnBrk="1" hangingPunct="1"/>
            <a:r>
              <a:rPr lang="en-US" altLang="en-US"/>
              <a:t>      of A also belongs to the set B.</a:t>
            </a:r>
          </a:p>
          <a:p>
            <a:pPr eaLnBrk="1" hangingPunct="1"/>
            <a:endParaRPr lang="en-US" altLang="en-US"/>
          </a:p>
          <a:p>
            <a:pPr eaLnBrk="1" hangingPunct="1">
              <a:buFontTx/>
              <a:buAutoNum type="arabicPeriod" startAt="7"/>
            </a:pPr>
            <a:r>
              <a:rPr lang="en-US" altLang="en-US"/>
              <a:t>If A = {6, 5, 4} and B = {4, 5, 6}</a:t>
            </a:r>
          </a:p>
          <a:p>
            <a:pPr eaLnBrk="1" hangingPunct="1"/>
            <a:r>
              <a:rPr lang="en-US" altLang="en-US"/>
              <a:t>      then A       B  and  B       A.</a:t>
            </a:r>
          </a:p>
        </p:txBody>
      </p:sp>
      <p:graphicFrame>
        <p:nvGraphicFramePr>
          <p:cNvPr id="21508" name="Object 4">
            <a:extLst>
              <a:ext uri="{FF2B5EF4-FFF2-40B4-BE49-F238E27FC236}">
                <a16:creationId xmlns:a16="http://schemas.microsoft.com/office/drawing/2014/main" id="{A1BBC521-CB06-4086-BF34-10FA088110E3}"/>
              </a:ext>
            </a:extLst>
          </p:cNvPr>
          <p:cNvGraphicFramePr>
            <a:graphicFrameLocks noChangeAspect="1"/>
          </p:cNvGraphicFramePr>
          <p:nvPr/>
        </p:nvGraphicFramePr>
        <p:xfrm>
          <a:off x="3506789" y="3276600"/>
          <a:ext cx="303212" cy="304800"/>
        </p:xfrm>
        <a:graphic>
          <a:graphicData uri="http://schemas.openxmlformats.org/presentationml/2006/ole">
            <mc:AlternateContent xmlns:mc="http://schemas.openxmlformats.org/markup-compatibility/2006">
              <mc:Choice xmlns:v="urn:schemas-microsoft-com:vml" Requires="v">
                <p:oleObj name="Equation" r:id="rId2" imgW="152280" imgH="152280" progId="Equation.3">
                  <p:embed/>
                </p:oleObj>
              </mc:Choice>
              <mc:Fallback>
                <p:oleObj name="Equation" r:id="rId2" imgW="152280" imgH="152280" progId="Equation.3">
                  <p:embed/>
                  <p:pic>
                    <p:nvPicPr>
                      <p:cNvPr id="21508" name="Object 4">
                        <a:extLst>
                          <a:ext uri="{FF2B5EF4-FFF2-40B4-BE49-F238E27FC236}">
                            <a16:creationId xmlns:a16="http://schemas.microsoft.com/office/drawing/2014/main" id="{A1BBC521-CB06-4086-BF34-10FA088110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6789" y="3276600"/>
                        <a:ext cx="3032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0" name="Object 6">
            <a:extLst>
              <a:ext uri="{FF2B5EF4-FFF2-40B4-BE49-F238E27FC236}">
                <a16:creationId xmlns:a16="http://schemas.microsoft.com/office/drawing/2014/main" id="{A8EE61A5-88C3-418F-884C-E8D29187EFC7}"/>
              </a:ext>
            </a:extLst>
          </p:cNvPr>
          <p:cNvGraphicFramePr>
            <a:graphicFrameLocks noChangeAspect="1"/>
          </p:cNvGraphicFramePr>
          <p:nvPr/>
        </p:nvGraphicFramePr>
        <p:xfrm>
          <a:off x="4876800" y="3276600"/>
          <a:ext cx="303213" cy="304800"/>
        </p:xfrm>
        <a:graphic>
          <a:graphicData uri="http://schemas.openxmlformats.org/presentationml/2006/ole">
            <mc:AlternateContent xmlns:mc="http://schemas.openxmlformats.org/markup-compatibility/2006">
              <mc:Choice xmlns:v="urn:schemas-microsoft-com:vml" Requires="v">
                <p:oleObj name="Equation" r:id="rId4" imgW="152280" imgH="152280" progId="Equation.3">
                  <p:embed/>
                </p:oleObj>
              </mc:Choice>
              <mc:Fallback>
                <p:oleObj name="Equation" r:id="rId4" imgW="152280" imgH="152280" progId="Equation.3">
                  <p:embed/>
                  <p:pic>
                    <p:nvPicPr>
                      <p:cNvPr id="21510" name="Object 6">
                        <a:extLst>
                          <a:ext uri="{FF2B5EF4-FFF2-40B4-BE49-F238E27FC236}">
                            <a16:creationId xmlns:a16="http://schemas.microsoft.com/office/drawing/2014/main" id="{A8EE61A5-88C3-418F-884C-E8D29187EF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276600"/>
                        <a:ext cx="3032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1">
            <a:extLst>
              <a:ext uri="{FF2B5EF4-FFF2-40B4-BE49-F238E27FC236}">
                <a16:creationId xmlns:a16="http://schemas.microsoft.com/office/drawing/2014/main" id="{0EB3DFAE-7BBC-47C8-8433-371CCC035242}"/>
              </a:ext>
            </a:extLst>
          </p:cNvPr>
          <p:cNvSpPr txBox="1">
            <a:spLocks noChangeArrowheads="1"/>
          </p:cNvSpPr>
          <p:nvPr/>
        </p:nvSpPr>
        <p:spPr bwMode="auto">
          <a:xfrm>
            <a:off x="2286001" y="2263775"/>
            <a:ext cx="6956007"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If A is a subset of B and B is a subset of C, then A is a subset of C.</a:t>
            </a:r>
          </a:p>
          <a:p>
            <a:pPr eaLnBrk="1" hangingPunct="1"/>
            <a:r>
              <a:rPr lang="en-US" altLang="en-US"/>
              <a:t>In symbols:</a:t>
            </a:r>
          </a:p>
          <a:p>
            <a:pPr eaLnBrk="1" hangingPunct="1"/>
            <a:endParaRPr lang="en-US" altLang="en-US"/>
          </a:p>
          <a:p>
            <a:pPr eaLnBrk="1" hangingPunct="1"/>
            <a:r>
              <a:rPr lang="en-US" altLang="en-US"/>
              <a:t>If   A        B and B      C, then A         C.</a:t>
            </a:r>
          </a:p>
          <a:p>
            <a:pPr eaLnBrk="1" hangingPunct="1"/>
            <a:endParaRPr lang="en-US" altLang="en-US"/>
          </a:p>
          <a:p>
            <a:pPr eaLnBrk="1" hangingPunct="1"/>
            <a:endParaRPr lang="en-US" altLang="en-US"/>
          </a:p>
          <a:p>
            <a:pPr eaLnBrk="1" hangingPunct="1"/>
            <a:endParaRPr lang="en-US" altLang="en-US"/>
          </a:p>
          <a:p>
            <a:pPr eaLnBrk="1" hangingPunct="1"/>
            <a:endParaRPr lang="en-US" altLang="en-US"/>
          </a:p>
        </p:txBody>
      </p:sp>
      <p:graphicFrame>
        <p:nvGraphicFramePr>
          <p:cNvPr id="22532" name="Object 4">
            <a:extLst>
              <a:ext uri="{FF2B5EF4-FFF2-40B4-BE49-F238E27FC236}">
                <a16:creationId xmlns:a16="http://schemas.microsoft.com/office/drawing/2014/main" id="{5DD1ACAF-36ED-40E5-932C-79A1A688DDC9}"/>
              </a:ext>
            </a:extLst>
          </p:cNvPr>
          <p:cNvGraphicFramePr>
            <a:graphicFrameLocks noChangeAspect="1"/>
          </p:cNvGraphicFramePr>
          <p:nvPr/>
        </p:nvGraphicFramePr>
        <p:xfrm>
          <a:off x="2895600" y="3124200"/>
          <a:ext cx="303213" cy="304800"/>
        </p:xfrm>
        <a:graphic>
          <a:graphicData uri="http://schemas.openxmlformats.org/presentationml/2006/ole">
            <mc:AlternateContent xmlns:mc="http://schemas.openxmlformats.org/markup-compatibility/2006">
              <mc:Choice xmlns:v="urn:schemas-microsoft-com:vml" Requires="v">
                <p:oleObj name="Equation" r:id="rId2" imgW="152280" imgH="152280" progId="Equation.3">
                  <p:embed/>
                </p:oleObj>
              </mc:Choice>
              <mc:Fallback>
                <p:oleObj name="Equation" r:id="rId2" imgW="152280" imgH="152280" progId="Equation.3">
                  <p:embed/>
                  <p:pic>
                    <p:nvPicPr>
                      <p:cNvPr id="22532" name="Object 4">
                        <a:extLst>
                          <a:ext uri="{FF2B5EF4-FFF2-40B4-BE49-F238E27FC236}">
                            <a16:creationId xmlns:a16="http://schemas.microsoft.com/office/drawing/2014/main" id="{5DD1ACAF-36ED-40E5-932C-79A1A688DD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124200"/>
                        <a:ext cx="3032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3" name="Object 5">
            <a:extLst>
              <a:ext uri="{FF2B5EF4-FFF2-40B4-BE49-F238E27FC236}">
                <a16:creationId xmlns:a16="http://schemas.microsoft.com/office/drawing/2014/main" id="{1FBDD085-911F-4630-937B-BF7164196114}"/>
              </a:ext>
            </a:extLst>
          </p:cNvPr>
          <p:cNvGraphicFramePr>
            <a:graphicFrameLocks noChangeAspect="1"/>
          </p:cNvGraphicFramePr>
          <p:nvPr/>
        </p:nvGraphicFramePr>
        <p:xfrm>
          <a:off x="4268789" y="3124200"/>
          <a:ext cx="303212" cy="304800"/>
        </p:xfrm>
        <a:graphic>
          <a:graphicData uri="http://schemas.openxmlformats.org/presentationml/2006/ole">
            <mc:AlternateContent xmlns:mc="http://schemas.openxmlformats.org/markup-compatibility/2006">
              <mc:Choice xmlns:v="urn:schemas-microsoft-com:vml" Requires="v">
                <p:oleObj name="Equation" r:id="rId4" imgW="152280" imgH="152280" progId="Equation.3">
                  <p:embed/>
                </p:oleObj>
              </mc:Choice>
              <mc:Fallback>
                <p:oleObj name="Equation" r:id="rId4" imgW="152280" imgH="152280" progId="Equation.3">
                  <p:embed/>
                  <p:pic>
                    <p:nvPicPr>
                      <p:cNvPr id="22533" name="Object 5">
                        <a:extLst>
                          <a:ext uri="{FF2B5EF4-FFF2-40B4-BE49-F238E27FC236}">
                            <a16:creationId xmlns:a16="http://schemas.microsoft.com/office/drawing/2014/main" id="{1FBDD085-911F-4630-937B-BF71641961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8789" y="3124200"/>
                        <a:ext cx="3032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4" name="Object 6">
            <a:extLst>
              <a:ext uri="{FF2B5EF4-FFF2-40B4-BE49-F238E27FC236}">
                <a16:creationId xmlns:a16="http://schemas.microsoft.com/office/drawing/2014/main" id="{01E34D36-73A1-4AEE-9475-1BD5743150C9}"/>
              </a:ext>
            </a:extLst>
          </p:cNvPr>
          <p:cNvGraphicFramePr>
            <a:graphicFrameLocks noChangeAspect="1"/>
          </p:cNvGraphicFramePr>
          <p:nvPr/>
        </p:nvGraphicFramePr>
        <p:xfrm>
          <a:off x="5640389" y="3124200"/>
          <a:ext cx="303212" cy="304800"/>
        </p:xfrm>
        <a:graphic>
          <a:graphicData uri="http://schemas.openxmlformats.org/presentationml/2006/ole">
            <mc:AlternateContent xmlns:mc="http://schemas.openxmlformats.org/markup-compatibility/2006">
              <mc:Choice xmlns:v="urn:schemas-microsoft-com:vml" Requires="v">
                <p:oleObj name="Equation" r:id="rId5" imgW="152280" imgH="152280" progId="Equation.3">
                  <p:embed/>
                </p:oleObj>
              </mc:Choice>
              <mc:Fallback>
                <p:oleObj name="Equation" r:id="rId5" imgW="152280" imgH="152280" progId="Equation.3">
                  <p:embed/>
                  <p:pic>
                    <p:nvPicPr>
                      <p:cNvPr id="22534" name="Object 6">
                        <a:extLst>
                          <a:ext uri="{FF2B5EF4-FFF2-40B4-BE49-F238E27FC236}">
                            <a16:creationId xmlns:a16="http://schemas.microsoft.com/office/drawing/2014/main" id="{01E34D36-73A1-4AEE-9475-1BD574315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0389" y="3124200"/>
                        <a:ext cx="3032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4">
            <a:extLst>
              <a:ext uri="{FF2B5EF4-FFF2-40B4-BE49-F238E27FC236}">
                <a16:creationId xmlns:a16="http://schemas.microsoft.com/office/drawing/2014/main" id="{A55BF9A0-31FF-46AB-B039-40D336D60206}"/>
              </a:ext>
            </a:extLst>
          </p:cNvPr>
          <p:cNvSpPr txBox="1">
            <a:spLocks noChangeArrowheads="1"/>
          </p:cNvSpPr>
          <p:nvPr/>
        </p:nvSpPr>
        <p:spPr bwMode="auto">
          <a:xfrm>
            <a:off x="15240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solidFill>
                  <a:srgbClr val="C00000"/>
                </a:solidFill>
                <a:latin typeface="Calibri" panose="020F0502020204030204" pitchFamily="34" charset="0"/>
              </a:rPr>
              <a:t>Number of subsets of a set</a:t>
            </a:r>
          </a:p>
        </p:txBody>
      </p:sp>
      <p:sp>
        <p:nvSpPr>
          <p:cNvPr id="23555" name="TextBox 2">
            <a:extLst>
              <a:ext uri="{FF2B5EF4-FFF2-40B4-BE49-F238E27FC236}">
                <a16:creationId xmlns:a16="http://schemas.microsoft.com/office/drawing/2014/main" id="{B7C08B60-203F-4003-AB4C-25EFD179B72B}"/>
              </a:ext>
            </a:extLst>
          </p:cNvPr>
          <p:cNvSpPr txBox="1">
            <a:spLocks noChangeArrowheads="1"/>
          </p:cNvSpPr>
          <p:nvPr/>
        </p:nvSpPr>
        <p:spPr bwMode="auto">
          <a:xfrm>
            <a:off x="2438400" y="2133600"/>
            <a:ext cx="648363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If a set contains n elements, then the number of subsets is 2</a:t>
            </a:r>
            <a:r>
              <a:rPr lang="en-US" altLang="en-US" baseline="30000"/>
              <a:t>n.</a:t>
            </a:r>
          </a:p>
          <a:p>
            <a:pPr eaLnBrk="1" hangingPunct="1"/>
            <a:endParaRPr lang="en-US" altLang="en-US"/>
          </a:p>
          <a:p>
            <a:pPr eaLnBrk="1" hangingPunct="1"/>
            <a:r>
              <a:rPr lang="en-US" altLang="en-US"/>
              <a:t>For example: The set A = {1, 2, 3} contains 3 elements, so the</a:t>
            </a:r>
          </a:p>
          <a:p>
            <a:pPr eaLnBrk="1" hangingPunct="1"/>
            <a:r>
              <a:rPr lang="en-US" altLang="en-US"/>
              <a:t>Total number of its subsets = 2</a:t>
            </a:r>
            <a:r>
              <a:rPr lang="en-US" altLang="en-US" baseline="30000"/>
              <a:t>3 </a:t>
            </a:r>
            <a:r>
              <a:rPr lang="en-US" altLang="en-US"/>
              <a:t> = 8.</a:t>
            </a:r>
          </a:p>
          <a:p>
            <a:pPr eaLnBrk="1" hangingPunct="1"/>
            <a:endParaRPr lang="en-US" altLang="en-US"/>
          </a:p>
          <a:p>
            <a:pPr eaLnBrk="1" hangingPunct="1"/>
            <a:r>
              <a:rPr lang="en-US" altLang="en-US"/>
              <a:t>The subsets are</a:t>
            </a:r>
          </a:p>
          <a:p>
            <a:pPr eaLnBrk="1" hangingPunct="1"/>
            <a:endParaRPr lang="en-US" altLang="en-US"/>
          </a:p>
          <a:p>
            <a:pPr eaLnBrk="1" hangingPunct="1"/>
            <a:r>
              <a:rPr lang="en-US" altLang="en-US"/>
              <a:t>{ }, {1}, {2}, {3}, {1, 2}, {1, 3}, {2, 3}, {1, 2, 3}.</a:t>
            </a:r>
          </a:p>
          <a:p>
            <a:pPr eaLnBrk="1" hangingPunct="1"/>
            <a:endParaRPr lang="en-US" altLang="en-US" baseline="30000"/>
          </a:p>
          <a:p>
            <a:pPr eaLnBrk="1" hangingPunct="1"/>
            <a:endParaRPr lang="en-US" altLang="en-US" baseline="30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Box 1">
            <a:extLst>
              <a:ext uri="{FF2B5EF4-FFF2-40B4-BE49-F238E27FC236}">
                <a16:creationId xmlns:a16="http://schemas.microsoft.com/office/drawing/2014/main" id="{E2E63B5F-6EF3-4D84-A83A-CFBC780AD581}"/>
              </a:ext>
            </a:extLst>
          </p:cNvPr>
          <p:cNvSpPr txBox="1">
            <a:spLocks noChangeArrowheads="1"/>
          </p:cNvSpPr>
          <p:nvPr/>
        </p:nvSpPr>
        <p:spPr bwMode="auto">
          <a:xfrm>
            <a:off x="2362202" y="2132014"/>
            <a:ext cx="784067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 venn-diagram is a pictorial representation of sets which are used to show</a:t>
            </a:r>
          </a:p>
          <a:p>
            <a:pPr eaLnBrk="1" hangingPunct="1"/>
            <a:r>
              <a:rPr lang="en-US" altLang="en-US"/>
              <a:t>Representation between sets.</a:t>
            </a:r>
          </a:p>
          <a:p>
            <a:pPr eaLnBrk="1" hangingPunct="1"/>
            <a:endParaRPr lang="en-US" altLang="en-US"/>
          </a:p>
          <a:p>
            <a:pPr eaLnBrk="1" hangingPunct="1"/>
            <a:r>
              <a:rPr lang="en-US" altLang="en-US"/>
              <a:t>The universal set is represented by the interior of a rectangle and</a:t>
            </a:r>
          </a:p>
          <a:p>
            <a:pPr eaLnBrk="1" hangingPunct="1"/>
            <a:endParaRPr lang="en-US" altLang="en-US"/>
          </a:p>
          <a:p>
            <a:pPr eaLnBrk="1" hangingPunct="1"/>
            <a:r>
              <a:rPr lang="en-US" altLang="en-US"/>
              <a:t>Its subsets are represented by circular areas drawn within, the rectangle.</a:t>
            </a:r>
          </a:p>
        </p:txBody>
      </p:sp>
      <p:sp>
        <p:nvSpPr>
          <p:cNvPr id="3" name="TextBox 4">
            <a:extLst>
              <a:ext uri="{FF2B5EF4-FFF2-40B4-BE49-F238E27FC236}">
                <a16:creationId xmlns:a16="http://schemas.microsoft.com/office/drawing/2014/main" id="{AC42F2D7-7F47-40F2-B5FC-87DEA769C578}"/>
              </a:ext>
            </a:extLst>
          </p:cNvPr>
          <p:cNvSpPr txBox="1">
            <a:spLocks noChangeArrowheads="1"/>
          </p:cNvSpPr>
          <p:nvPr/>
        </p:nvSpPr>
        <p:spPr bwMode="auto">
          <a:xfrm>
            <a:off x="15240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Venn Diagrams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8225B2-D020-494C-AE41-29DE58E12156}"/>
              </a:ext>
            </a:extLst>
          </p:cNvPr>
          <p:cNvSpPr/>
          <p:nvPr/>
        </p:nvSpPr>
        <p:spPr>
          <a:xfrm>
            <a:off x="3505200" y="1447800"/>
            <a:ext cx="5486400" cy="3505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Oval 2">
            <a:extLst>
              <a:ext uri="{FF2B5EF4-FFF2-40B4-BE49-F238E27FC236}">
                <a16:creationId xmlns:a16="http://schemas.microsoft.com/office/drawing/2014/main" id="{8D66FABE-64BF-4A19-8F87-49EE225E8BFD}"/>
              </a:ext>
            </a:extLst>
          </p:cNvPr>
          <p:cNvSpPr/>
          <p:nvPr/>
        </p:nvSpPr>
        <p:spPr>
          <a:xfrm>
            <a:off x="4800600" y="2057400"/>
            <a:ext cx="2667000" cy="2667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2"/>
                </a:solidFill>
              </a:rPr>
              <a:t>A</a:t>
            </a:r>
          </a:p>
        </p:txBody>
      </p:sp>
      <p:sp>
        <p:nvSpPr>
          <p:cNvPr id="4" name="Oval 3">
            <a:extLst>
              <a:ext uri="{FF2B5EF4-FFF2-40B4-BE49-F238E27FC236}">
                <a16:creationId xmlns:a16="http://schemas.microsoft.com/office/drawing/2014/main" id="{E3084670-F7C0-4B3C-BE68-45CA27208ADE}"/>
              </a:ext>
            </a:extLst>
          </p:cNvPr>
          <p:cNvSpPr/>
          <p:nvPr/>
        </p:nvSpPr>
        <p:spPr>
          <a:xfrm>
            <a:off x="6172200" y="2362200"/>
            <a:ext cx="762000" cy="685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BBB</a:t>
            </a:r>
          </a:p>
        </p:txBody>
      </p:sp>
      <p:sp>
        <p:nvSpPr>
          <p:cNvPr id="40965" name="TextBox 4">
            <a:extLst>
              <a:ext uri="{FF2B5EF4-FFF2-40B4-BE49-F238E27FC236}">
                <a16:creationId xmlns:a16="http://schemas.microsoft.com/office/drawing/2014/main" id="{AE1B0B04-20BE-485C-AF28-718F2D2F39AB}"/>
              </a:ext>
            </a:extLst>
          </p:cNvPr>
          <p:cNvSpPr txBox="1">
            <a:spLocks noChangeArrowheads="1"/>
          </p:cNvSpPr>
          <p:nvPr/>
        </p:nvSpPr>
        <p:spPr bwMode="auto">
          <a:xfrm>
            <a:off x="8153400" y="44196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a:t>
            </a:r>
          </a:p>
        </p:txBody>
      </p:sp>
      <p:sp>
        <p:nvSpPr>
          <p:cNvPr id="40966" name="TextBox 5">
            <a:extLst>
              <a:ext uri="{FF2B5EF4-FFF2-40B4-BE49-F238E27FC236}">
                <a16:creationId xmlns:a16="http://schemas.microsoft.com/office/drawing/2014/main" id="{7AFD674D-FF2A-409B-947E-BB6F115A1DCB}"/>
              </a:ext>
            </a:extLst>
          </p:cNvPr>
          <p:cNvSpPr txBox="1">
            <a:spLocks noChangeArrowheads="1"/>
          </p:cNvSpPr>
          <p:nvPr/>
        </p:nvSpPr>
        <p:spPr bwMode="auto">
          <a:xfrm>
            <a:off x="4252914" y="5410200"/>
            <a:ext cx="45449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Set B is a proper subset of A, i.e. B          A</a:t>
            </a:r>
          </a:p>
        </p:txBody>
      </p:sp>
      <p:sp>
        <p:nvSpPr>
          <p:cNvPr id="40967" name="TextBox 6">
            <a:extLst>
              <a:ext uri="{FF2B5EF4-FFF2-40B4-BE49-F238E27FC236}">
                <a16:creationId xmlns:a16="http://schemas.microsoft.com/office/drawing/2014/main" id="{5E5D8B39-A6BF-4C51-8307-4FDA9B469276}"/>
              </a:ext>
            </a:extLst>
          </p:cNvPr>
          <p:cNvSpPr txBox="1">
            <a:spLocks noChangeArrowheads="1"/>
          </p:cNvSpPr>
          <p:nvPr/>
        </p:nvSpPr>
        <p:spPr bwMode="auto">
          <a:xfrm>
            <a:off x="6400800" y="2514600"/>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graphicFrame>
        <p:nvGraphicFramePr>
          <p:cNvPr id="40969" name="Object 9">
            <a:extLst>
              <a:ext uri="{FF2B5EF4-FFF2-40B4-BE49-F238E27FC236}">
                <a16:creationId xmlns:a16="http://schemas.microsoft.com/office/drawing/2014/main" id="{7E80884A-D0AA-4362-8176-EA4DDFE2B728}"/>
              </a:ext>
            </a:extLst>
          </p:cNvPr>
          <p:cNvGraphicFramePr>
            <a:graphicFrameLocks noChangeAspect="1"/>
          </p:cNvGraphicFramePr>
          <p:nvPr/>
        </p:nvGraphicFramePr>
        <p:xfrm>
          <a:off x="8001000" y="5410200"/>
          <a:ext cx="304800" cy="304800"/>
        </p:xfrm>
        <a:graphic>
          <a:graphicData uri="http://schemas.openxmlformats.org/presentationml/2006/ole">
            <mc:AlternateContent xmlns:mc="http://schemas.openxmlformats.org/markup-compatibility/2006">
              <mc:Choice xmlns:v="urn:schemas-microsoft-com:vml" Requires="v">
                <p:oleObj name="Equation" r:id="rId2" imgW="152280" imgH="152280" progId="Equation.3">
                  <p:embed/>
                </p:oleObj>
              </mc:Choice>
              <mc:Fallback>
                <p:oleObj name="Equation" r:id="rId2" imgW="152280" imgH="152280" progId="Equation.3">
                  <p:embed/>
                  <p:pic>
                    <p:nvPicPr>
                      <p:cNvPr id="40969" name="Object 9">
                        <a:extLst>
                          <a:ext uri="{FF2B5EF4-FFF2-40B4-BE49-F238E27FC236}">
                            <a16:creationId xmlns:a16="http://schemas.microsoft.com/office/drawing/2014/main" id="{7E80884A-D0AA-4362-8176-EA4DDFE2B7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0" y="5410200"/>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386E64-7C5E-427A-9CF9-1C7E96C63737}"/>
              </a:ext>
            </a:extLst>
          </p:cNvPr>
          <p:cNvSpPr/>
          <p:nvPr/>
        </p:nvSpPr>
        <p:spPr>
          <a:xfrm>
            <a:off x="3657600" y="1447800"/>
            <a:ext cx="5486400" cy="3505200"/>
          </a:xfrm>
          <a:prstGeom prst="rect">
            <a:avLst/>
          </a:prstGeom>
          <a:solidFill>
            <a:schemeClr val="accent1">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a:t>
            </a:r>
          </a:p>
        </p:txBody>
      </p:sp>
      <p:sp>
        <p:nvSpPr>
          <p:cNvPr id="41987" name="TextBox 4">
            <a:extLst>
              <a:ext uri="{FF2B5EF4-FFF2-40B4-BE49-F238E27FC236}">
                <a16:creationId xmlns:a16="http://schemas.microsoft.com/office/drawing/2014/main" id="{531101F6-C2A6-446D-B09D-AC527AD730D2}"/>
              </a:ext>
            </a:extLst>
          </p:cNvPr>
          <p:cNvSpPr txBox="1">
            <a:spLocks noChangeArrowheads="1"/>
          </p:cNvSpPr>
          <p:nvPr/>
        </p:nvSpPr>
        <p:spPr bwMode="auto">
          <a:xfrm>
            <a:off x="8153400" y="44196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a:t>
            </a:r>
          </a:p>
        </p:txBody>
      </p:sp>
      <p:sp>
        <p:nvSpPr>
          <p:cNvPr id="41988" name="TextBox 5">
            <a:extLst>
              <a:ext uri="{FF2B5EF4-FFF2-40B4-BE49-F238E27FC236}">
                <a16:creationId xmlns:a16="http://schemas.microsoft.com/office/drawing/2014/main" id="{B2DF9B29-9663-4D22-8D97-BF5B5CB9802D}"/>
              </a:ext>
            </a:extLst>
          </p:cNvPr>
          <p:cNvSpPr txBox="1">
            <a:spLocks noChangeArrowheads="1"/>
          </p:cNvSpPr>
          <p:nvPr/>
        </p:nvSpPr>
        <p:spPr bwMode="auto">
          <a:xfrm>
            <a:off x="4252914" y="5410200"/>
            <a:ext cx="3463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The compliment of set  A, i.e.  A’</a:t>
            </a:r>
          </a:p>
        </p:txBody>
      </p:sp>
      <p:sp>
        <p:nvSpPr>
          <p:cNvPr id="7" name="Oval 6">
            <a:extLst>
              <a:ext uri="{FF2B5EF4-FFF2-40B4-BE49-F238E27FC236}">
                <a16:creationId xmlns:a16="http://schemas.microsoft.com/office/drawing/2014/main" id="{9ED1B576-1963-4A90-BEDD-C67F625E8428}"/>
              </a:ext>
            </a:extLst>
          </p:cNvPr>
          <p:cNvSpPr/>
          <p:nvPr/>
        </p:nvSpPr>
        <p:spPr>
          <a:xfrm>
            <a:off x="5486400" y="2209800"/>
            <a:ext cx="1981200" cy="20574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A</a:t>
            </a:r>
          </a:p>
        </p:txBody>
      </p:sp>
      <p:sp>
        <p:nvSpPr>
          <p:cNvPr id="41990" name="TextBox 7">
            <a:extLst>
              <a:ext uri="{FF2B5EF4-FFF2-40B4-BE49-F238E27FC236}">
                <a16:creationId xmlns:a16="http://schemas.microsoft.com/office/drawing/2014/main" id="{7983571D-B393-4305-AD58-1BA1B7A95CC1}"/>
              </a:ext>
            </a:extLst>
          </p:cNvPr>
          <p:cNvSpPr txBox="1">
            <a:spLocks noChangeArrowheads="1"/>
          </p:cNvSpPr>
          <p:nvPr/>
        </p:nvSpPr>
        <p:spPr bwMode="auto">
          <a:xfrm>
            <a:off x="4038601" y="1828800"/>
            <a:ext cx="372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4AD021-1CB8-42CD-BF2E-602CE0516F01}"/>
              </a:ext>
            </a:extLst>
          </p:cNvPr>
          <p:cNvSpPr/>
          <p:nvPr/>
        </p:nvSpPr>
        <p:spPr>
          <a:xfrm>
            <a:off x="3505200" y="1447800"/>
            <a:ext cx="5486400" cy="3505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Oval 2">
            <a:extLst>
              <a:ext uri="{FF2B5EF4-FFF2-40B4-BE49-F238E27FC236}">
                <a16:creationId xmlns:a16="http://schemas.microsoft.com/office/drawing/2014/main" id="{D0F7F751-EF7C-49C8-BDF5-8674CF1517F2}"/>
              </a:ext>
            </a:extLst>
          </p:cNvPr>
          <p:cNvSpPr/>
          <p:nvPr/>
        </p:nvSpPr>
        <p:spPr>
          <a:xfrm>
            <a:off x="4800600" y="2057400"/>
            <a:ext cx="2667000" cy="2667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2"/>
                </a:solidFill>
              </a:rPr>
              <a:t>A</a:t>
            </a:r>
          </a:p>
        </p:txBody>
      </p:sp>
      <p:sp>
        <p:nvSpPr>
          <p:cNvPr id="4" name="Oval 3">
            <a:extLst>
              <a:ext uri="{FF2B5EF4-FFF2-40B4-BE49-F238E27FC236}">
                <a16:creationId xmlns:a16="http://schemas.microsoft.com/office/drawing/2014/main" id="{A11F07B6-B18B-450E-B7C7-73246F1E07E6}"/>
              </a:ext>
            </a:extLst>
          </p:cNvPr>
          <p:cNvSpPr/>
          <p:nvPr/>
        </p:nvSpPr>
        <p:spPr>
          <a:xfrm>
            <a:off x="6172200" y="2362200"/>
            <a:ext cx="762000" cy="685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B</a:t>
            </a:r>
          </a:p>
        </p:txBody>
      </p:sp>
      <p:sp>
        <p:nvSpPr>
          <p:cNvPr id="43013" name="TextBox 4">
            <a:extLst>
              <a:ext uri="{FF2B5EF4-FFF2-40B4-BE49-F238E27FC236}">
                <a16:creationId xmlns:a16="http://schemas.microsoft.com/office/drawing/2014/main" id="{F6A8F1AC-31A2-4D9D-B723-076DD90B207D}"/>
              </a:ext>
            </a:extLst>
          </p:cNvPr>
          <p:cNvSpPr txBox="1">
            <a:spLocks noChangeArrowheads="1"/>
          </p:cNvSpPr>
          <p:nvPr/>
        </p:nvSpPr>
        <p:spPr bwMode="auto">
          <a:xfrm>
            <a:off x="8153400" y="44196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a:t>
            </a:r>
          </a:p>
        </p:txBody>
      </p:sp>
      <p:sp>
        <p:nvSpPr>
          <p:cNvPr id="43014" name="TextBox 5">
            <a:extLst>
              <a:ext uri="{FF2B5EF4-FFF2-40B4-BE49-F238E27FC236}">
                <a16:creationId xmlns:a16="http://schemas.microsoft.com/office/drawing/2014/main" id="{A79675DB-0731-4402-A654-3264427091D5}"/>
              </a:ext>
            </a:extLst>
          </p:cNvPr>
          <p:cNvSpPr txBox="1">
            <a:spLocks noChangeArrowheads="1"/>
          </p:cNvSpPr>
          <p:nvPr/>
        </p:nvSpPr>
        <p:spPr bwMode="auto">
          <a:xfrm>
            <a:off x="4252914" y="5410200"/>
            <a:ext cx="4130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The difference of set A and B, i.e. A - B</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1">
            <a:hlinkClick r:id="rId2"/>
            <a:extLst>
              <a:ext uri="{FF2B5EF4-FFF2-40B4-BE49-F238E27FC236}">
                <a16:creationId xmlns:a16="http://schemas.microsoft.com/office/drawing/2014/main" id="{FB6A33BF-CFA6-461C-B0D1-EDA684AC6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1524001"/>
            <a:ext cx="4724400"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Rectangle 2">
            <a:extLst>
              <a:ext uri="{FF2B5EF4-FFF2-40B4-BE49-F238E27FC236}">
                <a16:creationId xmlns:a16="http://schemas.microsoft.com/office/drawing/2014/main" id="{E662CA13-FC73-4C94-B211-BD49ADD460E4}"/>
              </a:ext>
            </a:extLst>
          </p:cNvPr>
          <p:cNvSpPr>
            <a:spLocks noChangeArrowheads="1"/>
          </p:cNvSpPr>
          <p:nvPr/>
        </p:nvSpPr>
        <p:spPr bwMode="auto">
          <a:xfrm>
            <a:off x="4252913" y="5116513"/>
            <a:ext cx="43142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The union of two sets A and B, i.e. A U B</a:t>
            </a:r>
          </a:p>
        </p:txBody>
      </p:sp>
      <p:sp>
        <p:nvSpPr>
          <p:cNvPr id="44036" name="TextBox 3">
            <a:extLst>
              <a:ext uri="{FF2B5EF4-FFF2-40B4-BE49-F238E27FC236}">
                <a16:creationId xmlns:a16="http://schemas.microsoft.com/office/drawing/2014/main" id="{636BAE66-CE66-44E8-8CEF-02C983E65BCC}"/>
              </a:ext>
            </a:extLst>
          </p:cNvPr>
          <p:cNvSpPr txBox="1">
            <a:spLocks noChangeArrowheads="1"/>
          </p:cNvSpPr>
          <p:nvPr/>
        </p:nvSpPr>
        <p:spPr bwMode="auto">
          <a:xfrm>
            <a:off x="4038600" y="42672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a:t>
            </a:r>
          </a:p>
        </p:txBody>
      </p:sp>
      <p:sp>
        <p:nvSpPr>
          <p:cNvPr id="44037" name="TextBox 4">
            <a:extLst>
              <a:ext uri="{FF2B5EF4-FFF2-40B4-BE49-F238E27FC236}">
                <a16:creationId xmlns:a16="http://schemas.microsoft.com/office/drawing/2014/main" id="{E80B84EA-A2FA-4FB6-9979-132FE26075E6}"/>
              </a:ext>
            </a:extLst>
          </p:cNvPr>
          <p:cNvSpPr txBox="1">
            <a:spLocks noChangeArrowheads="1"/>
          </p:cNvSpPr>
          <p:nvPr/>
        </p:nvSpPr>
        <p:spPr bwMode="auto">
          <a:xfrm>
            <a:off x="4724400" y="3124200"/>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44038" name="TextBox 5">
            <a:extLst>
              <a:ext uri="{FF2B5EF4-FFF2-40B4-BE49-F238E27FC236}">
                <a16:creationId xmlns:a16="http://schemas.microsoft.com/office/drawing/2014/main" id="{60F97912-AB89-4FED-93DE-47E213D7FF38}"/>
              </a:ext>
            </a:extLst>
          </p:cNvPr>
          <p:cNvSpPr txBox="1">
            <a:spLocks noChangeArrowheads="1"/>
          </p:cNvSpPr>
          <p:nvPr/>
        </p:nvSpPr>
        <p:spPr bwMode="auto">
          <a:xfrm>
            <a:off x="7239000" y="3124200"/>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a:hlinkClick r:id="rId2"/>
            <a:extLst>
              <a:ext uri="{FF2B5EF4-FFF2-40B4-BE49-F238E27FC236}">
                <a16:creationId xmlns:a16="http://schemas.microsoft.com/office/drawing/2014/main" id="{D05865CD-4EE0-436F-83E6-5A3BB126FB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1524001"/>
            <a:ext cx="4572000" cy="333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TextBox 2">
            <a:extLst>
              <a:ext uri="{FF2B5EF4-FFF2-40B4-BE49-F238E27FC236}">
                <a16:creationId xmlns:a16="http://schemas.microsoft.com/office/drawing/2014/main" id="{058C0F5F-078C-4EF2-9EE7-9755AD1D6AF3}"/>
              </a:ext>
            </a:extLst>
          </p:cNvPr>
          <p:cNvSpPr txBox="1">
            <a:spLocks noChangeArrowheads="1"/>
          </p:cNvSpPr>
          <p:nvPr/>
        </p:nvSpPr>
        <p:spPr bwMode="auto">
          <a:xfrm>
            <a:off x="3962400" y="5486400"/>
            <a:ext cx="45819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The intersection of sets A and B, i.e. A ⋂  B</a:t>
            </a:r>
          </a:p>
        </p:txBody>
      </p:sp>
      <p:sp>
        <p:nvSpPr>
          <p:cNvPr id="45060" name="TextBox 3">
            <a:extLst>
              <a:ext uri="{FF2B5EF4-FFF2-40B4-BE49-F238E27FC236}">
                <a16:creationId xmlns:a16="http://schemas.microsoft.com/office/drawing/2014/main" id="{34BDFF55-B1E1-4F62-89AD-2C32C2C645CB}"/>
              </a:ext>
            </a:extLst>
          </p:cNvPr>
          <p:cNvSpPr txBox="1">
            <a:spLocks noChangeArrowheads="1"/>
          </p:cNvSpPr>
          <p:nvPr/>
        </p:nvSpPr>
        <p:spPr bwMode="auto">
          <a:xfrm>
            <a:off x="4343401" y="4419600"/>
            <a:ext cx="460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a:t>
            </a:r>
          </a:p>
        </p:txBody>
      </p:sp>
      <p:sp>
        <p:nvSpPr>
          <p:cNvPr id="45061" name="TextBox 4">
            <a:extLst>
              <a:ext uri="{FF2B5EF4-FFF2-40B4-BE49-F238E27FC236}">
                <a16:creationId xmlns:a16="http://schemas.microsoft.com/office/drawing/2014/main" id="{0B12CF8E-0BA3-452F-8676-4DE9A0D3609C}"/>
              </a:ext>
            </a:extLst>
          </p:cNvPr>
          <p:cNvSpPr txBox="1">
            <a:spLocks noChangeArrowheads="1"/>
          </p:cNvSpPr>
          <p:nvPr/>
        </p:nvSpPr>
        <p:spPr bwMode="auto">
          <a:xfrm>
            <a:off x="4953000" y="3124200"/>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45062" name="TextBox 5">
            <a:extLst>
              <a:ext uri="{FF2B5EF4-FFF2-40B4-BE49-F238E27FC236}">
                <a16:creationId xmlns:a16="http://schemas.microsoft.com/office/drawing/2014/main" id="{B8ED47FF-2CDF-4DC5-BA76-3FD93F403B27}"/>
              </a:ext>
            </a:extLst>
          </p:cNvPr>
          <p:cNvSpPr txBox="1">
            <a:spLocks noChangeArrowheads="1"/>
          </p:cNvSpPr>
          <p:nvPr/>
        </p:nvSpPr>
        <p:spPr bwMode="auto">
          <a:xfrm>
            <a:off x="7315200" y="3352800"/>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a:hlinkClick r:id="rId2"/>
            <a:extLst>
              <a:ext uri="{FF2B5EF4-FFF2-40B4-BE49-F238E27FC236}">
                <a16:creationId xmlns:a16="http://schemas.microsoft.com/office/drawing/2014/main" id="{1FEB736F-9E44-4DFC-8C0F-39E45A777D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524001"/>
            <a:ext cx="4419600"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TextBox 2">
            <a:extLst>
              <a:ext uri="{FF2B5EF4-FFF2-40B4-BE49-F238E27FC236}">
                <a16:creationId xmlns:a16="http://schemas.microsoft.com/office/drawing/2014/main" id="{CD70D6EF-B598-4438-B0ED-EDD09194D470}"/>
              </a:ext>
            </a:extLst>
          </p:cNvPr>
          <p:cNvSpPr txBox="1">
            <a:spLocks noChangeArrowheads="1"/>
          </p:cNvSpPr>
          <p:nvPr/>
        </p:nvSpPr>
        <p:spPr bwMode="auto">
          <a:xfrm>
            <a:off x="4267200" y="41910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a:t>
            </a:r>
          </a:p>
        </p:txBody>
      </p:sp>
      <p:sp>
        <p:nvSpPr>
          <p:cNvPr id="46084" name="TextBox 3">
            <a:extLst>
              <a:ext uri="{FF2B5EF4-FFF2-40B4-BE49-F238E27FC236}">
                <a16:creationId xmlns:a16="http://schemas.microsoft.com/office/drawing/2014/main" id="{DDC9B883-E4E5-41FB-B0C6-4989619438CA}"/>
              </a:ext>
            </a:extLst>
          </p:cNvPr>
          <p:cNvSpPr txBox="1">
            <a:spLocks noChangeArrowheads="1"/>
          </p:cNvSpPr>
          <p:nvPr/>
        </p:nvSpPr>
        <p:spPr bwMode="auto">
          <a:xfrm>
            <a:off x="4800600" y="3352800"/>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46085" name="TextBox 4">
            <a:extLst>
              <a:ext uri="{FF2B5EF4-FFF2-40B4-BE49-F238E27FC236}">
                <a16:creationId xmlns:a16="http://schemas.microsoft.com/office/drawing/2014/main" id="{884C81DF-B1A1-46BB-AF99-6E1E3C2E7781}"/>
              </a:ext>
            </a:extLst>
          </p:cNvPr>
          <p:cNvSpPr txBox="1">
            <a:spLocks noChangeArrowheads="1"/>
          </p:cNvSpPr>
          <p:nvPr/>
        </p:nvSpPr>
        <p:spPr bwMode="auto">
          <a:xfrm>
            <a:off x="7086600" y="3505200"/>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46086" name="TextBox 5">
            <a:extLst>
              <a:ext uri="{FF2B5EF4-FFF2-40B4-BE49-F238E27FC236}">
                <a16:creationId xmlns:a16="http://schemas.microsoft.com/office/drawing/2014/main" id="{11769747-2EAE-4E35-A569-2120B510E485}"/>
              </a:ext>
            </a:extLst>
          </p:cNvPr>
          <p:cNvSpPr txBox="1">
            <a:spLocks noChangeArrowheads="1"/>
          </p:cNvSpPr>
          <p:nvPr/>
        </p:nvSpPr>
        <p:spPr bwMode="auto">
          <a:xfrm>
            <a:off x="3048000" y="5334000"/>
            <a:ext cx="50540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Symmetric difference of sets A and B, i.e. A </a:t>
            </a:r>
            <a:r>
              <a:rPr lang="el-GR" altLang="en-US"/>
              <a:t>Δ </a:t>
            </a:r>
            <a:r>
              <a:rPr lang="en-US" altLang="en-US"/>
              <a:t>B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a:hlinkClick r:id="rId2"/>
            <a:extLst>
              <a:ext uri="{FF2B5EF4-FFF2-40B4-BE49-F238E27FC236}">
                <a16:creationId xmlns:a16="http://schemas.microsoft.com/office/drawing/2014/main" id="{40209BA1-DE26-40CD-9CCD-776859BA82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143001"/>
            <a:ext cx="4953000" cy="361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TextBox 2">
            <a:extLst>
              <a:ext uri="{FF2B5EF4-FFF2-40B4-BE49-F238E27FC236}">
                <a16:creationId xmlns:a16="http://schemas.microsoft.com/office/drawing/2014/main" id="{42713298-2CB1-459E-B6F6-E6EB0483A8F4}"/>
              </a:ext>
            </a:extLst>
          </p:cNvPr>
          <p:cNvSpPr txBox="1">
            <a:spLocks noChangeArrowheads="1"/>
          </p:cNvSpPr>
          <p:nvPr/>
        </p:nvSpPr>
        <p:spPr bwMode="auto">
          <a:xfrm>
            <a:off x="3429000" y="5410200"/>
            <a:ext cx="53408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Relative compliment of A w.r.t B, i.e. B – A = B ⋂ 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09F619-B5EF-461B-801E-8BFCE8B9E097}"/>
              </a:ext>
            </a:extLst>
          </p:cNvPr>
          <p:cNvSpPr txBox="1"/>
          <p:nvPr/>
        </p:nvSpPr>
        <p:spPr>
          <a:xfrm>
            <a:off x="2133600" y="990600"/>
            <a:ext cx="7866384" cy="4801314"/>
          </a:xfrm>
          <a:prstGeom prst="rect">
            <a:avLst/>
          </a:prstGeom>
          <a:noFill/>
        </p:spPr>
        <p:txBody>
          <a:bodyPr wrap="none">
            <a:spAutoFit/>
          </a:bodyPr>
          <a:lstStyle/>
          <a:p>
            <a:pPr>
              <a:defRPr/>
            </a:pPr>
            <a:r>
              <a:rPr lang="en-US" dirty="0">
                <a:latin typeface="Arial" charset="0"/>
              </a:rPr>
              <a:t>Cardinal number in a set:</a:t>
            </a:r>
          </a:p>
          <a:p>
            <a:pPr>
              <a:defRPr/>
            </a:pPr>
            <a:r>
              <a:rPr lang="en-US" dirty="0">
                <a:latin typeface="Arial" charset="0"/>
              </a:rPr>
              <a:t>		 	The cardinal number of a set A is the number of </a:t>
            </a:r>
          </a:p>
          <a:p>
            <a:pPr>
              <a:defRPr/>
            </a:pPr>
            <a:r>
              <a:rPr lang="en-US" dirty="0">
                <a:latin typeface="Arial" charset="0"/>
              </a:rPr>
              <a:t>Elements in the set A. It is denoted by </a:t>
            </a:r>
            <a:r>
              <a:rPr lang="en-US" dirty="0" err="1">
                <a:latin typeface="Arial" charset="0"/>
              </a:rPr>
              <a:t>lAl</a:t>
            </a:r>
            <a:r>
              <a:rPr lang="en-US" dirty="0">
                <a:latin typeface="Arial" charset="0"/>
              </a:rPr>
              <a:t> or n(A).</a:t>
            </a:r>
          </a:p>
          <a:p>
            <a:pPr>
              <a:defRPr/>
            </a:pPr>
            <a:endParaRPr lang="en-US" dirty="0">
              <a:latin typeface="Arial" charset="0"/>
            </a:endParaRPr>
          </a:p>
          <a:p>
            <a:pPr>
              <a:defRPr/>
            </a:pPr>
            <a:r>
              <a:rPr lang="en-US" dirty="0">
                <a:latin typeface="Arial" charset="0"/>
              </a:rPr>
              <a:t>Properties:</a:t>
            </a:r>
          </a:p>
          <a:p>
            <a:pPr>
              <a:defRPr/>
            </a:pPr>
            <a:endParaRPr lang="en-US" dirty="0">
              <a:latin typeface="Arial" charset="0"/>
            </a:endParaRPr>
          </a:p>
          <a:p>
            <a:pPr marL="342891" indent="-342891">
              <a:buFontTx/>
              <a:buAutoNum type="arabicPeriod"/>
              <a:defRPr/>
            </a:pPr>
            <a:r>
              <a:rPr lang="en-US" dirty="0">
                <a:latin typeface="Arial" charset="0"/>
              </a:rPr>
              <a:t>For any two sets A and B</a:t>
            </a:r>
          </a:p>
          <a:p>
            <a:pPr marL="342891" indent="-342891">
              <a:defRPr/>
            </a:pPr>
            <a:endParaRPr lang="en-US" dirty="0">
              <a:latin typeface="Arial" charset="0"/>
            </a:endParaRPr>
          </a:p>
          <a:p>
            <a:pPr marL="342891" indent="-342891">
              <a:defRPr/>
            </a:pPr>
            <a:r>
              <a:rPr lang="en-US" dirty="0">
                <a:latin typeface="Arial" charset="0"/>
              </a:rPr>
              <a:t>		 </a:t>
            </a:r>
            <a:r>
              <a:rPr lang="en-US" dirty="0" err="1">
                <a:latin typeface="Arial" charset="0"/>
              </a:rPr>
              <a:t>lA</a:t>
            </a:r>
            <a:r>
              <a:rPr lang="en-US" dirty="0">
                <a:latin typeface="Arial" charset="0"/>
              </a:rPr>
              <a:t> U </a:t>
            </a:r>
            <a:r>
              <a:rPr lang="en-US" dirty="0" err="1">
                <a:latin typeface="Arial" charset="0"/>
              </a:rPr>
              <a:t>Bl</a:t>
            </a:r>
            <a:r>
              <a:rPr lang="en-US" dirty="0">
                <a:latin typeface="Arial" charset="0"/>
              </a:rPr>
              <a:t> =  </a:t>
            </a:r>
            <a:r>
              <a:rPr lang="en-US" dirty="0" err="1">
                <a:latin typeface="Arial" charset="0"/>
              </a:rPr>
              <a:t>lAl</a:t>
            </a:r>
            <a:r>
              <a:rPr lang="en-US" dirty="0">
                <a:latin typeface="Arial" charset="0"/>
              </a:rPr>
              <a:t> +  </a:t>
            </a:r>
            <a:r>
              <a:rPr lang="en-US" dirty="0" err="1">
                <a:latin typeface="Arial" charset="0"/>
              </a:rPr>
              <a:t>lBl</a:t>
            </a:r>
            <a:r>
              <a:rPr lang="en-US" dirty="0">
                <a:latin typeface="Arial" charset="0"/>
              </a:rPr>
              <a:t> -  </a:t>
            </a:r>
            <a:r>
              <a:rPr lang="en-US" dirty="0" err="1">
                <a:latin typeface="Arial" charset="0"/>
              </a:rPr>
              <a:t>lA</a:t>
            </a:r>
            <a:r>
              <a:rPr lang="en-US" dirty="0">
                <a:latin typeface="Arial" charset="0"/>
              </a:rPr>
              <a:t> ⋂ B l   </a:t>
            </a:r>
          </a:p>
          <a:p>
            <a:pPr marL="342891" indent="-342891">
              <a:defRPr/>
            </a:pPr>
            <a:endParaRPr lang="en-US" dirty="0">
              <a:latin typeface="Arial" charset="0"/>
            </a:endParaRPr>
          </a:p>
          <a:p>
            <a:pPr marL="342891" indent="-342891">
              <a:defRPr/>
            </a:pPr>
            <a:r>
              <a:rPr lang="en-US" dirty="0">
                <a:latin typeface="Arial" charset="0"/>
              </a:rPr>
              <a:t>	If A and B are disjoint sets, i.e. A ⋂ B = Φ</a:t>
            </a:r>
          </a:p>
          <a:p>
            <a:pPr marL="342891" indent="-342891">
              <a:defRPr/>
            </a:pPr>
            <a:endParaRPr lang="en-US" dirty="0">
              <a:latin typeface="Arial" charset="0"/>
            </a:endParaRPr>
          </a:p>
          <a:p>
            <a:pPr marL="342891" indent="-342891">
              <a:defRPr/>
            </a:pPr>
            <a:r>
              <a:rPr lang="en-US" dirty="0">
                <a:latin typeface="Arial" charset="0"/>
              </a:rPr>
              <a:t>	Then </a:t>
            </a:r>
          </a:p>
          <a:p>
            <a:pPr marL="342891" indent="-342891">
              <a:defRPr/>
            </a:pPr>
            <a:endParaRPr lang="en-US" dirty="0">
              <a:latin typeface="Arial" charset="0"/>
            </a:endParaRPr>
          </a:p>
          <a:p>
            <a:pPr marL="342891" indent="-342891">
              <a:defRPr/>
            </a:pPr>
            <a:r>
              <a:rPr lang="en-US" dirty="0">
                <a:latin typeface="Arial" charset="0"/>
              </a:rPr>
              <a:t>		 </a:t>
            </a:r>
            <a:r>
              <a:rPr lang="en-US" dirty="0" err="1">
                <a:latin typeface="Arial" charset="0"/>
              </a:rPr>
              <a:t>lA</a:t>
            </a:r>
            <a:r>
              <a:rPr lang="en-US" dirty="0">
                <a:latin typeface="Arial" charset="0"/>
              </a:rPr>
              <a:t> U </a:t>
            </a:r>
            <a:r>
              <a:rPr lang="en-US" dirty="0" err="1">
                <a:latin typeface="Arial" charset="0"/>
              </a:rPr>
              <a:t>Bl</a:t>
            </a:r>
            <a:r>
              <a:rPr lang="en-US" dirty="0">
                <a:latin typeface="Arial" charset="0"/>
              </a:rPr>
              <a:t> =  </a:t>
            </a:r>
            <a:r>
              <a:rPr lang="en-US" dirty="0" err="1">
                <a:latin typeface="Arial" charset="0"/>
              </a:rPr>
              <a:t>lAl</a:t>
            </a:r>
            <a:r>
              <a:rPr lang="en-US" dirty="0">
                <a:latin typeface="Arial" charset="0"/>
              </a:rPr>
              <a:t> +  </a:t>
            </a:r>
            <a:r>
              <a:rPr lang="en-US" dirty="0" err="1">
                <a:latin typeface="Arial" charset="0"/>
              </a:rPr>
              <a:t>lBl</a:t>
            </a:r>
            <a:r>
              <a:rPr lang="en-US" dirty="0">
                <a:latin typeface="Arial" charset="0"/>
              </a:rPr>
              <a:t>  </a:t>
            </a:r>
          </a:p>
          <a:p>
            <a:pPr>
              <a:defRPr/>
            </a:pPr>
            <a:endParaRPr lang="en-US" dirty="0">
              <a:latin typeface="Arial" charset="0"/>
            </a:endParaRPr>
          </a:p>
          <a:p>
            <a:pPr>
              <a:defRPr/>
            </a:pPr>
            <a:endParaRPr lang="en-US" dirty="0">
              <a:latin typeface="Arial"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Box 1">
            <a:extLst>
              <a:ext uri="{FF2B5EF4-FFF2-40B4-BE49-F238E27FC236}">
                <a16:creationId xmlns:a16="http://schemas.microsoft.com/office/drawing/2014/main" id="{E5D69540-8ED2-4810-9733-6111C510AC09}"/>
              </a:ext>
            </a:extLst>
          </p:cNvPr>
          <p:cNvSpPr txBox="1">
            <a:spLocks noChangeArrowheads="1"/>
          </p:cNvSpPr>
          <p:nvPr/>
        </p:nvSpPr>
        <p:spPr bwMode="auto">
          <a:xfrm>
            <a:off x="2362200" y="1066801"/>
            <a:ext cx="7845674"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AutoNum type="arabicPeriod" startAt="2"/>
            </a:pPr>
            <a:r>
              <a:rPr lang="en-US" altLang="en-US"/>
              <a:t>lA - Bl =  lAl -  lA ⋂ Bl</a:t>
            </a:r>
          </a:p>
          <a:p>
            <a:pPr eaLnBrk="1" hangingPunct="1"/>
            <a:r>
              <a:rPr lang="en-US" altLang="en-US"/>
              <a:t>	</a:t>
            </a:r>
          </a:p>
          <a:p>
            <a:pPr eaLnBrk="1" hangingPunct="1"/>
            <a:r>
              <a:rPr lang="en-US" altLang="en-US"/>
              <a:t>	 lB - Al =  lBl -  lA ⋂ Bl </a:t>
            </a:r>
          </a:p>
          <a:p>
            <a:pPr eaLnBrk="1" hangingPunct="1"/>
            <a:endParaRPr lang="en-US" altLang="en-US"/>
          </a:p>
          <a:p>
            <a:pPr eaLnBrk="1" hangingPunct="1">
              <a:buFontTx/>
              <a:buAutoNum type="arabicPeriod" startAt="3"/>
            </a:pPr>
            <a:r>
              <a:rPr lang="en-US" altLang="en-US"/>
              <a:t>If A, B, C are any three sets, then</a:t>
            </a:r>
          </a:p>
          <a:p>
            <a:pPr eaLnBrk="1" hangingPunct="1">
              <a:buFontTx/>
              <a:buAutoNum type="arabicPeriod" startAt="3"/>
            </a:pPr>
            <a:endParaRPr lang="en-US" altLang="en-US"/>
          </a:p>
          <a:p>
            <a:pPr eaLnBrk="1" hangingPunct="1"/>
            <a:r>
              <a:rPr lang="en-US" altLang="en-US"/>
              <a:t>	 lA U B U Cl  = lAl  + lBl + lCl - lA ⋂ Bl  - lA ⋂ Cl - lB ⋂ Cl + lA ⋂ B ⋂  Cl </a:t>
            </a:r>
          </a:p>
          <a:p>
            <a:pPr eaLnBrk="1" hangingPunct="1"/>
            <a:endParaRPr lang="en-US" altLang="en-US"/>
          </a:p>
          <a:p>
            <a:pPr eaLnBrk="1" hangingPunct="1"/>
            <a:endParaRPr lang="en-US" altLang="en-US"/>
          </a:p>
          <a:p>
            <a:pPr eaLnBrk="1" hangingPunct="1"/>
            <a:r>
              <a:rPr lang="en-US" altLang="en-US"/>
              <a:t>Properties 1 and 3 are called addition principle, also known as inclusion –</a:t>
            </a:r>
          </a:p>
          <a:p>
            <a:pPr eaLnBrk="1" hangingPunct="1"/>
            <a:r>
              <a:rPr lang="en-US" altLang="en-US"/>
              <a:t>Exclusion principle.</a:t>
            </a:r>
          </a:p>
          <a:p>
            <a:pPr eaLnBrk="1" hangingPunct="1"/>
            <a:endParaRPr lang="en-US" altLang="en-US"/>
          </a:p>
          <a:p>
            <a:pPr eaLnBrk="1" hangingPunct="1"/>
            <a:r>
              <a:rPr lang="en-US" altLang="en-US"/>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Box 1">
            <a:extLst>
              <a:ext uri="{FF2B5EF4-FFF2-40B4-BE49-F238E27FC236}">
                <a16:creationId xmlns:a16="http://schemas.microsoft.com/office/drawing/2014/main" id="{D8A05D11-F14A-4BC6-AB24-27DE15628EFE}"/>
              </a:ext>
            </a:extLst>
          </p:cNvPr>
          <p:cNvSpPr txBox="1">
            <a:spLocks noChangeArrowheads="1"/>
          </p:cNvSpPr>
          <p:nvPr/>
        </p:nvSpPr>
        <p:spPr bwMode="auto">
          <a:xfrm>
            <a:off x="2362200" y="914401"/>
            <a:ext cx="7827912"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Example:   A computer company must hire 20 programmers to handle</a:t>
            </a:r>
          </a:p>
          <a:p>
            <a:pPr eaLnBrk="1" hangingPunct="1"/>
            <a:r>
              <a:rPr lang="en-US" altLang="en-US"/>
              <a:t>system programming jobs and 30 programmers for application</a:t>
            </a:r>
          </a:p>
          <a:p>
            <a:pPr eaLnBrk="1" hangingPunct="1"/>
            <a:r>
              <a:rPr lang="en-US" altLang="en-US"/>
              <a:t>programming. Of those hired, 5 are expected to perform jobs of both</a:t>
            </a:r>
          </a:p>
          <a:p>
            <a:pPr eaLnBrk="1" hangingPunct="1"/>
            <a:r>
              <a:rPr lang="en-US" altLang="en-US"/>
              <a:t>the types. How many programmers must be hired?</a:t>
            </a:r>
          </a:p>
          <a:p>
            <a:pPr eaLnBrk="1" hangingPunct="1"/>
            <a:endParaRPr lang="en-US" altLang="en-US"/>
          </a:p>
          <a:p>
            <a:pPr eaLnBrk="1" hangingPunct="1"/>
            <a:r>
              <a:rPr lang="en-US" altLang="en-US"/>
              <a:t>Solution:</a:t>
            </a:r>
          </a:p>
          <a:p>
            <a:pPr eaLnBrk="1" hangingPunct="1"/>
            <a:r>
              <a:rPr lang="en-US" altLang="en-US"/>
              <a:t>	Let A be the set of system programmers hired and B be the set of </a:t>
            </a:r>
          </a:p>
          <a:p>
            <a:pPr eaLnBrk="1" hangingPunct="1"/>
            <a:r>
              <a:rPr lang="en-US" altLang="en-US"/>
              <a:t>application programmers hired.</a:t>
            </a:r>
          </a:p>
          <a:p>
            <a:pPr eaLnBrk="1" hangingPunct="1"/>
            <a:endParaRPr lang="en-US" altLang="en-US"/>
          </a:p>
          <a:p>
            <a:pPr eaLnBrk="1" hangingPunct="1"/>
            <a:r>
              <a:rPr lang="en-US" altLang="en-US"/>
              <a:t>Given n(A) = 20, n(B) = 30 and n(A ⋂ B) = 5</a:t>
            </a:r>
          </a:p>
          <a:p>
            <a:pPr eaLnBrk="1" hangingPunct="1"/>
            <a:endParaRPr lang="en-US" altLang="en-US"/>
          </a:p>
          <a:p>
            <a:pPr eaLnBrk="1" hangingPunct="1"/>
            <a:r>
              <a:rPr lang="en-US" altLang="en-US"/>
              <a:t>The number of programmers that must be hired is n(A U B),</a:t>
            </a:r>
          </a:p>
          <a:p>
            <a:pPr eaLnBrk="1" hangingPunct="1"/>
            <a:endParaRPr lang="en-US" altLang="en-US"/>
          </a:p>
          <a:p>
            <a:pPr eaLnBrk="1" hangingPunct="1"/>
            <a:r>
              <a:rPr lang="en-US" altLang="en-US"/>
              <a:t>But n(A U B) = n(A )+ n(B) – n(A ⋂ B)</a:t>
            </a:r>
          </a:p>
          <a:p>
            <a:pPr eaLnBrk="1" hangingPunct="1"/>
            <a:r>
              <a:rPr lang="en-US" altLang="en-US"/>
              <a:t>	       = 20 +30 -5</a:t>
            </a:r>
          </a:p>
          <a:p>
            <a:pPr eaLnBrk="1" hangingPunct="1"/>
            <a:r>
              <a:rPr lang="en-US" altLang="en-US"/>
              <a:t>	       =  45</a:t>
            </a:r>
          </a:p>
          <a:p>
            <a:pPr eaLnBrk="1" hangingPunct="1"/>
            <a:endParaRPr lang="en-US" altLang="en-US"/>
          </a:p>
          <a:p>
            <a:pPr eaLnBrk="1" hangingPunct="1"/>
            <a:r>
              <a:rPr lang="en-US" altLang="en-US"/>
              <a:t>So, the company must hire 45 programmers.</a:t>
            </a:r>
          </a:p>
          <a:p>
            <a:pPr eaLnBrk="1" hangingPunct="1"/>
            <a:endParaRPr lang="en-US" altLang="en-US"/>
          </a:p>
          <a:p>
            <a:pPr eaLnBrk="1" hangingPunct="1"/>
            <a:endParaRPr lang="en-US"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812800" y="2006601"/>
            <a:ext cx="9652000" cy="3785652"/>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In a class of 25 students, 12 have taken mathematics, 8 have </a:t>
            </a:r>
          </a:p>
          <a:p>
            <a:r>
              <a:rPr lang="en-US" sz="2400" dirty="0">
                <a:latin typeface="Century Gothic" panose="020B0502020202020204" pitchFamily="34" charset="0"/>
                <a:cs typeface="Arial" panose="020B0604020202020204" pitchFamily="34" charset="0"/>
              </a:rPr>
              <a:t>taken mathematics but not biology. Find the number of students who have taken mathematics and biology both.</a:t>
            </a: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4</a:t>
            </a:r>
          </a:p>
          <a:p>
            <a:r>
              <a:rPr lang="en-US" sz="2400" dirty="0">
                <a:latin typeface="Century Gothic" panose="020B0502020202020204" pitchFamily="34" charset="0"/>
                <a:cs typeface="Arial" panose="020B0604020202020204" pitchFamily="34" charset="0"/>
              </a:rPr>
              <a:t>(ii) 20</a:t>
            </a:r>
          </a:p>
          <a:p>
            <a:r>
              <a:rPr lang="en-US" sz="2400" dirty="0">
                <a:latin typeface="Century Gothic" panose="020B0502020202020204" pitchFamily="34" charset="0"/>
                <a:cs typeface="Arial" panose="020B0604020202020204" pitchFamily="34" charset="0"/>
              </a:rPr>
              <a:t>(iii) 12</a:t>
            </a:r>
          </a:p>
          <a:p>
            <a:r>
              <a:rPr lang="en-US" sz="2400" dirty="0">
                <a:latin typeface="Century Gothic" panose="020B0502020202020204" pitchFamily="34" charset="0"/>
                <a:cs typeface="Arial" panose="020B0604020202020204" pitchFamily="34" charset="0"/>
              </a:rPr>
              <a:t>(iv) </a:t>
            </a:r>
            <a:r>
              <a:rPr lang="en-IN" sz="2400" dirty="0">
                <a:latin typeface="Century Gothic" panose="020B0502020202020204" pitchFamily="34" charset="0"/>
                <a:cs typeface="Arial" panose="020B0604020202020204" pitchFamily="34" charset="0"/>
              </a:rPr>
              <a:t>0</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p:spTree>
    <p:extLst>
      <p:ext uri="{BB962C8B-B14F-4D97-AF65-F5344CB8AC3E}">
        <p14:creationId xmlns:p14="http://schemas.microsoft.com/office/powerpoint/2010/main" val="5192595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697963" y="2006600"/>
            <a:ext cx="10046237"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Let A = { 1, 2, 3, 4, 5, 6}, B = { 2, 4, 6, 8 }. Find B – A.</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Null Set</a:t>
            </a:r>
          </a:p>
          <a:p>
            <a:r>
              <a:rPr lang="en-US" sz="2400" dirty="0">
                <a:latin typeface="Century Gothic" panose="020B0502020202020204" pitchFamily="34" charset="0"/>
                <a:cs typeface="Arial" panose="020B0604020202020204" pitchFamily="34" charset="0"/>
              </a:rPr>
              <a:t>(ii) {8}</a:t>
            </a:r>
          </a:p>
          <a:p>
            <a:r>
              <a:rPr lang="en-US" sz="2400" dirty="0">
                <a:latin typeface="Century Gothic" panose="020B0502020202020204" pitchFamily="34" charset="0"/>
                <a:cs typeface="Arial" panose="020B0604020202020204" pitchFamily="34" charset="0"/>
              </a:rPr>
              <a:t>(iii) 8</a:t>
            </a:r>
          </a:p>
          <a:p>
            <a:r>
              <a:rPr lang="en-US" sz="2400" dirty="0">
                <a:latin typeface="Century Gothic" panose="020B0502020202020204" pitchFamily="34" charset="0"/>
                <a:cs typeface="Arial" panose="020B0604020202020204" pitchFamily="34" charset="0"/>
              </a:rPr>
              <a:t>(iv) { 1, 2, 3, 4, 5, 6, 8}</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2</a:t>
            </a:r>
          </a:p>
        </p:txBody>
      </p:sp>
    </p:spTree>
    <p:extLst>
      <p:ext uri="{BB962C8B-B14F-4D97-AF65-F5344CB8AC3E}">
        <p14:creationId xmlns:p14="http://schemas.microsoft.com/office/powerpoint/2010/main" val="3844168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016001" y="1890117"/>
            <a:ext cx="10159999" cy="3785652"/>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In a school there are 20 teachers who teach mathematics or physics. Of these, 12 teach mathematics and 4 teach both physics and mathematics. How many teach physics ?</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12</a:t>
            </a:r>
          </a:p>
          <a:p>
            <a:r>
              <a:rPr lang="en-US" sz="2400" dirty="0">
                <a:latin typeface="Century Gothic" panose="020B0502020202020204" pitchFamily="34" charset="0"/>
                <a:cs typeface="Arial" panose="020B0604020202020204" pitchFamily="34" charset="0"/>
              </a:rPr>
              <a:t>(ii) 13</a:t>
            </a:r>
          </a:p>
          <a:p>
            <a:r>
              <a:rPr lang="en-US" sz="2400" dirty="0">
                <a:latin typeface="Century Gothic" panose="020B0502020202020204" pitchFamily="34" charset="0"/>
                <a:cs typeface="Arial" panose="020B0604020202020204" pitchFamily="34" charset="0"/>
              </a:rPr>
              <a:t>(iii) 20</a:t>
            </a:r>
          </a:p>
          <a:p>
            <a:r>
              <a:rPr lang="en-US" sz="2400" dirty="0">
                <a:latin typeface="Century Gothic" panose="020B0502020202020204" pitchFamily="34" charset="0"/>
                <a:cs typeface="Arial" panose="020B0604020202020204" pitchFamily="34" charset="0"/>
              </a:rPr>
              <a:t>(iv) 14</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3</a:t>
            </a:r>
          </a:p>
        </p:txBody>
      </p:sp>
    </p:spTree>
    <p:extLst>
      <p:ext uri="{BB962C8B-B14F-4D97-AF65-F5344CB8AC3E}">
        <p14:creationId xmlns:p14="http://schemas.microsoft.com/office/powerpoint/2010/main" val="4872672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812800" y="889001"/>
            <a:ext cx="10566400" cy="4524315"/>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In a survey of 400 students in a school, 100 were listed as taking apple</a:t>
            </a:r>
          </a:p>
          <a:p>
            <a:r>
              <a:rPr lang="en-US" sz="2400" dirty="0">
                <a:latin typeface="Century Gothic" panose="020B0502020202020204" pitchFamily="34" charset="0"/>
                <a:cs typeface="Arial" panose="020B0604020202020204" pitchFamily="34" charset="0"/>
              </a:rPr>
              <a:t>juice, 150 as taking orange juice and 75 were listed as taking both apple as well as orange juice. Find how many students were taking neither apple juice nor orange juice.</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240</a:t>
            </a:r>
          </a:p>
          <a:p>
            <a:r>
              <a:rPr lang="en-US" sz="2400" dirty="0">
                <a:latin typeface="Century Gothic" panose="020B0502020202020204" pitchFamily="34" charset="0"/>
                <a:cs typeface="Arial" panose="020B0604020202020204" pitchFamily="34" charset="0"/>
              </a:rPr>
              <a:t>(ii) 235</a:t>
            </a:r>
          </a:p>
          <a:p>
            <a:r>
              <a:rPr lang="en-US" sz="2400" dirty="0">
                <a:latin typeface="Century Gothic" panose="020B0502020202020204" pitchFamily="34" charset="0"/>
                <a:cs typeface="Arial" panose="020B0604020202020204" pitchFamily="34" charset="0"/>
              </a:rPr>
              <a:t>(iii) 230</a:t>
            </a:r>
          </a:p>
          <a:p>
            <a:r>
              <a:rPr lang="en-US" sz="2400" dirty="0">
                <a:latin typeface="Century Gothic" panose="020B0502020202020204" pitchFamily="34" charset="0"/>
                <a:cs typeface="Arial" panose="020B0604020202020204" pitchFamily="34" charset="0"/>
              </a:rPr>
              <a:t>(iv) 225</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iv</a:t>
            </a: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4</a:t>
            </a:r>
          </a:p>
        </p:txBody>
      </p:sp>
    </p:spTree>
    <p:extLst>
      <p:ext uri="{BB962C8B-B14F-4D97-AF65-F5344CB8AC3E}">
        <p14:creationId xmlns:p14="http://schemas.microsoft.com/office/powerpoint/2010/main" val="13640802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660400" y="1701801"/>
            <a:ext cx="10871200" cy="3785652"/>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In a class of 35 students, 24 like to play cricket and 16 like to play</a:t>
            </a:r>
          </a:p>
          <a:p>
            <a:r>
              <a:rPr lang="en-US" sz="2400" dirty="0">
                <a:latin typeface="Century Gothic" panose="020B0502020202020204" pitchFamily="34" charset="0"/>
                <a:cs typeface="Arial" panose="020B0604020202020204" pitchFamily="34" charset="0"/>
              </a:rPr>
              <a:t>football. Also, each student likes to play at least one of the two games. How many students like to play both cricket and football ?</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5</a:t>
            </a:r>
          </a:p>
          <a:p>
            <a:r>
              <a:rPr lang="en-US" sz="2400" dirty="0">
                <a:latin typeface="Century Gothic" panose="020B0502020202020204" pitchFamily="34" charset="0"/>
                <a:cs typeface="Arial" panose="020B0604020202020204" pitchFamily="34" charset="0"/>
              </a:rPr>
              <a:t>(ii) 10</a:t>
            </a:r>
          </a:p>
          <a:p>
            <a:r>
              <a:rPr lang="en-US" sz="2400" dirty="0">
                <a:latin typeface="Century Gothic" panose="020B0502020202020204" pitchFamily="34" charset="0"/>
                <a:cs typeface="Arial" panose="020B0604020202020204" pitchFamily="34" charset="0"/>
              </a:rPr>
              <a:t>(iii) 25</a:t>
            </a:r>
          </a:p>
          <a:p>
            <a:r>
              <a:rPr lang="en-US" sz="2400" dirty="0">
                <a:latin typeface="Century Gothic" panose="020B0502020202020204" pitchFamily="34" charset="0"/>
                <a:cs typeface="Arial" panose="020B0604020202020204" pitchFamily="34" charset="0"/>
              </a:rPr>
              <a:t>(iv) 35</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5</a:t>
            </a:r>
          </a:p>
        </p:txBody>
      </p:sp>
    </p:spTree>
    <p:extLst>
      <p:ext uri="{BB962C8B-B14F-4D97-AF65-F5344CB8AC3E}">
        <p14:creationId xmlns:p14="http://schemas.microsoft.com/office/powerpoint/2010/main" val="11511067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B5342EF2-3581-41BB-B922-3310E53404A8}"/>
              </a:ext>
            </a:extLst>
          </p:cNvPr>
          <p:cNvSpPr txBox="1">
            <a:spLocks noChangeArrowheads="1"/>
          </p:cNvSpPr>
          <p:nvPr/>
        </p:nvSpPr>
        <p:spPr bwMode="auto">
          <a:xfrm>
            <a:off x="1358049"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Algebra of Sets</a:t>
            </a:r>
          </a:p>
        </p:txBody>
      </p:sp>
      <p:sp>
        <p:nvSpPr>
          <p:cNvPr id="3" name="TextBox 2">
            <a:extLst>
              <a:ext uri="{FF2B5EF4-FFF2-40B4-BE49-F238E27FC236}">
                <a16:creationId xmlns:a16="http://schemas.microsoft.com/office/drawing/2014/main" id="{6D2B9480-2C94-483B-8870-A63B66B017DF}"/>
              </a:ext>
            </a:extLst>
          </p:cNvPr>
          <p:cNvSpPr txBox="1"/>
          <p:nvPr/>
        </p:nvSpPr>
        <p:spPr>
          <a:xfrm>
            <a:off x="2209801" y="1905001"/>
            <a:ext cx="7378943" cy="3693319"/>
          </a:xfrm>
          <a:prstGeom prst="rect">
            <a:avLst/>
          </a:prstGeom>
          <a:noFill/>
        </p:spPr>
        <p:txBody>
          <a:bodyPr wrap="none">
            <a:spAutoFit/>
          </a:bodyPr>
          <a:lstStyle/>
          <a:p>
            <a:pPr>
              <a:defRPr/>
            </a:pPr>
            <a:r>
              <a:rPr lang="en-US" dirty="0">
                <a:latin typeface="Arial" charset="0"/>
              </a:rPr>
              <a:t>There are many important interrelationships among the set operations.</a:t>
            </a:r>
          </a:p>
          <a:p>
            <a:pPr>
              <a:defRPr/>
            </a:pPr>
            <a:r>
              <a:rPr lang="en-US" dirty="0">
                <a:latin typeface="Arial" charset="0"/>
              </a:rPr>
              <a:t>The laws satisfied by the set operations form the algebraic laws of set</a:t>
            </a:r>
          </a:p>
          <a:p>
            <a:pPr>
              <a:defRPr/>
            </a:pPr>
            <a:r>
              <a:rPr lang="en-US" dirty="0">
                <a:latin typeface="Arial" charset="0"/>
              </a:rPr>
              <a:t>Operations.</a:t>
            </a:r>
          </a:p>
          <a:p>
            <a:pPr>
              <a:defRPr/>
            </a:pPr>
            <a:endParaRPr lang="en-US" dirty="0">
              <a:latin typeface="Arial" charset="0"/>
            </a:endParaRPr>
          </a:p>
          <a:p>
            <a:pPr marL="342891" indent="-342891">
              <a:buFontTx/>
              <a:buAutoNum type="arabicPeriod"/>
              <a:defRPr/>
            </a:pPr>
            <a:r>
              <a:rPr lang="en-US" dirty="0">
                <a:latin typeface="Arial" charset="0"/>
              </a:rPr>
              <a:t>Idempotent Laws</a:t>
            </a:r>
          </a:p>
          <a:p>
            <a:pPr marL="342891" indent="-342891">
              <a:defRPr/>
            </a:pPr>
            <a:endParaRPr lang="en-US" dirty="0">
              <a:latin typeface="Arial" charset="0"/>
            </a:endParaRPr>
          </a:p>
          <a:p>
            <a:pPr marL="342891" indent="-342891">
              <a:defRPr/>
            </a:pPr>
            <a:r>
              <a:rPr lang="en-US" dirty="0">
                <a:latin typeface="Arial" charset="0"/>
              </a:rPr>
              <a:t>			A  U  A = A</a:t>
            </a:r>
          </a:p>
          <a:p>
            <a:pPr marL="342891" indent="-342891">
              <a:defRPr/>
            </a:pPr>
            <a:r>
              <a:rPr lang="en-US" dirty="0">
                <a:latin typeface="Arial" charset="0"/>
              </a:rPr>
              <a:t>			A  ∩  A = A</a:t>
            </a:r>
          </a:p>
          <a:p>
            <a:pPr marL="342891" indent="-342891">
              <a:defRPr/>
            </a:pPr>
            <a:endParaRPr lang="en-US" dirty="0">
              <a:latin typeface="Arial" charset="0"/>
            </a:endParaRPr>
          </a:p>
          <a:p>
            <a:pPr marL="342891" indent="-342891">
              <a:buFontTx/>
              <a:buAutoNum type="arabicPeriod" startAt="2"/>
              <a:defRPr/>
            </a:pPr>
            <a:r>
              <a:rPr lang="en-US" dirty="0">
                <a:latin typeface="Arial" charset="0"/>
              </a:rPr>
              <a:t>Associative Laws</a:t>
            </a:r>
          </a:p>
          <a:p>
            <a:pPr marL="342891" indent="-342891">
              <a:buFontTx/>
              <a:buAutoNum type="arabicPeriod" startAt="2"/>
              <a:defRPr/>
            </a:pPr>
            <a:endParaRPr lang="en-US" dirty="0">
              <a:latin typeface="Arial" charset="0"/>
            </a:endParaRPr>
          </a:p>
          <a:p>
            <a:pPr marL="342891" indent="-342891">
              <a:defRPr/>
            </a:pPr>
            <a:r>
              <a:rPr lang="en-US" dirty="0">
                <a:latin typeface="Arial" charset="0"/>
              </a:rPr>
              <a:t>			( A U B) U C = A U (B U C)</a:t>
            </a:r>
          </a:p>
          <a:p>
            <a:pPr marL="342891" indent="-342891">
              <a:defRPr/>
            </a:pPr>
            <a:r>
              <a:rPr lang="en-US" dirty="0">
                <a:latin typeface="Arial" charset="0"/>
              </a:rPr>
              <a:t>			( A ∩ B) ∩ C = A ∩ (B ∩ C)</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1">
            <a:extLst>
              <a:ext uri="{FF2B5EF4-FFF2-40B4-BE49-F238E27FC236}">
                <a16:creationId xmlns:a16="http://schemas.microsoft.com/office/drawing/2014/main" id="{3D115CDC-2729-4432-A604-0F60BDB2D8E9}"/>
              </a:ext>
            </a:extLst>
          </p:cNvPr>
          <p:cNvSpPr txBox="1">
            <a:spLocks noChangeArrowheads="1"/>
          </p:cNvSpPr>
          <p:nvPr/>
        </p:nvSpPr>
        <p:spPr bwMode="auto">
          <a:xfrm>
            <a:off x="2362202" y="990600"/>
            <a:ext cx="5295232"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AutoNum type="arabicPeriod" startAt="3"/>
            </a:pPr>
            <a:r>
              <a:rPr lang="en-US" altLang="en-US" dirty="0"/>
              <a:t>Commutative Laws</a:t>
            </a:r>
          </a:p>
          <a:p>
            <a:pPr eaLnBrk="1" hangingPunct="1">
              <a:buFontTx/>
              <a:buAutoNum type="arabicPeriod" startAt="3"/>
            </a:pPr>
            <a:endParaRPr lang="en-US" altLang="en-US" dirty="0"/>
          </a:p>
          <a:p>
            <a:pPr eaLnBrk="1" hangingPunct="1"/>
            <a:r>
              <a:rPr lang="en-US" altLang="en-US" dirty="0"/>
              <a:t>			A U B = B U A</a:t>
            </a:r>
          </a:p>
          <a:p>
            <a:pPr eaLnBrk="1" hangingPunct="1"/>
            <a:r>
              <a:rPr lang="en-US" altLang="en-US" dirty="0"/>
              <a:t>			A ∩ B = B ∩ A</a:t>
            </a:r>
          </a:p>
          <a:p>
            <a:pPr eaLnBrk="1" hangingPunct="1"/>
            <a:endParaRPr lang="en-US" altLang="en-US" dirty="0"/>
          </a:p>
          <a:p>
            <a:pPr eaLnBrk="1" hangingPunct="1">
              <a:buFontTx/>
              <a:buAutoNum type="arabicPeriod" startAt="4"/>
            </a:pPr>
            <a:r>
              <a:rPr lang="en-US" altLang="en-US" dirty="0"/>
              <a:t>Distributive Laws</a:t>
            </a:r>
          </a:p>
          <a:p>
            <a:pPr eaLnBrk="1" hangingPunct="1">
              <a:buFontTx/>
              <a:buAutoNum type="arabicPeriod" startAt="4"/>
            </a:pPr>
            <a:endParaRPr lang="en-US" altLang="en-US" dirty="0"/>
          </a:p>
          <a:p>
            <a:pPr eaLnBrk="1" hangingPunct="1"/>
            <a:r>
              <a:rPr lang="en-US" altLang="en-US" dirty="0"/>
              <a:t>			A U (B ∩ C) = (A U B) ∩ (A U C)</a:t>
            </a:r>
          </a:p>
          <a:p>
            <a:pPr eaLnBrk="1" hangingPunct="1"/>
            <a:r>
              <a:rPr lang="en-US" altLang="en-US" dirty="0"/>
              <a:t>			A ∩ (B U C) = (A ∩ B) U (A ∩ C)</a:t>
            </a:r>
          </a:p>
          <a:p>
            <a:pPr eaLnBrk="1" hangingPunct="1"/>
            <a:endParaRPr lang="en-US" altLang="en-US" dirty="0"/>
          </a:p>
          <a:p>
            <a:pPr eaLnBrk="1" hangingPunct="1">
              <a:buFontTx/>
              <a:buAutoNum type="arabicPeriod" startAt="5"/>
            </a:pPr>
            <a:r>
              <a:rPr lang="en-US" altLang="en-US" dirty="0"/>
              <a:t>Identity Laws</a:t>
            </a:r>
          </a:p>
          <a:p>
            <a:pPr eaLnBrk="1" hangingPunct="1">
              <a:buFontTx/>
              <a:buAutoNum type="arabicPeriod" startAt="5"/>
            </a:pPr>
            <a:endParaRPr lang="en-US" altLang="en-US" dirty="0"/>
          </a:p>
          <a:p>
            <a:pPr eaLnBrk="1" hangingPunct="1"/>
            <a:r>
              <a:rPr lang="en-US" altLang="en-US" dirty="0"/>
              <a:t>			A U Φ = A   and   A ∩ U = A</a:t>
            </a:r>
          </a:p>
          <a:p>
            <a:pPr eaLnBrk="1" hangingPunct="1"/>
            <a:r>
              <a:rPr lang="en-US" altLang="en-US" dirty="0"/>
              <a:t>			A U </a:t>
            </a:r>
            <a:r>
              <a:rPr lang="en-US" altLang="en-US" dirty="0" err="1"/>
              <a:t>U</a:t>
            </a:r>
            <a:r>
              <a:rPr lang="en-US" altLang="en-US" dirty="0"/>
              <a:t> = U   and   A ∩ Φ = Φ</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1">
            <a:extLst>
              <a:ext uri="{FF2B5EF4-FFF2-40B4-BE49-F238E27FC236}">
                <a16:creationId xmlns:a16="http://schemas.microsoft.com/office/drawing/2014/main" id="{C8BBE40C-1299-47DE-A54C-04AB3782AFFA}"/>
              </a:ext>
            </a:extLst>
          </p:cNvPr>
          <p:cNvSpPr txBox="1">
            <a:spLocks noChangeArrowheads="1"/>
          </p:cNvSpPr>
          <p:nvPr/>
        </p:nvSpPr>
        <p:spPr bwMode="auto">
          <a:xfrm>
            <a:off x="2362202" y="1219201"/>
            <a:ext cx="4618059"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AutoNum type="arabicPeriod" startAt="6"/>
            </a:pPr>
            <a:r>
              <a:rPr lang="en-US" altLang="en-US"/>
              <a:t>Involution Laws</a:t>
            </a:r>
          </a:p>
          <a:p>
            <a:pPr eaLnBrk="1" hangingPunct="1">
              <a:buFontTx/>
              <a:buAutoNum type="arabicPeriod" startAt="6"/>
            </a:pPr>
            <a:endParaRPr lang="en-US" altLang="en-US"/>
          </a:p>
          <a:p>
            <a:pPr eaLnBrk="1" hangingPunct="1"/>
            <a:r>
              <a:rPr lang="en-US" altLang="en-US"/>
              <a:t>			(A’)’ = A</a:t>
            </a:r>
          </a:p>
          <a:p>
            <a:pPr eaLnBrk="1" hangingPunct="1"/>
            <a:endParaRPr lang="en-US" altLang="en-US"/>
          </a:p>
          <a:p>
            <a:pPr eaLnBrk="1" hangingPunct="1">
              <a:buFontTx/>
              <a:buAutoNum type="arabicPeriod" startAt="7"/>
            </a:pPr>
            <a:r>
              <a:rPr lang="en-US" altLang="en-US"/>
              <a:t>Compliment Laws</a:t>
            </a:r>
          </a:p>
          <a:p>
            <a:pPr eaLnBrk="1" hangingPunct="1">
              <a:buFontTx/>
              <a:buAutoNum type="arabicPeriod" startAt="7"/>
            </a:pPr>
            <a:endParaRPr lang="en-US" altLang="en-US"/>
          </a:p>
          <a:p>
            <a:pPr eaLnBrk="1" hangingPunct="1"/>
            <a:r>
              <a:rPr lang="en-US" altLang="en-US"/>
              <a:t>			A U A’ = U    and   U’ = Φ </a:t>
            </a:r>
          </a:p>
          <a:p>
            <a:pPr eaLnBrk="1" hangingPunct="1"/>
            <a:r>
              <a:rPr lang="en-US" altLang="en-US"/>
              <a:t>			A ⋂  A’ = Φ   and  Φ’ = U</a:t>
            </a:r>
          </a:p>
          <a:p>
            <a:pPr eaLnBrk="1" hangingPunct="1"/>
            <a:endParaRPr lang="en-US" altLang="en-US"/>
          </a:p>
          <a:p>
            <a:pPr eaLnBrk="1" hangingPunct="1">
              <a:buFontTx/>
              <a:buAutoNum type="arabicPeriod" startAt="8"/>
            </a:pPr>
            <a:r>
              <a:rPr lang="en-US" altLang="en-US"/>
              <a:t>DeMorgan’s Laws</a:t>
            </a:r>
          </a:p>
          <a:p>
            <a:pPr eaLnBrk="1" hangingPunct="1">
              <a:buFontTx/>
              <a:buAutoNum type="arabicPeriod" startAt="8"/>
            </a:pPr>
            <a:endParaRPr lang="en-US" altLang="en-US"/>
          </a:p>
          <a:p>
            <a:pPr eaLnBrk="1" hangingPunct="1"/>
            <a:r>
              <a:rPr lang="en-US" altLang="en-US"/>
              <a:t>			(A U B)’ = A’ ⋂ B’</a:t>
            </a:r>
          </a:p>
          <a:p>
            <a:pPr eaLnBrk="1" hangingPunct="1"/>
            <a:r>
              <a:rPr lang="en-US" altLang="en-US"/>
              <a:t>			(A ⋂ B)’ = A’ U B’</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Box 1">
            <a:extLst>
              <a:ext uri="{FF2B5EF4-FFF2-40B4-BE49-F238E27FC236}">
                <a16:creationId xmlns:a16="http://schemas.microsoft.com/office/drawing/2014/main" id="{DA9B525E-EF3D-4791-86E4-9C1B26311CA3}"/>
              </a:ext>
            </a:extLst>
          </p:cNvPr>
          <p:cNvSpPr txBox="1">
            <a:spLocks noChangeArrowheads="1"/>
          </p:cNvSpPr>
          <p:nvPr/>
        </p:nvSpPr>
        <p:spPr bwMode="auto">
          <a:xfrm>
            <a:off x="2438400" y="990602"/>
            <a:ext cx="645587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Proof: A U (B ∩ C) = (A U B) ∩ (A U C)</a:t>
            </a:r>
          </a:p>
          <a:p>
            <a:pPr eaLnBrk="1" hangingPunct="1"/>
            <a:endParaRPr lang="en-US" altLang="en-US" dirty="0"/>
          </a:p>
          <a:p>
            <a:pPr eaLnBrk="1" hangingPunct="1"/>
            <a:r>
              <a:rPr lang="en-US" altLang="en-US" dirty="0"/>
              <a:t>Let x be any arbitrary element of the set A U (B ∩ C). Then</a:t>
            </a:r>
          </a:p>
          <a:p>
            <a:pPr eaLnBrk="1" hangingPunct="1"/>
            <a:r>
              <a:rPr lang="en-US" altLang="en-US" dirty="0"/>
              <a:t> </a:t>
            </a:r>
          </a:p>
          <a:p>
            <a:pPr eaLnBrk="1" hangingPunct="1"/>
            <a:r>
              <a:rPr lang="en-US" altLang="en-US" dirty="0"/>
              <a:t>x </a:t>
            </a:r>
            <a:r>
              <a:rPr lang="el-GR" altLang="en-US" dirty="0"/>
              <a:t>ϵ</a:t>
            </a:r>
            <a:r>
              <a:rPr lang="en-US" altLang="en-US" dirty="0"/>
              <a:t>  A U (B ∩ C)       x </a:t>
            </a:r>
            <a:r>
              <a:rPr lang="el-GR" altLang="en-US" dirty="0"/>
              <a:t>ϵ</a:t>
            </a:r>
            <a:r>
              <a:rPr lang="en-US" altLang="en-US" dirty="0"/>
              <a:t>  A or x </a:t>
            </a:r>
            <a:r>
              <a:rPr lang="el-GR" altLang="en-US" dirty="0"/>
              <a:t>ϵ</a:t>
            </a:r>
            <a:r>
              <a:rPr lang="en-US" altLang="en-US" dirty="0"/>
              <a:t> (B ∩ C)</a:t>
            </a:r>
          </a:p>
          <a:p>
            <a:pPr eaLnBrk="1" hangingPunct="1"/>
            <a:r>
              <a:rPr lang="en-US" altLang="en-US" dirty="0"/>
              <a:t>                          </a:t>
            </a:r>
          </a:p>
          <a:p>
            <a:pPr eaLnBrk="1" hangingPunct="1"/>
            <a:r>
              <a:rPr lang="en-US" altLang="en-US" dirty="0"/>
              <a:t> 	                x </a:t>
            </a:r>
            <a:r>
              <a:rPr lang="el-GR" altLang="en-US" dirty="0"/>
              <a:t>ϵ</a:t>
            </a:r>
            <a:r>
              <a:rPr lang="en-US" altLang="en-US" dirty="0"/>
              <a:t>  A or (x </a:t>
            </a:r>
            <a:r>
              <a:rPr lang="el-GR" altLang="en-US" dirty="0"/>
              <a:t>ϵ</a:t>
            </a:r>
            <a:r>
              <a:rPr lang="en-US" altLang="en-US" dirty="0"/>
              <a:t> B and x </a:t>
            </a:r>
            <a:r>
              <a:rPr lang="el-GR" altLang="en-US" dirty="0"/>
              <a:t>ϵ</a:t>
            </a:r>
            <a:r>
              <a:rPr lang="en-US" altLang="en-US" dirty="0"/>
              <a:t> C)</a:t>
            </a:r>
          </a:p>
          <a:p>
            <a:pPr eaLnBrk="1" hangingPunct="1"/>
            <a:endParaRPr lang="en-US" altLang="en-US" dirty="0"/>
          </a:p>
          <a:p>
            <a:pPr eaLnBrk="1" hangingPunct="1"/>
            <a:r>
              <a:rPr lang="en-US" altLang="en-US" dirty="0"/>
              <a:t>	               (x </a:t>
            </a:r>
            <a:r>
              <a:rPr lang="el-GR" altLang="en-US" dirty="0"/>
              <a:t>ϵ</a:t>
            </a:r>
            <a:r>
              <a:rPr lang="en-US" altLang="en-US" dirty="0"/>
              <a:t> A or x </a:t>
            </a:r>
            <a:r>
              <a:rPr lang="el-GR" altLang="en-US" dirty="0"/>
              <a:t>ϵ</a:t>
            </a:r>
            <a:r>
              <a:rPr lang="en-US" altLang="en-US" dirty="0"/>
              <a:t> B) and (x </a:t>
            </a:r>
            <a:r>
              <a:rPr lang="el-GR" altLang="en-US" dirty="0"/>
              <a:t>ϵ</a:t>
            </a:r>
            <a:r>
              <a:rPr lang="en-US" altLang="en-US" dirty="0"/>
              <a:t> A or x </a:t>
            </a:r>
            <a:r>
              <a:rPr lang="el-GR" altLang="en-US" dirty="0"/>
              <a:t>ϵ</a:t>
            </a:r>
            <a:r>
              <a:rPr lang="en-US" altLang="en-US" dirty="0"/>
              <a:t> C)</a:t>
            </a:r>
          </a:p>
          <a:p>
            <a:pPr eaLnBrk="1" hangingPunct="1"/>
            <a:endParaRPr lang="en-US" altLang="en-US" dirty="0"/>
          </a:p>
          <a:p>
            <a:pPr eaLnBrk="1" hangingPunct="1"/>
            <a:r>
              <a:rPr lang="en-US" altLang="en-US" dirty="0"/>
              <a:t>                              x </a:t>
            </a:r>
            <a:r>
              <a:rPr lang="el-GR" altLang="en-US" dirty="0"/>
              <a:t>ϵ</a:t>
            </a:r>
            <a:r>
              <a:rPr lang="en-US" altLang="en-US" dirty="0"/>
              <a:t> (A U B) and x </a:t>
            </a:r>
            <a:r>
              <a:rPr lang="el-GR" altLang="en-US" dirty="0"/>
              <a:t>ϵ</a:t>
            </a:r>
            <a:r>
              <a:rPr lang="en-US" altLang="en-US" dirty="0"/>
              <a:t> (A U C)</a:t>
            </a:r>
          </a:p>
          <a:p>
            <a:pPr eaLnBrk="1" hangingPunct="1"/>
            <a:endParaRPr lang="en-US" altLang="en-US" dirty="0"/>
          </a:p>
          <a:p>
            <a:pPr eaLnBrk="1" hangingPunct="1"/>
            <a:r>
              <a:rPr lang="en-US" altLang="en-US" dirty="0"/>
              <a:t>	                x </a:t>
            </a:r>
            <a:r>
              <a:rPr lang="el-GR" altLang="en-US" dirty="0"/>
              <a:t>ϵ</a:t>
            </a:r>
            <a:r>
              <a:rPr lang="en-US" altLang="en-US" dirty="0"/>
              <a:t> (A U B) ∩ (A U C)</a:t>
            </a:r>
          </a:p>
          <a:p>
            <a:pPr eaLnBrk="1" hangingPunct="1"/>
            <a:endParaRPr lang="en-US" altLang="en-US" dirty="0"/>
          </a:p>
          <a:p>
            <a:pPr eaLnBrk="1" hangingPunct="1"/>
            <a:r>
              <a:rPr lang="en-US" altLang="en-US" dirty="0"/>
              <a:t>Thus, A U (B ∩ C)       (A U B) ∩ (A U C)                               (</a:t>
            </a:r>
            <a:r>
              <a:rPr lang="en-US" altLang="en-US" dirty="0" err="1"/>
              <a:t>i</a:t>
            </a:r>
            <a:r>
              <a:rPr lang="en-US" altLang="en-US" dirty="0"/>
              <a:t>)</a:t>
            </a:r>
          </a:p>
        </p:txBody>
      </p:sp>
      <p:graphicFrame>
        <p:nvGraphicFramePr>
          <p:cNvPr id="34820" name="Object 4">
            <a:extLst>
              <a:ext uri="{FF2B5EF4-FFF2-40B4-BE49-F238E27FC236}">
                <a16:creationId xmlns:a16="http://schemas.microsoft.com/office/drawing/2014/main" id="{0CEFCBD0-9103-4EBA-8820-87A358BCF1CE}"/>
              </a:ext>
            </a:extLst>
          </p:cNvPr>
          <p:cNvGraphicFramePr>
            <a:graphicFrameLocks noChangeAspect="1"/>
          </p:cNvGraphicFramePr>
          <p:nvPr/>
        </p:nvGraphicFramePr>
        <p:xfrm>
          <a:off x="4095749" y="2133601"/>
          <a:ext cx="323851" cy="258763"/>
        </p:xfrm>
        <a:graphic>
          <a:graphicData uri="http://schemas.openxmlformats.org/presentationml/2006/ole">
            <mc:AlternateContent xmlns:mc="http://schemas.openxmlformats.org/markup-compatibility/2006">
              <mc:Choice xmlns:v="urn:schemas-microsoft-com:vml" Requires="v">
                <p:oleObj name="Equation" r:id="rId2" imgW="190440" imgH="152280" progId="Equation.3">
                  <p:embed/>
                </p:oleObj>
              </mc:Choice>
              <mc:Fallback>
                <p:oleObj name="Equation" r:id="rId2" imgW="190440" imgH="152280" progId="Equation.3">
                  <p:embed/>
                  <p:pic>
                    <p:nvPicPr>
                      <p:cNvPr id="34820" name="Object 4">
                        <a:extLst>
                          <a:ext uri="{FF2B5EF4-FFF2-40B4-BE49-F238E27FC236}">
                            <a16:creationId xmlns:a16="http://schemas.microsoft.com/office/drawing/2014/main" id="{0CEFCBD0-9103-4EBA-8820-87A358BCF1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749" y="2133601"/>
                        <a:ext cx="323851" cy="258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1" name="Object 5">
            <a:extLst>
              <a:ext uri="{FF2B5EF4-FFF2-40B4-BE49-F238E27FC236}">
                <a16:creationId xmlns:a16="http://schemas.microsoft.com/office/drawing/2014/main" id="{FAE8B889-DA9A-4435-AA28-EF0D4048E01C}"/>
              </a:ext>
            </a:extLst>
          </p:cNvPr>
          <p:cNvGraphicFramePr>
            <a:graphicFrameLocks noChangeAspect="1"/>
          </p:cNvGraphicFramePr>
          <p:nvPr/>
        </p:nvGraphicFramePr>
        <p:xfrm>
          <a:off x="3962400" y="2713037"/>
          <a:ext cx="323851" cy="258763"/>
        </p:xfrm>
        <a:graphic>
          <a:graphicData uri="http://schemas.openxmlformats.org/presentationml/2006/ole">
            <mc:AlternateContent xmlns:mc="http://schemas.openxmlformats.org/markup-compatibility/2006">
              <mc:Choice xmlns:v="urn:schemas-microsoft-com:vml" Requires="v">
                <p:oleObj name="Equation" r:id="rId4" imgW="190440" imgH="152280" progId="Equation.3">
                  <p:embed/>
                </p:oleObj>
              </mc:Choice>
              <mc:Fallback>
                <p:oleObj name="Equation" r:id="rId4" imgW="190440" imgH="152280" progId="Equation.3">
                  <p:embed/>
                  <p:pic>
                    <p:nvPicPr>
                      <p:cNvPr id="34821" name="Object 5">
                        <a:extLst>
                          <a:ext uri="{FF2B5EF4-FFF2-40B4-BE49-F238E27FC236}">
                            <a16:creationId xmlns:a16="http://schemas.microsoft.com/office/drawing/2014/main" id="{FAE8B889-DA9A-4435-AA28-EF0D4048E0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2713037"/>
                        <a:ext cx="323851" cy="258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2" name="Object 6">
            <a:extLst>
              <a:ext uri="{FF2B5EF4-FFF2-40B4-BE49-F238E27FC236}">
                <a16:creationId xmlns:a16="http://schemas.microsoft.com/office/drawing/2014/main" id="{C891F765-51DF-4565-A19B-0ABCE724B716}"/>
              </a:ext>
            </a:extLst>
          </p:cNvPr>
          <p:cNvGraphicFramePr>
            <a:graphicFrameLocks noChangeAspect="1"/>
          </p:cNvGraphicFramePr>
          <p:nvPr/>
        </p:nvGraphicFramePr>
        <p:xfrm>
          <a:off x="3962400" y="3246437"/>
          <a:ext cx="323851" cy="258763"/>
        </p:xfrm>
        <a:graphic>
          <a:graphicData uri="http://schemas.openxmlformats.org/presentationml/2006/ole">
            <mc:AlternateContent xmlns:mc="http://schemas.openxmlformats.org/markup-compatibility/2006">
              <mc:Choice xmlns:v="urn:schemas-microsoft-com:vml" Requires="v">
                <p:oleObj name="Equation" r:id="rId5" imgW="190440" imgH="152280" progId="Equation.3">
                  <p:embed/>
                </p:oleObj>
              </mc:Choice>
              <mc:Fallback>
                <p:oleObj name="Equation" r:id="rId5" imgW="190440" imgH="152280" progId="Equation.3">
                  <p:embed/>
                  <p:pic>
                    <p:nvPicPr>
                      <p:cNvPr id="34822" name="Object 6">
                        <a:extLst>
                          <a:ext uri="{FF2B5EF4-FFF2-40B4-BE49-F238E27FC236}">
                            <a16:creationId xmlns:a16="http://schemas.microsoft.com/office/drawing/2014/main" id="{C891F765-51DF-4565-A19B-0ABCE724B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3246437"/>
                        <a:ext cx="323851" cy="258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3" name="Object 7">
            <a:extLst>
              <a:ext uri="{FF2B5EF4-FFF2-40B4-BE49-F238E27FC236}">
                <a16:creationId xmlns:a16="http://schemas.microsoft.com/office/drawing/2014/main" id="{1468C5DD-10D8-43F2-AF9C-1CDB16248D71}"/>
              </a:ext>
            </a:extLst>
          </p:cNvPr>
          <p:cNvGraphicFramePr>
            <a:graphicFrameLocks noChangeAspect="1"/>
          </p:cNvGraphicFramePr>
          <p:nvPr/>
        </p:nvGraphicFramePr>
        <p:xfrm>
          <a:off x="3962400" y="3779837"/>
          <a:ext cx="323851" cy="258763"/>
        </p:xfrm>
        <a:graphic>
          <a:graphicData uri="http://schemas.openxmlformats.org/presentationml/2006/ole">
            <mc:AlternateContent xmlns:mc="http://schemas.openxmlformats.org/markup-compatibility/2006">
              <mc:Choice xmlns:v="urn:schemas-microsoft-com:vml" Requires="v">
                <p:oleObj name="Equation" r:id="rId6" imgW="190440" imgH="152280" progId="Equation.3">
                  <p:embed/>
                </p:oleObj>
              </mc:Choice>
              <mc:Fallback>
                <p:oleObj name="Equation" r:id="rId6" imgW="190440" imgH="152280" progId="Equation.3">
                  <p:embed/>
                  <p:pic>
                    <p:nvPicPr>
                      <p:cNvPr id="34823" name="Object 7">
                        <a:extLst>
                          <a:ext uri="{FF2B5EF4-FFF2-40B4-BE49-F238E27FC236}">
                            <a16:creationId xmlns:a16="http://schemas.microsoft.com/office/drawing/2014/main" id="{1468C5DD-10D8-43F2-AF9C-1CDB16248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3779837"/>
                        <a:ext cx="323851" cy="258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4" name="Object 8">
            <a:extLst>
              <a:ext uri="{FF2B5EF4-FFF2-40B4-BE49-F238E27FC236}">
                <a16:creationId xmlns:a16="http://schemas.microsoft.com/office/drawing/2014/main" id="{14D8287B-62F5-4306-9089-D50F6DC1D247}"/>
              </a:ext>
            </a:extLst>
          </p:cNvPr>
          <p:cNvGraphicFramePr>
            <a:graphicFrameLocks noChangeAspect="1"/>
          </p:cNvGraphicFramePr>
          <p:nvPr/>
        </p:nvGraphicFramePr>
        <p:xfrm>
          <a:off x="3962400" y="4313237"/>
          <a:ext cx="323851" cy="258763"/>
        </p:xfrm>
        <a:graphic>
          <a:graphicData uri="http://schemas.openxmlformats.org/presentationml/2006/ole">
            <mc:AlternateContent xmlns:mc="http://schemas.openxmlformats.org/markup-compatibility/2006">
              <mc:Choice xmlns:v="urn:schemas-microsoft-com:vml" Requires="v">
                <p:oleObj name="Equation" r:id="rId7" imgW="190440" imgH="152280" progId="Equation.3">
                  <p:embed/>
                </p:oleObj>
              </mc:Choice>
              <mc:Fallback>
                <p:oleObj name="Equation" r:id="rId7" imgW="190440" imgH="152280" progId="Equation.3">
                  <p:embed/>
                  <p:pic>
                    <p:nvPicPr>
                      <p:cNvPr id="34824" name="Object 8">
                        <a:extLst>
                          <a:ext uri="{FF2B5EF4-FFF2-40B4-BE49-F238E27FC236}">
                            <a16:creationId xmlns:a16="http://schemas.microsoft.com/office/drawing/2014/main" id="{14D8287B-62F5-4306-9089-D50F6DC1D2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4313237"/>
                        <a:ext cx="323851" cy="258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5" name="Object 9">
            <a:extLst>
              <a:ext uri="{FF2B5EF4-FFF2-40B4-BE49-F238E27FC236}">
                <a16:creationId xmlns:a16="http://schemas.microsoft.com/office/drawing/2014/main" id="{61E1F803-88C8-4C80-B67B-64D284BFE9A3}"/>
              </a:ext>
            </a:extLst>
          </p:cNvPr>
          <p:cNvGraphicFramePr>
            <a:graphicFrameLocks noChangeAspect="1"/>
          </p:cNvGraphicFramePr>
          <p:nvPr/>
        </p:nvGraphicFramePr>
        <p:xfrm>
          <a:off x="4495800" y="4876800"/>
          <a:ext cx="304800" cy="304800"/>
        </p:xfrm>
        <a:graphic>
          <a:graphicData uri="http://schemas.openxmlformats.org/presentationml/2006/ole">
            <mc:AlternateContent xmlns:mc="http://schemas.openxmlformats.org/markup-compatibility/2006">
              <mc:Choice xmlns:v="urn:schemas-microsoft-com:vml" Requires="v">
                <p:oleObj name="Equation" r:id="rId8" imgW="152280" imgH="152280" progId="Equation.3">
                  <p:embed/>
                </p:oleObj>
              </mc:Choice>
              <mc:Fallback>
                <p:oleObj name="Equation" r:id="rId8" imgW="152280" imgH="152280" progId="Equation.3">
                  <p:embed/>
                  <p:pic>
                    <p:nvPicPr>
                      <p:cNvPr id="34825" name="Object 9">
                        <a:extLst>
                          <a:ext uri="{FF2B5EF4-FFF2-40B4-BE49-F238E27FC236}">
                            <a16:creationId xmlns:a16="http://schemas.microsoft.com/office/drawing/2014/main" id="{61E1F803-88C8-4C80-B67B-64D284BFE9A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95800" y="4876800"/>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Rectangle 1">
            <a:extLst>
              <a:ext uri="{FF2B5EF4-FFF2-40B4-BE49-F238E27FC236}">
                <a16:creationId xmlns:a16="http://schemas.microsoft.com/office/drawing/2014/main" id="{A0089C1F-B91B-4A9B-BB9F-3C7D0B38D0C5}"/>
              </a:ext>
            </a:extLst>
          </p:cNvPr>
          <p:cNvSpPr/>
          <p:nvPr/>
        </p:nvSpPr>
        <p:spPr>
          <a:xfrm>
            <a:off x="3470239" y="279401"/>
            <a:ext cx="52515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en-US" sz="2400" dirty="0">
                <a:solidFill>
                  <a:srgbClr val="C00000"/>
                </a:solidFill>
                <a:latin typeface="Calibri" panose="020F0502020204030204" pitchFamily="34" charset="0"/>
              </a:rPr>
              <a:t>To Prove: A U (B ∩ C) = (A U B) ∩ (A U C)</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1">
            <a:extLst>
              <a:ext uri="{FF2B5EF4-FFF2-40B4-BE49-F238E27FC236}">
                <a16:creationId xmlns:a16="http://schemas.microsoft.com/office/drawing/2014/main" id="{0292EF34-4C5F-491C-AD6D-6B9F4CD3474E}"/>
              </a:ext>
            </a:extLst>
          </p:cNvPr>
          <p:cNvSpPr txBox="1">
            <a:spLocks noChangeArrowheads="1"/>
          </p:cNvSpPr>
          <p:nvPr/>
        </p:nvSpPr>
        <p:spPr bwMode="auto">
          <a:xfrm>
            <a:off x="2590801" y="1143001"/>
            <a:ext cx="7947689"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Conversely, let x be any arbitrary element of the set (A U B)  ∩ (A UC). Then</a:t>
            </a:r>
          </a:p>
          <a:p>
            <a:pPr eaLnBrk="1" hangingPunct="1"/>
            <a:r>
              <a:rPr lang="en-US" altLang="en-US"/>
              <a:t> </a:t>
            </a:r>
          </a:p>
          <a:p>
            <a:pPr eaLnBrk="1" hangingPunct="1"/>
            <a:r>
              <a:rPr lang="en-US" altLang="en-US"/>
              <a:t>x </a:t>
            </a:r>
            <a:r>
              <a:rPr lang="el-GR" altLang="en-US"/>
              <a:t>ϵ</a:t>
            </a:r>
            <a:r>
              <a:rPr lang="en-US" altLang="en-US"/>
              <a:t>  (A U B)  ∩ (A U C)         x </a:t>
            </a:r>
            <a:r>
              <a:rPr lang="el-GR" altLang="en-US"/>
              <a:t>ϵ</a:t>
            </a:r>
            <a:r>
              <a:rPr lang="en-US" altLang="en-US"/>
              <a:t>  (A U B) and  x </a:t>
            </a:r>
            <a:r>
              <a:rPr lang="el-GR" altLang="en-US"/>
              <a:t>ϵ</a:t>
            </a:r>
            <a:r>
              <a:rPr lang="en-US" altLang="en-US"/>
              <a:t> (A U C)</a:t>
            </a:r>
          </a:p>
          <a:p>
            <a:pPr eaLnBrk="1" hangingPunct="1"/>
            <a:r>
              <a:rPr lang="en-US" altLang="en-US"/>
              <a:t>                          </a:t>
            </a:r>
          </a:p>
          <a:p>
            <a:pPr eaLnBrk="1" hangingPunct="1"/>
            <a:r>
              <a:rPr lang="en-US" altLang="en-US"/>
              <a:t> 	                            (x </a:t>
            </a:r>
            <a:r>
              <a:rPr lang="el-GR" altLang="en-US"/>
              <a:t>ϵ</a:t>
            </a:r>
            <a:r>
              <a:rPr lang="en-US" altLang="en-US"/>
              <a:t> A or x </a:t>
            </a:r>
            <a:r>
              <a:rPr lang="el-GR" altLang="en-US"/>
              <a:t>ϵ</a:t>
            </a:r>
            <a:r>
              <a:rPr lang="en-US" altLang="en-US"/>
              <a:t> B) and (x </a:t>
            </a:r>
            <a:r>
              <a:rPr lang="el-GR" altLang="en-US"/>
              <a:t>ϵ</a:t>
            </a:r>
            <a:r>
              <a:rPr lang="en-US" altLang="en-US"/>
              <a:t> A  or x </a:t>
            </a:r>
            <a:r>
              <a:rPr lang="el-GR" altLang="en-US"/>
              <a:t>ϵ</a:t>
            </a:r>
            <a:r>
              <a:rPr lang="en-US" altLang="en-US"/>
              <a:t> C)</a:t>
            </a:r>
          </a:p>
          <a:p>
            <a:pPr eaLnBrk="1" hangingPunct="1"/>
            <a:endParaRPr lang="en-US" altLang="en-US"/>
          </a:p>
          <a:p>
            <a:pPr eaLnBrk="1" hangingPunct="1"/>
            <a:r>
              <a:rPr lang="en-US" altLang="en-US"/>
              <a:t>	                            x </a:t>
            </a:r>
            <a:r>
              <a:rPr lang="el-GR" altLang="en-US"/>
              <a:t>ϵ</a:t>
            </a:r>
            <a:r>
              <a:rPr lang="en-US" altLang="en-US"/>
              <a:t> A or (x </a:t>
            </a:r>
            <a:r>
              <a:rPr lang="el-GR" altLang="en-US"/>
              <a:t>ϵ</a:t>
            </a:r>
            <a:r>
              <a:rPr lang="en-US" altLang="en-US"/>
              <a:t> B and x </a:t>
            </a:r>
            <a:r>
              <a:rPr lang="el-GR" altLang="en-US"/>
              <a:t>ϵ</a:t>
            </a:r>
            <a:r>
              <a:rPr lang="en-US" altLang="en-US"/>
              <a:t> C)</a:t>
            </a:r>
          </a:p>
          <a:p>
            <a:pPr eaLnBrk="1" hangingPunct="1"/>
            <a:endParaRPr lang="en-US" altLang="en-US"/>
          </a:p>
          <a:p>
            <a:pPr eaLnBrk="1" hangingPunct="1"/>
            <a:r>
              <a:rPr lang="en-US" altLang="en-US"/>
              <a:t>	                           x </a:t>
            </a:r>
            <a:r>
              <a:rPr lang="el-GR" altLang="en-US"/>
              <a:t>ϵ</a:t>
            </a:r>
            <a:r>
              <a:rPr lang="en-US" altLang="en-US"/>
              <a:t> A U (B ∩ C)</a:t>
            </a:r>
          </a:p>
          <a:p>
            <a:pPr eaLnBrk="1" hangingPunct="1"/>
            <a:endParaRPr lang="en-US" altLang="en-US"/>
          </a:p>
          <a:p>
            <a:pPr eaLnBrk="1" hangingPunct="1"/>
            <a:r>
              <a:rPr lang="en-US" altLang="en-US"/>
              <a:t>Thus, (A U B) ∩ (A U C)             A U (B ∩ C)                          (ii)</a:t>
            </a:r>
          </a:p>
          <a:p>
            <a:pPr eaLnBrk="1" hangingPunct="1"/>
            <a:endParaRPr lang="en-US" altLang="en-US"/>
          </a:p>
          <a:p>
            <a:pPr eaLnBrk="1" hangingPunct="1"/>
            <a:r>
              <a:rPr lang="en-US" altLang="en-US"/>
              <a:t>From (i) and (ii)</a:t>
            </a:r>
          </a:p>
          <a:p>
            <a:pPr eaLnBrk="1" hangingPunct="1"/>
            <a:endParaRPr lang="en-US" altLang="en-US"/>
          </a:p>
          <a:p>
            <a:pPr eaLnBrk="1" hangingPunct="1"/>
            <a:r>
              <a:rPr lang="en-US" altLang="en-US"/>
              <a:t>                           A U (B ∩ C) = (A U B) ∩ (A U C)</a:t>
            </a:r>
          </a:p>
          <a:p>
            <a:pPr eaLnBrk="1" hangingPunct="1"/>
            <a:endParaRPr lang="en-US" altLang="en-US"/>
          </a:p>
        </p:txBody>
      </p:sp>
      <p:graphicFrame>
        <p:nvGraphicFramePr>
          <p:cNvPr id="35844" name="Object 4">
            <a:extLst>
              <a:ext uri="{FF2B5EF4-FFF2-40B4-BE49-F238E27FC236}">
                <a16:creationId xmlns:a16="http://schemas.microsoft.com/office/drawing/2014/main" id="{ADFFA7CB-68DB-453B-987D-3A003B83FC6A}"/>
              </a:ext>
            </a:extLst>
          </p:cNvPr>
          <p:cNvGraphicFramePr>
            <a:graphicFrameLocks noChangeAspect="1"/>
          </p:cNvGraphicFramePr>
          <p:nvPr/>
        </p:nvGraphicFramePr>
        <p:xfrm>
          <a:off x="5181600" y="1752601"/>
          <a:ext cx="304800" cy="244475"/>
        </p:xfrm>
        <a:graphic>
          <a:graphicData uri="http://schemas.openxmlformats.org/presentationml/2006/ole">
            <mc:AlternateContent xmlns:mc="http://schemas.openxmlformats.org/markup-compatibility/2006">
              <mc:Choice xmlns:v="urn:schemas-microsoft-com:vml" Requires="v">
                <p:oleObj name="Equation" r:id="rId2" imgW="190440" imgH="152280" progId="Equation.3">
                  <p:embed/>
                </p:oleObj>
              </mc:Choice>
              <mc:Fallback>
                <p:oleObj name="Equation" r:id="rId2" imgW="190440" imgH="152280" progId="Equation.3">
                  <p:embed/>
                  <p:pic>
                    <p:nvPicPr>
                      <p:cNvPr id="35844" name="Object 4">
                        <a:extLst>
                          <a:ext uri="{FF2B5EF4-FFF2-40B4-BE49-F238E27FC236}">
                            <a16:creationId xmlns:a16="http://schemas.microsoft.com/office/drawing/2014/main" id="{ADFFA7CB-68DB-453B-987D-3A003B83FC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752601"/>
                        <a:ext cx="3048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5" name="Object 5">
            <a:extLst>
              <a:ext uri="{FF2B5EF4-FFF2-40B4-BE49-F238E27FC236}">
                <a16:creationId xmlns:a16="http://schemas.microsoft.com/office/drawing/2014/main" id="{EA46E51B-DD62-4A8D-BDA8-ED4A7C1F2997}"/>
              </a:ext>
            </a:extLst>
          </p:cNvPr>
          <p:cNvGraphicFramePr>
            <a:graphicFrameLocks noChangeAspect="1"/>
          </p:cNvGraphicFramePr>
          <p:nvPr/>
        </p:nvGraphicFramePr>
        <p:xfrm>
          <a:off x="4876800" y="2346325"/>
          <a:ext cx="304800" cy="244475"/>
        </p:xfrm>
        <a:graphic>
          <a:graphicData uri="http://schemas.openxmlformats.org/presentationml/2006/ole">
            <mc:AlternateContent xmlns:mc="http://schemas.openxmlformats.org/markup-compatibility/2006">
              <mc:Choice xmlns:v="urn:schemas-microsoft-com:vml" Requires="v">
                <p:oleObj name="Equation" r:id="rId4" imgW="190440" imgH="152280" progId="Equation.3">
                  <p:embed/>
                </p:oleObj>
              </mc:Choice>
              <mc:Fallback>
                <p:oleObj name="Equation" r:id="rId4" imgW="190440" imgH="152280" progId="Equation.3">
                  <p:embed/>
                  <p:pic>
                    <p:nvPicPr>
                      <p:cNvPr id="35845" name="Object 5">
                        <a:extLst>
                          <a:ext uri="{FF2B5EF4-FFF2-40B4-BE49-F238E27FC236}">
                            <a16:creationId xmlns:a16="http://schemas.microsoft.com/office/drawing/2014/main" id="{EA46E51B-DD62-4A8D-BDA8-ED4A7C1F29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2346325"/>
                        <a:ext cx="3048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6" name="Object 6">
            <a:extLst>
              <a:ext uri="{FF2B5EF4-FFF2-40B4-BE49-F238E27FC236}">
                <a16:creationId xmlns:a16="http://schemas.microsoft.com/office/drawing/2014/main" id="{8930D614-A50F-442B-887A-A93504B64555}"/>
              </a:ext>
            </a:extLst>
          </p:cNvPr>
          <p:cNvGraphicFramePr>
            <a:graphicFrameLocks noChangeAspect="1"/>
          </p:cNvGraphicFramePr>
          <p:nvPr/>
        </p:nvGraphicFramePr>
        <p:xfrm>
          <a:off x="4876800" y="2879725"/>
          <a:ext cx="304800" cy="244475"/>
        </p:xfrm>
        <a:graphic>
          <a:graphicData uri="http://schemas.openxmlformats.org/presentationml/2006/ole">
            <mc:AlternateContent xmlns:mc="http://schemas.openxmlformats.org/markup-compatibility/2006">
              <mc:Choice xmlns:v="urn:schemas-microsoft-com:vml" Requires="v">
                <p:oleObj name="Equation" r:id="rId5" imgW="190440" imgH="152280" progId="Equation.3">
                  <p:embed/>
                </p:oleObj>
              </mc:Choice>
              <mc:Fallback>
                <p:oleObj name="Equation" r:id="rId5" imgW="190440" imgH="152280" progId="Equation.3">
                  <p:embed/>
                  <p:pic>
                    <p:nvPicPr>
                      <p:cNvPr id="35846" name="Object 6">
                        <a:extLst>
                          <a:ext uri="{FF2B5EF4-FFF2-40B4-BE49-F238E27FC236}">
                            <a16:creationId xmlns:a16="http://schemas.microsoft.com/office/drawing/2014/main" id="{8930D614-A50F-442B-887A-A93504B645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2879725"/>
                        <a:ext cx="3048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7" name="Object 7">
            <a:extLst>
              <a:ext uri="{FF2B5EF4-FFF2-40B4-BE49-F238E27FC236}">
                <a16:creationId xmlns:a16="http://schemas.microsoft.com/office/drawing/2014/main" id="{5737C3F2-EF5A-470F-BD37-6A622A7CB73B}"/>
              </a:ext>
            </a:extLst>
          </p:cNvPr>
          <p:cNvGraphicFramePr>
            <a:graphicFrameLocks noChangeAspect="1"/>
          </p:cNvGraphicFramePr>
          <p:nvPr/>
        </p:nvGraphicFramePr>
        <p:xfrm>
          <a:off x="4876800" y="3413125"/>
          <a:ext cx="304800" cy="244475"/>
        </p:xfrm>
        <a:graphic>
          <a:graphicData uri="http://schemas.openxmlformats.org/presentationml/2006/ole">
            <mc:AlternateContent xmlns:mc="http://schemas.openxmlformats.org/markup-compatibility/2006">
              <mc:Choice xmlns:v="urn:schemas-microsoft-com:vml" Requires="v">
                <p:oleObj name="Equation" r:id="rId6" imgW="190440" imgH="152280" progId="Equation.3">
                  <p:embed/>
                </p:oleObj>
              </mc:Choice>
              <mc:Fallback>
                <p:oleObj name="Equation" r:id="rId6" imgW="190440" imgH="152280" progId="Equation.3">
                  <p:embed/>
                  <p:pic>
                    <p:nvPicPr>
                      <p:cNvPr id="35847" name="Object 7">
                        <a:extLst>
                          <a:ext uri="{FF2B5EF4-FFF2-40B4-BE49-F238E27FC236}">
                            <a16:creationId xmlns:a16="http://schemas.microsoft.com/office/drawing/2014/main" id="{5737C3F2-EF5A-470F-BD37-6A622A7CB7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413125"/>
                        <a:ext cx="3048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8" name="Object 8">
            <a:extLst>
              <a:ext uri="{FF2B5EF4-FFF2-40B4-BE49-F238E27FC236}">
                <a16:creationId xmlns:a16="http://schemas.microsoft.com/office/drawing/2014/main" id="{77589A5C-92C2-4CA4-8C6B-FAE6FF61D433}"/>
              </a:ext>
            </a:extLst>
          </p:cNvPr>
          <p:cNvGraphicFramePr>
            <a:graphicFrameLocks noChangeAspect="1"/>
          </p:cNvGraphicFramePr>
          <p:nvPr/>
        </p:nvGraphicFramePr>
        <p:xfrm>
          <a:off x="5334000" y="3886200"/>
          <a:ext cx="381000" cy="381000"/>
        </p:xfrm>
        <a:graphic>
          <a:graphicData uri="http://schemas.openxmlformats.org/presentationml/2006/ole">
            <mc:AlternateContent xmlns:mc="http://schemas.openxmlformats.org/markup-compatibility/2006">
              <mc:Choice xmlns:v="urn:schemas-microsoft-com:vml" Requires="v">
                <p:oleObj name="Equation" r:id="rId7" imgW="152280" imgH="152280" progId="Equation.3">
                  <p:embed/>
                </p:oleObj>
              </mc:Choice>
              <mc:Fallback>
                <p:oleObj name="Equation" r:id="rId7" imgW="152280" imgH="152280" progId="Equation.3">
                  <p:embed/>
                  <p:pic>
                    <p:nvPicPr>
                      <p:cNvPr id="35848" name="Object 8">
                        <a:extLst>
                          <a:ext uri="{FF2B5EF4-FFF2-40B4-BE49-F238E27FC236}">
                            <a16:creationId xmlns:a16="http://schemas.microsoft.com/office/drawing/2014/main" id="{77589A5C-92C2-4CA4-8C6B-FAE6FF61D4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3886200"/>
                        <a:ext cx="381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Box 1">
            <a:extLst>
              <a:ext uri="{FF2B5EF4-FFF2-40B4-BE49-F238E27FC236}">
                <a16:creationId xmlns:a16="http://schemas.microsoft.com/office/drawing/2014/main" id="{8FC4DBA0-64C9-4785-AAF5-CBB81BB79378}"/>
              </a:ext>
            </a:extLst>
          </p:cNvPr>
          <p:cNvSpPr txBox="1">
            <a:spLocks noChangeArrowheads="1"/>
          </p:cNvSpPr>
          <p:nvPr/>
        </p:nvSpPr>
        <p:spPr bwMode="auto">
          <a:xfrm>
            <a:off x="2438401" y="1143002"/>
            <a:ext cx="5825762"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Proof:                            (A ⋂ B)’ = A’ U B’</a:t>
            </a:r>
          </a:p>
          <a:p>
            <a:pPr eaLnBrk="1" hangingPunct="1"/>
            <a:endParaRPr lang="en-US" altLang="en-US" dirty="0"/>
          </a:p>
          <a:p>
            <a:pPr eaLnBrk="1" hangingPunct="1"/>
            <a:r>
              <a:rPr lang="en-US" altLang="en-US" dirty="0"/>
              <a:t>Let x be any arbitrary element of the set (A ⋂ B)’ . Then</a:t>
            </a:r>
          </a:p>
          <a:p>
            <a:pPr eaLnBrk="1" hangingPunct="1"/>
            <a:endParaRPr lang="en-US" altLang="en-US" dirty="0"/>
          </a:p>
          <a:p>
            <a:pPr eaLnBrk="1" hangingPunct="1"/>
            <a:r>
              <a:rPr lang="en-US" altLang="en-US" dirty="0"/>
              <a:t>x </a:t>
            </a:r>
            <a:r>
              <a:rPr lang="el-GR" altLang="en-US" dirty="0"/>
              <a:t>ϵ</a:t>
            </a:r>
            <a:r>
              <a:rPr lang="en-US" altLang="en-US" dirty="0"/>
              <a:t> (A ⋂ B)’            x     (A ⋂ B)</a:t>
            </a:r>
          </a:p>
          <a:p>
            <a:pPr eaLnBrk="1" hangingPunct="1"/>
            <a:endParaRPr lang="en-US" altLang="en-US" dirty="0"/>
          </a:p>
          <a:p>
            <a:pPr eaLnBrk="1" hangingPunct="1"/>
            <a:r>
              <a:rPr lang="en-US" altLang="en-US" dirty="0"/>
              <a:t>	           x    A or x     B</a:t>
            </a:r>
          </a:p>
          <a:p>
            <a:pPr eaLnBrk="1" hangingPunct="1"/>
            <a:endParaRPr lang="en-US" altLang="en-US" dirty="0"/>
          </a:p>
          <a:p>
            <a:pPr eaLnBrk="1" hangingPunct="1"/>
            <a:r>
              <a:rPr lang="en-US" altLang="en-US" dirty="0"/>
              <a:t>	                x </a:t>
            </a:r>
            <a:r>
              <a:rPr lang="el-GR" altLang="en-US" dirty="0"/>
              <a:t>ϵ</a:t>
            </a:r>
            <a:r>
              <a:rPr lang="en-US" altLang="en-US" dirty="0"/>
              <a:t> A’ or x </a:t>
            </a:r>
            <a:r>
              <a:rPr lang="el-GR" altLang="en-US" dirty="0"/>
              <a:t>ϵ</a:t>
            </a:r>
            <a:r>
              <a:rPr lang="en-US" altLang="en-US" dirty="0"/>
              <a:t> B’</a:t>
            </a:r>
          </a:p>
          <a:p>
            <a:pPr eaLnBrk="1" hangingPunct="1"/>
            <a:endParaRPr lang="en-US" altLang="en-US" dirty="0"/>
          </a:p>
          <a:p>
            <a:pPr eaLnBrk="1" hangingPunct="1"/>
            <a:r>
              <a:rPr lang="en-US" altLang="en-US" dirty="0"/>
              <a:t>	                x </a:t>
            </a:r>
            <a:r>
              <a:rPr lang="el-GR" altLang="en-US" dirty="0"/>
              <a:t>ϵ</a:t>
            </a:r>
            <a:r>
              <a:rPr lang="en-US" altLang="en-US" dirty="0"/>
              <a:t> A’ U B’</a:t>
            </a:r>
          </a:p>
          <a:p>
            <a:pPr eaLnBrk="1" hangingPunct="1"/>
            <a:endParaRPr lang="en-US" altLang="en-US" dirty="0"/>
          </a:p>
          <a:p>
            <a:pPr eaLnBrk="1" hangingPunct="1"/>
            <a:r>
              <a:rPr lang="en-US" altLang="en-US" dirty="0"/>
              <a:t>Thus</a:t>
            </a:r>
          </a:p>
          <a:p>
            <a:pPr eaLnBrk="1" hangingPunct="1"/>
            <a:endParaRPr lang="en-US" altLang="en-US" dirty="0"/>
          </a:p>
          <a:p>
            <a:pPr eaLnBrk="1" hangingPunct="1"/>
            <a:r>
              <a:rPr lang="en-US" altLang="en-US" dirty="0"/>
              <a:t>              (A ⋂ B)’             A’ U B’                            (</a:t>
            </a:r>
            <a:r>
              <a:rPr lang="en-US" altLang="en-US" dirty="0" err="1"/>
              <a:t>i</a:t>
            </a:r>
            <a:r>
              <a:rPr lang="en-US" altLang="en-US" dirty="0"/>
              <a:t>)</a:t>
            </a:r>
          </a:p>
        </p:txBody>
      </p:sp>
      <p:graphicFrame>
        <p:nvGraphicFramePr>
          <p:cNvPr id="36868" name="Object 4">
            <a:extLst>
              <a:ext uri="{FF2B5EF4-FFF2-40B4-BE49-F238E27FC236}">
                <a16:creationId xmlns:a16="http://schemas.microsoft.com/office/drawing/2014/main" id="{DC4E6793-571E-41F9-AF6A-011BAB93A5AC}"/>
              </a:ext>
            </a:extLst>
          </p:cNvPr>
          <p:cNvGraphicFramePr>
            <a:graphicFrameLocks noChangeAspect="1"/>
          </p:cNvGraphicFramePr>
          <p:nvPr/>
        </p:nvGraphicFramePr>
        <p:xfrm>
          <a:off x="3886200" y="2332037"/>
          <a:ext cx="323851" cy="258763"/>
        </p:xfrm>
        <a:graphic>
          <a:graphicData uri="http://schemas.openxmlformats.org/presentationml/2006/ole">
            <mc:AlternateContent xmlns:mc="http://schemas.openxmlformats.org/markup-compatibility/2006">
              <mc:Choice xmlns:v="urn:schemas-microsoft-com:vml" Requires="v">
                <p:oleObj name="Equation" r:id="rId2" imgW="190440" imgH="152280" progId="Equation.3">
                  <p:embed/>
                </p:oleObj>
              </mc:Choice>
              <mc:Fallback>
                <p:oleObj name="Equation" r:id="rId2" imgW="190440" imgH="152280" progId="Equation.3">
                  <p:embed/>
                  <p:pic>
                    <p:nvPicPr>
                      <p:cNvPr id="36868" name="Object 4">
                        <a:extLst>
                          <a:ext uri="{FF2B5EF4-FFF2-40B4-BE49-F238E27FC236}">
                            <a16:creationId xmlns:a16="http://schemas.microsoft.com/office/drawing/2014/main" id="{DC4E6793-571E-41F9-AF6A-011BAB93A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2332037"/>
                        <a:ext cx="323851" cy="258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69" name="Object 5">
            <a:extLst>
              <a:ext uri="{FF2B5EF4-FFF2-40B4-BE49-F238E27FC236}">
                <a16:creationId xmlns:a16="http://schemas.microsoft.com/office/drawing/2014/main" id="{0EF987BC-A808-4F65-861E-48E54C263F21}"/>
              </a:ext>
            </a:extLst>
          </p:cNvPr>
          <p:cNvGraphicFramePr>
            <a:graphicFrameLocks noChangeAspect="1"/>
          </p:cNvGraphicFramePr>
          <p:nvPr/>
        </p:nvGraphicFramePr>
        <p:xfrm>
          <a:off x="3962400" y="2865437"/>
          <a:ext cx="323851" cy="258763"/>
        </p:xfrm>
        <a:graphic>
          <a:graphicData uri="http://schemas.openxmlformats.org/presentationml/2006/ole">
            <mc:AlternateContent xmlns:mc="http://schemas.openxmlformats.org/markup-compatibility/2006">
              <mc:Choice xmlns:v="urn:schemas-microsoft-com:vml" Requires="v">
                <p:oleObj name="Equation" r:id="rId4" imgW="190440" imgH="152280" progId="Equation.3">
                  <p:embed/>
                </p:oleObj>
              </mc:Choice>
              <mc:Fallback>
                <p:oleObj name="Equation" r:id="rId4" imgW="190440" imgH="152280" progId="Equation.3">
                  <p:embed/>
                  <p:pic>
                    <p:nvPicPr>
                      <p:cNvPr id="36869" name="Object 5">
                        <a:extLst>
                          <a:ext uri="{FF2B5EF4-FFF2-40B4-BE49-F238E27FC236}">
                            <a16:creationId xmlns:a16="http://schemas.microsoft.com/office/drawing/2014/main" id="{0EF987BC-A808-4F65-861E-48E54C263F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2865437"/>
                        <a:ext cx="323851" cy="258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0" name="Object 6">
            <a:extLst>
              <a:ext uri="{FF2B5EF4-FFF2-40B4-BE49-F238E27FC236}">
                <a16:creationId xmlns:a16="http://schemas.microsoft.com/office/drawing/2014/main" id="{D3A09F4D-EA57-4F48-967E-A160D1AE6FA4}"/>
              </a:ext>
            </a:extLst>
          </p:cNvPr>
          <p:cNvGraphicFramePr>
            <a:graphicFrameLocks noChangeAspect="1"/>
          </p:cNvGraphicFramePr>
          <p:nvPr/>
        </p:nvGraphicFramePr>
        <p:xfrm>
          <a:off x="3962400" y="3398837"/>
          <a:ext cx="323851" cy="258763"/>
        </p:xfrm>
        <a:graphic>
          <a:graphicData uri="http://schemas.openxmlformats.org/presentationml/2006/ole">
            <mc:AlternateContent xmlns:mc="http://schemas.openxmlformats.org/markup-compatibility/2006">
              <mc:Choice xmlns:v="urn:schemas-microsoft-com:vml" Requires="v">
                <p:oleObj name="Equation" r:id="rId5" imgW="190440" imgH="152280" progId="Equation.3">
                  <p:embed/>
                </p:oleObj>
              </mc:Choice>
              <mc:Fallback>
                <p:oleObj name="Equation" r:id="rId5" imgW="190440" imgH="152280" progId="Equation.3">
                  <p:embed/>
                  <p:pic>
                    <p:nvPicPr>
                      <p:cNvPr id="36870" name="Object 6">
                        <a:extLst>
                          <a:ext uri="{FF2B5EF4-FFF2-40B4-BE49-F238E27FC236}">
                            <a16:creationId xmlns:a16="http://schemas.microsoft.com/office/drawing/2014/main" id="{D3A09F4D-EA57-4F48-967E-A160D1AE6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3398837"/>
                        <a:ext cx="323851" cy="258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1" name="Object 7">
            <a:extLst>
              <a:ext uri="{FF2B5EF4-FFF2-40B4-BE49-F238E27FC236}">
                <a16:creationId xmlns:a16="http://schemas.microsoft.com/office/drawing/2014/main" id="{153C290D-0F2E-40E3-B1C3-5C9CD8AC868E}"/>
              </a:ext>
            </a:extLst>
          </p:cNvPr>
          <p:cNvGraphicFramePr>
            <a:graphicFrameLocks noChangeAspect="1"/>
          </p:cNvGraphicFramePr>
          <p:nvPr/>
        </p:nvGraphicFramePr>
        <p:xfrm>
          <a:off x="4038600" y="3932237"/>
          <a:ext cx="323851" cy="258763"/>
        </p:xfrm>
        <a:graphic>
          <a:graphicData uri="http://schemas.openxmlformats.org/presentationml/2006/ole">
            <mc:AlternateContent xmlns:mc="http://schemas.openxmlformats.org/markup-compatibility/2006">
              <mc:Choice xmlns:v="urn:schemas-microsoft-com:vml" Requires="v">
                <p:oleObj name="Equation" r:id="rId6" imgW="190440" imgH="152280" progId="Equation.3">
                  <p:embed/>
                </p:oleObj>
              </mc:Choice>
              <mc:Fallback>
                <p:oleObj name="Equation" r:id="rId6" imgW="190440" imgH="152280" progId="Equation.3">
                  <p:embed/>
                  <p:pic>
                    <p:nvPicPr>
                      <p:cNvPr id="36871" name="Object 7">
                        <a:extLst>
                          <a:ext uri="{FF2B5EF4-FFF2-40B4-BE49-F238E27FC236}">
                            <a16:creationId xmlns:a16="http://schemas.microsoft.com/office/drawing/2014/main" id="{153C290D-0F2E-40E3-B1C3-5C9CD8AC86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932237"/>
                        <a:ext cx="323851" cy="258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2" name="Object 8">
            <a:extLst>
              <a:ext uri="{FF2B5EF4-FFF2-40B4-BE49-F238E27FC236}">
                <a16:creationId xmlns:a16="http://schemas.microsoft.com/office/drawing/2014/main" id="{7286377F-0120-48F5-B00B-DDEE02B74C33}"/>
              </a:ext>
            </a:extLst>
          </p:cNvPr>
          <p:cNvGraphicFramePr>
            <a:graphicFrameLocks noChangeAspect="1"/>
          </p:cNvGraphicFramePr>
          <p:nvPr/>
        </p:nvGraphicFramePr>
        <p:xfrm>
          <a:off x="4495800" y="5029200"/>
          <a:ext cx="304800" cy="304800"/>
        </p:xfrm>
        <a:graphic>
          <a:graphicData uri="http://schemas.openxmlformats.org/presentationml/2006/ole">
            <mc:AlternateContent xmlns:mc="http://schemas.openxmlformats.org/markup-compatibility/2006">
              <mc:Choice xmlns:v="urn:schemas-microsoft-com:vml" Requires="v">
                <p:oleObj name="Equation" r:id="rId7" imgW="152280" imgH="152280" progId="Equation.3">
                  <p:embed/>
                </p:oleObj>
              </mc:Choice>
              <mc:Fallback>
                <p:oleObj name="Equation" r:id="rId7" imgW="152280" imgH="152280" progId="Equation.3">
                  <p:embed/>
                  <p:pic>
                    <p:nvPicPr>
                      <p:cNvPr id="36872" name="Object 8">
                        <a:extLst>
                          <a:ext uri="{FF2B5EF4-FFF2-40B4-BE49-F238E27FC236}">
                            <a16:creationId xmlns:a16="http://schemas.microsoft.com/office/drawing/2014/main" id="{7286377F-0120-48F5-B00B-DDEE02B74C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95800" y="5029200"/>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3" name="Object 9">
            <a:extLst>
              <a:ext uri="{FF2B5EF4-FFF2-40B4-BE49-F238E27FC236}">
                <a16:creationId xmlns:a16="http://schemas.microsoft.com/office/drawing/2014/main" id="{BF12F4B5-8241-4BDB-A505-954433525078}"/>
              </a:ext>
            </a:extLst>
          </p:cNvPr>
          <p:cNvGraphicFramePr>
            <a:graphicFrameLocks noChangeAspect="1"/>
          </p:cNvGraphicFramePr>
          <p:nvPr>
            <p:extLst>
              <p:ext uri="{D42A27DB-BD31-4B8C-83A1-F6EECF244321}">
                <p14:modId xmlns:p14="http://schemas.microsoft.com/office/powerpoint/2010/main" val="2006192989"/>
              </p:ext>
            </p:extLst>
          </p:nvPr>
        </p:nvGraphicFramePr>
        <p:xfrm>
          <a:off x="4241800" y="2809118"/>
          <a:ext cx="254000" cy="304800"/>
        </p:xfrm>
        <a:graphic>
          <a:graphicData uri="http://schemas.openxmlformats.org/presentationml/2006/ole">
            <mc:AlternateContent xmlns:mc="http://schemas.openxmlformats.org/markup-compatibility/2006">
              <mc:Choice xmlns:v="urn:schemas-microsoft-com:vml" Requires="v">
                <p:oleObj name="Equation" r:id="rId9" imgW="126720" imgH="152280" progId="Equation.3">
                  <p:embed/>
                </p:oleObj>
              </mc:Choice>
              <mc:Fallback>
                <p:oleObj name="Equation" r:id="rId9" imgW="126720" imgH="152280" progId="Equation.3">
                  <p:embed/>
                  <p:pic>
                    <p:nvPicPr>
                      <p:cNvPr id="36873" name="Object 9">
                        <a:extLst>
                          <a:ext uri="{FF2B5EF4-FFF2-40B4-BE49-F238E27FC236}">
                            <a16:creationId xmlns:a16="http://schemas.microsoft.com/office/drawing/2014/main" id="{BF12F4B5-8241-4BDB-A505-95443352507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41800" y="2809118"/>
                        <a:ext cx="254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4" name="Object 10">
            <a:extLst>
              <a:ext uri="{FF2B5EF4-FFF2-40B4-BE49-F238E27FC236}">
                <a16:creationId xmlns:a16="http://schemas.microsoft.com/office/drawing/2014/main" id="{416CE27E-9EBC-4DA9-83E3-03EE860B2DB2}"/>
              </a:ext>
            </a:extLst>
          </p:cNvPr>
          <p:cNvGraphicFramePr>
            <a:graphicFrameLocks noChangeAspect="1"/>
          </p:cNvGraphicFramePr>
          <p:nvPr/>
        </p:nvGraphicFramePr>
        <p:xfrm>
          <a:off x="4546600" y="2286000"/>
          <a:ext cx="254000" cy="304800"/>
        </p:xfrm>
        <a:graphic>
          <a:graphicData uri="http://schemas.openxmlformats.org/presentationml/2006/ole">
            <mc:AlternateContent xmlns:mc="http://schemas.openxmlformats.org/markup-compatibility/2006">
              <mc:Choice xmlns:v="urn:schemas-microsoft-com:vml" Requires="v">
                <p:oleObj name="Equation" r:id="rId11" imgW="126720" imgH="152280" progId="Equation.3">
                  <p:embed/>
                </p:oleObj>
              </mc:Choice>
              <mc:Fallback>
                <p:oleObj name="Equation" r:id="rId11" imgW="126720" imgH="152280" progId="Equation.3">
                  <p:embed/>
                  <p:pic>
                    <p:nvPicPr>
                      <p:cNvPr id="36874" name="Object 10">
                        <a:extLst>
                          <a:ext uri="{FF2B5EF4-FFF2-40B4-BE49-F238E27FC236}">
                            <a16:creationId xmlns:a16="http://schemas.microsoft.com/office/drawing/2014/main" id="{416CE27E-9EBC-4DA9-83E3-03EE860B2DB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46600" y="2286000"/>
                        <a:ext cx="254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5" name="Object 11">
            <a:extLst>
              <a:ext uri="{FF2B5EF4-FFF2-40B4-BE49-F238E27FC236}">
                <a16:creationId xmlns:a16="http://schemas.microsoft.com/office/drawing/2014/main" id="{39930C52-7BD7-46C2-8A28-8391D24A15C2}"/>
              </a:ext>
            </a:extLst>
          </p:cNvPr>
          <p:cNvGraphicFramePr>
            <a:graphicFrameLocks noChangeAspect="1"/>
          </p:cNvGraphicFramePr>
          <p:nvPr>
            <p:extLst>
              <p:ext uri="{D42A27DB-BD31-4B8C-83A1-F6EECF244321}">
                <p14:modId xmlns:p14="http://schemas.microsoft.com/office/powerpoint/2010/main" val="1182481392"/>
              </p:ext>
            </p:extLst>
          </p:nvPr>
        </p:nvGraphicFramePr>
        <p:xfrm>
          <a:off x="5094878" y="2842418"/>
          <a:ext cx="254000" cy="304800"/>
        </p:xfrm>
        <a:graphic>
          <a:graphicData uri="http://schemas.openxmlformats.org/presentationml/2006/ole">
            <mc:AlternateContent xmlns:mc="http://schemas.openxmlformats.org/markup-compatibility/2006">
              <mc:Choice xmlns:v="urn:schemas-microsoft-com:vml" Requires="v">
                <p:oleObj name="Equation" r:id="rId13" imgW="126720" imgH="152280" progId="Equation.3">
                  <p:embed/>
                </p:oleObj>
              </mc:Choice>
              <mc:Fallback>
                <p:oleObj name="Equation" r:id="rId13" imgW="126720" imgH="152280" progId="Equation.3">
                  <p:embed/>
                  <p:pic>
                    <p:nvPicPr>
                      <p:cNvPr id="36875" name="Object 11">
                        <a:extLst>
                          <a:ext uri="{FF2B5EF4-FFF2-40B4-BE49-F238E27FC236}">
                            <a16:creationId xmlns:a16="http://schemas.microsoft.com/office/drawing/2014/main" id="{39930C52-7BD7-46C2-8A28-8391D24A15C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94878" y="2842418"/>
                        <a:ext cx="254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Rectangle 1">
            <a:extLst>
              <a:ext uri="{FF2B5EF4-FFF2-40B4-BE49-F238E27FC236}">
                <a16:creationId xmlns:a16="http://schemas.microsoft.com/office/drawing/2014/main" id="{2F2AB6F0-89AA-4182-8B39-2115A2AD9698}"/>
              </a:ext>
            </a:extLst>
          </p:cNvPr>
          <p:cNvSpPr/>
          <p:nvPr/>
        </p:nvSpPr>
        <p:spPr>
          <a:xfrm>
            <a:off x="4067068" y="152719"/>
            <a:ext cx="406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en-US" sz="2400" dirty="0">
                <a:solidFill>
                  <a:srgbClr val="C00000"/>
                </a:solidFill>
                <a:latin typeface="Calibri" panose="020F0502020204030204" pitchFamily="34" charset="0"/>
              </a:rPr>
              <a:t>To Prove: (A ⋂ B)’ = A’ U B’</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1">
            <a:extLst>
              <a:ext uri="{FF2B5EF4-FFF2-40B4-BE49-F238E27FC236}">
                <a16:creationId xmlns:a16="http://schemas.microsoft.com/office/drawing/2014/main" id="{F4785D3D-9BFE-49FF-A045-E6CA7F712EB9}"/>
              </a:ext>
            </a:extLst>
          </p:cNvPr>
          <p:cNvSpPr txBox="1">
            <a:spLocks noChangeArrowheads="1"/>
          </p:cNvSpPr>
          <p:nvPr/>
        </p:nvSpPr>
        <p:spPr bwMode="auto">
          <a:xfrm>
            <a:off x="2743200" y="1066800"/>
            <a:ext cx="6874574"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Conversely, let x be any arbitrary element of the set A’ U B’ . Then</a:t>
            </a:r>
          </a:p>
          <a:p>
            <a:pPr eaLnBrk="1" hangingPunct="1"/>
            <a:endParaRPr lang="en-US" altLang="en-US" dirty="0"/>
          </a:p>
          <a:p>
            <a:pPr eaLnBrk="1" hangingPunct="1"/>
            <a:r>
              <a:rPr lang="en-US" altLang="en-US" dirty="0"/>
              <a:t>x </a:t>
            </a:r>
            <a:r>
              <a:rPr lang="el-GR" altLang="en-US" dirty="0"/>
              <a:t>ϵ</a:t>
            </a:r>
            <a:r>
              <a:rPr lang="en-US" altLang="en-US" dirty="0"/>
              <a:t> A’ U B’              x </a:t>
            </a:r>
            <a:r>
              <a:rPr lang="el-GR" altLang="en-US" dirty="0"/>
              <a:t>ϵ</a:t>
            </a:r>
            <a:r>
              <a:rPr lang="en-US" altLang="en-US" dirty="0"/>
              <a:t>  A’ or x </a:t>
            </a:r>
            <a:r>
              <a:rPr lang="az-Cyrl-AZ" altLang="en-US" dirty="0"/>
              <a:t>є</a:t>
            </a:r>
            <a:r>
              <a:rPr lang="en-US" altLang="en-US" dirty="0"/>
              <a:t> B’ </a:t>
            </a:r>
          </a:p>
          <a:p>
            <a:pPr eaLnBrk="1" hangingPunct="1"/>
            <a:endParaRPr lang="en-US" altLang="en-US" dirty="0"/>
          </a:p>
          <a:p>
            <a:pPr eaLnBrk="1" hangingPunct="1"/>
            <a:r>
              <a:rPr lang="en-US" altLang="en-US" dirty="0"/>
              <a:t>	           x    A or x       B</a:t>
            </a:r>
          </a:p>
          <a:p>
            <a:pPr eaLnBrk="1" hangingPunct="1"/>
            <a:endParaRPr lang="en-US" altLang="en-US" dirty="0"/>
          </a:p>
          <a:p>
            <a:pPr eaLnBrk="1" hangingPunct="1"/>
            <a:r>
              <a:rPr lang="en-US" altLang="en-US" dirty="0"/>
              <a:t>	                x does not belong to both A and B</a:t>
            </a:r>
          </a:p>
          <a:p>
            <a:pPr eaLnBrk="1" hangingPunct="1"/>
            <a:endParaRPr lang="en-US" altLang="en-US" dirty="0"/>
          </a:p>
          <a:p>
            <a:pPr eaLnBrk="1" hangingPunct="1"/>
            <a:r>
              <a:rPr lang="en-US" altLang="en-US" dirty="0"/>
              <a:t>	            x      (A ⋂ B)</a:t>
            </a:r>
          </a:p>
          <a:p>
            <a:pPr eaLnBrk="1" hangingPunct="1"/>
            <a:r>
              <a:rPr lang="en-US" altLang="en-US" dirty="0"/>
              <a:t>	     </a:t>
            </a:r>
          </a:p>
          <a:p>
            <a:pPr eaLnBrk="1" hangingPunct="1"/>
            <a:r>
              <a:rPr lang="en-US" altLang="en-US" dirty="0"/>
              <a:t>	                x </a:t>
            </a:r>
            <a:r>
              <a:rPr lang="el-GR" altLang="en-US" dirty="0"/>
              <a:t>ϵ</a:t>
            </a:r>
            <a:r>
              <a:rPr lang="en-US" altLang="en-US" dirty="0"/>
              <a:t> (A ⋂ B)’ </a:t>
            </a:r>
          </a:p>
          <a:p>
            <a:pPr eaLnBrk="1" hangingPunct="1"/>
            <a:endParaRPr lang="en-US" altLang="en-US" dirty="0"/>
          </a:p>
          <a:p>
            <a:pPr eaLnBrk="1" hangingPunct="1"/>
            <a:r>
              <a:rPr lang="en-US" altLang="en-US" dirty="0"/>
              <a:t>Thus</a:t>
            </a:r>
          </a:p>
          <a:p>
            <a:pPr eaLnBrk="1" hangingPunct="1"/>
            <a:r>
              <a:rPr lang="en-US" altLang="en-US" dirty="0"/>
              <a:t>		A’ U B’            (A ⋂ B)’                   (ii)</a:t>
            </a:r>
          </a:p>
          <a:p>
            <a:pPr eaLnBrk="1" hangingPunct="1"/>
            <a:r>
              <a:rPr lang="en-US" altLang="en-US" dirty="0"/>
              <a:t>From (</a:t>
            </a:r>
            <a:r>
              <a:rPr lang="en-US" altLang="en-US" dirty="0" err="1"/>
              <a:t>i</a:t>
            </a:r>
            <a:r>
              <a:rPr lang="en-US" altLang="en-US" dirty="0"/>
              <a:t>) and (ii)</a:t>
            </a:r>
          </a:p>
          <a:p>
            <a:pPr eaLnBrk="1" hangingPunct="1"/>
            <a:endParaRPr lang="en-US" altLang="en-US" dirty="0"/>
          </a:p>
          <a:p>
            <a:pPr eaLnBrk="1" hangingPunct="1"/>
            <a:r>
              <a:rPr lang="en-US" altLang="en-US" dirty="0"/>
              <a:t>                	 (A ⋂ B)’ = A’ U B’</a:t>
            </a:r>
          </a:p>
        </p:txBody>
      </p:sp>
      <p:graphicFrame>
        <p:nvGraphicFramePr>
          <p:cNvPr id="37892" name="Object 4">
            <a:extLst>
              <a:ext uri="{FF2B5EF4-FFF2-40B4-BE49-F238E27FC236}">
                <a16:creationId xmlns:a16="http://schemas.microsoft.com/office/drawing/2014/main" id="{8B6DC913-3F52-45AA-96B4-EB5CE3210B4D}"/>
              </a:ext>
            </a:extLst>
          </p:cNvPr>
          <p:cNvGraphicFramePr>
            <a:graphicFrameLocks noChangeAspect="1"/>
          </p:cNvGraphicFramePr>
          <p:nvPr>
            <p:extLst>
              <p:ext uri="{D42A27DB-BD31-4B8C-83A1-F6EECF244321}">
                <p14:modId xmlns:p14="http://schemas.microsoft.com/office/powerpoint/2010/main" val="1113420630"/>
              </p:ext>
            </p:extLst>
          </p:nvPr>
        </p:nvGraphicFramePr>
        <p:xfrm>
          <a:off x="5627403" y="4648200"/>
          <a:ext cx="304800" cy="304800"/>
        </p:xfrm>
        <a:graphic>
          <a:graphicData uri="http://schemas.openxmlformats.org/presentationml/2006/ole">
            <mc:AlternateContent xmlns:mc="http://schemas.openxmlformats.org/markup-compatibility/2006">
              <mc:Choice xmlns:v="urn:schemas-microsoft-com:vml" Requires="v">
                <p:oleObj name="Equation" r:id="rId2" imgW="152280" imgH="152280" progId="Equation.3">
                  <p:embed/>
                </p:oleObj>
              </mc:Choice>
              <mc:Fallback>
                <p:oleObj name="Equation" r:id="rId2" imgW="152280" imgH="152280" progId="Equation.3">
                  <p:embed/>
                  <p:pic>
                    <p:nvPicPr>
                      <p:cNvPr id="37892" name="Object 4">
                        <a:extLst>
                          <a:ext uri="{FF2B5EF4-FFF2-40B4-BE49-F238E27FC236}">
                            <a16:creationId xmlns:a16="http://schemas.microsoft.com/office/drawing/2014/main" id="{8B6DC913-3F52-45AA-96B4-EB5CE3210B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7403" y="4648200"/>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3" name="Object 5">
            <a:extLst>
              <a:ext uri="{FF2B5EF4-FFF2-40B4-BE49-F238E27FC236}">
                <a16:creationId xmlns:a16="http://schemas.microsoft.com/office/drawing/2014/main" id="{DB5766D1-B87A-4DBE-96A6-1B2E05827A82}"/>
              </a:ext>
            </a:extLst>
          </p:cNvPr>
          <p:cNvGraphicFramePr>
            <a:graphicFrameLocks noChangeAspect="1"/>
          </p:cNvGraphicFramePr>
          <p:nvPr/>
        </p:nvGraphicFramePr>
        <p:xfrm>
          <a:off x="4114800" y="1600200"/>
          <a:ext cx="476251" cy="381000"/>
        </p:xfrm>
        <a:graphic>
          <a:graphicData uri="http://schemas.openxmlformats.org/presentationml/2006/ole">
            <mc:AlternateContent xmlns:mc="http://schemas.openxmlformats.org/markup-compatibility/2006">
              <mc:Choice xmlns:v="urn:schemas-microsoft-com:vml" Requires="v">
                <p:oleObj name="Equation" r:id="rId4" imgW="190440" imgH="152280" progId="Equation.3">
                  <p:embed/>
                </p:oleObj>
              </mc:Choice>
              <mc:Fallback>
                <p:oleObj name="Equation" r:id="rId4" imgW="190440" imgH="152280" progId="Equation.3">
                  <p:embed/>
                  <p:pic>
                    <p:nvPicPr>
                      <p:cNvPr id="37893" name="Object 5">
                        <a:extLst>
                          <a:ext uri="{FF2B5EF4-FFF2-40B4-BE49-F238E27FC236}">
                            <a16:creationId xmlns:a16="http://schemas.microsoft.com/office/drawing/2014/main" id="{DB5766D1-B87A-4DBE-96A6-1B2E05827A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16002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4" name="Object 6">
            <a:extLst>
              <a:ext uri="{FF2B5EF4-FFF2-40B4-BE49-F238E27FC236}">
                <a16:creationId xmlns:a16="http://schemas.microsoft.com/office/drawing/2014/main" id="{D8C5A2D5-0E29-48DC-B9A5-52FD3CC53D74}"/>
              </a:ext>
            </a:extLst>
          </p:cNvPr>
          <p:cNvGraphicFramePr>
            <a:graphicFrameLocks noChangeAspect="1"/>
          </p:cNvGraphicFramePr>
          <p:nvPr/>
        </p:nvGraphicFramePr>
        <p:xfrm>
          <a:off x="4114800" y="2209800"/>
          <a:ext cx="476251" cy="381000"/>
        </p:xfrm>
        <a:graphic>
          <a:graphicData uri="http://schemas.openxmlformats.org/presentationml/2006/ole">
            <mc:AlternateContent xmlns:mc="http://schemas.openxmlformats.org/markup-compatibility/2006">
              <mc:Choice xmlns:v="urn:schemas-microsoft-com:vml" Requires="v">
                <p:oleObj name="Equation" r:id="rId6" imgW="190440" imgH="152280" progId="Equation.3">
                  <p:embed/>
                </p:oleObj>
              </mc:Choice>
              <mc:Fallback>
                <p:oleObj name="Equation" r:id="rId6" imgW="190440" imgH="152280" progId="Equation.3">
                  <p:embed/>
                  <p:pic>
                    <p:nvPicPr>
                      <p:cNvPr id="37894" name="Object 6">
                        <a:extLst>
                          <a:ext uri="{FF2B5EF4-FFF2-40B4-BE49-F238E27FC236}">
                            <a16:creationId xmlns:a16="http://schemas.microsoft.com/office/drawing/2014/main" id="{D8C5A2D5-0E29-48DC-B9A5-52FD3CC53D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22098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5" name="Object 7">
            <a:extLst>
              <a:ext uri="{FF2B5EF4-FFF2-40B4-BE49-F238E27FC236}">
                <a16:creationId xmlns:a16="http://schemas.microsoft.com/office/drawing/2014/main" id="{FCCE0E43-4B55-4C08-BA3F-7E6DC691BEA1}"/>
              </a:ext>
            </a:extLst>
          </p:cNvPr>
          <p:cNvGraphicFramePr>
            <a:graphicFrameLocks noChangeAspect="1"/>
          </p:cNvGraphicFramePr>
          <p:nvPr/>
        </p:nvGraphicFramePr>
        <p:xfrm>
          <a:off x="4191000" y="2743200"/>
          <a:ext cx="476251" cy="381000"/>
        </p:xfrm>
        <a:graphic>
          <a:graphicData uri="http://schemas.openxmlformats.org/presentationml/2006/ole">
            <mc:AlternateContent xmlns:mc="http://schemas.openxmlformats.org/markup-compatibility/2006">
              <mc:Choice xmlns:v="urn:schemas-microsoft-com:vml" Requires="v">
                <p:oleObj name="Equation" r:id="rId7" imgW="190440" imgH="152280" progId="Equation.3">
                  <p:embed/>
                </p:oleObj>
              </mc:Choice>
              <mc:Fallback>
                <p:oleObj name="Equation" r:id="rId7" imgW="190440" imgH="152280" progId="Equation.3">
                  <p:embed/>
                  <p:pic>
                    <p:nvPicPr>
                      <p:cNvPr id="37895" name="Object 7">
                        <a:extLst>
                          <a:ext uri="{FF2B5EF4-FFF2-40B4-BE49-F238E27FC236}">
                            <a16:creationId xmlns:a16="http://schemas.microsoft.com/office/drawing/2014/main" id="{FCCE0E43-4B55-4C08-BA3F-7E6DC691BE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27432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6" name="Object 8">
            <a:extLst>
              <a:ext uri="{FF2B5EF4-FFF2-40B4-BE49-F238E27FC236}">
                <a16:creationId xmlns:a16="http://schemas.microsoft.com/office/drawing/2014/main" id="{E92EF78F-110C-4C61-8720-26D6D49F0AC1}"/>
              </a:ext>
            </a:extLst>
          </p:cNvPr>
          <p:cNvGraphicFramePr>
            <a:graphicFrameLocks noChangeAspect="1"/>
          </p:cNvGraphicFramePr>
          <p:nvPr/>
        </p:nvGraphicFramePr>
        <p:xfrm>
          <a:off x="4191000" y="3276600"/>
          <a:ext cx="476251" cy="381000"/>
        </p:xfrm>
        <a:graphic>
          <a:graphicData uri="http://schemas.openxmlformats.org/presentationml/2006/ole">
            <mc:AlternateContent xmlns:mc="http://schemas.openxmlformats.org/markup-compatibility/2006">
              <mc:Choice xmlns:v="urn:schemas-microsoft-com:vml" Requires="v">
                <p:oleObj name="Equation" r:id="rId8" imgW="190440" imgH="152280" progId="Equation.3">
                  <p:embed/>
                </p:oleObj>
              </mc:Choice>
              <mc:Fallback>
                <p:oleObj name="Equation" r:id="rId8" imgW="190440" imgH="152280" progId="Equation.3">
                  <p:embed/>
                  <p:pic>
                    <p:nvPicPr>
                      <p:cNvPr id="37896" name="Object 8">
                        <a:extLst>
                          <a:ext uri="{FF2B5EF4-FFF2-40B4-BE49-F238E27FC236}">
                            <a16:creationId xmlns:a16="http://schemas.microsoft.com/office/drawing/2014/main" id="{E92EF78F-110C-4C61-8720-26D6D49F0A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32766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7" name="Object 9">
            <a:extLst>
              <a:ext uri="{FF2B5EF4-FFF2-40B4-BE49-F238E27FC236}">
                <a16:creationId xmlns:a16="http://schemas.microsoft.com/office/drawing/2014/main" id="{585BB06E-9A03-4E49-BC9E-099BDA67077E}"/>
              </a:ext>
            </a:extLst>
          </p:cNvPr>
          <p:cNvGraphicFramePr>
            <a:graphicFrameLocks noChangeAspect="1"/>
          </p:cNvGraphicFramePr>
          <p:nvPr/>
        </p:nvGraphicFramePr>
        <p:xfrm>
          <a:off x="4267200" y="3810000"/>
          <a:ext cx="476251" cy="381000"/>
        </p:xfrm>
        <a:graphic>
          <a:graphicData uri="http://schemas.openxmlformats.org/presentationml/2006/ole">
            <mc:AlternateContent xmlns:mc="http://schemas.openxmlformats.org/markup-compatibility/2006">
              <mc:Choice xmlns:v="urn:schemas-microsoft-com:vml" Requires="v">
                <p:oleObj name="Equation" r:id="rId9" imgW="190440" imgH="152280" progId="Equation.3">
                  <p:embed/>
                </p:oleObj>
              </mc:Choice>
              <mc:Fallback>
                <p:oleObj name="Equation" r:id="rId9" imgW="190440" imgH="152280" progId="Equation.3">
                  <p:embed/>
                  <p:pic>
                    <p:nvPicPr>
                      <p:cNvPr id="37897" name="Object 9">
                        <a:extLst>
                          <a:ext uri="{FF2B5EF4-FFF2-40B4-BE49-F238E27FC236}">
                            <a16:creationId xmlns:a16="http://schemas.microsoft.com/office/drawing/2014/main" id="{585BB06E-9A03-4E49-BC9E-099BDA6707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0" y="38100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8" name="Object 10">
            <a:extLst>
              <a:ext uri="{FF2B5EF4-FFF2-40B4-BE49-F238E27FC236}">
                <a16:creationId xmlns:a16="http://schemas.microsoft.com/office/drawing/2014/main" id="{C2719E12-54E0-4F94-8CC1-6DDC0A3F0B59}"/>
              </a:ext>
            </a:extLst>
          </p:cNvPr>
          <p:cNvGraphicFramePr>
            <a:graphicFrameLocks noChangeAspect="1"/>
          </p:cNvGraphicFramePr>
          <p:nvPr>
            <p:extLst>
              <p:ext uri="{D42A27DB-BD31-4B8C-83A1-F6EECF244321}">
                <p14:modId xmlns:p14="http://schemas.microsoft.com/office/powerpoint/2010/main" val="1055813074"/>
              </p:ext>
            </p:extLst>
          </p:nvPr>
        </p:nvGraphicFramePr>
        <p:xfrm>
          <a:off x="4541420" y="2209800"/>
          <a:ext cx="254000" cy="304800"/>
        </p:xfrm>
        <a:graphic>
          <a:graphicData uri="http://schemas.openxmlformats.org/presentationml/2006/ole">
            <mc:AlternateContent xmlns:mc="http://schemas.openxmlformats.org/markup-compatibility/2006">
              <mc:Choice xmlns:v="urn:schemas-microsoft-com:vml" Requires="v">
                <p:oleObj name="Equation" r:id="rId10" imgW="126720" imgH="152280" progId="Equation.3">
                  <p:embed/>
                </p:oleObj>
              </mc:Choice>
              <mc:Fallback>
                <p:oleObj name="Equation" r:id="rId10" imgW="126720" imgH="152280" progId="Equation.3">
                  <p:embed/>
                  <p:pic>
                    <p:nvPicPr>
                      <p:cNvPr id="37898" name="Object 10">
                        <a:extLst>
                          <a:ext uri="{FF2B5EF4-FFF2-40B4-BE49-F238E27FC236}">
                            <a16:creationId xmlns:a16="http://schemas.microsoft.com/office/drawing/2014/main" id="{C2719E12-54E0-4F94-8CC1-6DDC0A3F0B5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41420" y="2209800"/>
                        <a:ext cx="254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9" name="Object 11">
            <a:extLst>
              <a:ext uri="{FF2B5EF4-FFF2-40B4-BE49-F238E27FC236}">
                <a16:creationId xmlns:a16="http://schemas.microsoft.com/office/drawing/2014/main" id="{934AC594-4102-4011-A675-FEB381EDB32D}"/>
              </a:ext>
            </a:extLst>
          </p:cNvPr>
          <p:cNvGraphicFramePr>
            <a:graphicFrameLocks noChangeAspect="1"/>
          </p:cNvGraphicFramePr>
          <p:nvPr>
            <p:extLst>
              <p:ext uri="{D42A27DB-BD31-4B8C-83A1-F6EECF244321}">
                <p14:modId xmlns:p14="http://schemas.microsoft.com/office/powerpoint/2010/main" val="4761339"/>
              </p:ext>
            </p:extLst>
          </p:nvPr>
        </p:nvGraphicFramePr>
        <p:xfrm>
          <a:off x="5525803" y="2209800"/>
          <a:ext cx="254000" cy="304800"/>
        </p:xfrm>
        <a:graphic>
          <a:graphicData uri="http://schemas.openxmlformats.org/presentationml/2006/ole">
            <mc:AlternateContent xmlns:mc="http://schemas.openxmlformats.org/markup-compatibility/2006">
              <mc:Choice xmlns:v="urn:schemas-microsoft-com:vml" Requires="v">
                <p:oleObj name="Equation" r:id="rId12" imgW="126720" imgH="152280" progId="Equation.3">
                  <p:embed/>
                </p:oleObj>
              </mc:Choice>
              <mc:Fallback>
                <p:oleObj name="Equation" r:id="rId12" imgW="126720" imgH="152280" progId="Equation.3">
                  <p:embed/>
                  <p:pic>
                    <p:nvPicPr>
                      <p:cNvPr id="37899" name="Object 11">
                        <a:extLst>
                          <a:ext uri="{FF2B5EF4-FFF2-40B4-BE49-F238E27FC236}">
                            <a16:creationId xmlns:a16="http://schemas.microsoft.com/office/drawing/2014/main" id="{934AC594-4102-4011-A675-FEB381EDB3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25803" y="2209800"/>
                        <a:ext cx="254000" cy="304800"/>
                      </a:xfrm>
                      <a:prstGeom prst="rect">
                        <a:avLst/>
                      </a:prstGeom>
                      <a:noFill/>
                      <a:ln>
                        <a:noFill/>
                      </a:ln>
                      <a:effectLst/>
                    </p:spPr>
                  </p:pic>
                </p:oleObj>
              </mc:Fallback>
            </mc:AlternateContent>
          </a:graphicData>
        </a:graphic>
      </p:graphicFrame>
      <p:graphicFrame>
        <p:nvGraphicFramePr>
          <p:cNvPr id="37900" name="Object 12">
            <a:extLst>
              <a:ext uri="{FF2B5EF4-FFF2-40B4-BE49-F238E27FC236}">
                <a16:creationId xmlns:a16="http://schemas.microsoft.com/office/drawing/2014/main" id="{566F0929-86E6-4E97-80AD-F0575995DB36}"/>
              </a:ext>
            </a:extLst>
          </p:cNvPr>
          <p:cNvGraphicFramePr>
            <a:graphicFrameLocks noChangeAspect="1"/>
          </p:cNvGraphicFramePr>
          <p:nvPr>
            <p:extLst>
              <p:ext uri="{D42A27DB-BD31-4B8C-83A1-F6EECF244321}">
                <p14:modId xmlns:p14="http://schemas.microsoft.com/office/powerpoint/2010/main" val="3377076568"/>
              </p:ext>
            </p:extLst>
          </p:nvPr>
        </p:nvGraphicFramePr>
        <p:xfrm>
          <a:off x="4743451" y="3348789"/>
          <a:ext cx="254000" cy="304800"/>
        </p:xfrm>
        <a:graphic>
          <a:graphicData uri="http://schemas.openxmlformats.org/presentationml/2006/ole">
            <mc:AlternateContent xmlns:mc="http://schemas.openxmlformats.org/markup-compatibility/2006">
              <mc:Choice xmlns:v="urn:schemas-microsoft-com:vml" Requires="v">
                <p:oleObj name="Equation" r:id="rId13" imgW="126720" imgH="152280" progId="Equation.3">
                  <p:embed/>
                </p:oleObj>
              </mc:Choice>
              <mc:Fallback>
                <p:oleObj name="Equation" r:id="rId13" imgW="126720" imgH="152280" progId="Equation.3">
                  <p:embed/>
                  <p:pic>
                    <p:nvPicPr>
                      <p:cNvPr id="37900" name="Object 12">
                        <a:extLst>
                          <a:ext uri="{FF2B5EF4-FFF2-40B4-BE49-F238E27FC236}">
                            <a16:creationId xmlns:a16="http://schemas.microsoft.com/office/drawing/2014/main" id="{566F0929-86E6-4E97-80AD-F0575995DB3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43451" y="3348789"/>
                        <a:ext cx="254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Box 1">
            <a:extLst>
              <a:ext uri="{FF2B5EF4-FFF2-40B4-BE49-F238E27FC236}">
                <a16:creationId xmlns:a16="http://schemas.microsoft.com/office/drawing/2014/main" id="{F78158DE-D5AB-4246-82DB-88289D14873B}"/>
              </a:ext>
            </a:extLst>
          </p:cNvPr>
          <p:cNvSpPr txBox="1">
            <a:spLocks noChangeArrowheads="1"/>
          </p:cNvSpPr>
          <p:nvPr/>
        </p:nvSpPr>
        <p:spPr bwMode="auto">
          <a:xfrm>
            <a:off x="3510676" y="966923"/>
            <a:ext cx="4801314"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a:p>
            <a:pPr eaLnBrk="1" hangingPunct="1"/>
            <a:r>
              <a:rPr lang="en-US" altLang="en-US" dirty="0"/>
              <a:t>Proof:       Let x </a:t>
            </a:r>
            <a:r>
              <a:rPr lang="az-Cyrl-AZ" altLang="en-US" dirty="0"/>
              <a:t>є</a:t>
            </a:r>
            <a:r>
              <a:rPr lang="en-US" altLang="en-US" dirty="0"/>
              <a:t> A – B. Then</a:t>
            </a:r>
          </a:p>
          <a:p>
            <a:pPr eaLnBrk="1" hangingPunct="1"/>
            <a:endParaRPr lang="en-US" altLang="en-US" dirty="0"/>
          </a:p>
          <a:p>
            <a:pPr eaLnBrk="1" hangingPunct="1"/>
            <a:r>
              <a:rPr lang="en-US" altLang="en-US" dirty="0"/>
              <a:t>	x </a:t>
            </a:r>
            <a:r>
              <a:rPr lang="el-GR" altLang="en-US" dirty="0"/>
              <a:t>ϵ</a:t>
            </a:r>
            <a:r>
              <a:rPr lang="en-US" altLang="en-US" dirty="0"/>
              <a:t> A – B          x </a:t>
            </a:r>
            <a:r>
              <a:rPr lang="el-GR" altLang="en-US" dirty="0"/>
              <a:t>ϵ</a:t>
            </a:r>
            <a:r>
              <a:rPr lang="en-US" altLang="en-US" dirty="0"/>
              <a:t> A and x      B</a:t>
            </a:r>
          </a:p>
          <a:p>
            <a:pPr eaLnBrk="1" hangingPunct="1"/>
            <a:endParaRPr lang="en-US" altLang="en-US" dirty="0"/>
          </a:p>
          <a:p>
            <a:pPr eaLnBrk="1" hangingPunct="1"/>
            <a:r>
              <a:rPr lang="en-US" altLang="en-US" dirty="0"/>
              <a:t>		            x </a:t>
            </a:r>
            <a:r>
              <a:rPr lang="el-GR" altLang="en-US" dirty="0"/>
              <a:t>ϵ</a:t>
            </a:r>
            <a:r>
              <a:rPr lang="en-US" altLang="en-US" dirty="0"/>
              <a:t> A and x </a:t>
            </a:r>
            <a:r>
              <a:rPr lang="el-GR" altLang="en-US" dirty="0"/>
              <a:t>ϵ</a:t>
            </a:r>
            <a:r>
              <a:rPr lang="en-US" altLang="en-US" dirty="0"/>
              <a:t> B’	</a:t>
            </a:r>
          </a:p>
          <a:p>
            <a:pPr eaLnBrk="1" hangingPunct="1"/>
            <a:endParaRPr lang="en-US" altLang="en-US" dirty="0"/>
          </a:p>
          <a:p>
            <a:pPr eaLnBrk="1" hangingPunct="1"/>
            <a:r>
              <a:rPr lang="en-US" altLang="en-US" dirty="0"/>
              <a:t>		            x </a:t>
            </a:r>
            <a:r>
              <a:rPr lang="el-GR" altLang="en-US" dirty="0"/>
              <a:t>ϵ</a:t>
            </a:r>
            <a:r>
              <a:rPr lang="en-US" altLang="en-US" dirty="0"/>
              <a:t> A ⋂ B’</a:t>
            </a:r>
          </a:p>
          <a:p>
            <a:pPr eaLnBrk="1" hangingPunct="1"/>
            <a:endParaRPr lang="en-US" altLang="en-US" dirty="0"/>
          </a:p>
          <a:p>
            <a:pPr eaLnBrk="1" hangingPunct="1"/>
            <a:r>
              <a:rPr lang="en-US" altLang="en-US" dirty="0"/>
              <a:t>Thus,             A – B           A ⋂ B’              (</a:t>
            </a:r>
            <a:r>
              <a:rPr lang="en-US" altLang="en-US" dirty="0" err="1"/>
              <a:t>i</a:t>
            </a:r>
            <a:r>
              <a:rPr lang="en-US" altLang="en-US" dirty="0"/>
              <a:t>)</a:t>
            </a:r>
          </a:p>
          <a:p>
            <a:pPr eaLnBrk="1" hangingPunct="1"/>
            <a:endParaRPr lang="en-US" altLang="en-US" dirty="0"/>
          </a:p>
          <a:p>
            <a:pPr eaLnBrk="1" hangingPunct="1"/>
            <a:r>
              <a:rPr lang="en-US" altLang="en-US" dirty="0"/>
              <a:t>Conversely, Let x </a:t>
            </a:r>
            <a:r>
              <a:rPr lang="el-GR" altLang="en-US" dirty="0"/>
              <a:t>ϵ</a:t>
            </a:r>
            <a:r>
              <a:rPr lang="en-US" altLang="en-US" dirty="0"/>
              <a:t> A ⋂ B’. Then</a:t>
            </a:r>
          </a:p>
          <a:p>
            <a:pPr eaLnBrk="1" hangingPunct="1"/>
            <a:endParaRPr lang="en-US" altLang="en-US" dirty="0"/>
          </a:p>
          <a:p>
            <a:pPr eaLnBrk="1" hangingPunct="1"/>
            <a:r>
              <a:rPr lang="en-US" altLang="en-US" dirty="0"/>
              <a:t>	 x </a:t>
            </a:r>
            <a:r>
              <a:rPr lang="el-GR" altLang="en-US" dirty="0"/>
              <a:t>ϵ</a:t>
            </a:r>
            <a:r>
              <a:rPr lang="en-US" altLang="en-US" dirty="0"/>
              <a:t> A ⋂ B’.          x </a:t>
            </a:r>
            <a:r>
              <a:rPr lang="el-GR" altLang="en-US" dirty="0"/>
              <a:t>ϵ</a:t>
            </a:r>
            <a:r>
              <a:rPr lang="en-US" altLang="en-US" dirty="0"/>
              <a:t> A and x </a:t>
            </a:r>
            <a:r>
              <a:rPr lang="el-GR" altLang="en-US" dirty="0"/>
              <a:t>ϵ</a:t>
            </a:r>
            <a:r>
              <a:rPr lang="en-US" altLang="en-US" dirty="0"/>
              <a:t> B’</a:t>
            </a:r>
          </a:p>
          <a:p>
            <a:pPr eaLnBrk="1" hangingPunct="1"/>
            <a:endParaRPr lang="en-US" altLang="en-US" dirty="0"/>
          </a:p>
          <a:p>
            <a:pPr eaLnBrk="1" hangingPunct="1"/>
            <a:r>
              <a:rPr lang="en-US" altLang="en-US" dirty="0"/>
              <a:t>		            x </a:t>
            </a:r>
            <a:r>
              <a:rPr lang="el-GR" altLang="en-US" dirty="0"/>
              <a:t>ϵ</a:t>
            </a:r>
            <a:r>
              <a:rPr lang="en-US" altLang="en-US" dirty="0"/>
              <a:t> A and x      B</a:t>
            </a:r>
          </a:p>
          <a:p>
            <a:pPr eaLnBrk="1" hangingPunct="1"/>
            <a:endParaRPr lang="en-US" altLang="en-US" dirty="0"/>
          </a:p>
          <a:p>
            <a:pPr eaLnBrk="1" hangingPunct="1"/>
            <a:r>
              <a:rPr lang="en-US" altLang="en-US" dirty="0"/>
              <a:t>		            x </a:t>
            </a:r>
            <a:r>
              <a:rPr lang="el-GR" altLang="en-US" dirty="0"/>
              <a:t>ϵ</a:t>
            </a:r>
            <a:r>
              <a:rPr lang="en-US" altLang="en-US" dirty="0"/>
              <a:t> A – B</a:t>
            </a:r>
          </a:p>
          <a:p>
            <a:pPr eaLnBrk="1" hangingPunct="1"/>
            <a:r>
              <a:rPr lang="en-US" altLang="en-US" dirty="0"/>
              <a:t>Thus, 	       A ⋂ B’          A – B             (ii)</a:t>
            </a:r>
          </a:p>
          <a:p>
            <a:pPr eaLnBrk="1" hangingPunct="1"/>
            <a:r>
              <a:rPr lang="en-US" altLang="en-US" dirty="0"/>
              <a:t>From (</a:t>
            </a:r>
            <a:r>
              <a:rPr lang="en-US" altLang="en-US" dirty="0" err="1"/>
              <a:t>i</a:t>
            </a:r>
            <a:r>
              <a:rPr lang="en-US" altLang="en-US" dirty="0"/>
              <a:t>) and (ii), A – B = A ⋂ B’</a:t>
            </a:r>
          </a:p>
        </p:txBody>
      </p:sp>
      <p:graphicFrame>
        <p:nvGraphicFramePr>
          <p:cNvPr id="62468" name="Object 4">
            <a:extLst>
              <a:ext uri="{FF2B5EF4-FFF2-40B4-BE49-F238E27FC236}">
                <a16:creationId xmlns:a16="http://schemas.microsoft.com/office/drawing/2014/main" id="{61A5AED9-6B4F-4858-AEE6-861E76CFCEC0}"/>
              </a:ext>
            </a:extLst>
          </p:cNvPr>
          <p:cNvGraphicFramePr>
            <a:graphicFrameLocks noChangeAspect="1"/>
          </p:cNvGraphicFramePr>
          <p:nvPr>
            <p:extLst>
              <p:ext uri="{D42A27DB-BD31-4B8C-83A1-F6EECF244321}">
                <p14:modId xmlns:p14="http://schemas.microsoft.com/office/powerpoint/2010/main" val="3144945362"/>
              </p:ext>
            </p:extLst>
          </p:nvPr>
        </p:nvGraphicFramePr>
        <p:xfrm>
          <a:off x="5553073" y="1863001"/>
          <a:ext cx="476251" cy="381000"/>
        </p:xfrm>
        <a:graphic>
          <a:graphicData uri="http://schemas.openxmlformats.org/presentationml/2006/ole">
            <mc:AlternateContent xmlns:mc="http://schemas.openxmlformats.org/markup-compatibility/2006">
              <mc:Choice xmlns:v="urn:schemas-microsoft-com:vml" Requires="v">
                <p:oleObj name="Equation" r:id="rId2" imgW="190440" imgH="152280" progId="Equation.3">
                  <p:embed/>
                </p:oleObj>
              </mc:Choice>
              <mc:Fallback>
                <p:oleObj name="Equation" r:id="rId2" imgW="190440" imgH="152280" progId="Equation.3">
                  <p:embed/>
                  <p:pic>
                    <p:nvPicPr>
                      <p:cNvPr id="62468" name="Object 4">
                        <a:extLst>
                          <a:ext uri="{FF2B5EF4-FFF2-40B4-BE49-F238E27FC236}">
                            <a16:creationId xmlns:a16="http://schemas.microsoft.com/office/drawing/2014/main" id="{61A5AED9-6B4F-4858-AEE6-861E76CFCE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3073" y="1863001"/>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69" name="Object 5">
            <a:extLst>
              <a:ext uri="{FF2B5EF4-FFF2-40B4-BE49-F238E27FC236}">
                <a16:creationId xmlns:a16="http://schemas.microsoft.com/office/drawing/2014/main" id="{E0503916-CF9E-4558-8283-99B0AF59577A}"/>
              </a:ext>
            </a:extLst>
          </p:cNvPr>
          <p:cNvGraphicFramePr>
            <a:graphicFrameLocks noChangeAspect="1"/>
          </p:cNvGraphicFramePr>
          <p:nvPr>
            <p:extLst>
              <p:ext uri="{D42A27DB-BD31-4B8C-83A1-F6EECF244321}">
                <p14:modId xmlns:p14="http://schemas.microsoft.com/office/powerpoint/2010/main" val="2595709983"/>
              </p:ext>
            </p:extLst>
          </p:nvPr>
        </p:nvGraphicFramePr>
        <p:xfrm>
          <a:off x="5527080" y="2333100"/>
          <a:ext cx="476251" cy="381000"/>
        </p:xfrm>
        <a:graphic>
          <a:graphicData uri="http://schemas.openxmlformats.org/presentationml/2006/ole">
            <mc:AlternateContent xmlns:mc="http://schemas.openxmlformats.org/markup-compatibility/2006">
              <mc:Choice xmlns:v="urn:schemas-microsoft-com:vml" Requires="v">
                <p:oleObj name="Equation" r:id="rId4" imgW="190440" imgH="152280" progId="Equation.3">
                  <p:embed/>
                </p:oleObj>
              </mc:Choice>
              <mc:Fallback>
                <p:oleObj name="Equation" r:id="rId4" imgW="190440" imgH="152280" progId="Equation.3">
                  <p:embed/>
                  <p:pic>
                    <p:nvPicPr>
                      <p:cNvPr id="62469" name="Object 5">
                        <a:extLst>
                          <a:ext uri="{FF2B5EF4-FFF2-40B4-BE49-F238E27FC236}">
                            <a16:creationId xmlns:a16="http://schemas.microsoft.com/office/drawing/2014/main" id="{E0503916-CF9E-4558-8283-99B0AF5957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7080" y="23331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0" name="Object 6">
            <a:extLst>
              <a:ext uri="{FF2B5EF4-FFF2-40B4-BE49-F238E27FC236}">
                <a16:creationId xmlns:a16="http://schemas.microsoft.com/office/drawing/2014/main" id="{515B03F8-87D1-4B21-BA1A-5B304261A0F2}"/>
              </a:ext>
            </a:extLst>
          </p:cNvPr>
          <p:cNvGraphicFramePr>
            <a:graphicFrameLocks noChangeAspect="1"/>
          </p:cNvGraphicFramePr>
          <p:nvPr>
            <p:extLst>
              <p:ext uri="{D42A27DB-BD31-4B8C-83A1-F6EECF244321}">
                <p14:modId xmlns:p14="http://schemas.microsoft.com/office/powerpoint/2010/main" val="2121304918"/>
              </p:ext>
            </p:extLst>
          </p:nvPr>
        </p:nvGraphicFramePr>
        <p:xfrm>
          <a:off x="5619748" y="2900993"/>
          <a:ext cx="476251" cy="381000"/>
        </p:xfrm>
        <a:graphic>
          <a:graphicData uri="http://schemas.openxmlformats.org/presentationml/2006/ole">
            <mc:AlternateContent xmlns:mc="http://schemas.openxmlformats.org/markup-compatibility/2006">
              <mc:Choice xmlns:v="urn:schemas-microsoft-com:vml" Requires="v">
                <p:oleObj name="Equation" r:id="rId5" imgW="190440" imgH="152280" progId="Equation.3">
                  <p:embed/>
                </p:oleObj>
              </mc:Choice>
              <mc:Fallback>
                <p:oleObj name="Equation" r:id="rId5" imgW="190440" imgH="152280" progId="Equation.3">
                  <p:embed/>
                  <p:pic>
                    <p:nvPicPr>
                      <p:cNvPr id="62470" name="Object 6">
                        <a:extLst>
                          <a:ext uri="{FF2B5EF4-FFF2-40B4-BE49-F238E27FC236}">
                            <a16:creationId xmlns:a16="http://schemas.microsoft.com/office/drawing/2014/main" id="{515B03F8-87D1-4B21-BA1A-5B304261A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48" y="2900993"/>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1" name="Object 7">
            <a:extLst>
              <a:ext uri="{FF2B5EF4-FFF2-40B4-BE49-F238E27FC236}">
                <a16:creationId xmlns:a16="http://schemas.microsoft.com/office/drawing/2014/main" id="{259A3EFA-C93E-45D2-A6D9-AF97D9B2618B}"/>
              </a:ext>
            </a:extLst>
          </p:cNvPr>
          <p:cNvGraphicFramePr>
            <a:graphicFrameLocks noChangeAspect="1"/>
          </p:cNvGraphicFramePr>
          <p:nvPr>
            <p:extLst>
              <p:ext uri="{D42A27DB-BD31-4B8C-83A1-F6EECF244321}">
                <p14:modId xmlns:p14="http://schemas.microsoft.com/office/powerpoint/2010/main" val="4120628734"/>
              </p:ext>
            </p:extLst>
          </p:nvPr>
        </p:nvGraphicFramePr>
        <p:xfrm>
          <a:off x="5739212" y="4532559"/>
          <a:ext cx="476251" cy="381000"/>
        </p:xfrm>
        <a:graphic>
          <a:graphicData uri="http://schemas.openxmlformats.org/presentationml/2006/ole">
            <mc:AlternateContent xmlns:mc="http://schemas.openxmlformats.org/markup-compatibility/2006">
              <mc:Choice xmlns:v="urn:schemas-microsoft-com:vml" Requires="v">
                <p:oleObj name="Equation" r:id="rId6" imgW="190440" imgH="152280" progId="Equation.3">
                  <p:embed/>
                </p:oleObj>
              </mc:Choice>
              <mc:Fallback>
                <p:oleObj name="Equation" r:id="rId6" imgW="190440" imgH="152280" progId="Equation.3">
                  <p:embed/>
                  <p:pic>
                    <p:nvPicPr>
                      <p:cNvPr id="62471" name="Object 7">
                        <a:extLst>
                          <a:ext uri="{FF2B5EF4-FFF2-40B4-BE49-F238E27FC236}">
                            <a16:creationId xmlns:a16="http://schemas.microsoft.com/office/drawing/2014/main" id="{259A3EFA-C93E-45D2-A6D9-AF97D9B261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9212" y="4532559"/>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2" name="Object 8">
            <a:extLst>
              <a:ext uri="{FF2B5EF4-FFF2-40B4-BE49-F238E27FC236}">
                <a16:creationId xmlns:a16="http://schemas.microsoft.com/office/drawing/2014/main" id="{0089DA56-EE45-4971-90DB-02004A084A8D}"/>
              </a:ext>
            </a:extLst>
          </p:cNvPr>
          <p:cNvGraphicFramePr>
            <a:graphicFrameLocks noChangeAspect="1"/>
          </p:cNvGraphicFramePr>
          <p:nvPr>
            <p:extLst>
              <p:ext uri="{D42A27DB-BD31-4B8C-83A1-F6EECF244321}">
                <p14:modId xmlns:p14="http://schemas.microsoft.com/office/powerpoint/2010/main" val="674380761"/>
              </p:ext>
            </p:extLst>
          </p:nvPr>
        </p:nvGraphicFramePr>
        <p:xfrm>
          <a:off x="5673207" y="5128001"/>
          <a:ext cx="476251" cy="381000"/>
        </p:xfrm>
        <a:graphic>
          <a:graphicData uri="http://schemas.openxmlformats.org/presentationml/2006/ole">
            <mc:AlternateContent xmlns:mc="http://schemas.openxmlformats.org/markup-compatibility/2006">
              <mc:Choice xmlns:v="urn:schemas-microsoft-com:vml" Requires="v">
                <p:oleObj name="Equation" r:id="rId7" imgW="190440" imgH="152280" progId="Equation.3">
                  <p:embed/>
                </p:oleObj>
              </mc:Choice>
              <mc:Fallback>
                <p:oleObj name="Equation" r:id="rId7" imgW="190440" imgH="152280" progId="Equation.3">
                  <p:embed/>
                  <p:pic>
                    <p:nvPicPr>
                      <p:cNvPr id="62472" name="Object 8">
                        <a:extLst>
                          <a:ext uri="{FF2B5EF4-FFF2-40B4-BE49-F238E27FC236}">
                            <a16:creationId xmlns:a16="http://schemas.microsoft.com/office/drawing/2014/main" id="{0089DA56-EE45-4971-90DB-02004A084A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3207" y="5128001"/>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3" name="Object 9">
            <a:extLst>
              <a:ext uri="{FF2B5EF4-FFF2-40B4-BE49-F238E27FC236}">
                <a16:creationId xmlns:a16="http://schemas.microsoft.com/office/drawing/2014/main" id="{97494F31-A6B8-4738-BD01-D0AF9DE8676D}"/>
              </a:ext>
            </a:extLst>
          </p:cNvPr>
          <p:cNvGraphicFramePr>
            <a:graphicFrameLocks noChangeAspect="1"/>
          </p:cNvGraphicFramePr>
          <p:nvPr>
            <p:extLst>
              <p:ext uri="{D42A27DB-BD31-4B8C-83A1-F6EECF244321}">
                <p14:modId xmlns:p14="http://schemas.microsoft.com/office/powerpoint/2010/main" val="3047282985"/>
              </p:ext>
            </p:extLst>
          </p:nvPr>
        </p:nvGraphicFramePr>
        <p:xfrm>
          <a:off x="5553072" y="5683819"/>
          <a:ext cx="476251" cy="381000"/>
        </p:xfrm>
        <a:graphic>
          <a:graphicData uri="http://schemas.openxmlformats.org/presentationml/2006/ole">
            <mc:AlternateContent xmlns:mc="http://schemas.openxmlformats.org/markup-compatibility/2006">
              <mc:Choice xmlns:v="urn:schemas-microsoft-com:vml" Requires="v">
                <p:oleObj name="Equation" r:id="rId8" imgW="190440" imgH="152280" progId="Equation.3">
                  <p:embed/>
                </p:oleObj>
              </mc:Choice>
              <mc:Fallback>
                <p:oleObj name="Equation" r:id="rId8" imgW="190440" imgH="152280" progId="Equation.3">
                  <p:embed/>
                  <p:pic>
                    <p:nvPicPr>
                      <p:cNvPr id="62473" name="Object 9">
                        <a:extLst>
                          <a:ext uri="{FF2B5EF4-FFF2-40B4-BE49-F238E27FC236}">
                            <a16:creationId xmlns:a16="http://schemas.microsoft.com/office/drawing/2014/main" id="{97494F31-A6B8-4738-BD01-D0AF9DE867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3072" y="5683819"/>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4" name="Object 10">
            <a:extLst>
              <a:ext uri="{FF2B5EF4-FFF2-40B4-BE49-F238E27FC236}">
                <a16:creationId xmlns:a16="http://schemas.microsoft.com/office/drawing/2014/main" id="{563A3DFF-129F-4092-87A5-A8ED24928411}"/>
              </a:ext>
            </a:extLst>
          </p:cNvPr>
          <p:cNvGraphicFramePr>
            <a:graphicFrameLocks noChangeAspect="1"/>
          </p:cNvGraphicFramePr>
          <p:nvPr/>
        </p:nvGraphicFramePr>
        <p:xfrm>
          <a:off x="5791199" y="3505203"/>
          <a:ext cx="304800" cy="304800"/>
        </p:xfrm>
        <a:graphic>
          <a:graphicData uri="http://schemas.openxmlformats.org/presentationml/2006/ole">
            <mc:AlternateContent xmlns:mc="http://schemas.openxmlformats.org/markup-compatibility/2006">
              <mc:Choice xmlns:v="urn:schemas-microsoft-com:vml" Requires="v">
                <p:oleObj name="Equation" r:id="rId9" imgW="152280" imgH="152280" progId="Equation.3">
                  <p:embed/>
                </p:oleObj>
              </mc:Choice>
              <mc:Fallback>
                <p:oleObj name="Equation" r:id="rId9" imgW="152280" imgH="152280" progId="Equation.3">
                  <p:embed/>
                  <p:pic>
                    <p:nvPicPr>
                      <p:cNvPr id="62474" name="Object 10">
                        <a:extLst>
                          <a:ext uri="{FF2B5EF4-FFF2-40B4-BE49-F238E27FC236}">
                            <a16:creationId xmlns:a16="http://schemas.microsoft.com/office/drawing/2014/main" id="{563A3DFF-129F-4092-87A5-A8ED2492841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1199" y="3505203"/>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5" name="Object 11">
            <a:extLst>
              <a:ext uri="{FF2B5EF4-FFF2-40B4-BE49-F238E27FC236}">
                <a16:creationId xmlns:a16="http://schemas.microsoft.com/office/drawing/2014/main" id="{C4C85AA8-A983-410D-9C9C-71E558B98C95}"/>
              </a:ext>
            </a:extLst>
          </p:cNvPr>
          <p:cNvGraphicFramePr>
            <a:graphicFrameLocks noChangeAspect="1"/>
          </p:cNvGraphicFramePr>
          <p:nvPr>
            <p:extLst>
              <p:ext uri="{D42A27DB-BD31-4B8C-83A1-F6EECF244321}">
                <p14:modId xmlns:p14="http://schemas.microsoft.com/office/powerpoint/2010/main" val="1142845952"/>
              </p:ext>
            </p:extLst>
          </p:nvPr>
        </p:nvGraphicFramePr>
        <p:xfrm>
          <a:off x="5724523" y="5934837"/>
          <a:ext cx="304800" cy="304800"/>
        </p:xfrm>
        <a:graphic>
          <a:graphicData uri="http://schemas.openxmlformats.org/presentationml/2006/ole">
            <mc:AlternateContent xmlns:mc="http://schemas.openxmlformats.org/markup-compatibility/2006">
              <mc:Choice xmlns:v="urn:schemas-microsoft-com:vml" Requires="v">
                <p:oleObj name="Equation" r:id="rId11" imgW="152280" imgH="152280" progId="Equation.3">
                  <p:embed/>
                </p:oleObj>
              </mc:Choice>
              <mc:Fallback>
                <p:oleObj name="Equation" r:id="rId11" imgW="152280" imgH="152280" progId="Equation.3">
                  <p:embed/>
                  <p:pic>
                    <p:nvPicPr>
                      <p:cNvPr id="62475" name="Object 11">
                        <a:extLst>
                          <a:ext uri="{FF2B5EF4-FFF2-40B4-BE49-F238E27FC236}">
                            <a16:creationId xmlns:a16="http://schemas.microsoft.com/office/drawing/2014/main" id="{C4C85AA8-A983-410D-9C9C-71E558B98C9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24523" y="5934837"/>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6" name="Object 12">
            <a:extLst>
              <a:ext uri="{FF2B5EF4-FFF2-40B4-BE49-F238E27FC236}">
                <a16:creationId xmlns:a16="http://schemas.microsoft.com/office/drawing/2014/main" id="{AAC60D67-B621-4074-B17F-0AEE18C036BF}"/>
              </a:ext>
            </a:extLst>
          </p:cNvPr>
          <p:cNvGraphicFramePr>
            <a:graphicFrameLocks noChangeAspect="1"/>
          </p:cNvGraphicFramePr>
          <p:nvPr>
            <p:extLst>
              <p:ext uri="{D42A27DB-BD31-4B8C-83A1-F6EECF244321}">
                <p14:modId xmlns:p14="http://schemas.microsoft.com/office/powerpoint/2010/main" val="1046798254"/>
              </p:ext>
            </p:extLst>
          </p:nvPr>
        </p:nvGraphicFramePr>
        <p:xfrm>
          <a:off x="7140685" y="1804960"/>
          <a:ext cx="254000" cy="304800"/>
        </p:xfrm>
        <a:graphic>
          <a:graphicData uri="http://schemas.openxmlformats.org/presentationml/2006/ole">
            <mc:AlternateContent xmlns:mc="http://schemas.openxmlformats.org/markup-compatibility/2006">
              <mc:Choice xmlns:v="urn:schemas-microsoft-com:vml" Requires="v">
                <p:oleObj name="Equation" r:id="rId12" imgW="126720" imgH="152280" progId="Equation.3">
                  <p:embed/>
                </p:oleObj>
              </mc:Choice>
              <mc:Fallback>
                <p:oleObj name="Equation" r:id="rId12" imgW="126720" imgH="152280" progId="Equation.3">
                  <p:embed/>
                  <p:pic>
                    <p:nvPicPr>
                      <p:cNvPr id="62476" name="Object 12">
                        <a:extLst>
                          <a:ext uri="{FF2B5EF4-FFF2-40B4-BE49-F238E27FC236}">
                            <a16:creationId xmlns:a16="http://schemas.microsoft.com/office/drawing/2014/main" id="{AAC60D67-B621-4074-B17F-0AEE18C036B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40685" y="1804960"/>
                        <a:ext cx="254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7" name="Object 13">
            <a:extLst>
              <a:ext uri="{FF2B5EF4-FFF2-40B4-BE49-F238E27FC236}">
                <a16:creationId xmlns:a16="http://schemas.microsoft.com/office/drawing/2014/main" id="{4DDB9544-A4C9-43E0-B275-4345208AA0AD}"/>
              </a:ext>
            </a:extLst>
          </p:cNvPr>
          <p:cNvGraphicFramePr>
            <a:graphicFrameLocks noChangeAspect="1"/>
          </p:cNvGraphicFramePr>
          <p:nvPr>
            <p:extLst>
              <p:ext uri="{D42A27DB-BD31-4B8C-83A1-F6EECF244321}">
                <p14:modId xmlns:p14="http://schemas.microsoft.com/office/powerpoint/2010/main" val="596498528"/>
              </p:ext>
            </p:extLst>
          </p:nvPr>
        </p:nvGraphicFramePr>
        <p:xfrm>
          <a:off x="7319707" y="5080418"/>
          <a:ext cx="254000" cy="304800"/>
        </p:xfrm>
        <a:graphic>
          <a:graphicData uri="http://schemas.openxmlformats.org/presentationml/2006/ole">
            <mc:AlternateContent xmlns:mc="http://schemas.openxmlformats.org/markup-compatibility/2006">
              <mc:Choice xmlns:v="urn:schemas-microsoft-com:vml" Requires="v">
                <p:oleObj name="Equation" r:id="rId14" imgW="126720" imgH="152280" progId="Equation.3">
                  <p:embed/>
                </p:oleObj>
              </mc:Choice>
              <mc:Fallback>
                <p:oleObj name="Equation" r:id="rId14" imgW="126720" imgH="152280" progId="Equation.3">
                  <p:embed/>
                  <p:pic>
                    <p:nvPicPr>
                      <p:cNvPr id="62477" name="Object 13">
                        <a:extLst>
                          <a:ext uri="{FF2B5EF4-FFF2-40B4-BE49-F238E27FC236}">
                            <a16:creationId xmlns:a16="http://schemas.microsoft.com/office/drawing/2014/main" id="{4DDB9544-A4C9-43E0-B275-4345208AA0A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19707" y="5080418"/>
                        <a:ext cx="254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Rectangle 1">
            <a:extLst>
              <a:ext uri="{FF2B5EF4-FFF2-40B4-BE49-F238E27FC236}">
                <a16:creationId xmlns:a16="http://schemas.microsoft.com/office/drawing/2014/main" id="{273D09C6-D544-4E9F-BF63-72731184B352}"/>
              </a:ext>
            </a:extLst>
          </p:cNvPr>
          <p:cNvSpPr/>
          <p:nvPr/>
        </p:nvSpPr>
        <p:spPr>
          <a:xfrm>
            <a:off x="4151361" y="278657"/>
            <a:ext cx="311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en-US" sz="2400" dirty="0">
                <a:solidFill>
                  <a:srgbClr val="C00000"/>
                </a:solidFill>
                <a:latin typeface="Calibri" panose="020F0502020204030204" pitchFamily="34" charset="0"/>
              </a:rPr>
              <a:t>To Prove A – B = A ⋂ B’</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1">
            <a:extLst>
              <a:ext uri="{FF2B5EF4-FFF2-40B4-BE49-F238E27FC236}">
                <a16:creationId xmlns:a16="http://schemas.microsoft.com/office/drawing/2014/main" id="{E22E4F28-37BB-482B-8EBD-169420DF5324}"/>
              </a:ext>
            </a:extLst>
          </p:cNvPr>
          <p:cNvSpPr txBox="1">
            <a:spLocks noChangeArrowheads="1"/>
          </p:cNvSpPr>
          <p:nvPr/>
        </p:nvSpPr>
        <p:spPr bwMode="auto">
          <a:xfrm>
            <a:off x="2336800" y="1193801"/>
            <a:ext cx="6426888"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0" eaLnBrk="1" hangingPunct="1"/>
            <a:r>
              <a:rPr lang="en-US" altLang="en-US" dirty="0"/>
              <a:t>If A = {4, 5, 7, 8, 10}, B = {4, 5, 9} and C = {1, 4, 6, 9}, then</a:t>
            </a:r>
          </a:p>
          <a:p>
            <a:pPr eaLnBrk="1" hangingPunct="1"/>
            <a:r>
              <a:rPr lang="en-US" altLang="en-US" dirty="0"/>
              <a:t>      verify that A ⋂ (B U C) = (A ⋂ B ) U ( A ⋂ C)</a:t>
            </a:r>
          </a:p>
          <a:p>
            <a:pPr eaLnBrk="1" hangingPunct="1"/>
            <a:endParaRPr lang="en-US" altLang="en-US" dirty="0"/>
          </a:p>
          <a:p>
            <a:pPr eaLnBrk="1" hangingPunct="1"/>
            <a:r>
              <a:rPr lang="en-US" altLang="en-US" dirty="0"/>
              <a:t>Solution:</a:t>
            </a:r>
          </a:p>
          <a:p>
            <a:pPr eaLnBrk="1" hangingPunct="1"/>
            <a:r>
              <a:rPr lang="en-US" altLang="en-US" dirty="0"/>
              <a:t>		B U C = {4, 5, 9} U { 1, 4, 6, 9} = {1, 4, 5 , 6, 9}</a:t>
            </a:r>
          </a:p>
          <a:p>
            <a:pPr eaLnBrk="1" hangingPunct="1"/>
            <a:endParaRPr lang="en-US" altLang="en-US" dirty="0"/>
          </a:p>
          <a:p>
            <a:pPr eaLnBrk="1" hangingPunct="1"/>
            <a:r>
              <a:rPr lang="en-US" altLang="en-US" dirty="0"/>
              <a:t>	         A ⋂ (B U C) = {4, 5, 7, 8, 10} ⋂ {1, 4, 5, 6, 9} = {4, 5}</a:t>
            </a:r>
          </a:p>
          <a:p>
            <a:pPr eaLnBrk="1" hangingPunct="1"/>
            <a:endParaRPr lang="en-US" altLang="en-US" dirty="0"/>
          </a:p>
          <a:p>
            <a:pPr eaLnBrk="1" hangingPunct="1"/>
            <a:r>
              <a:rPr lang="en-US" altLang="en-US" dirty="0"/>
              <a:t>		(A ⋂ B )  = {4, 5, 7, 8, 10} ⋂ {4, 5, 9} = {4, 5}</a:t>
            </a:r>
          </a:p>
          <a:p>
            <a:pPr eaLnBrk="1" hangingPunct="1"/>
            <a:endParaRPr lang="en-US" altLang="en-US" dirty="0"/>
          </a:p>
          <a:p>
            <a:pPr eaLnBrk="1" hangingPunct="1"/>
            <a:r>
              <a:rPr lang="en-US" altLang="en-US" dirty="0"/>
              <a:t>		( A ⋂ C) = {4, 5, 7, 8, 10} ⋂ {1, 4, 6, 9} = {4}</a:t>
            </a:r>
          </a:p>
          <a:p>
            <a:pPr eaLnBrk="1" hangingPunct="1"/>
            <a:endParaRPr lang="en-US" altLang="en-US" dirty="0"/>
          </a:p>
          <a:p>
            <a:pPr eaLnBrk="1" hangingPunct="1"/>
            <a:r>
              <a:rPr lang="en-US" altLang="en-US" dirty="0"/>
              <a:t>Now, (A ⋂ B ) U ( A ⋂ C) = {4, 5} U {4} = {4,5}</a:t>
            </a:r>
          </a:p>
          <a:p>
            <a:pPr eaLnBrk="1" hangingPunct="1"/>
            <a:endParaRPr lang="en-US" altLang="en-US" dirty="0"/>
          </a:p>
          <a:p>
            <a:pPr eaLnBrk="1" hangingPunct="1"/>
            <a:r>
              <a:rPr lang="en-US" altLang="en-US" dirty="0"/>
              <a:t>Hence, A ⋂ (B U C) = (A ⋂ B ) U ( A ⋂ C)</a:t>
            </a:r>
          </a:p>
          <a:p>
            <a:pPr eaLnBrk="1" hangingPunct="1"/>
            <a:endParaRPr lang="en-US" altLang="en-US" dirty="0"/>
          </a:p>
          <a:p>
            <a:pPr eaLnBrk="1" hangingPunct="1"/>
            <a:endParaRPr lang="en-US" altLang="en-US" dirty="0"/>
          </a:p>
          <a:p>
            <a:pPr eaLnBrk="1" hangingPunct="1"/>
            <a:endParaRPr lang="en-US" altLang="en-US" dirty="0"/>
          </a:p>
        </p:txBody>
      </p:sp>
      <p:sp>
        <p:nvSpPr>
          <p:cNvPr id="3" name="Rectangle 2">
            <a:extLst>
              <a:ext uri="{FF2B5EF4-FFF2-40B4-BE49-F238E27FC236}">
                <a16:creationId xmlns:a16="http://schemas.microsoft.com/office/drawing/2014/main" id="{F41C9A78-F86E-4B1A-B03F-CF1794070B14}"/>
              </a:ext>
            </a:extLst>
          </p:cNvPr>
          <p:cNvSpPr/>
          <p:nvPr/>
        </p:nvSpPr>
        <p:spPr>
          <a:xfrm>
            <a:off x="4151361" y="278657"/>
            <a:ext cx="31163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en-US" sz="2400">
                <a:solidFill>
                  <a:srgbClr val="C00000"/>
                </a:solidFill>
                <a:latin typeface="Calibri" panose="020F0502020204030204" pitchFamily="34" charset="0"/>
              </a:rPr>
              <a:t>Example</a:t>
            </a:r>
            <a:endParaRPr lang="en-US" altLang="en-US" sz="2400" dirty="0">
              <a:solidFill>
                <a:srgbClr val="C00000"/>
              </a:solidFill>
              <a:latin typeface="Calibri" panose="020F050202020403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270000" y="1498601"/>
            <a:ext cx="9652000" cy="4154984"/>
          </a:xfrm>
          <a:prstGeom prst="rect">
            <a:avLst/>
          </a:prstGeom>
          <a:noFill/>
        </p:spPr>
        <p:txBody>
          <a:bodyPr wrap="square" rtlCol="0">
            <a:spAutoFit/>
          </a:bodyPr>
          <a:lstStyle/>
          <a:p>
            <a:r>
              <a:rPr lang="en-IN" sz="2400" dirty="0"/>
              <a:t>Which of the following statements is FALSE? </a:t>
            </a:r>
          </a:p>
          <a:p>
            <a:pPr marL="457189" indent="-457189">
              <a:buAutoNum type="alphaLcParenBoth"/>
            </a:pPr>
            <a:r>
              <a:rPr lang="en-IN" sz="2400" dirty="0"/>
              <a:t>2 ∈ A ∪ B implies that if 2 ∈/ A then 2 ∈ B.</a:t>
            </a:r>
          </a:p>
          <a:p>
            <a:pPr marL="457189" indent="-457189">
              <a:buAutoNum type="alphaLcParenBoth"/>
            </a:pPr>
            <a:r>
              <a:rPr lang="en-IN" sz="2400" dirty="0"/>
              <a:t>{2, 3} ⊆ A implies that 2 ∈ A and 3 ∈ A. </a:t>
            </a:r>
          </a:p>
          <a:p>
            <a:pPr marL="457189" indent="-457189">
              <a:buAutoNum type="alphaLcParenBoth"/>
            </a:pPr>
            <a:r>
              <a:rPr lang="en-IN" sz="2400" dirty="0"/>
              <a:t> A ∩ B ⊇ {2, 3} implies that {2, 3} ⊆ A and {2, 3} ⊆ B. </a:t>
            </a:r>
          </a:p>
          <a:p>
            <a:pPr marL="457189" indent="-457189">
              <a:buAutoNum type="alphaLcParenBoth"/>
            </a:pPr>
            <a:r>
              <a:rPr lang="en-IN" sz="2400" dirty="0"/>
              <a:t> A − B ⊇ {3} and {2} ⊆ B implies that {2, 3} ⊆ A ∪ B. </a:t>
            </a:r>
          </a:p>
          <a:p>
            <a:pPr marL="457189" indent="-457189">
              <a:buAutoNum type="alphaLcParenBoth"/>
            </a:pPr>
            <a:r>
              <a:rPr lang="en-IN" sz="2400" dirty="0"/>
              <a:t> {2} ∈ A and {3} ∈ A implies that {2, 3} ⊆ A.</a:t>
            </a:r>
          </a:p>
          <a:p>
            <a:pPr marL="457189" indent="-457189">
              <a:buAutoNum type="alphaLcParenBoth"/>
            </a:pP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e</a:t>
            </a: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p:spTree>
    <p:extLst>
      <p:ext uri="{BB962C8B-B14F-4D97-AF65-F5344CB8AC3E}">
        <p14:creationId xmlns:p14="http://schemas.microsoft.com/office/powerpoint/2010/main" val="22800864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 calcmode="lin" valueType="num">
                                      <p:cBhvr additive="base">
                                        <p:cTn id="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697963" y="2006601"/>
            <a:ext cx="10046237" cy="3416320"/>
          </a:xfrm>
          <a:prstGeom prst="rect">
            <a:avLst/>
          </a:prstGeom>
          <a:noFill/>
        </p:spPr>
        <p:txBody>
          <a:bodyPr wrap="square" rtlCol="0">
            <a:spAutoFit/>
          </a:bodyPr>
          <a:lstStyle/>
          <a:p>
            <a:r>
              <a:rPr lang="en-IN" sz="2400" dirty="0"/>
              <a:t>Which of the following statements is FALSE? </a:t>
            </a:r>
          </a:p>
          <a:p>
            <a:pPr marL="457189" indent="-457189">
              <a:buAutoNum type="alphaLcParenBoth"/>
            </a:pPr>
            <a:r>
              <a:rPr lang="en-IN" sz="2400" dirty="0"/>
              <a:t>{2, 3, 4} ⊆ A implies that 2 ∈ A and {3, 4} ⊆ A. </a:t>
            </a:r>
          </a:p>
          <a:p>
            <a:pPr marL="457189" indent="-457189">
              <a:buAutoNum type="alphaLcParenBoth"/>
            </a:pPr>
            <a:r>
              <a:rPr lang="en-IN" sz="2400" dirty="0"/>
              <a:t>{2, 3, 4} ∈ A and {2, 3} ∈ B implies that {4} ⊆ A − B. </a:t>
            </a:r>
          </a:p>
          <a:p>
            <a:r>
              <a:rPr lang="en-IN" sz="2400" dirty="0"/>
              <a:t>(c) A ∩ B ⊇ {2, 3, 4} implies that {2, 3, 4} ⊆ A and {2, 3, 4} ⊆ B. </a:t>
            </a:r>
          </a:p>
          <a:p>
            <a:r>
              <a:rPr lang="en-IN" sz="2400" dirty="0"/>
              <a:t>(d) A − B ⊇ {3, 4} and {1, 2} ⊆ B implies that {1, 2, 3, 4} ⊆ A ∪ B. </a:t>
            </a:r>
          </a:p>
          <a:p>
            <a:r>
              <a:rPr lang="en-IN" sz="2400" dirty="0"/>
              <a:t>(e) {2, 3} ⊆ A ∪ B implies that if {2, 3} ∩ A = ∅ then {2, 3} ⊆ B</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b</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2</a:t>
            </a:r>
          </a:p>
        </p:txBody>
      </p:sp>
    </p:spTree>
    <p:extLst>
      <p:ext uri="{BB962C8B-B14F-4D97-AF65-F5344CB8AC3E}">
        <p14:creationId xmlns:p14="http://schemas.microsoft.com/office/powerpoint/2010/main" val="3320315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 calcmode="lin" valueType="num">
                                      <p:cBhvr additive="base">
                                        <p:cTn id="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016001" y="1890118"/>
            <a:ext cx="10159999" cy="3826753"/>
          </a:xfrm>
          <a:prstGeom prst="rect">
            <a:avLst/>
          </a:prstGeom>
          <a:noFill/>
        </p:spPr>
        <p:txBody>
          <a:bodyPr wrap="square" rtlCol="0">
            <a:spAutoFit/>
          </a:bodyPr>
          <a:lstStyle/>
          <a:p>
            <a:r>
              <a:rPr lang="en-US" sz="2400" dirty="0"/>
              <a:t>Consider the true theorem, “For all sets A and B, if A ⊆ B then A ∩ B</a:t>
            </a:r>
            <a:r>
              <a:rPr lang="en-US" sz="2667" dirty="0"/>
              <a:t>’</a:t>
            </a:r>
            <a:r>
              <a:rPr lang="en-US" sz="2400" dirty="0"/>
              <a:t> = ∅.” Which of the following statements is NOT equivalent to this statement: </a:t>
            </a:r>
          </a:p>
          <a:p>
            <a:endParaRPr lang="en-US" sz="2400" dirty="0"/>
          </a:p>
          <a:p>
            <a:pPr marL="457189" indent="-457189">
              <a:buAutoNum type="alphaLcParenBoth"/>
            </a:pPr>
            <a:r>
              <a:rPr lang="en-US" sz="2400" dirty="0"/>
              <a:t>For all sets A’ and B, if A ⊆ B then A’ ∩ B’ = ∅. </a:t>
            </a:r>
          </a:p>
          <a:p>
            <a:pPr marL="457189" indent="-457189">
              <a:buAutoNum type="alphaLcParenBoth"/>
            </a:pPr>
            <a:r>
              <a:rPr lang="en-US" sz="2400" dirty="0"/>
              <a:t>For all sets A and B, if A’ ⊆ B then A’ ∩ B’ = ∅. </a:t>
            </a:r>
          </a:p>
          <a:p>
            <a:pPr marL="457189" indent="-457189">
              <a:buAutoNum type="alphaLcParenBoth"/>
            </a:pPr>
            <a:r>
              <a:rPr lang="en-US" sz="2400" dirty="0"/>
              <a:t>For all sets A’ and B’ , if A ⊆ B’ then A ∩ B = ∅. </a:t>
            </a:r>
          </a:p>
          <a:p>
            <a:pPr marL="457189" indent="-457189">
              <a:buAutoNum type="alphaLcParenBoth"/>
            </a:pPr>
            <a:r>
              <a:rPr lang="en-US" sz="2400" dirty="0"/>
              <a:t>For all sets A’ and B’ , if A’ ⊆ B’ then A’ ∩ B = ∅. </a:t>
            </a:r>
          </a:p>
          <a:p>
            <a:pPr marL="457189" indent="-457189">
              <a:buAutoNum type="alphaLcParenBoth"/>
            </a:pPr>
            <a:r>
              <a:rPr lang="en-US" sz="2400" dirty="0"/>
              <a:t>For all sets A and B, if A’ ⊇ B then A ∩ B = ∅</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3</a:t>
            </a:r>
          </a:p>
        </p:txBody>
      </p:sp>
    </p:spTree>
    <p:extLst>
      <p:ext uri="{BB962C8B-B14F-4D97-AF65-F5344CB8AC3E}">
        <p14:creationId xmlns:p14="http://schemas.microsoft.com/office/powerpoint/2010/main" val="5569756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 calcmode="lin" valueType="num">
                                      <p:cBhvr additive="base">
                                        <p:cTn id="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812800" y="889001"/>
            <a:ext cx="10566400" cy="4154984"/>
          </a:xfrm>
          <a:prstGeom prst="rect">
            <a:avLst/>
          </a:prstGeom>
          <a:noFill/>
        </p:spPr>
        <p:txBody>
          <a:bodyPr wrap="square" rtlCol="0">
            <a:spAutoFit/>
          </a:bodyPr>
          <a:lstStyle/>
          <a:p>
            <a:r>
              <a:rPr lang="en-US" sz="2400" dirty="0"/>
              <a:t>Which of the following statements is TRUE? </a:t>
            </a:r>
          </a:p>
          <a:p>
            <a:endParaRPr lang="en-US" sz="2400" dirty="0"/>
          </a:p>
          <a:p>
            <a:pPr marL="457189" indent="-457189">
              <a:buAutoNum type="alphaLcParenBoth"/>
            </a:pPr>
            <a:r>
              <a:rPr lang="en-US" sz="2400" dirty="0"/>
              <a:t>For all sets A, B, and C, A − (B − C) = (A − B) − C.</a:t>
            </a:r>
          </a:p>
          <a:p>
            <a:pPr marL="457189" indent="-457189">
              <a:buAutoNum type="alphaLcParenBoth"/>
            </a:pPr>
            <a:r>
              <a:rPr lang="en-US" sz="2400" dirty="0"/>
              <a:t>For all sets A, B, and C, (A − B) ∩ (C − B) = (A ∩ C) − B. </a:t>
            </a:r>
          </a:p>
          <a:p>
            <a:pPr marL="457189" indent="-457189">
              <a:buAutoNum type="alphaLcParenBoth"/>
            </a:pPr>
            <a:r>
              <a:rPr lang="en-US" sz="2400" dirty="0"/>
              <a:t>For all sets A, B, and C, (A − B) ∩ (C − B) = A − (B ∪ C).</a:t>
            </a:r>
          </a:p>
          <a:p>
            <a:pPr marL="457189" indent="-457189">
              <a:buAutoNum type="alphaLcParenBoth"/>
            </a:pPr>
            <a:r>
              <a:rPr lang="en-US" sz="2400" dirty="0"/>
              <a:t>For all sets A, B, and C, if A ∩ C = B ∩ C then A = B. </a:t>
            </a:r>
          </a:p>
          <a:p>
            <a:pPr marL="457189" indent="-457189">
              <a:buAutoNum type="alphaLcParenBoth"/>
            </a:pPr>
            <a:r>
              <a:rPr lang="en-US" sz="2400" dirty="0"/>
              <a:t>For all sets A, B, and C, if A ∪ C = B ∪ C then A = B. </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b</a:t>
            </a: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4</a:t>
            </a:r>
          </a:p>
        </p:txBody>
      </p:sp>
    </p:spTree>
    <p:extLst>
      <p:ext uri="{BB962C8B-B14F-4D97-AF65-F5344CB8AC3E}">
        <p14:creationId xmlns:p14="http://schemas.microsoft.com/office/powerpoint/2010/main" val="34028536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 calcmode="lin" valueType="num">
                                      <p:cBhvr additive="base">
                                        <p:cTn id="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660400" y="1701800"/>
            <a:ext cx="10871200" cy="3416320"/>
          </a:xfrm>
          <a:prstGeom prst="rect">
            <a:avLst/>
          </a:prstGeom>
          <a:noFill/>
        </p:spPr>
        <p:txBody>
          <a:bodyPr wrap="square" rtlCol="0">
            <a:spAutoFit/>
          </a:bodyPr>
          <a:lstStyle/>
          <a:p>
            <a:r>
              <a:rPr lang="en-US" sz="2400" dirty="0"/>
              <a:t>Which of the following statements is FALSE? </a:t>
            </a:r>
          </a:p>
          <a:p>
            <a:endParaRPr lang="en-US" sz="2400" dirty="0"/>
          </a:p>
          <a:p>
            <a:pPr marL="457189" indent="-457189">
              <a:buAutoNum type="alphaLcParenBoth"/>
            </a:pPr>
            <a:r>
              <a:rPr lang="en-US" sz="2400" dirty="0"/>
              <a:t>C − (B ∪ A) = (C − B) − A</a:t>
            </a:r>
          </a:p>
          <a:p>
            <a:pPr marL="457189" indent="-457189">
              <a:buAutoNum type="alphaLcParenBoth"/>
            </a:pPr>
            <a:r>
              <a:rPr lang="en-US" sz="2400" dirty="0"/>
              <a:t>A − (C ∪ B) = (A − B) − C </a:t>
            </a:r>
          </a:p>
          <a:p>
            <a:pPr marL="457189" indent="-457189">
              <a:buAutoNum type="alphaLcParenBoth"/>
            </a:pPr>
            <a:r>
              <a:rPr lang="en-US" sz="2400" dirty="0"/>
              <a:t>B − (A ∪ C) = (B − C) − A </a:t>
            </a:r>
          </a:p>
          <a:p>
            <a:pPr marL="457189" indent="-457189">
              <a:buAutoNum type="alphaLcParenBoth"/>
            </a:pPr>
            <a:r>
              <a:rPr lang="en-US" sz="2400" dirty="0"/>
              <a:t>A − (B ∪ C) = (B − C) − A </a:t>
            </a:r>
          </a:p>
          <a:p>
            <a:pPr marL="457189" indent="-457189">
              <a:buAutoNum type="alphaLcParenBoth"/>
            </a:pPr>
            <a:r>
              <a:rPr lang="en-US" sz="2400" dirty="0"/>
              <a:t>A − (B ∪ C) = (A − C) − B</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d</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5</a:t>
            </a:r>
          </a:p>
        </p:txBody>
      </p:sp>
    </p:spTree>
    <p:extLst>
      <p:ext uri="{BB962C8B-B14F-4D97-AF65-F5344CB8AC3E}">
        <p14:creationId xmlns:p14="http://schemas.microsoft.com/office/powerpoint/2010/main" val="9295197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 calcmode="lin" valueType="num">
                                      <p:cBhvr additive="base">
                                        <p:cTn id="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4">
            <a:extLst>
              <a:ext uri="{FF2B5EF4-FFF2-40B4-BE49-F238E27FC236}">
                <a16:creationId xmlns:a16="http://schemas.microsoft.com/office/drawing/2014/main" id="{9C262B92-17C2-4456-B9D5-B2108D8936B1}"/>
              </a:ext>
            </a:extLst>
          </p:cNvPr>
          <p:cNvSpPr txBox="1">
            <a:spLocks noChangeArrowheads="1"/>
          </p:cNvSpPr>
          <p:nvPr/>
        </p:nvSpPr>
        <p:spPr bwMode="auto">
          <a:xfrm>
            <a:off x="13208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Ordered pairs and Cartesian product</a:t>
            </a:r>
          </a:p>
        </p:txBody>
      </p:sp>
      <p:sp>
        <p:nvSpPr>
          <p:cNvPr id="3" name="Rectangle 2">
            <a:extLst>
              <a:ext uri="{FF2B5EF4-FFF2-40B4-BE49-F238E27FC236}">
                <a16:creationId xmlns:a16="http://schemas.microsoft.com/office/drawing/2014/main" id="{2E933A0B-7330-4DF2-9989-36C4681BFC26}"/>
              </a:ext>
            </a:extLst>
          </p:cNvPr>
          <p:cNvSpPr/>
          <p:nvPr/>
        </p:nvSpPr>
        <p:spPr>
          <a:xfrm>
            <a:off x="1117600" y="1520785"/>
            <a:ext cx="10058400" cy="2677656"/>
          </a:xfrm>
          <a:prstGeom prst="rect">
            <a:avLst/>
          </a:prstGeom>
        </p:spPr>
        <p:txBody>
          <a:bodyPr wrap="square">
            <a:spAutoFit/>
          </a:bodyPr>
          <a:lstStyle/>
          <a:p>
            <a:r>
              <a:rPr lang="en-US" sz="2400" dirty="0"/>
              <a:t>There are many common procedures by which we pair, relate or associate.</a:t>
            </a:r>
          </a:p>
          <a:p>
            <a:r>
              <a:rPr lang="en-US" sz="2400" dirty="0"/>
              <a:t>Members of one or more sets with each other. With a person name, one </a:t>
            </a:r>
          </a:p>
          <a:p>
            <a:r>
              <a:rPr lang="en-US" sz="2400" dirty="0"/>
              <a:t>Can associate his telephone number.</a:t>
            </a:r>
          </a:p>
          <a:p>
            <a:endParaRPr lang="en-US" sz="2400" dirty="0"/>
          </a:p>
          <a:p>
            <a:r>
              <a:rPr lang="en-US" sz="2400" dirty="0"/>
              <a:t>The countries with their capitals can be associated  by means of ordered </a:t>
            </a:r>
          </a:p>
          <a:p>
            <a:r>
              <a:rPr lang="en-US" sz="2400" dirty="0"/>
              <a:t>Pairs, e.g. (India, New Delhi), (England, London), (France, Paris), etc.</a:t>
            </a:r>
            <a:endParaRPr lang="en-IN"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A64EB7-6AB7-4E82-AE9B-371D74F6A8CD}"/>
              </a:ext>
            </a:extLst>
          </p:cNvPr>
          <p:cNvSpPr/>
          <p:nvPr/>
        </p:nvSpPr>
        <p:spPr>
          <a:xfrm>
            <a:off x="1117600" y="2209800"/>
            <a:ext cx="10871200" cy="1938992"/>
          </a:xfrm>
          <a:prstGeom prst="rect">
            <a:avLst/>
          </a:prstGeom>
        </p:spPr>
        <p:txBody>
          <a:bodyPr wrap="square">
            <a:spAutoFit/>
          </a:bodyPr>
          <a:lstStyle/>
          <a:p>
            <a:r>
              <a:rPr lang="en-US" altLang="en-US" sz="2400" dirty="0"/>
              <a:t>		An ordered pair is a pair of objects whose components</a:t>
            </a:r>
          </a:p>
          <a:p>
            <a:r>
              <a:rPr lang="en-US" altLang="en-US" sz="2400" dirty="0"/>
              <a:t>Occur in a special order. It is written by listing the two components in the</a:t>
            </a:r>
          </a:p>
          <a:p>
            <a:r>
              <a:rPr lang="en-US" altLang="en-US" sz="2400" dirty="0"/>
              <a:t>Specified order, separating them by a comma and enclosing the pair in the</a:t>
            </a:r>
          </a:p>
          <a:p>
            <a:r>
              <a:rPr lang="en-US" altLang="en-US" sz="2400" dirty="0"/>
              <a:t>Parenthesis. In the ordered pair (a, b), a is called the first component and </a:t>
            </a:r>
          </a:p>
          <a:p>
            <a:r>
              <a:rPr lang="en-US" altLang="en-US" sz="2400" dirty="0"/>
              <a:t>B is called the second component.</a:t>
            </a:r>
          </a:p>
        </p:txBody>
      </p:sp>
      <p:sp>
        <p:nvSpPr>
          <p:cNvPr id="4" name="TextBox 4">
            <a:extLst>
              <a:ext uri="{FF2B5EF4-FFF2-40B4-BE49-F238E27FC236}">
                <a16:creationId xmlns:a16="http://schemas.microsoft.com/office/drawing/2014/main" id="{F735D8A5-88AD-43A1-AF8C-8B1F139295FD}"/>
              </a:ext>
            </a:extLst>
          </p:cNvPr>
          <p:cNvSpPr txBox="1">
            <a:spLocks noChangeArrowheads="1"/>
          </p:cNvSpPr>
          <p:nvPr/>
        </p:nvSpPr>
        <p:spPr bwMode="auto">
          <a:xfrm>
            <a:off x="13208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Ordered pair</a:t>
            </a:r>
          </a:p>
        </p:txBody>
      </p:sp>
    </p:spTree>
    <p:extLst>
      <p:ext uri="{BB962C8B-B14F-4D97-AF65-F5344CB8AC3E}">
        <p14:creationId xmlns:p14="http://schemas.microsoft.com/office/powerpoint/2010/main" val="30034405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A64EB7-6AB7-4E82-AE9B-371D74F6A8CD}"/>
              </a:ext>
            </a:extLst>
          </p:cNvPr>
          <p:cNvSpPr/>
          <p:nvPr/>
        </p:nvSpPr>
        <p:spPr>
          <a:xfrm>
            <a:off x="1117600" y="2209800"/>
            <a:ext cx="10871200" cy="2677656"/>
          </a:xfrm>
          <a:prstGeom prst="rect">
            <a:avLst/>
          </a:prstGeom>
        </p:spPr>
        <p:txBody>
          <a:bodyPr wrap="square">
            <a:spAutoFit/>
          </a:bodyPr>
          <a:lstStyle/>
          <a:p>
            <a:r>
              <a:rPr lang="en-US" altLang="en-US" sz="2400" dirty="0"/>
              <a:t>Let A and B be two sets. Cartesian product of A and B, Denoted by A X B is defined as:</a:t>
            </a:r>
          </a:p>
          <a:p>
            <a:endParaRPr lang="en-US" altLang="en-US" sz="2400" dirty="0"/>
          </a:p>
          <a:p>
            <a:r>
              <a:rPr lang="en-US" altLang="en-US" sz="2400" dirty="0"/>
              <a:t>		A X B = {(a, b): a </a:t>
            </a:r>
            <a:r>
              <a:rPr lang="el-GR" altLang="en-US" sz="2400" dirty="0"/>
              <a:t>ϵ</a:t>
            </a:r>
            <a:r>
              <a:rPr lang="en-US" altLang="en-US" sz="2400" dirty="0"/>
              <a:t>  A and b </a:t>
            </a:r>
            <a:r>
              <a:rPr lang="el-GR" altLang="en-US" sz="2400" dirty="0"/>
              <a:t>ϵ</a:t>
            </a:r>
            <a:r>
              <a:rPr lang="en-US" altLang="en-US" sz="2400" dirty="0"/>
              <a:t> B}</a:t>
            </a:r>
          </a:p>
          <a:p>
            <a:endParaRPr lang="en-US" altLang="en-US" sz="2400" dirty="0"/>
          </a:p>
          <a:p>
            <a:r>
              <a:rPr lang="en-US" altLang="en-US" sz="2400" dirty="0"/>
              <a:t>That the set A X B is the set of all possible ordered pairs whose first</a:t>
            </a:r>
          </a:p>
          <a:p>
            <a:r>
              <a:rPr lang="en-US" altLang="en-US" sz="2400" dirty="0"/>
              <a:t>Component comes from A and second component comes from B.</a:t>
            </a:r>
          </a:p>
        </p:txBody>
      </p:sp>
      <p:sp>
        <p:nvSpPr>
          <p:cNvPr id="4" name="TextBox 4">
            <a:extLst>
              <a:ext uri="{FF2B5EF4-FFF2-40B4-BE49-F238E27FC236}">
                <a16:creationId xmlns:a16="http://schemas.microsoft.com/office/drawing/2014/main" id="{F735D8A5-88AD-43A1-AF8C-8B1F139295FD}"/>
              </a:ext>
            </a:extLst>
          </p:cNvPr>
          <p:cNvSpPr txBox="1">
            <a:spLocks noChangeArrowheads="1"/>
          </p:cNvSpPr>
          <p:nvPr/>
        </p:nvSpPr>
        <p:spPr bwMode="auto">
          <a:xfrm>
            <a:off x="13208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Cartesian Product</a:t>
            </a:r>
          </a:p>
        </p:txBody>
      </p:sp>
    </p:spTree>
    <p:extLst>
      <p:ext uri="{BB962C8B-B14F-4D97-AF65-F5344CB8AC3E}">
        <p14:creationId xmlns:p14="http://schemas.microsoft.com/office/powerpoint/2010/main" val="40777002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Box 1">
            <a:extLst>
              <a:ext uri="{FF2B5EF4-FFF2-40B4-BE49-F238E27FC236}">
                <a16:creationId xmlns:a16="http://schemas.microsoft.com/office/drawing/2014/main" id="{B398CE3D-E036-4388-AA22-609C9CF89AFA}"/>
              </a:ext>
            </a:extLst>
          </p:cNvPr>
          <p:cNvSpPr txBox="1">
            <a:spLocks noChangeArrowheads="1"/>
          </p:cNvSpPr>
          <p:nvPr/>
        </p:nvSpPr>
        <p:spPr bwMode="auto">
          <a:xfrm>
            <a:off x="2438400" y="1066802"/>
            <a:ext cx="750744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If A and B are sets and every element of A is also an element of B, then:</a:t>
            </a:r>
          </a:p>
          <a:p>
            <a:pPr eaLnBrk="1" hangingPunct="1"/>
            <a:endParaRPr lang="en-US" altLang="en-US" dirty="0"/>
          </a:p>
          <a:p>
            <a:pPr eaLnBrk="1" hangingPunct="1"/>
            <a:r>
              <a:rPr lang="en-US" altLang="en-US" dirty="0"/>
              <a:t>A is a subset of (or is included in) B, denoted by                  ,</a:t>
            </a:r>
          </a:p>
          <a:p>
            <a:pPr eaLnBrk="1" hangingPunct="1"/>
            <a:r>
              <a:rPr lang="en-US" altLang="en-US" dirty="0"/>
              <a:t>or equivalently </a:t>
            </a:r>
          </a:p>
          <a:p>
            <a:pPr eaLnBrk="1" hangingPunct="1"/>
            <a:r>
              <a:rPr lang="en-US" altLang="en-US" dirty="0"/>
              <a:t>B is a superset of (or includes) A, denoted by </a:t>
            </a:r>
          </a:p>
          <a:p>
            <a:pPr eaLnBrk="1" hangingPunct="1"/>
            <a:endParaRPr lang="en-US" altLang="en-US" dirty="0"/>
          </a:p>
          <a:p>
            <a:pPr eaLnBrk="1" hangingPunct="1"/>
            <a:r>
              <a:rPr lang="en-US" altLang="en-US" dirty="0"/>
              <a:t>If </a:t>
            </a:r>
            <a:r>
              <a:rPr lang="en-US" altLang="en-US" i="1" dirty="0"/>
              <a:t>A</a:t>
            </a:r>
            <a:r>
              <a:rPr lang="en-US" altLang="en-US" dirty="0"/>
              <a:t> is a subset of </a:t>
            </a:r>
            <a:r>
              <a:rPr lang="en-US" altLang="en-US" i="1" dirty="0"/>
              <a:t>B</a:t>
            </a:r>
            <a:r>
              <a:rPr lang="en-US" altLang="en-US" dirty="0"/>
              <a:t>, but </a:t>
            </a:r>
            <a:r>
              <a:rPr lang="en-US" altLang="en-US" i="1" dirty="0"/>
              <a:t>A</a:t>
            </a:r>
            <a:r>
              <a:rPr lang="en-US" altLang="en-US" dirty="0"/>
              <a:t> is not equal to </a:t>
            </a:r>
            <a:r>
              <a:rPr lang="en-US" altLang="en-US" i="1" dirty="0"/>
              <a:t>B</a:t>
            </a:r>
            <a:r>
              <a:rPr lang="en-US" altLang="en-US" dirty="0"/>
              <a:t> (i.e. there exists at least one</a:t>
            </a:r>
          </a:p>
          <a:p>
            <a:pPr eaLnBrk="1" hangingPunct="1"/>
            <a:r>
              <a:rPr lang="en-US" altLang="en-US" dirty="0"/>
              <a:t> element of B not contained in </a:t>
            </a:r>
            <a:r>
              <a:rPr lang="en-US" altLang="en-US" i="1" dirty="0"/>
              <a:t>A</a:t>
            </a:r>
            <a:r>
              <a:rPr lang="en-US" altLang="en-US" dirty="0"/>
              <a:t>), then</a:t>
            </a:r>
          </a:p>
          <a:p>
            <a:pPr eaLnBrk="1" hangingPunct="1"/>
            <a:r>
              <a:rPr lang="en-US" altLang="en-US" i="1" dirty="0"/>
              <a:t>A</a:t>
            </a:r>
            <a:r>
              <a:rPr lang="en-US" altLang="en-US" dirty="0"/>
              <a:t> is also a </a:t>
            </a:r>
            <a:r>
              <a:rPr lang="en-US" altLang="en-US" b="1" dirty="0"/>
              <a:t>proper</a:t>
            </a:r>
            <a:r>
              <a:rPr lang="en-US" altLang="en-US" dirty="0"/>
              <a:t> (or </a:t>
            </a:r>
            <a:r>
              <a:rPr lang="en-US" altLang="en-US" b="1" dirty="0"/>
              <a:t>strict</a:t>
            </a:r>
            <a:r>
              <a:rPr lang="en-US" altLang="en-US" dirty="0"/>
              <a:t>) subset of </a:t>
            </a:r>
            <a:r>
              <a:rPr lang="en-US" altLang="en-US" i="1" dirty="0"/>
              <a:t>B</a:t>
            </a:r>
            <a:r>
              <a:rPr lang="en-US" altLang="en-US" dirty="0"/>
              <a:t>; this is written as </a:t>
            </a:r>
          </a:p>
          <a:p>
            <a:pPr eaLnBrk="1" hangingPunct="1"/>
            <a:r>
              <a:rPr lang="en-US" altLang="en-US" dirty="0"/>
              <a:t>or equivalently </a:t>
            </a:r>
          </a:p>
          <a:p>
            <a:pPr eaLnBrk="1" hangingPunct="1"/>
            <a:r>
              <a:rPr lang="en-US" altLang="en-US" i="1" dirty="0"/>
              <a:t>B</a:t>
            </a:r>
            <a:r>
              <a:rPr lang="en-US" altLang="en-US" dirty="0"/>
              <a:t> is a proper superset of </a:t>
            </a:r>
            <a:r>
              <a:rPr lang="en-US" altLang="en-US" i="1" dirty="0"/>
              <a:t>A</a:t>
            </a:r>
            <a:r>
              <a:rPr lang="en-US" altLang="en-US" dirty="0"/>
              <a:t>; this is written as </a:t>
            </a:r>
          </a:p>
          <a:p>
            <a:pPr eaLnBrk="1" hangingPunct="1"/>
            <a:r>
              <a:rPr lang="en-US" altLang="en-US" dirty="0"/>
              <a:t> </a:t>
            </a:r>
          </a:p>
        </p:txBody>
      </p:sp>
      <p:pic>
        <p:nvPicPr>
          <p:cNvPr id="19459" name="Picture 2" descr="A \subseteq B">
            <a:extLst>
              <a:ext uri="{FF2B5EF4-FFF2-40B4-BE49-F238E27FC236}">
                <a16:creationId xmlns:a16="http://schemas.microsoft.com/office/drawing/2014/main" id="{B7FB75DA-A76D-4753-90DC-E2486B241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1676400"/>
            <a:ext cx="838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Rectangle 1">
            <a:extLst>
              <a:ext uri="{FF2B5EF4-FFF2-40B4-BE49-F238E27FC236}">
                <a16:creationId xmlns:a16="http://schemas.microsoft.com/office/drawing/2014/main" id="{8B55BAD9-4037-40DC-ADE8-5463180824DC}"/>
              </a:ext>
            </a:extLst>
          </p:cNvPr>
          <p:cNvSpPr>
            <a:spLocks noChangeArrowheads="1"/>
          </p:cNvSpPr>
          <p:nvPr/>
        </p:nvSpPr>
        <p:spPr bwMode="auto">
          <a:xfrm>
            <a:off x="1524000" y="-276999"/>
            <a:ext cx="2564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5392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a:p>
            <a:endParaRPr lang="en-US" altLang="en-US"/>
          </a:p>
        </p:txBody>
      </p:sp>
      <p:pic>
        <p:nvPicPr>
          <p:cNvPr id="19461" name="Picture 5" descr="B \supseteq A.">
            <a:extLst>
              <a:ext uri="{FF2B5EF4-FFF2-40B4-BE49-F238E27FC236}">
                <a16:creationId xmlns:a16="http://schemas.microsoft.com/office/drawing/2014/main" id="{6C58310F-44C2-4FC1-9A2A-5794D88C16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1" y="2286000"/>
            <a:ext cx="971551"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6" descr="A\subsetneq B.">
            <a:extLst>
              <a:ext uri="{FF2B5EF4-FFF2-40B4-BE49-F238E27FC236}">
                <a16:creationId xmlns:a16="http://schemas.microsoft.com/office/drawing/2014/main" id="{00CDCFBA-2444-44C5-8415-0A0C09244B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8200" y="3352802"/>
            <a:ext cx="8382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7" descr="B\supsetneq A.">
            <a:extLst>
              <a:ext uri="{FF2B5EF4-FFF2-40B4-BE49-F238E27FC236}">
                <a16:creationId xmlns:a16="http://schemas.microsoft.com/office/drawing/2014/main" id="{E652B7EC-68E7-4E96-83FF-E06031CCBB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1" y="3886202"/>
            <a:ext cx="819151"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EA99BF-ECDF-4B3C-AA08-CC771BB0B9A9}"/>
              </a:ext>
            </a:extLst>
          </p:cNvPr>
          <p:cNvSpPr txBox="1">
            <a:spLocks noChangeArrowheads="1"/>
          </p:cNvSpPr>
          <p:nvPr/>
        </p:nvSpPr>
        <p:spPr bwMode="auto">
          <a:xfrm>
            <a:off x="2540000" y="1600201"/>
            <a:ext cx="81280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If A and B are sets and every element of A is also an element of B, then:</a:t>
            </a:r>
          </a:p>
          <a:p>
            <a:pPr eaLnBrk="1" hangingPunct="1"/>
            <a:endParaRPr lang="en-US" altLang="en-US" dirty="0"/>
          </a:p>
          <a:p>
            <a:pPr eaLnBrk="1" hangingPunct="1"/>
            <a:r>
              <a:rPr lang="en-US" altLang="en-US" dirty="0"/>
              <a:t>A is a subset of (or is included in) B, denoted by                  ,</a:t>
            </a:r>
          </a:p>
          <a:p>
            <a:pPr eaLnBrk="1" hangingPunct="1"/>
            <a:r>
              <a:rPr lang="en-US" altLang="en-US" dirty="0"/>
              <a:t>or equivalently </a:t>
            </a:r>
          </a:p>
          <a:p>
            <a:pPr eaLnBrk="1" hangingPunct="1"/>
            <a:r>
              <a:rPr lang="en-US" altLang="en-US" dirty="0"/>
              <a:t>B is a superset of (or includes) A, denoted by </a:t>
            </a:r>
          </a:p>
          <a:p>
            <a:pPr eaLnBrk="1" hangingPunct="1"/>
            <a:endParaRPr lang="en-US" altLang="en-US" dirty="0"/>
          </a:p>
          <a:p>
            <a:pPr eaLnBrk="1" hangingPunct="1"/>
            <a:r>
              <a:rPr lang="en-US" altLang="en-US" dirty="0"/>
              <a:t>If </a:t>
            </a:r>
            <a:r>
              <a:rPr lang="en-US" altLang="en-US" i="1" dirty="0"/>
              <a:t>A</a:t>
            </a:r>
            <a:r>
              <a:rPr lang="en-US" altLang="en-US" dirty="0"/>
              <a:t> is a subset of </a:t>
            </a:r>
            <a:r>
              <a:rPr lang="en-US" altLang="en-US" i="1" dirty="0"/>
              <a:t>B</a:t>
            </a:r>
            <a:r>
              <a:rPr lang="en-US" altLang="en-US" dirty="0"/>
              <a:t>, but </a:t>
            </a:r>
            <a:r>
              <a:rPr lang="en-US" altLang="en-US" i="1" dirty="0"/>
              <a:t>A</a:t>
            </a:r>
            <a:r>
              <a:rPr lang="en-US" altLang="en-US" dirty="0"/>
              <a:t> is not equal to </a:t>
            </a:r>
            <a:r>
              <a:rPr lang="en-US" altLang="en-US" i="1" dirty="0"/>
              <a:t>B</a:t>
            </a:r>
            <a:r>
              <a:rPr lang="en-US" altLang="en-US" dirty="0"/>
              <a:t> (i.e. there exists at least one</a:t>
            </a:r>
          </a:p>
          <a:p>
            <a:pPr eaLnBrk="1" hangingPunct="1"/>
            <a:r>
              <a:rPr lang="en-US" altLang="en-US" dirty="0"/>
              <a:t> element of B not contained in </a:t>
            </a:r>
            <a:r>
              <a:rPr lang="en-US" altLang="en-US" i="1" dirty="0"/>
              <a:t>A</a:t>
            </a:r>
            <a:r>
              <a:rPr lang="en-US" altLang="en-US" dirty="0"/>
              <a:t>), then</a:t>
            </a:r>
          </a:p>
          <a:p>
            <a:pPr eaLnBrk="1" hangingPunct="1"/>
            <a:r>
              <a:rPr lang="en-US" altLang="en-US" i="1" dirty="0"/>
              <a:t>A</a:t>
            </a:r>
            <a:r>
              <a:rPr lang="en-US" altLang="en-US" dirty="0"/>
              <a:t> is also a </a:t>
            </a:r>
            <a:r>
              <a:rPr lang="en-US" altLang="en-US" b="1" dirty="0"/>
              <a:t>proper</a:t>
            </a:r>
            <a:r>
              <a:rPr lang="en-US" altLang="en-US" dirty="0"/>
              <a:t> (or </a:t>
            </a:r>
            <a:r>
              <a:rPr lang="en-US" altLang="en-US" b="1" dirty="0"/>
              <a:t>strict</a:t>
            </a:r>
            <a:r>
              <a:rPr lang="en-US" altLang="en-US" dirty="0"/>
              <a:t>) subset of </a:t>
            </a:r>
            <a:r>
              <a:rPr lang="en-US" altLang="en-US" i="1" dirty="0"/>
              <a:t>B</a:t>
            </a:r>
            <a:r>
              <a:rPr lang="en-US" altLang="en-US" dirty="0"/>
              <a:t>; this is written as </a:t>
            </a:r>
          </a:p>
          <a:p>
            <a:pPr eaLnBrk="1" hangingPunct="1"/>
            <a:r>
              <a:rPr lang="en-US" altLang="en-US" dirty="0"/>
              <a:t>or equivalently </a:t>
            </a:r>
          </a:p>
          <a:p>
            <a:pPr eaLnBrk="1" hangingPunct="1"/>
            <a:r>
              <a:rPr lang="en-US" altLang="en-US" i="1" dirty="0"/>
              <a:t>B</a:t>
            </a:r>
            <a:r>
              <a:rPr lang="en-US" altLang="en-US" dirty="0"/>
              <a:t> is a proper superset of </a:t>
            </a:r>
            <a:r>
              <a:rPr lang="en-US" altLang="en-US" i="1" dirty="0"/>
              <a:t>A</a:t>
            </a:r>
            <a:r>
              <a:rPr lang="en-US" altLang="en-US" dirty="0"/>
              <a:t>; this is written as </a:t>
            </a:r>
          </a:p>
          <a:p>
            <a:pPr eaLnBrk="1" hangingPunct="1"/>
            <a:r>
              <a:rPr lang="en-US" altLang="en-US" dirty="0"/>
              <a:t> </a:t>
            </a:r>
          </a:p>
        </p:txBody>
      </p:sp>
    </p:spTree>
    <p:extLst>
      <p:ext uri="{BB962C8B-B14F-4D97-AF65-F5344CB8AC3E}">
        <p14:creationId xmlns:p14="http://schemas.microsoft.com/office/powerpoint/2010/main" val="10703171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881F4F-FEB1-4782-9AEB-463208F5F030}"/>
              </a:ext>
            </a:extLst>
          </p:cNvPr>
          <p:cNvSpPr txBox="1">
            <a:spLocks noChangeArrowheads="1"/>
          </p:cNvSpPr>
          <p:nvPr/>
        </p:nvSpPr>
        <p:spPr bwMode="auto">
          <a:xfrm>
            <a:off x="2819401" y="1845734"/>
            <a:ext cx="5531001"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t>If A = {a, b} and B = {1, 2}, Then</a:t>
            </a:r>
          </a:p>
          <a:p>
            <a:pPr eaLnBrk="1" hangingPunct="1"/>
            <a:endParaRPr lang="en-US" altLang="en-US" sz="2400" dirty="0"/>
          </a:p>
          <a:p>
            <a:pPr eaLnBrk="1" hangingPunct="1"/>
            <a:r>
              <a:rPr lang="en-US" altLang="en-US" sz="2400" dirty="0"/>
              <a:t>A X B = {(a, 1), (a, 2), (b, 1), (b, 2)}</a:t>
            </a:r>
          </a:p>
          <a:p>
            <a:pPr eaLnBrk="1" hangingPunct="1"/>
            <a:endParaRPr lang="en-US" altLang="en-US" sz="2400" dirty="0"/>
          </a:p>
          <a:p>
            <a:pPr eaLnBrk="1" hangingPunct="1"/>
            <a:r>
              <a:rPr lang="en-US" altLang="en-US" sz="2400" dirty="0"/>
              <a:t>B X A = {(1, a), (1, b), (2, a), (2, b)}</a:t>
            </a:r>
          </a:p>
          <a:p>
            <a:pPr eaLnBrk="1" hangingPunct="1"/>
            <a:endParaRPr lang="en-US" altLang="en-US" sz="2400" dirty="0"/>
          </a:p>
          <a:p>
            <a:pPr eaLnBrk="1" hangingPunct="1"/>
            <a:r>
              <a:rPr lang="en-US" altLang="en-US" sz="2400" dirty="0"/>
              <a:t>A X A = {(a, a), (a, b), (b, a), (b, b)}</a:t>
            </a:r>
          </a:p>
          <a:p>
            <a:pPr eaLnBrk="1" hangingPunct="1"/>
            <a:endParaRPr lang="en-US" altLang="en-US" sz="2400" dirty="0"/>
          </a:p>
          <a:p>
            <a:pPr eaLnBrk="1" hangingPunct="1"/>
            <a:r>
              <a:rPr lang="en-US" altLang="en-US" sz="2400" dirty="0"/>
              <a:t>B X B = { (1, 1), (1, 2), (2, 1), (2, 2)}</a:t>
            </a:r>
          </a:p>
          <a:p>
            <a:pPr eaLnBrk="1" hangingPunct="1"/>
            <a:endParaRPr lang="en-US" altLang="en-US" sz="2400" dirty="0"/>
          </a:p>
          <a:p>
            <a:pPr eaLnBrk="1" hangingPunct="1"/>
            <a:endParaRPr lang="en-US" altLang="en-US" sz="2400" dirty="0"/>
          </a:p>
          <a:p>
            <a:pPr eaLnBrk="1" hangingPunct="1"/>
            <a:r>
              <a:rPr lang="en-US" altLang="en-US" sz="2400" dirty="0"/>
              <a:t>The cartesian product  A X B  ≠    B X A</a:t>
            </a:r>
          </a:p>
        </p:txBody>
      </p:sp>
      <p:sp>
        <p:nvSpPr>
          <p:cNvPr id="3" name="Rectangle 2">
            <a:extLst>
              <a:ext uri="{FF2B5EF4-FFF2-40B4-BE49-F238E27FC236}">
                <a16:creationId xmlns:a16="http://schemas.microsoft.com/office/drawing/2014/main" id="{75C490C6-87F3-426B-A1F6-E9D825BB9F39}"/>
              </a:ext>
            </a:extLst>
          </p:cNvPr>
          <p:cNvSpPr/>
          <p:nvPr/>
        </p:nvSpPr>
        <p:spPr>
          <a:xfrm>
            <a:off x="4889111" y="210953"/>
            <a:ext cx="13734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en-US" sz="2400" dirty="0">
                <a:solidFill>
                  <a:srgbClr val="C00000"/>
                </a:solidFill>
                <a:latin typeface="Calibri" panose="020F0502020204030204" pitchFamily="34" charset="0"/>
              </a:rPr>
              <a:t>Example </a:t>
            </a:r>
            <a:endParaRPr lang="en-IN" sz="2400" dirty="0">
              <a:solidFill>
                <a:srgbClr val="C00000"/>
              </a:solidFill>
              <a:latin typeface="Calibri" panose="020F0502020204030204" pitchFamily="34" charset="0"/>
            </a:endParaRPr>
          </a:p>
        </p:txBody>
      </p:sp>
    </p:spTree>
    <p:extLst>
      <p:ext uri="{BB962C8B-B14F-4D97-AF65-F5344CB8AC3E}">
        <p14:creationId xmlns:p14="http://schemas.microsoft.com/office/powerpoint/2010/main" val="40666541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86E359-79E4-4059-826D-C76AA1897AD3}"/>
              </a:ext>
            </a:extLst>
          </p:cNvPr>
          <p:cNvSpPr txBox="1"/>
          <p:nvPr/>
        </p:nvSpPr>
        <p:spPr>
          <a:xfrm>
            <a:off x="2262717" y="1909233"/>
            <a:ext cx="6303008" cy="3785652"/>
          </a:xfrm>
          <a:prstGeom prst="rect">
            <a:avLst/>
          </a:prstGeom>
          <a:noFill/>
        </p:spPr>
        <p:txBody>
          <a:bodyPr wrap="none">
            <a:spAutoFit/>
          </a:bodyPr>
          <a:lstStyle/>
          <a:p>
            <a:pPr>
              <a:defRPr/>
            </a:pPr>
            <a:endParaRPr lang="en-US" sz="2400" dirty="0">
              <a:latin typeface="Arial" charset="0"/>
            </a:endParaRPr>
          </a:p>
          <a:p>
            <a:pPr>
              <a:defRPr/>
            </a:pPr>
            <a:r>
              <a:rPr lang="en-US" sz="2400" dirty="0">
                <a:latin typeface="Arial" charset="0"/>
              </a:rPr>
              <a:t>1.	(A ⋂ B) X (C ⋂ D) = (A X C) ⋂ (B X D)</a:t>
            </a:r>
          </a:p>
          <a:p>
            <a:pPr>
              <a:defRPr/>
            </a:pPr>
            <a:endParaRPr lang="en-US" sz="2400" dirty="0">
              <a:latin typeface="Arial" charset="0"/>
            </a:endParaRPr>
          </a:p>
          <a:p>
            <a:pPr marL="457189" indent="-457189">
              <a:buFontTx/>
              <a:buAutoNum type="arabicPeriod" startAt="2"/>
              <a:defRPr/>
            </a:pPr>
            <a:r>
              <a:rPr lang="en-US" sz="2400" dirty="0">
                <a:latin typeface="Arial" charset="0"/>
              </a:rPr>
              <a:t>         (A – B) X C = (A X C ) – (B X C)</a:t>
            </a:r>
          </a:p>
          <a:p>
            <a:pPr marL="457189" indent="-457189">
              <a:buFontTx/>
              <a:buAutoNum type="arabicPeriod" startAt="2"/>
              <a:defRPr/>
            </a:pPr>
            <a:endParaRPr lang="en-US" sz="2400" dirty="0">
              <a:latin typeface="Arial" charset="0"/>
            </a:endParaRPr>
          </a:p>
          <a:p>
            <a:pPr marL="457189" indent="-457189">
              <a:buFontTx/>
              <a:buAutoNum type="arabicPeriod" startAt="2"/>
              <a:defRPr/>
            </a:pPr>
            <a:r>
              <a:rPr lang="en-US" sz="2400" dirty="0">
                <a:latin typeface="Arial" charset="0"/>
              </a:rPr>
              <a:t>         (A U B ) X C = (A X C) U (B X C)</a:t>
            </a:r>
          </a:p>
          <a:p>
            <a:pPr marL="457189" indent="-457189">
              <a:buFontTx/>
              <a:buAutoNum type="arabicPeriod" startAt="2"/>
              <a:defRPr/>
            </a:pPr>
            <a:endParaRPr lang="en-US" sz="2400" dirty="0">
              <a:latin typeface="Arial" charset="0"/>
            </a:endParaRPr>
          </a:p>
          <a:p>
            <a:pPr marL="457189" indent="-457189">
              <a:buFontTx/>
              <a:buAutoNum type="arabicPeriod" startAt="2"/>
              <a:defRPr/>
            </a:pPr>
            <a:r>
              <a:rPr lang="en-US" sz="2400" dirty="0">
                <a:latin typeface="Arial" charset="0"/>
              </a:rPr>
              <a:t>         A X ( B ⋂ C) = (A X B ) ⋂ (A X C)</a:t>
            </a:r>
          </a:p>
          <a:p>
            <a:pPr marL="457189" indent="-457189">
              <a:buFontTx/>
              <a:buAutoNum type="arabicPeriod" startAt="2"/>
              <a:defRPr/>
            </a:pPr>
            <a:endParaRPr lang="en-US" sz="2400" dirty="0">
              <a:latin typeface="Arial" charset="0"/>
            </a:endParaRPr>
          </a:p>
          <a:p>
            <a:pPr marL="457189" indent="-457189">
              <a:buFontTx/>
              <a:buAutoNum type="arabicPeriod" startAt="2"/>
              <a:defRPr/>
            </a:pPr>
            <a:endParaRPr lang="en-US" sz="2400" dirty="0">
              <a:latin typeface="Arial" charset="0"/>
            </a:endParaRPr>
          </a:p>
        </p:txBody>
      </p:sp>
      <p:sp>
        <p:nvSpPr>
          <p:cNvPr id="3" name="Rectangle 2">
            <a:extLst>
              <a:ext uri="{FF2B5EF4-FFF2-40B4-BE49-F238E27FC236}">
                <a16:creationId xmlns:a16="http://schemas.microsoft.com/office/drawing/2014/main" id="{62A6A2CF-A7E8-4472-A4F7-6D1E4598E7BA}"/>
              </a:ext>
            </a:extLst>
          </p:cNvPr>
          <p:cNvSpPr/>
          <p:nvPr/>
        </p:nvSpPr>
        <p:spPr>
          <a:xfrm>
            <a:off x="3759200" y="279401"/>
            <a:ext cx="45208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400" dirty="0">
                <a:solidFill>
                  <a:srgbClr val="C00000"/>
                </a:solidFill>
                <a:latin typeface="Calibri" panose="020F0502020204030204" pitchFamily="34" charset="0"/>
              </a:rPr>
              <a:t>Properties of cartesian product</a:t>
            </a:r>
          </a:p>
        </p:txBody>
      </p:sp>
    </p:spTree>
    <p:extLst>
      <p:ext uri="{BB962C8B-B14F-4D97-AF65-F5344CB8AC3E}">
        <p14:creationId xmlns:p14="http://schemas.microsoft.com/office/powerpoint/2010/main" val="11587479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Box 1">
            <a:extLst>
              <a:ext uri="{FF2B5EF4-FFF2-40B4-BE49-F238E27FC236}">
                <a16:creationId xmlns:a16="http://schemas.microsoft.com/office/drawing/2014/main" id="{CE824339-0A50-4A79-85E8-A3B04CFB67D8}"/>
              </a:ext>
            </a:extLst>
          </p:cNvPr>
          <p:cNvSpPr txBox="1">
            <a:spLocks noChangeArrowheads="1"/>
          </p:cNvSpPr>
          <p:nvPr/>
        </p:nvSpPr>
        <p:spPr bwMode="auto">
          <a:xfrm>
            <a:off x="2362200" y="990600"/>
            <a:ext cx="6737998"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Proof:              A X ( B ⋂ C) = (A X B ) ⋂ (A X C)</a:t>
            </a:r>
          </a:p>
          <a:p>
            <a:pPr eaLnBrk="1" hangingPunct="1"/>
            <a:endParaRPr lang="en-US" altLang="en-US"/>
          </a:p>
          <a:p>
            <a:pPr eaLnBrk="1" hangingPunct="1"/>
            <a:r>
              <a:rPr lang="en-US" altLang="en-US"/>
              <a:t>Let (x, y) be any element of A X ( B ⋂ C). Then</a:t>
            </a:r>
          </a:p>
          <a:p>
            <a:pPr eaLnBrk="1" hangingPunct="1"/>
            <a:endParaRPr lang="en-US" altLang="en-US"/>
          </a:p>
          <a:p>
            <a:pPr eaLnBrk="1" hangingPunct="1"/>
            <a:r>
              <a:rPr lang="en-US" altLang="en-US"/>
              <a:t>(x, y) </a:t>
            </a:r>
            <a:r>
              <a:rPr lang="el-GR" altLang="en-US"/>
              <a:t>ϵ</a:t>
            </a:r>
            <a:r>
              <a:rPr lang="en-US" altLang="en-US"/>
              <a:t>  A X ( B ⋂ C)         x </a:t>
            </a:r>
            <a:r>
              <a:rPr lang="el-GR" altLang="en-US"/>
              <a:t>ϵ</a:t>
            </a:r>
            <a:r>
              <a:rPr lang="en-US" altLang="en-US"/>
              <a:t> A and y </a:t>
            </a:r>
            <a:r>
              <a:rPr lang="el-GR" altLang="en-US"/>
              <a:t>ϵ</a:t>
            </a:r>
            <a:r>
              <a:rPr lang="en-US" altLang="en-US"/>
              <a:t> (B ⋂ C)</a:t>
            </a:r>
          </a:p>
          <a:p>
            <a:pPr eaLnBrk="1" hangingPunct="1"/>
            <a:r>
              <a:rPr lang="en-US" altLang="en-US"/>
              <a:t>		     </a:t>
            </a:r>
          </a:p>
          <a:p>
            <a:pPr eaLnBrk="1" hangingPunct="1"/>
            <a:r>
              <a:rPr lang="en-US" altLang="en-US"/>
              <a:t>		             x </a:t>
            </a:r>
            <a:r>
              <a:rPr lang="el-GR" altLang="en-US"/>
              <a:t>ϵ</a:t>
            </a:r>
            <a:r>
              <a:rPr lang="en-US" altLang="en-US"/>
              <a:t> A and (y </a:t>
            </a:r>
            <a:r>
              <a:rPr lang="el-GR" altLang="en-US"/>
              <a:t>ϵ</a:t>
            </a:r>
            <a:r>
              <a:rPr lang="en-US" altLang="en-US"/>
              <a:t> B and y </a:t>
            </a:r>
            <a:r>
              <a:rPr lang="el-GR" altLang="en-US"/>
              <a:t>ϵ</a:t>
            </a:r>
            <a:r>
              <a:rPr lang="en-US" altLang="en-US"/>
              <a:t> C)</a:t>
            </a:r>
          </a:p>
          <a:p>
            <a:pPr eaLnBrk="1" hangingPunct="1"/>
            <a:endParaRPr lang="en-US" altLang="en-US"/>
          </a:p>
          <a:p>
            <a:pPr eaLnBrk="1" hangingPunct="1"/>
            <a:r>
              <a:rPr lang="en-US" altLang="en-US"/>
              <a:t>		             (x </a:t>
            </a:r>
            <a:r>
              <a:rPr lang="el-GR" altLang="en-US"/>
              <a:t>ϵ</a:t>
            </a:r>
            <a:r>
              <a:rPr lang="en-US" altLang="en-US"/>
              <a:t> A and y </a:t>
            </a:r>
            <a:r>
              <a:rPr lang="el-GR" altLang="en-US"/>
              <a:t>ϵ</a:t>
            </a:r>
            <a:r>
              <a:rPr lang="en-US" altLang="en-US"/>
              <a:t> B) and (x </a:t>
            </a:r>
            <a:r>
              <a:rPr lang="el-GR" altLang="en-US"/>
              <a:t>ϵ</a:t>
            </a:r>
            <a:r>
              <a:rPr lang="en-US" altLang="en-US"/>
              <a:t> A  and y </a:t>
            </a:r>
            <a:r>
              <a:rPr lang="el-GR" altLang="en-US"/>
              <a:t>ϵ</a:t>
            </a:r>
            <a:r>
              <a:rPr lang="en-US" altLang="en-US"/>
              <a:t> C)</a:t>
            </a:r>
          </a:p>
          <a:p>
            <a:pPr eaLnBrk="1" hangingPunct="1"/>
            <a:endParaRPr lang="en-US" altLang="en-US"/>
          </a:p>
          <a:p>
            <a:pPr eaLnBrk="1" hangingPunct="1"/>
            <a:r>
              <a:rPr lang="en-US" altLang="en-US"/>
              <a:t>		            (x, y) </a:t>
            </a:r>
            <a:r>
              <a:rPr lang="el-GR" altLang="en-US"/>
              <a:t>ϵ</a:t>
            </a:r>
            <a:r>
              <a:rPr lang="en-US" altLang="en-US"/>
              <a:t> (A X B ) and  (A X C)</a:t>
            </a:r>
          </a:p>
          <a:p>
            <a:pPr eaLnBrk="1" hangingPunct="1"/>
            <a:endParaRPr lang="en-US" altLang="en-US"/>
          </a:p>
          <a:p>
            <a:pPr eaLnBrk="1" hangingPunct="1"/>
            <a:r>
              <a:rPr lang="en-US" altLang="en-US"/>
              <a:t>		            (x, y) </a:t>
            </a:r>
            <a:r>
              <a:rPr lang="el-GR" altLang="en-US"/>
              <a:t>ϵ</a:t>
            </a:r>
            <a:r>
              <a:rPr lang="en-US" altLang="en-US"/>
              <a:t> (A X B ) ⋂ (A X C)</a:t>
            </a:r>
          </a:p>
          <a:p>
            <a:pPr eaLnBrk="1" hangingPunct="1"/>
            <a:endParaRPr lang="en-US" altLang="en-US"/>
          </a:p>
          <a:p>
            <a:pPr eaLnBrk="1" hangingPunct="1"/>
            <a:r>
              <a:rPr lang="en-US" altLang="en-US"/>
              <a:t>Thus</a:t>
            </a:r>
          </a:p>
          <a:p>
            <a:pPr eaLnBrk="1" hangingPunct="1"/>
            <a:endParaRPr lang="en-US" altLang="en-US"/>
          </a:p>
          <a:p>
            <a:pPr eaLnBrk="1" hangingPunct="1"/>
            <a:r>
              <a:rPr lang="en-US" altLang="en-US"/>
              <a:t>		 A X ( B ⋂ C)               (A X B ) ⋂ (A X C)     (i)</a:t>
            </a:r>
          </a:p>
        </p:txBody>
      </p:sp>
      <p:graphicFrame>
        <p:nvGraphicFramePr>
          <p:cNvPr id="55300" name="Object 4">
            <a:extLst>
              <a:ext uri="{FF2B5EF4-FFF2-40B4-BE49-F238E27FC236}">
                <a16:creationId xmlns:a16="http://schemas.microsoft.com/office/drawing/2014/main" id="{3C9AE521-152F-4D32-9DBA-5BCC7922DCFE}"/>
              </a:ext>
            </a:extLst>
          </p:cNvPr>
          <p:cNvGraphicFramePr>
            <a:graphicFrameLocks noChangeAspect="1"/>
          </p:cNvGraphicFramePr>
          <p:nvPr/>
        </p:nvGraphicFramePr>
        <p:xfrm>
          <a:off x="4572000" y="2133600"/>
          <a:ext cx="476251" cy="381000"/>
        </p:xfrm>
        <a:graphic>
          <a:graphicData uri="http://schemas.openxmlformats.org/presentationml/2006/ole">
            <mc:AlternateContent xmlns:mc="http://schemas.openxmlformats.org/markup-compatibility/2006">
              <mc:Choice xmlns:v="urn:schemas-microsoft-com:vml" Requires="v">
                <p:oleObj name="Equation" r:id="rId2" imgW="190440" imgH="152280" progId="Equation.3">
                  <p:embed/>
                </p:oleObj>
              </mc:Choice>
              <mc:Fallback>
                <p:oleObj name="Equation" r:id="rId2" imgW="190440" imgH="152280" progId="Equation.3">
                  <p:embed/>
                  <p:pic>
                    <p:nvPicPr>
                      <p:cNvPr id="55300" name="Object 4">
                        <a:extLst>
                          <a:ext uri="{FF2B5EF4-FFF2-40B4-BE49-F238E27FC236}">
                            <a16:creationId xmlns:a16="http://schemas.microsoft.com/office/drawing/2014/main" id="{3C9AE521-152F-4D32-9DBA-5BCC7922DC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1336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2" name="Object 6">
            <a:extLst>
              <a:ext uri="{FF2B5EF4-FFF2-40B4-BE49-F238E27FC236}">
                <a16:creationId xmlns:a16="http://schemas.microsoft.com/office/drawing/2014/main" id="{878CA2D3-E072-45FB-A299-6B4743B36EC9}"/>
              </a:ext>
            </a:extLst>
          </p:cNvPr>
          <p:cNvGraphicFramePr>
            <a:graphicFrameLocks noChangeAspect="1"/>
          </p:cNvGraphicFramePr>
          <p:nvPr/>
        </p:nvGraphicFramePr>
        <p:xfrm>
          <a:off x="4572000" y="2667000"/>
          <a:ext cx="476251" cy="381000"/>
        </p:xfrm>
        <a:graphic>
          <a:graphicData uri="http://schemas.openxmlformats.org/presentationml/2006/ole">
            <mc:AlternateContent xmlns:mc="http://schemas.openxmlformats.org/markup-compatibility/2006">
              <mc:Choice xmlns:v="urn:schemas-microsoft-com:vml" Requires="v">
                <p:oleObj name="Equation" r:id="rId4" imgW="190440" imgH="152280" progId="Equation.3">
                  <p:embed/>
                </p:oleObj>
              </mc:Choice>
              <mc:Fallback>
                <p:oleObj name="Equation" r:id="rId4" imgW="190440" imgH="152280" progId="Equation.3">
                  <p:embed/>
                  <p:pic>
                    <p:nvPicPr>
                      <p:cNvPr id="55302" name="Object 6">
                        <a:extLst>
                          <a:ext uri="{FF2B5EF4-FFF2-40B4-BE49-F238E27FC236}">
                            <a16:creationId xmlns:a16="http://schemas.microsoft.com/office/drawing/2014/main" id="{878CA2D3-E072-45FB-A299-6B4743B36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6670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3" name="Object 7">
            <a:extLst>
              <a:ext uri="{FF2B5EF4-FFF2-40B4-BE49-F238E27FC236}">
                <a16:creationId xmlns:a16="http://schemas.microsoft.com/office/drawing/2014/main" id="{38D12203-1671-4039-8388-FBCEF1B3CDA6}"/>
              </a:ext>
            </a:extLst>
          </p:cNvPr>
          <p:cNvGraphicFramePr>
            <a:graphicFrameLocks noChangeAspect="1"/>
          </p:cNvGraphicFramePr>
          <p:nvPr/>
        </p:nvGraphicFramePr>
        <p:xfrm>
          <a:off x="4572000" y="3200400"/>
          <a:ext cx="476251" cy="381000"/>
        </p:xfrm>
        <a:graphic>
          <a:graphicData uri="http://schemas.openxmlformats.org/presentationml/2006/ole">
            <mc:AlternateContent xmlns:mc="http://schemas.openxmlformats.org/markup-compatibility/2006">
              <mc:Choice xmlns:v="urn:schemas-microsoft-com:vml" Requires="v">
                <p:oleObj name="Equation" r:id="rId5" imgW="190440" imgH="152280" progId="Equation.3">
                  <p:embed/>
                </p:oleObj>
              </mc:Choice>
              <mc:Fallback>
                <p:oleObj name="Equation" r:id="rId5" imgW="190440" imgH="152280" progId="Equation.3">
                  <p:embed/>
                  <p:pic>
                    <p:nvPicPr>
                      <p:cNvPr id="55303" name="Object 7">
                        <a:extLst>
                          <a:ext uri="{FF2B5EF4-FFF2-40B4-BE49-F238E27FC236}">
                            <a16:creationId xmlns:a16="http://schemas.microsoft.com/office/drawing/2014/main" id="{38D12203-1671-4039-8388-FBCEF1B3CD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2004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4" name="Object 8">
            <a:extLst>
              <a:ext uri="{FF2B5EF4-FFF2-40B4-BE49-F238E27FC236}">
                <a16:creationId xmlns:a16="http://schemas.microsoft.com/office/drawing/2014/main" id="{2F2634F8-D061-4228-917B-D1B914DC6495}"/>
              </a:ext>
            </a:extLst>
          </p:cNvPr>
          <p:cNvGraphicFramePr>
            <a:graphicFrameLocks noChangeAspect="1"/>
          </p:cNvGraphicFramePr>
          <p:nvPr/>
        </p:nvGraphicFramePr>
        <p:xfrm>
          <a:off x="4572000" y="3733800"/>
          <a:ext cx="476251" cy="381000"/>
        </p:xfrm>
        <a:graphic>
          <a:graphicData uri="http://schemas.openxmlformats.org/presentationml/2006/ole">
            <mc:AlternateContent xmlns:mc="http://schemas.openxmlformats.org/markup-compatibility/2006">
              <mc:Choice xmlns:v="urn:schemas-microsoft-com:vml" Requires="v">
                <p:oleObj name="Equation" r:id="rId6" imgW="190440" imgH="152280" progId="Equation.3">
                  <p:embed/>
                </p:oleObj>
              </mc:Choice>
              <mc:Fallback>
                <p:oleObj name="Equation" r:id="rId6" imgW="190440" imgH="152280" progId="Equation.3">
                  <p:embed/>
                  <p:pic>
                    <p:nvPicPr>
                      <p:cNvPr id="55304" name="Object 8">
                        <a:extLst>
                          <a:ext uri="{FF2B5EF4-FFF2-40B4-BE49-F238E27FC236}">
                            <a16:creationId xmlns:a16="http://schemas.microsoft.com/office/drawing/2014/main" id="{2F2634F8-D061-4228-917B-D1B914DC64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7338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5" name="Object 9">
            <a:extLst>
              <a:ext uri="{FF2B5EF4-FFF2-40B4-BE49-F238E27FC236}">
                <a16:creationId xmlns:a16="http://schemas.microsoft.com/office/drawing/2014/main" id="{FC6E7B9A-62B6-4B07-BFB5-0FA868A3AF20}"/>
              </a:ext>
            </a:extLst>
          </p:cNvPr>
          <p:cNvGraphicFramePr>
            <a:graphicFrameLocks noChangeAspect="1"/>
          </p:cNvGraphicFramePr>
          <p:nvPr/>
        </p:nvGraphicFramePr>
        <p:xfrm>
          <a:off x="4572000" y="4267200"/>
          <a:ext cx="476251" cy="381000"/>
        </p:xfrm>
        <a:graphic>
          <a:graphicData uri="http://schemas.openxmlformats.org/presentationml/2006/ole">
            <mc:AlternateContent xmlns:mc="http://schemas.openxmlformats.org/markup-compatibility/2006">
              <mc:Choice xmlns:v="urn:schemas-microsoft-com:vml" Requires="v">
                <p:oleObj name="Equation" r:id="rId7" imgW="190440" imgH="152280" progId="Equation.3">
                  <p:embed/>
                </p:oleObj>
              </mc:Choice>
              <mc:Fallback>
                <p:oleObj name="Equation" r:id="rId7" imgW="190440" imgH="152280" progId="Equation.3">
                  <p:embed/>
                  <p:pic>
                    <p:nvPicPr>
                      <p:cNvPr id="55305" name="Object 9">
                        <a:extLst>
                          <a:ext uri="{FF2B5EF4-FFF2-40B4-BE49-F238E27FC236}">
                            <a16:creationId xmlns:a16="http://schemas.microsoft.com/office/drawing/2014/main" id="{FC6E7B9A-62B6-4B07-BFB5-0FA868A3AF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2672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6" name="Object 10">
            <a:extLst>
              <a:ext uri="{FF2B5EF4-FFF2-40B4-BE49-F238E27FC236}">
                <a16:creationId xmlns:a16="http://schemas.microsoft.com/office/drawing/2014/main" id="{F0C93739-C0F5-46DB-83E9-545CDC72B983}"/>
              </a:ext>
            </a:extLst>
          </p:cNvPr>
          <p:cNvGraphicFramePr>
            <a:graphicFrameLocks noChangeAspect="1"/>
          </p:cNvGraphicFramePr>
          <p:nvPr>
            <p:extLst>
              <p:ext uri="{D42A27DB-BD31-4B8C-83A1-F6EECF244321}">
                <p14:modId xmlns:p14="http://schemas.microsoft.com/office/powerpoint/2010/main" val="2460586137"/>
              </p:ext>
            </p:extLst>
          </p:nvPr>
        </p:nvGraphicFramePr>
        <p:xfrm>
          <a:off x="5905500" y="5410914"/>
          <a:ext cx="381000" cy="381000"/>
        </p:xfrm>
        <a:graphic>
          <a:graphicData uri="http://schemas.openxmlformats.org/presentationml/2006/ole">
            <mc:AlternateContent xmlns:mc="http://schemas.openxmlformats.org/markup-compatibility/2006">
              <mc:Choice xmlns:v="urn:schemas-microsoft-com:vml" Requires="v">
                <p:oleObj name="Equation" r:id="rId8" imgW="152280" imgH="152280" progId="Equation.3">
                  <p:embed/>
                </p:oleObj>
              </mc:Choice>
              <mc:Fallback>
                <p:oleObj name="Equation" r:id="rId8" imgW="152280" imgH="152280" progId="Equation.3">
                  <p:embed/>
                  <p:pic>
                    <p:nvPicPr>
                      <p:cNvPr id="55306" name="Object 10">
                        <a:extLst>
                          <a:ext uri="{FF2B5EF4-FFF2-40B4-BE49-F238E27FC236}">
                            <a16:creationId xmlns:a16="http://schemas.microsoft.com/office/drawing/2014/main" id="{F0C93739-C0F5-46DB-83E9-545CDC72B98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05500" y="5410914"/>
                        <a:ext cx="381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Box 1">
            <a:extLst>
              <a:ext uri="{FF2B5EF4-FFF2-40B4-BE49-F238E27FC236}">
                <a16:creationId xmlns:a16="http://schemas.microsoft.com/office/drawing/2014/main" id="{97AF8A1B-9537-4845-9421-A64A173EEC91}"/>
              </a:ext>
            </a:extLst>
          </p:cNvPr>
          <p:cNvSpPr txBox="1">
            <a:spLocks noChangeArrowheads="1"/>
          </p:cNvSpPr>
          <p:nvPr/>
        </p:nvSpPr>
        <p:spPr bwMode="auto">
          <a:xfrm>
            <a:off x="3025776" y="914401"/>
            <a:ext cx="7443320" cy="53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Conversely, let (x, y) be any element of (A X B ) ⋂ (A X C) . Then</a:t>
            </a:r>
          </a:p>
          <a:p>
            <a:pPr eaLnBrk="1" hangingPunct="1"/>
            <a:endParaRPr lang="en-US" altLang="en-US"/>
          </a:p>
          <a:p>
            <a:pPr eaLnBrk="1" hangingPunct="1"/>
            <a:r>
              <a:rPr lang="en-US" altLang="en-US"/>
              <a:t>(x, y) </a:t>
            </a:r>
            <a:r>
              <a:rPr lang="el-GR" altLang="en-US"/>
              <a:t>ϵ</a:t>
            </a:r>
            <a:r>
              <a:rPr lang="en-US" altLang="en-US"/>
              <a:t> (A X B ) ⋂ (A X C)            (x, y) </a:t>
            </a:r>
            <a:r>
              <a:rPr lang="el-GR" altLang="en-US"/>
              <a:t>ϵ</a:t>
            </a:r>
            <a:r>
              <a:rPr lang="en-US" altLang="en-US"/>
              <a:t> (A X B ) ⋂ (A X C)</a:t>
            </a:r>
          </a:p>
          <a:p>
            <a:pPr eaLnBrk="1" hangingPunct="1"/>
            <a:endParaRPr lang="en-US" altLang="en-US"/>
          </a:p>
          <a:p>
            <a:pPr eaLnBrk="1" hangingPunct="1"/>
            <a:r>
              <a:rPr lang="en-US" altLang="en-US"/>
              <a:t>		                         (x, y) </a:t>
            </a:r>
            <a:r>
              <a:rPr lang="el-GR" altLang="en-US"/>
              <a:t>ϵ</a:t>
            </a:r>
            <a:r>
              <a:rPr lang="en-US" altLang="en-US"/>
              <a:t> (A X B ) and  (A X C) </a:t>
            </a:r>
          </a:p>
          <a:p>
            <a:pPr eaLnBrk="1" hangingPunct="1"/>
            <a:endParaRPr lang="en-US" altLang="en-US"/>
          </a:p>
          <a:p>
            <a:pPr eaLnBrk="1" hangingPunct="1"/>
            <a:r>
              <a:rPr lang="en-US" altLang="en-US"/>
              <a:t>		                        (x </a:t>
            </a:r>
            <a:r>
              <a:rPr lang="el-GR" altLang="en-US"/>
              <a:t>ϵ</a:t>
            </a:r>
            <a:r>
              <a:rPr lang="en-US" altLang="en-US"/>
              <a:t> A and y </a:t>
            </a:r>
            <a:r>
              <a:rPr lang="el-GR" altLang="en-US"/>
              <a:t>ϵ</a:t>
            </a:r>
            <a:r>
              <a:rPr lang="en-US" altLang="en-US"/>
              <a:t> B) and (x </a:t>
            </a:r>
            <a:r>
              <a:rPr lang="el-GR" altLang="en-US"/>
              <a:t>ϵ</a:t>
            </a:r>
            <a:r>
              <a:rPr lang="en-US" altLang="en-US"/>
              <a:t> A  and y </a:t>
            </a:r>
            <a:r>
              <a:rPr lang="el-GR" altLang="en-US"/>
              <a:t>ϵ</a:t>
            </a:r>
            <a:r>
              <a:rPr lang="en-US" altLang="en-US"/>
              <a:t> C)</a:t>
            </a:r>
          </a:p>
          <a:p>
            <a:pPr eaLnBrk="1" hangingPunct="1"/>
            <a:endParaRPr lang="en-US" altLang="en-US"/>
          </a:p>
          <a:p>
            <a:pPr eaLnBrk="1" hangingPunct="1"/>
            <a:r>
              <a:rPr lang="en-US" altLang="en-US"/>
              <a:t>		                        x </a:t>
            </a:r>
            <a:r>
              <a:rPr lang="el-GR" altLang="en-US"/>
              <a:t>ϵ</a:t>
            </a:r>
            <a:r>
              <a:rPr lang="en-US" altLang="en-US"/>
              <a:t> A and (y </a:t>
            </a:r>
            <a:r>
              <a:rPr lang="el-GR" altLang="en-US"/>
              <a:t>ϵ</a:t>
            </a:r>
            <a:r>
              <a:rPr lang="en-US" altLang="en-US"/>
              <a:t> B and y </a:t>
            </a:r>
            <a:r>
              <a:rPr lang="el-GR" altLang="en-US"/>
              <a:t>ϵ</a:t>
            </a:r>
            <a:r>
              <a:rPr lang="en-US" altLang="en-US"/>
              <a:t> C) </a:t>
            </a:r>
          </a:p>
          <a:p>
            <a:pPr eaLnBrk="1" hangingPunct="1"/>
            <a:endParaRPr lang="en-US" altLang="en-US"/>
          </a:p>
          <a:p>
            <a:pPr eaLnBrk="1" hangingPunct="1"/>
            <a:r>
              <a:rPr lang="en-US" altLang="en-US"/>
              <a:t>		                      x </a:t>
            </a:r>
            <a:r>
              <a:rPr lang="el-GR" altLang="en-US"/>
              <a:t>ϵ</a:t>
            </a:r>
            <a:r>
              <a:rPr lang="en-US" altLang="en-US"/>
              <a:t> A and y </a:t>
            </a:r>
            <a:r>
              <a:rPr lang="el-GR" altLang="en-US"/>
              <a:t>ϵ</a:t>
            </a:r>
            <a:r>
              <a:rPr lang="en-US" altLang="en-US"/>
              <a:t> (B ⋂ C)</a:t>
            </a:r>
          </a:p>
          <a:p>
            <a:pPr eaLnBrk="1" hangingPunct="1"/>
            <a:r>
              <a:rPr lang="en-US" altLang="en-US"/>
              <a:t>		     </a:t>
            </a:r>
          </a:p>
          <a:p>
            <a:pPr eaLnBrk="1" hangingPunct="1"/>
            <a:r>
              <a:rPr lang="en-US" altLang="en-US"/>
              <a:t>		                      (x, y) </a:t>
            </a:r>
            <a:r>
              <a:rPr lang="el-GR" altLang="en-US"/>
              <a:t>ϵ</a:t>
            </a:r>
            <a:r>
              <a:rPr lang="en-US" altLang="en-US"/>
              <a:t> A X ( B ⋂ C) </a:t>
            </a:r>
          </a:p>
          <a:p>
            <a:pPr eaLnBrk="1" hangingPunct="1"/>
            <a:r>
              <a:rPr lang="en-US" altLang="en-US"/>
              <a:t>Thus</a:t>
            </a:r>
          </a:p>
          <a:p>
            <a:pPr eaLnBrk="1" hangingPunct="1"/>
            <a:endParaRPr lang="en-US" altLang="en-US"/>
          </a:p>
          <a:p>
            <a:pPr eaLnBrk="1" hangingPunct="1"/>
            <a:r>
              <a:rPr lang="en-US" altLang="en-US"/>
              <a:t>		 (A X B ) ⋂ (A X C)          A X ( B ⋂ C)           (ii)</a:t>
            </a:r>
          </a:p>
          <a:p>
            <a:pPr eaLnBrk="1" hangingPunct="1"/>
            <a:r>
              <a:rPr lang="en-US" altLang="en-US"/>
              <a:t>From (i) and (ii)</a:t>
            </a:r>
          </a:p>
          <a:p>
            <a:pPr eaLnBrk="1" hangingPunct="1"/>
            <a:r>
              <a:rPr lang="en-US" altLang="en-US"/>
              <a:t>		 A X ( B ⋂ C) = (A X B ) ⋂ (A X C)</a:t>
            </a:r>
          </a:p>
          <a:p>
            <a:pPr eaLnBrk="1" hangingPunct="1"/>
            <a:r>
              <a:rPr lang="en-US" altLang="en-US"/>
              <a:t> </a:t>
            </a:r>
          </a:p>
        </p:txBody>
      </p:sp>
      <p:graphicFrame>
        <p:nvGraphicFramePr>
          <p:cNvPr id="56324" name="Object 4">
            <a:extLst>
              <a:ext uri="{FF2B5EF4-FFF2-40B4-BE49-F238E27FC236}">
                <a16:creationId xmlns:a16="http://schemas.microsoft.com/office/drawing/2014/main" id="{26FED05D-1996-47A7-8135-602301DF067E}"/>
              </a:ext>
            </a:extLst>
          </p:cNvPr>
          <p:cNvGraphicFramePr>
            <a:graphicFrameLocks noChangeAspect="1"/>
          </p:cNvGraphicFramePr>
          <p:nvPr>
            <p:extLst>
              <p:ext uri="{D42A27DB-BD31-4B8C-83A1-F6EECF244321}">
                <p14:modId xmlns:p14="http://schemas.microsoft.com/office/powerpoint/2010/main" val="3761301499"/>
              </p:ext>
            </p:extLst>
          </p:nvPr>
        </p:nvGraphicFramePr>
        <p:xfrm>
          <a:off x="7030453" y="5030536"/>
          <a:ext cx="381000" cy="381000"/>
        </p:xfrm>
        <a:graphic>
          <a:graphicData uri="http://schemas.openxmlformats.org/presentationml/2006/ole">
            <mc:AlternateContent xmlns:mc="http://schemas.openxmlformats.org/markup-compatibility/2006">
              <mc:Choice xmlns:v="urn:schemas-microsoft-com:vml" Requires="v">
                <p:oleObj name="Equation" r:id="rId2" imgW="152280" imgH="152280" progId="Equation.3">
                  <p:embed/>
                </p:oleObj>
              </mc:Choice>
              <mc:Fallback>
                <p:oleObj name="Equation" r:id="rId2" imgW="152280" imgH="152280" progId="Equation.3">
                  <p:embed/>
                  <p:pic>
                    <p:nvPicPr>
                      <p:cNvPr id="56324" name="Object 4">
                        <a:extLst>
                          <a:ext uri="{FF2B5EF4-FFF2-40B4-BE49-F238E27FC236}">
                            <a16:creationId xmlns:a16="http://schemas.microsoft.com/office/drawing/2014/main" id="{26FED05D-1996-47A7-8135-602301DF06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0453" y="5030536"/>
                        <a:ext cx="381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5" name="Object 5">
            <a:extLst>
              <a:ext uri="{FF2B5EF4-FFF2-40B4-BE49-F238E27FC236}">
                <a16:creationId xmlns:a16="http://schemas.microsoft.com/office/drawing/2014/main" id="{0A05917C-369A-48B3-ADC8-F8294F17970C}"/>
              </a:ext>
            </a:extLst>
          </p:cNvPr>
          <p:cNvGraphicFramePr>
            <a:graphicFrameLocks noChangeAspect="1"/>
          </p:cNvGraphicFramePr>
          <p:nvPr/>
        </p:nvGraphicFramePr>
        <p:xfrm>
          <a:off x="5943600" y="1524000"/>
          <a:ext cx="476251" cy="381000"/>
        </p:xfrm>
        <a:graphic>
          <a:graphicData uri="http://schemas.openxmlformats.org/presentationml/2006/ole">
            <mc:AlternateContent xmlns:mc="http://schemas.openxmlformats.org/markup-compatibility/2006">
              <mc:Choice xmlns:v="urn:schemas-microsoft-com:vml" Requires="v">
                <p:oleObj name="Equation" r:id="rId4" imgW="190440" imgH="152280" progId="Equation.3">
                  <p:embed/>
                </p:oleObj>
              </mc:Choice>
              <mc:Fallback>
                <p:oleObj name="Equation" r:id="rId4" imgW="190440" imgH="152280" progId="Equation.3">
                  <p:embed/>
                  <p:pic>
                    <p:nvPicPr>
                      <p:cNvPr id="56325" name="Object 5">
                        <a:extLst>
                          <a:ext uri="{FF2B5EF4-FFF2-40B4-BE49-F238E27FC236}">
                            <a16:creationId xmlns:a16="http://schemas.microsoft.com/office/drawing/2014/main" id="{0A05917C-369A-48B3-ADC8-F8294F1797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600" y="15240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6">
            <a:extLst>
              <a:ext uri="{FF2B5EF4-FFF2-40B4-BE49-F238E27FC236}">
                <a16:creationId xmlns:a16="http://schemas.microsoft.com/office/drawing/2014/main" id="{DB69B413-EDF5-401A-BEAC-902B2940862C}"/>
              </a:ext>
            </a:extLst>
          </p:cNvPr>
          <p:cNvGraphicFramePr>
            <a:graphicFrameLocks noChangeAspect="1"/>
          </p:cNvGraphicFramePr>
          <p:nvPr/>
        </p:nvGraphicFramePr>
        <p:xfrm>
          <a:off x="5791200" y="1981200"/>
          <a:ext cx="476251" cy="381000"/>
        </p:xfrm>
        <a:graphic>
          <a:graphicData uri="http://schemas.openxmlformats.org/presentationml/2006/ole">
            <mc:AlternateContent xmlns:mc="http://schemas.openxmlformats.org/markup-compatibility/2006">
              <mc:Choice xmlns:v="urn:schemas-microsoft-com:vml" Requires="v">
                <p:oleObj name="Equation" r:id="rId6" imgW="190440" imgH="152280" progId="Equation.3">
                  <p:embed/>
                </p:oleObj>
              </mc:Choice>
              <mc:Fallback>
                <p:oleObj name="Equation" r:id="rId6" imgW="190440" imgH="152280" progId="Equation.3">
                  <p:embed/>
                  <p:pic>
                    <p:nvPicPr>
                      <p:cNvPr id="56326" name="Object 6">
                        <a:extLst>
                          <a:ext uri="{FF2B5EF4-FFF2-40B4-BE49-F238E27FC236}">
                            <a16:creationId xmlns:a16="http://schemas.microsoft.com/office/drawing/2014/main" id="{DB69B413-EDF5-401A-BEAC-902B294086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19812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7" name="Object 7">
            <a:extLst>
              <a:ext uri="{FF2B5EF4-FFF2-40B4-BE49-F238E27FC236}">
                <a16:creationId xmlns:a16="http://schemas.microsoft.com/office/drawing/2014/main" id="{820B6327-789B-4479-9149-AD3F0A84CFD8}"/>
              </a:ext>
            </a:extLst>
          </p:cNvPr>
          <p:cNvGraphicFramePr>
            <a:graphicFrameLocks noChangeAspect="1"/>
          </p:cNvGraphicFramePr>
          <p:nvPr/>
        </p:nvGraphicFramePr>
        <p:xfrm>
          <a:off x="5791200" y="2590800"/>
          <a:ext cx="476251" cy="381000"/>
        </p:xfrm>
        <a:graphic>
          <a:graphicData uri="http://schemas.openxmlformats.org/presentationml/2006/ole">
            <mc:AlternateContent xmlns:mc="http://schemas.openxmlformats.org/markup-compatibility/2006">
              <mc:Choice xmlns:v="urn:schemas-microsoft-com:vml" Requires="v">
                <p:oleObj name="Equation" r:id="rId7" imgW="190440" imgH="152280" progId="Equation.3">
                  <p:embed/>
                </p:oleObj>
              </mc:Choice>
              <mc:Fallback>
                <p:oleObj name="Equation" r:id="rId7" imgW="190440" imgH="152280" progId="Equation.3">
                  <p:embed/>
                  <p:pic>
                    <p:nvPicPr>
                      <p:cNvPr id="56327" name="Object 7">
                        <a:extLst>
                          <a:ext uri="{FF2B5EF4-FFF2-40B4-BE49-F238E27FC236}">
                            <a16:creationId xmlns:a16="http://schemas.microsoft.com/office/drawing/2014/main" id="{820B6327-789B-4479-9149-AD3F0A84CF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25908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8" name="Object 8">
            <a:extLst>
              <a:ext uri="{FF2B5EF4-FFF2-40B4-BE49-F238E27FC236}">
                <a16:creationId xmlns:a16="http://schemas.microsoft.com/office/drawing/2014/main" id="{5E3255AC-B375-4DE4-855C-0136EC5236BA}"/>
              </a:ext>
            </a:extLst>
          </p:cNvPr>
          <p:cNvGraphicFramePr>
            <a:graphicFrameLocks noChangeAspect="1"/>
          </p:cNvGraphicFramePr>
          <p:nvPr/>
        </p:nvGraphicFramePr>
        <p:xfrm>
          <a:off x="5715000" y="3124200"/>
          <a:ext cx="476251" cy="381000"/>
        </p:xfrm>
        <a:graphic>
          <a:graphicData uri="http://schemas.openxmlformats.org/presentationml/2006/ole">
            <mc:AlternateContent xmlns:mc="http://schemas.openxmlformats.org/markup-compatibility/2006">
              <mc:Choice xmlns:v="urn:schemas-microsoft-com:vml" Requires="v">
                <p:oleObj name="Equation" r:id="rId8" imgW="190440" imgH="152280" progId="Equation.3">
                  <p:embed/>
                </p:oleObj>
              </mc:Choice>
              <mc:Fallback>
                <p:oleObj name="Equation" r:id="rId8" imgW="190440" imgH="152280" progId="Equation.3">
                  <p:embed/>
                  <p:pic>
                    <p:nvPicPr>
                      <p:cNvPr id="56328" name="Object 8">
                        <a:extLst>
                          <a:ext uri="{FF2B5EF4-FFF2-40B4-BE49-F238E27FC236}">
                            <a16:creationId xmlns:a16="http://schemas.microsoft.com/office/drawing/2014/main" id="{5E3255AC-B375-4DE4-855C-0136EC5236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31242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9" name="Object 9">
            <a:extLst>
              <a:ext uri="{FF2B5EF4-FFF2-40B4-BE49-F238E27FC236}">
                <a16:creationId xmlns:a16="http://schemas.microsoft.com/office/drawing/2014/main" id="{CF09AE1D-039C-4DFE-9CD7-5EDA48D9E927}"/>
              </a:ext>
            </a:extLst>
          </p:cNvPr>
          <p:cNvGraphicFramePr>
            <a:graphicFrameLocks noChangeAspect="1"/>
          </p:cNvGraphicFramePr>
          <p:nvPr/>
        </p:nvGraphicFramePr>
        <p:xfrm>
          <a:off x="5715000" y="3657600"/>
          <a:ext cx="476251" cy="381000"/>
        </p:xfrm>
        <a:graphic>
          <a:graphicData uri="http://schemas.openxmlformats.org/presentationml/2006/ole">
            <mc:AlternateContent xmlns:mc="http://schemas.openxmlformats.org/markup-compatibility/2006">
              <mc:Choice xmlns:v="urn:schemas-microsoft-com:vml" Requires="v">
                <p:oleObj name="Equation" r:id="rId9" imgW="190440" imgH="152280" progId="Equation.3">
                  <p:embed/>
                </p:oleObj>
              </mc:Choice>
              <mc:Fallback>
                <p:oleObj name="Equation" r:id="rId9" imgW="190440" imgH="152280" progId="Equation.3">
                  <p:embed/>
                  <p:pic>
                    <p:nvPicPr>
                      <p:cNvPr id="56329" name="Object 9">
                        <a:extLst>
                          <a:ext uri="{FF2B5EF4-FFF2-40B4-BE49-F238E27FC236}">
                            <a16:creationId xmlns:a16="http://schemas.microsoft.com/office/drawing/2014/main" id="{CF09AE1D-039C-4DFE-9CD7-5EDA48D9E9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36576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30" name="Object 10">
            <a:extLst>
              <a:ext uri="{FF2B5EF4-FFF2-40B4-BE49-F238E27FC236}">
                <a16:creationId xmlns:a16="http://schemas.microsoft.com/office/drawing/2014/main" id="{D6009B1C-3581-4A1D-88BC-BD4E976DC189}"/>
              </a:ext>
            </a:extLst>
          </p:cNvPr>
          <p:cNvGraphicFramePr>
            <a:graphicFrameLocks noChangeAspect="1"/>
          </p:cNvGraphicFramePr>
          <p:nvPr/>
        </p:nvGraphicFramePr>
        <p:xfrm>
          <a:off x="5791200" y="4267200"/>
          <a:ext cx="476251" cy="381000"/>
        </p:xfrm>
        <a:graphic>
          <a:graphicData uri="http://schemas.openxmlformats.org/presentationml/2006/ole">
            <mc:AlternateContent xmlns:mc="http://schemas.openxmlformats.org/markup-compatibility/2006">
              <mc:Choice xmlns:v="urn:schemas-microsoft-com:vml" Requires="v">
                <p:oleObj name="Equation" r:id="rId10" imgW="190440" imgH="152280" progId="Equation.3">
                  <p:embed/>
                </p:oleObj>
              </mc:Choice>
              <mc:Fallback>
                <p:oleObj name="Equation" r:id="rId10" imgW="190440" imgH="152280" progId="Equation.3">
                  <p:embed/>
                  <p:pic>
                    <p:nvPicPr>
                      <p:cNvPr id="56330" name="Object 10">
                        <a:extLst>
                          <a:ext uri="{FF2B5EF4-FFF2-40B4-BE49-F238E27FC236}">
                            <a16:creationId xmlns:a16="http://schemas.microsoft.com/office/drawing/2014/main" id="{D6009B1C-3581-4A1D-88BC-BD4E976DC1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4267200"/>
                        <a:ext cx="476251"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Box 1">
            <a:extLst>
              <a:ext uri="{FF2B5EF4-FFF2-40B4-BE49-F238E27FC236}">
                <a16:creationId xmlns:a16="http://schemas.microsoft.com/office/drawing/2014/main" id="{FCA6A3CC-B191-4B07-8BF4-14F655EBE9FE}"/>
              </a:ext>
            </a:extLst>
          </p:cNvPr>
          <p:cNvSpPr txBox="1">
            <a:spLocks noChangeArrowheads="1"/>
          </p:cNvSpPr>
          <p:nvPr/>
        </p:nvSpPr>
        <p:spPr bwMode="auto">
          <a:xfrm>
            <a:off x="2286000" y="914400"/>
            <a:ext cx="7770076"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0" eaLnBrk="1" hangingPunct="1"/>
            <a:r>
              <a:rPr lang="en-US" altLang="en-US" dirty="0"/>
              <a:t>If A = {1, 2, 3}, B = {4, 5}, C = {1, 2, 3, 4,5}, verify that</a:t>
            </a:r>
          </a:p>
          <a:p>
            <a:pPr eaLnBrk="1" hangingPunct="1"/>
            <a:r>
              <a:rPr lang="en-US" altLang="en-US" dirty="0"/>
              <a:t>	(C X B) – (A X B) = B X B</a:t>
            </a:r>
          </a:p>
          <a:p>
            <a:pPr eaLnBrk="1" hangingPunct="1"/>
            <a:endParaRPr lang="en-US" altLang="en-US" dirty="0"/>
          </a:p>
          <a:p>
            <a:pPr eaLnBrk="1" hangingPunct="1"/>
            <a:r>
              <a:rPr lang="en-US" altLang="en-US" dirty="0"/>
              <a:t>Solution:</a:t>
            </a:r>
          </a:p>
          <a:p>
            <a:pPr eaLnBrk="1" hangingPunct="1"/>
            <a:r>
              <a:rPr lang="en-US" altLang="en-US" dirty="0"/>
              <a:t>(C X B) = {(1,4),(1, 5), (2, 4), (2, 5), (3, 4), (3, 5), (4, 4), (4, 5), (5, 4), (5, 5)}</a:t>
            </a:r>
          </a:p>
          <a:p>
            <a:pPr eaLnBrk="1" hangingPunct="1"/>
            <a:r>
              <a:rPr lang="en-US" altLang="en-US" dirty="0"/>
              <a:t>(A X B) = {(1, 4), (1, 5), (2, 4), (2, 5), (3, 4), (3,5)}</a:t>
            </a:r>
          </a:p>
          <a:p>
            <a:pPr eaLnBrk="1" hangingPunct="1"/>
            <a:r>
              <a:rPr lang="en-US" altLang="en-US" dirty="0"/>
              <a:t>(B X B) = {(4, 4), (4, 5), (5, 4), (5, 5)}</a:t>
            </a:r>
          </a:p>
          <a:p>
            <a:pPr eaLnBrk="1" hangingPunct="1"/>
            <a:endParaRPr lang="en-US" altLang="en-US" dirty="0"/>
          </a:p>
          <a:p>
            <a:pPr eaLnBrk="1" hangingPunct="1"/>
            <a:r>
              <a:rPr lang="en-US" altLang="en-US" dirty="0"/>
              <a:t>Now, (C X B) – (A X B) = {(4, 4), (4, 5), (5, 4), (5, 5)}</a:t>
            </a:r>
          </a:p>
          <a:p>
            <a:pPr eaLnBrk="1" hangingPunct="1"/>
            <a:r>
              <a:rPr lang="en-US" altLang="en-US" dirty="0"/>
              <a:t>			         = B X B</a:t>
            </a:r>
          </a:p>
          <a:p>
            <a:pPr eaLnBrk="1" hangingPunct="1"/>
            <a:endParaRPr lang="en-US" altLang="en-US" dirty="0"/>
          </a:p>
          <a:p>
            <a:pPr eaLnBrk="1" hangingPunct="1"/>
            <a:r>
              <a:rPr lang="en-US" altLang="en-US" dirty="0"/>
              <a:t>Hence, </a:t>
            </a:r>
          </a:p>
          <a:p>
            <a:pPr eaLnBrk="1" hangingPunct="1"/>
            <a:endParaRPr lang="en-US" altLang="en-US" dirty="0"/>
          </a:p>
          <a:p>
            <a:pPr eaLnBrk="1" hangingPunct="1"/>
            <a:r>
              <a:rPr lang="en-US" altLang="en-US" dirty="0"/>
              <a:t>			 (C X B) – (A X B) = B X B</a:t>
            </a:r>
          </a:p>
        </p:txBody>
      </p:sp>
      <p:sp>
        <p:nvSpPr>
          <p:cNvPr id="3" name="Rectangle 2">
            <a:extLst>
              <a:ext uri="{FF2B5EF4-FFF2-40B4-BE49-F238E27FC236}">
                <a16:creationId xmlns:a16="http://schemas.microsoft.com/office/drawing/2014/main" id="{DA2BA08E-DFD6-4847-9B0E-362BF9125D75}"/>
              </a:ext>
            </a:extLst>
          </p:cNvPr>
          <p:cNvSpPr/>
          <p:nvPr/>
        </p:nvSpPr>
        <p:spPr>
          <a:xfrm>
            <a:off x="3914585" y="279401"/>
            <a:ext cx="42101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400" dirty="0">
                <a:solidFill>
                  <a:srgbClr val="C00000"/>
                </a:solidFill>
                <a:latin typeface="Calibri" panose="020F0502020204030204" pitchFamily="34" charset="0"/>
              </a:rPr>
              <a:t>Example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Box 1">
            <a:extLst>
              <a:ext uri="{FF2B5EF4-FFF2-40B4-BE49-F238E27FC236}">
                <a16:creationId xmlns:a16="http://schemas.microsoft.com/office/drawing/2014/main" id="{C4FC9B54-A28D-4D87-852C-D6E34C412BCF}"/>
              </a:ext>
            </a:extLst>
          </p:cNvPr>
          <p:cNvSpPr txBox="1">
            <a:spLocks noChangeArrowheads="1"/>
          </p:cNvSpPr>
          <p:nvPr/>
        </p:nvSpPr>
        <p:spPr bwMode="auto">
          <a:xfrm>
            <a:off x="2362201" y="990601"/>
            <a:ext cx="6943183"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0" eaLnBrk="1" hangingPunct="1"/>
            <a:r>
              <a:rPr lang="en-US" altLang="en-US" dirty="0"/>
              <a:t>How many elements in A X B and B X A are common if n elements</a:t>
            </a:r>
          </a:p>
          <a:p>
            <a:pPr eaLnBrk="1" hangingPunct="1"/>
            <a:r>
              <a:rPr lang="en-US" altLang="en-US" dirty="0"/>
              <a:t>	are common to A and B?</a:t>
            </a:r>
          </a:p>
          <a:p>
            <a:pPr eaLnBrk="1" hangingPunct="1"/>
            <a:endParaRPr lang="en-US" altLang="en-US" dirty="0"/>
          </a:p>
          <a:p>
            <a:pPr eaLnBrk="1" hangingPunct="1"/>
            <a:r>
              <a:rPr lang="en-US" altLang="en-US" dirty="0"/>
              <a:t>Solution:</a:t>
            </a:r>
          </a:p>
          <a:p>
            <a:pPr eaLnBrk="1" hangingPunct="1"/>
            <a:r>
              <a:rPr lang="en-US" altLang="en-US" dirty="0"/>
              <a:t>		Let C be the set common to both A and B.</a:t>
            </a:r>
          </a:p>
          <a:p>
            <a:pPr eaLnBrk="1" hangingPunct="1"/>
            <a:r>
              <a:rPr lang="en-US" altLang="en-US" dirty="0"/>
              <a:t>Then,     C </a:t>
            </a:r>
            <a:r>
              <a:rPr lang="el-GR" altLang="en-US" dirty="0"/>
              <a:t>ϵ</a:t>
            </a:r>
            <a:r>
              <a:rPr lang="en-US" altLang="en-US" dirty="0"/>
              <a:t> A and C </a:t>
            </a:r>
            <a:r>
              <a:rPr lang="el-GR" altLang="en-US" dirty="0"/>
              <a:t>ϵ</a:t>
            </a:r>
            <a:r>
              <a:rPr lang="en-US" altLang="en-US" dirty="0"/>
              <a:t> B.</a:t>
            </a:r>
          </a:p>
          <a:p>
            <a:pPr eaLnBrk="1" hangingPunct="1"/>
            <a:endParaRPr lang="en-US" altLang="en-US" dirty="0"/>
          </a:p>
          <a:p>
            <a:pPr eaLnBrk="1" hangingPunct="1"/>
            <a:r>
              <a:rPr lang="en-US" altLang="en-US" dirty="0"/>
              <a:t>Now,	(x, y) </a:t>
            </a:r>
            <a:r>
              <a:rPr lang="el-GR" altLang="en-US" dirty="0">
                <a:cs typeface="Arial" panose="020B0604020202020204" pitchFamily="34" charset="0"/>
              </a:rPr>
              <a:t>ϵ</a:t>
            </a:r>
            <a:r>
              <a:rPr lang="en-US" altLang="en-US" dirty="0"/>
              <a:t> C X C</a:t>
            </a:r>
          </a:p>
          <a:p>
            <a:pPr eaLnBrk="1" hangingPunct="1"/>
            <a:endParaRPr lang="en-US" altLang="en-US" dirty="0"/>
          </a:p>
          <a:p>
            <a:pPr eaLnBrk="1" hangingPunct="1"/>
            <a:r>
              <a:rPr lang="en-US" altLang="en-US" dirty="0"/>
              <a:t>  		x </a:t>
            </a:r>
            <a:r>
              <a:rPr lang="el-GR" altLang="en-US" dirty="0"/>
              <a:t>ϵ</a:t>
            </a:r>
            <a:r>
              <a:rPr lang="en-US" altLang="en-US" dirty="0"/>
              <a:t> C and y </a:t>
            </a:r>
            <a:r>
              <a:rPr lang="el-GR" altLang="en-US" dirty="0"/>
              <a:t>ϵ</a:t>
            </a:r>
            <a:r>
              <a:rPr lang="en-US" altLang="en-US" dirty="0"/>
              <a:t> C</a:t>
            </a:r>
          </a:p>
          <a:p>
            <a:pPr eaLnBrk="1" hangingPunct="1"/>
            <a:r>
              <a:rPr lang="en-US" altLang="en-US" dirty="0"/>
              <a:t>  		(x </a:t>
            </a:r>
            <a:r>
              <a:rPr lang="el-GR" altLang="en-US" dirty="0"/>
              <a:t>ϵ</a:t>
            </a:r>
            <a:r>
              <a:rPr lang="en-US" altLang="en-US" dirty="0"/>
              <a:t> C and y </a:t>
            </a:r>
            <a:r>
              <a:rPr lang="el-GR" altLang="en-US" dirty="0"/>
              <a:t>ϵ</a:t>
            </a:r>
            <a:r>
              <a:rPr lang="en-US" altLang="en-US" dirty="0"/>
              <a:t> C) and (x </a:t>
            </a:r>
            <a:r>
              <a:rPr lang="el-GR" altLang="en-US" dirty="0"/>
              <a:t>ϵ</a:t>
            </a:r>
            <a:r>
              <a:rPr lang="en-US" altLang="en-US" dirty="0"/>
              <a:t> C and y </a:t>
            </a:r>
            <a:r>
              <a:rPr lang="el-GR" altLang="en-US" dirty="0"/>
              <a:t>ϵ</a:t>
            </a:r>
            <a:r>
              <a:rPr lang="en-US" altLang="en-US" dirty="0"/>
              <a:t> C)</a:t>
            </a:r>
          </a:p>
          <a:p>
            <a:pPr eaLnBrk="1" hangingPunct="1"/>
            <a:r>
              <a:rPr lang="en-US" altLang="en-US" dirty="0"/>
              <a:t>		(x </a:t>
            </a:r>
            <a:r>
              <a:rPr lang="el-GR" altLang="en-US" dirty="0"/>
              <a:t>ϵ</a:t>
            </a:r>
            <a:r>
              <a:rPr lang="en-US" altLang="en-US" dirty="0"/>
              <a:t> A and y </a:t>
            </a:r>
            <a:r>
              <a:rPr lang="el-GR" altLang="en-US" dirty="0"/>
              <a:t>ϵ</a:t>
            </a:r>
            <a:r>
              <a:rPr lang="en-US" altLang="en-US" dirty="0"/>
              <a:t> B) and (x </a:t>
            </a:r>
            <a:r>
              <a:rPr lang="el-GR" altLang="en-US" dirty="0"/>
              <a:t>ϵ</a:t>
            </a:r>
            <a:r>
              <a:rPr lang="en-US" altLang="en-US" dirty="0"/>
              <a:t> B and y </a:t>
            </a:r>
            <a:r>
              <a:rPr lang="el-GR" altLang="en-US" dirty="0"/>
              <a:t>ϵ</a:t>
            </a:r>
            <a:r>
              <a:rPr lang="en-US" altLang="en-US" dirty="0"/>
              <a:t> A)</a:t>
            </a:r>
          </a:p>
          <a:p>
            <a:pPr eaLnBrk="1" hangingPunct="1"/>
            <a:r>
              <a:rPr lang="en-US" altLang="en-US" dirty="0"/>
              <a:t>		(x, y) </a:t>
            </a:r>
            <a:r>
              <a:rPr lang="el-GR" altLang="en-US" dirty="0"/>
              <a:t>ϵ</a:t>
            </a:r>
            <a:r>
              <a:rPr lang="en-US" altLang="en-US" dirty="0"/>
              <a:t> A X B and (x, y) </a:t>
            </a:r>
            <a:r>
              <a:rPr lang="el-GR" altLang="en-US" dirty="0"/>
              <a:t>ϵ</a:t>
            </a:r>
            <a:r>
              <a:rPr lang="en-US" altLang="en-US" dirty="0"/>
              <a:t> B X A</a:t>
            </a:r>
          </a:p>
          <a:p>
            <a:pPr eaLnBrk="1" hangingPunct="1"/>
            <a:r>
              <a:rPr lang="en-US" altLang="en-US" dirty="0"/>
              <a:t> 		 (x, y) </a:t>
            </a:r>
            <a:r>
              <a:rPr lang="el-GR" altLang="en-US" dirty="0"/>
              <a:t>ϵ</a:t>
            </a:r>
            <a:r>
              <a:rPr lang="en-US" altLang="en-US" dirty="0"/>
              <a:t> (A X B) ⋂  (x, y) </a:t>
            </a:r>
            <a:r>
              <a:rPr lang="el-GR" altLang="en-US" dirty="0"/>
              <a:t>ϵ</a:t>
            </a:r>
            <a:r>
              <a:rPr lang="en-US" altLang="en-US" dirty="0"/>
              <a:t> (B X A)</a:t>
            </a:r>
          </a:p>
          <a:p>
            <a:pPr eaLnBrk="1" hangingPunct="1"/>
            <a:endParaRPr lang="en-US" altLang="en-US" dirty="0"/>
          </a:p>
          <a:p>
            <a:pPr eaLnBrk="1" hangingPunct="1"/>
            <a:r>
              <a:rPr lang="en-US" altLang="en-US" dirty="0"/>
              <a:t>Since, C X C has n</a:t>
            </a:r>
            <a:r>
              <a:rPr lang="en-US" altLang="en-US" baseline="30000" dirty="0"/>
              <a:t>2</a:t>
            </a:r>
            <a:r>
              <a:rPr lang="en-US" altLang="en-US" dirty="0"/>
              <a:t> elements, n</a:t>
            </a:r>
            <a:r>
              <a:rPr lang="en-US" altLang="en-US" baseline="30000" dirty="0"/>
              <a:t>2</a:t>
            </a:r>
            <a:r>
              <a:rPr lang="en-US" altLang="en-US" dirty="0"/>
              <a:t> elements are in common.</a:t>
            </a:r>
          </a:p>
          <a:p>
            <a:pPr eaLnBrk="1" hangingPunct="1"/>
            <a:endParaRPr lang="en-US" altLang="en-US" dirty="0"/>
          </a:p>
          <a:p>
            <a:pPr eaLnBrk="1" hangingPunct="1"/>
            <a:endParaRPr lang="en-US" altLang="en-US" dirty="0"/>
          </a:p>
        </p:txBody>
      </p:sp>
      <p:graphicFrame>
        <p:nvGraphicFramePr>
          <p:cNvPr id="67588" name="Object 4">
            <a:extLst>
              <a:ext uri="{FF2B5EF4-FFF2-40B4-BE49-F238E27FC236}">
                <a16:creationId xmlns:a16="http://schemas.microsoft.com/office/drawing/2014/main" id="{860609F0-F10C-4B6D-BB34-760B9D72654C}"/>
              </a:ext>
            </a:extLst>
          </p:cNvPr>
          <p:cNvGraphicFramePr>
            <a:graphicFrameLocks noChangeAspect="1"/>
          </p:cNvGraphicFramePr>
          <p:nvPr/>
        </p:nvGraphicFramePr>
        <p:xfrm>
          <a:off x="2819401" y="3465514"/>
          <a:ext cx="488951" cy="344487"/>
        </p:xfrm>
        <a:graphic>
          <a:graphicData uri="http://schemas.openxmlformats.org/presentationml/2006/ole">
            <mc:AlternateContent xmlns:mc="http://schemas.openxmlformats.org/markup-compatibility/2006">
              <mc:Choice xmlns:v="urn:schemas-microsoft-com:vml" Requires="v">
                <p:oleObj name="Equation" r:id="rId2" imgW="215640" imgH="152280" progId="Equation.3">
                  <p:embed/>
                </p:oleObj>
              </mc:Choice>
              <mc:Fallback>
                <p:oleObj name="Equation" r:id="rId2" imgW="215640" imgH="152280" progId="Equation.3">
                  <p:embed/>
                  <p:pic>
                    <p:nvPicPr>
                      <p:cNvPr id="67588" name="Object 4">
                        <a:extLst>
                          <a:ext uri="{FF2B5EF4-FFF2-40B4-BE49-F238E27FC236}">
                            <a16:creationId xmlns:a16="http://schemas.microsoft.com/office/drawing/2014/main" id="{860609F0-F10C-4B6D-BB34-760B9D7265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1" y="3465514"/>
                        <a:ext cx="488951"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9" name="Object 5">
            <a:extLst>
              <a:ext uri="{FF2B5EF4-FFF2-40B4-BE49-F238E27FC236}">
                <a16:creationId xmlns:a16="http://schemas.microsoft.com/office/drawing/2014/main" id="{A1AAFE5F-9E16-46A3-8B5C-0F7EE8926117}"/>
              </a:ext>
            </a:extLst>
          </p:cNvPr>
          <p:cNvGraphicFramePr>
            <a:graphicFrameLocks noChangeAspect="1"/>
          </p:cNvGraphicFramePr>
          <p:nvPr/>
        </p:nvGraphicFramePr>
        <p:xfrm>
          <a:off x="2819401" y="3770314"/>
          <a:ext cx="488951" cy="344487"/>
        </p:xfrm>
        <a:graphic>
          <a:graphicData uri="http://schemas.openxmlformats.org/presentationml/2006/ole">
            <mc:AlternateContent xmlns:mc="http://schemas.openxmlformats.org/markup-compatibility/2006">
              <mc:Choice xmlns:v="urn:schemas-microsoft-com:vml" Requires="v">
                <p:oleObj name="Equation" r:id="rId4" imgW="215640" imgH="152280" progId="Equation.3">
                  <p:embed/>
                </p:oleObj>
              </mc:Choice>
              <mc:Fallback>
                <p:oleObj name="Equation" r:id="rId4" imgW="215640" imgH="152280" progId="Equation.3">
                  <p:embed/>
                  <p:pic>
                    <p:nvPicPr>
                      <p:cNvPr id="67589" name="Object 5">
                        <a:extLst>
                          <a:ext uri="{FF2B5EF4-FFF2-40B4-BE49-F238E27FC236}">
                            <a16:creationId xmlns:a16="http://schemas.microsoft.com/office/drawing/2014/main" id="{A1AAFE5F-9E16-46A3-8B5C-0F7EE8926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1" y="3770314"/>
                        <a:ext cx="488951"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0" name="Object 6">
            <a:extLst>
              <a:ext uri="{FF2B5EF4-FFF2-40B4-BE49-F238E27FC236}">
                <a16:creationId xmlns:a16="http://schemas.microsoft.com/office/drawing/2014/main" id="{A76D6F04-3C18-4CE1-A681-E58924ED9236}"/>
              </a:ext>
            </a:extLst>
          </p:cNvPr>
          <p:cNvGraphicFramePr>
            <a:graphicFrameLocks noChangeAspect="1"/>
          </p:cNvGraphicFramePr>
          <p:nvPr/>
        </p:nvGraphicFramePr>
        <p:xfrm>
          <a:off x="2863850" y="4075114"/>
          <a:ext cx="488951" cy="344487"/>
        </p:xfrm>
        <a:graphic>
          <a:graphicData uri="http://schemas.openxmlformats.org/presentationml/2006/ole">
            <mc:AlternateContent xmlns:mc="http://schemas.openxmlformats.org/markup-compatibility/2006">
              <mc:Choice xmlns:v="urn:schemas-microsoft-com:vml" Requires="v">
                <p:oleObj name="Equation" r:id="rId5" imgW="215640" imgH="152280" progId="Equation.3">
                  <p:embed/>
                </p:oleObj>
              </mc:Choice>
              <mc:Fallback>
                <p:oleObj name="Equation" r:id="rId5" imgW="215640" imgH="152280" progId="Equation.3">
                  <p:embed/>
                  <p:pic>
                    <p:nvPicPr>
                      <p:cNvPr id="67590" name="Object 6">
                        <a:extLst>
                          <a:ext uri="{FF2B5EF4-FFF2-40B4-BE49-F238E27FC236}">
                            <a16:creationId xmlns:a16="http://schemas.microsoft.com/office/drawing/2014/main" id="{A76D6F04-3C18-4CE1-A681-E58924ED92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3850" y="4075114"/>
                        <a:ext cx="488951"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1" name="Object 7">
            <a:extLst>
              <a:ext uri="{FF2B5EF4-FFF2-40B4-BE49-F238E27FC236}">
                <a16:creationId xmlns:a16="http://schemas.microsoft.com/office/drawing/2014/main" id="{FFEA9615-221D-4B43-B9F5-EBBE34EAC302}"/>
              </a:ext>
            </a:extLst>
          </p:cNvPr>
          <p:cNvGraphicFramePr>
            <a:graphicFrameLocks noChangeAspect="1"/>
          </p:cNvGraphicFramePr>
          <p:nvPr/>
        </p:nvGraphicFramePr>
        <p:xfrm>
          <a:off x="2895601" y="4303714"/>
          <a:ext cx="488951" cy="344487"/>
        </p:xfrm>
        <a:graphic>
          <a:graphicData uri="http://schemas.openxmlformats.org/presentationml/2006/ole">
            <mc:AlternateContent xmlns:mc="http://schemas.openxmlformats.org/markup-compatibility/2006">
              <mc:Choice xmlns:v="urn:schemas-microsoft-com:vml" Requires="v">
                <p:oleObj name="Equation" r:id="rId6" imgW="215640" imgH="152280" progId="Equation.3">
                  <p:embed/>
                </p:oleObj>
              </mc:Choice>
              <mc:Fallback>
                <p:oleObj name="Equation" r:id="rId6" imgW="215640" imgH="152280" progId="Equation.3">
                  <p:embed/>
                  <p:pic>
                    <p:nvPicPr>
                      <p:cNvPr id="67591" name="Object 7">
                        <a:extLst>
                          <a:ext uri="{FF2B5EF4-FFF2-40B4-BE49-F238E27FC236}">
                            <a16:creationId xmlns:a16="http://schemas.microsoft.com/office/drawing/2014/main" id="{FFEA9615-221D-4B43-B9F5-EBBE34EAC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1" y="4303714"/>
                        <a:ext cx="488951"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2" name="Object 8">
            <a:extLst>
              <a:ext uri="{FF2B5EF4-FFF2-40B4-BE49-F238E27FC236}">
                <a16:creationId xmlns:a16="http://schemas.microsoft.com/office/drawing/2014/main" id="{81AE249E-6B87-4016-9B59-F24A423216DE}"/>
              </a:ext>
            </a:extLst>
          </p:cNvPr>
          <p:cNvGraphicFramePr>
            <a:graphicFrameLocks noChangeAspect="1"/>
          </p:cNvGraphicFramePr>
          <p:nvPr/>
        </p:nvGraphicFramePr>
        <p:xfrm>
          <a:off x="2895601" y="4608514"/>
          <a:ext cx="488951" cy="344487"/>
        </p:xfrm>
        <a:graphic>
          <a:graphicData uri="http://schemas.openxmlformats.org/presentationml/2006/ole">
            <mc:AlternateContent xmlns:mc="http://schemas.openxmlformats.org/markup-compatibility/2006">
              <mc:Choice xmlns:v="urn:schemas-microsoft-com:vml" Requires="v">
                <p:oleObj name="Equation" r:id="rId7" imgW="215640" imgH="152280" progId="Equation.3">
                  <p:embed/>
                </p:oleObj>
              </mc:Choice>
              <mc:Fallback>
                <p:oleObj name="Equation" r:id="rId7" imgW="215640" imgH="152280" progId="Equation.3">
                  <p:embed/>
                  <p:pic>
                    <p:nvPicPr>
                      <p:cNvPr id="67592" name="Object 8">
                        <a:extLst>
                          <a:ext uri="{FF2B5EF4-FFF2-40B4-BE49-F238E27FC236}">
                            <a16:creationId xmlns:a16="http://schemas.microsoft.com/office/drawing/2014/main" id="{81AE249E-6B87-4016-9B59-F24A423216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1" y="4608514"/>
                        <a:ext cx="488951"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7">
            <a:extLst>
              <a:ext uri="{FF2B5EF4-FFF2-40B4-BE49-F238E27FC236}">
                <a16:creationId xmlns:a16="http://schemas.microsoft.com/office/drawing/2014/main" id="{C3A5FBFD-0F7D-49C2-9CE1-B1696EE42333}"/>
              </a:ext>
            </a:extLst>
          </p:cNvPr>
          <p:cNvSpPr/>
          <p:nvPr/>
        </p:nvSpPr>
        <p:spPr>
          <a:xfrm>
            <a:off x="3914585" y="279401"/>
            <a:ext cx="42101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400" dirty="0">
                <a:solidFill>
                  <a:srgbClr val="C00000"/>
                </a:solidFill>
                <a:latin typeface="Calibri" panose="020F0502020204030204" pitchFamily="34" charset="0"/>
              </a:rPr>
              <a:t>Example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812800" y="1905000"/>
            <a:ext cx="9652000"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If A = { } and n(B) = 4 then n(</a:t>
            </a:r>
            <a:r>
              <a:rPr lang="en-US" sz="2400" dirty="0" err="1">
                <a:latin typeface="Century Gothic" panose="020B0502020202020204" pitchFamily="34" charset="0"/>
                <a:cs typeface="Arial" panose="020B0604020202020204" pitchFamily="34" charset="0"/>
              </a:rPr>
              <a:t>AxB</a:t>
            </a:r>
            <a:r>
              <a:rPr lang="en-US" sz="2400" dirty="0">
                <a:latin typeface="Century Gothic" panose="020B0502020202020204" pitchFamily="34" charset="0"/>
                <a:cs typeface="Arial" panose="020B0604020202020204" pitchFamily="34" charset="0"/>
              </a:rPr>
              <a:t>) is  .</a:t>
            </a: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4</a:t>
            </a:r>
          </a:p>
          <a:p>
            <a:r>
              <a:rPr lang="en-US" sz="2400" dirty="0">
                <a:latin typeface="Century Gothic" panose="020B0502020202020204" pitchFamily="34" charset="0"/>
                <a:cs typeface="Arial" panose="020B0604020202020204" pitchFamily="34" charset="0"/>
              </a:rPr>
              <a:t>(ii) 1</a:t>
            </a:r>
          </a:p>
          <a:p>
            <a:r>
              <a:rPr lang="en-US" sz="2400" dirty="0">
                <a:latin typeface="Century Gothic" panose="020B0502020202020204" pitchFamily="34" charset="0"/>
                <a:cs typeface="Arial" panose="020B0604020202020204" pitchFamily="34" charset="0"/>
              </a:rPr>
              <a:t>(iii) 5</a:t>
            </a:r>
          </a:p>
          <a:p>
            <a:r>
              <a:rPr lang="en-US" sz="2400" dirty="0">
                <a:latin typeface="Century Gothic" panose="020B0502020202020204" pitchFamily="34" charset="0"/>
                <a:cs typeface="Arial" panose="020B0604020202020204" pitchFamily="34" charset="0"/>
              </a:rPr>
              <a:t>(iv) </a:t>
            </a:r>
            <a:r>
              <a:rPr lang="en-IN" sz="2400" dirty="0">
                <a:latin typeface="Century Gothic" panose="020B0502020202020204" pitchFamily="34" charset="0"/>
                <a:cs typeface="Arial" panose="020B0604020202020204" pitchFamily="34" charset="0"/>
              </a:rPr>
              <a:t>0</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iv</a:t>
            </a: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p:spTree>
    <p:extLst>
      <p:ext uri="{BB962C8B-B14F-4D97-AF65-F5344CB8AC3E}">
        <p14:creationId xmlns:p14="http://schemas.microsoft.com/office/powerpoint/2010/main" val="22909230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 calcmode="lin" valueType="num">
                                      <p:cBhvr additive="base">
                                        <p:cTn id="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697963" y="2006600"/>
            <a:ext cx="10046237"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Let A = { -1, 1, 2} the n(</a:t>
            </a:r>
            <a:r>
              <a:rPr lang="en-US" sz="2400" dirty="0" err="1">
                <a:latin typeface="Century Gothic" panose="020B0502020202020204" pitchFamily="34" charset="0"/>
                <a:cs typeface="Arial" panose="020B0604020202020204" pitchFamily="34" charset="0"/>
              </a:rPr>
              <a:t>AxAxA</a:t>
            </a:r>
            <a:r>
              <a:rPr lang="en-US" sz="2400" dirty="0">
                <a:latin typeface="Century Gothic" panose="020B0502020202020204" pitchFamily="34" charset="0"/>
                <a:cs typeface="Arial" panose="020B0604020202020204" pitchFamily="34" charset="0"/>
              </a:rPr>
              <a:t>) = .</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9</a:t>
            </a:r>
          </a:p>
          <a:p>
            <a:r>
              <a:rPr lang="en-US" sz="2400" dirty="0">
                <a:latin typeface="Century Gothic" panose="020B0502020202020204" pitchFamily="34" charset="0"/>
                <a:cs typeface="Arial" panose="020B0604020202020204" pitchFamily="34" charset="0"/>
              </a:rPr>
              <a:t>(ii) 16</a:t>
            </a:r>
          </a:p>
          <a:p>
            <a:r>
              <a:rPr lang="en-US" sz="2400" dirty="0">
                <a:latin typeface="Century Gothic" panose="020B0502020202020204" pitchFamily="34" charset="0"/>
                <a:cs typeface="Arial" panose="020B0604020202020204" pitchFamily="34" charset="0"/>
              </a:rPr>
              <a:t>(iii) 27</a:t>
            </a:r>
          </a:p>
          <a:p>
            <a:r>
              <a:rPr lang="en-US" sz="2400" dirty="0">
                <a:latin typeface="Century Gothic" panose="020B0502020202020204" pitchFamily="34" charset="0"/>
                <a:cs typeface="Arial" panose="020B0604020202020204" pitchFamily="34" charset="0"/>
              </a:rPr>
              <a:t>(iv) 3</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iii</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2</a:t>
            </a:r>
          </a:p>
        </p:txBody>
      </p:sp>
    </p:spTree>
    <p:extLst>
      <p:ext uri="{BB962C8B-B14F-4D97-AF65-F5344CB8AC3E}">
        <p14:creationId xmlns:p14="http://schemas.microsoft.com/office/powerpoint/2010/main" val="36310490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016001" y="1890118"/>
            <a:ext cx="10159999"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If (x-1, y+1) = (5,6), then the value of x and y is given by</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X = 5, y = 5</a:t>
            </a:r>
          </a:p>
          <a:p>
            <a:r>
              <a:rPr lang="en-US" sz="2400" dirty="0">
                <a:latin typeface="Century Gothic" panose="020B0502020202020204" pitchFamily="34" charset="0"/>
                <a:cs typeface="Arial" panose="020B0604020202020204" pitchFamily="34" charset="0"/>
              </a:rPr>
              <a:t>(ii) X = 6, y = 5</a:t>
            </a:r>
          </a:p>
          <a:p>
            <a:r>
              <a:rPr lang="en-US" sz="2400" dirty="0">
                <a:latin typeface="Century Gothic" panose="020B0502020202020204" pitchFamily="34" charset="0"/>
                <a:cs typeface="Arial" panose="020B0604020202020204" pitchFamily="34" charset="0"/>
              </a:rPr>
              <a:t>(iii) X = 5, y = 6 </a:t>
            </a:r>
          </a:p>
          <a:p>
            <a:r>
              <a:rPr lang="en-US" sz="2400" dirty="0">
                <a:latin typeface="Century Gothic" panose="020B0502020202020204" pitchFamily="34" charset="0"/>
                <a:cs typeface="Arial" panose="020B0604020202020204" pitchFamily="34" charset="0"/>
              </a:rPr>
              <a:t>(iv) X = 6, y = 6</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3</a:t>
            </a:r>
          </a:p>
        </p:txBody>
      </p:sp>
    </p:spTree>
    <p:extLst>
      <p:ext uri="{BB962C8B-B14F-4D97-AF65-F5344CB8AC3E}">
        <p14:creationId xmlns:p14="http://schemas.microsoft.com/office/powerpoint/2010/main" val="17281342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812800" y="889000"/>
            <a:ext cx="10566400" cy="3785652"/>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If n(A) = 3 and n(B) = 2, and if (x, 4), (y, 5), (z, 4) are distinct elements of </a:t>
            </a:r>
            <a:r>
              <a:rPr lang="en-US" sz="2400" dirty="0" err="1">
                <a:latin typeface="Century Gothic" panose="020B0502020202020204" pitchFamily="34" charset="0"/>
                <a:cs typeface="Arial" panose="020B0604020202020204" pitchFamily="34" charset="0"/>
              </a:rPr>
              <a:t>AxB</a:t>
            </a:r>
            <a:r>
              <a:rPr lang="en-US" sz="2400" dirty="0">
                <a:latin typeface="Century Gothic" panose="020B0502020202020204" pitchFamily="34" charset="0"/>
                <a:cs typeface="Arial" panose="020B0604020202020204" pitchFamily="34" charset="0"/>
              </a:rPr>
              <a:t>, then </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A = {x, y, z), B = {4, 5}</a:t>
            </a:r>
          </a:p>
          <a:p>
            <a:r>
              <a:rPr lang="en-US" sz="2400" dirty="0">
                <a:latin typeface="Century Gothic" panose="020B0502020202020204" pitchFamily="34" charset="0"/>
                <a:cs typeface="Arial" panose="020B0604020202020204" pitchFamily="34" charset="0"/>
              </a:rPr>
              <a:t>(ii) A= {x,4, 5}, B {y, z}</a:t>
            </a:r>
          </a:p>
          <a:p>
            <a:r>
              <a:rPr lang="en-US" sz="2400" dirty="0">
                <a:latin typeface="Century Gothic" panose="020B0502020202020204" pitchFamily="34" charset="0"/>
                <a:cs typeface="Arial" panose="020B0604020202020204" pitchFamily="34" charset="0"/>
              </a:rPr>
              <a:t>(iii) { }</a:t>
            </a:r>
          </a:p>
          <a:p>
            <a:r>
              <a:rPr lang="en-US" sz="2400" dirty="0">
                <a:latin typeface="Century Gothic" panose="020B0502020202020204" pitchFamily="34" charset="0"/>
                <a:cs typeface="Arial" panose="020B0604020202020204" pitchFamily="34" charset="0"/>
              </a:rPr>
              <a:t>(iv) A = {4, 5} , B = {x, y, z}</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4</a:t>
            </a:r>
          </a:p>
        </p:txBody>
      </p:sp>
    </p:spTree>
    <p:extLst>
      <p:ext uri="{BB962C8B-B14F-4D97-AF65-F5344CB8AC3E}">
        <p14:creationId xmlns:p14="http://schemas.microsoft.com/office/powerpoint/2010/main" val="8985410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660400" y="1701800"/>
            <a:ext cx="10871200"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If A has 4 elements and B = {5, 6}, then the number of elements in </a:t>
            </a:r>
            <a:r>
              <a:rPr lang="en-US" sz="2400" dirty="0" err="1">
                <a:latin typeface="Century Gothic" panose="020B0502020202020204" pitchFamily="34" charset="0"/>
                <a:cs typeface="Arial" panose="020B0604020202020204" pitchFamily="34" charset="0"/>
              </a:rPr>
              <a:t>AxB</a:t>
            </a:r>
            <a:endParaRPr lang="en-US" sz="2400" dirty="0">
              <a:latin typeface="Century Gothic" panose="020B0502020202020204" pitchFamily="34" charset="0"/>
              <a:cs typeface="Arial" panose="020B0604020202020204" pitchFamily="34" charset="0"/>
            </a:endParaRP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6</a:t>
            </a:r>
          </a:p>
          <a:p>
            <a:r>
              <a:rPr lang="en-US" sz="2400" dirty="0">
                <a:latin typeface="Century Gothic" panose="020B0502020202020204" pitchFamily="34" charset="0"/>
                <a:cs typeface="Arial" panose="020B0604020202020204" pitchFamily="34" charset="0"/>
              </a:rPr>
              <a:t>(ii) 8</a:t>
            </a:r>
          </a:p>
          <a:p>
            <a:r>
              <a:rPr lang="en-US" sz="2400" dirty="0">
                <a:latin typeface="Century Gothic" panose="020B0502020202020204" pitchFamily="34" charset="0"/>
                <a:cs typeface="Arial" panose="020B0604020202020204" pitchFamily="34" charset="0"/>
              </a:rPr>
              <a:t>(iii) 10</a:t>
            </a:r>
          </a:p>
          <a:p>
            <a:r>
              <a:rPr lang="en-US" sz="2400" dirty="0">
                <a:latin typeface="Century Gothic" panose="020B0502020202020204" pitchFamily="34" charset="0"/>
                <a:cs typeface="Arial" panose="020B0604020202020204" pitchFamily="34" charset="0"/>
              </a:rPr>
              <a:t>(iv) 12</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5</a:t>
            </a:r>
          </a:p>
        </p:txBody>
      </p:sp>
    </p:spTree>
    <p:extLst>
      <p:ext uri="{BB962C8B-B14F-4D97-AF65-F5344CB8AC3E}">
        <p14:creationId xmlns:p14="http://schemas.microsoft.com/office/powerpoint/2010/main" val="25553821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9932</TotalTime>
  <Words>8270</Words>
  <Application>Microsoft Office PowerPoint</Application>
  <PresentationFormat>Widescreen</PresentationFormat>
  <Paragraphs>879</Paragraphs>
  <Slides>84</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84</vt:i4>
      </vt:variant>
    </vt:vector>
  </HeadingPairs>
  <TitlesOfParts>
    <vt:vector size="90" baseType="lpstr">
      <vt:lpstr>Arial</vt:lpstr>
      <vt:lpstr>Calibri</vt:lpstr>
      <vt:lpstr>Century Gothic</vt:lpstr>
      <vt:lpstr>Times New Roman</vt:lpstr>
      <vt:lpstr>Default Design</vt:lpstr>
      <vt:lpstr>Equation</vt:lpstr>
      <vt:lpstr>Amity Institute of Information Technology BCA , Ist Semester  Basic Mathematics- Set Theory Dr Sarika Jain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Amity Institute of Information Technology MCA , Ist Semester  Graph Theory  Dr Sarika Jain</dc:title>
  <dc:creator>Lalit Kumar</dc:creator>
  <cp:lastModifiedBy>Sarika Jain</cp:lastModifiedBy>
  <cp:revision>52</cp:revision>
  <dcterms:created xsi:type="dcterms:W3CDTF">2020-09-10T06:54:54Z</dcterms:created>
  <dcterms:modified xsi:type="dcterms:W3CDTF">2025-01-24T06:00:00Z</dcterms:modified>
</cp:coreProperties>
</file>