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7" r:id="rId2"/>
    <p:sldId id="729" r:id="rId3"/>
    <p:sldId id="543" r:id="rId4"/>
    <p:sldId id="517" r:id="rId5"/>
    <p:sldId id="557" r:id="rId6"/>
    <p:sldId id="553" r:id="rId7"/>
    <p:sldId id="560" r:id="rId8"/>
    <p:sldId id="561" r:id="rId9"/>
    <p:sldId id="562" r:id="rId10"/>
    <p:sldId id="563" r:id="rId11"/>
    <p:sldId id="554" r:id="rId12"/>
    <p:sldId id="564" r:id="rId13"/>
    <p:sldId id="565" r:id="rId14"/>
    <p:sldId id="566" r:id="rId15"/>
    <p:sldId id="567" r:id="rId16"/>
    <p:sldId id="544" r:id="rId17"/>
    <p:sldId id="555" r:id="rId18"/>
    <p:sldId id="568" r:id="rId19"/>
    <p:sldId id="569" r:id="rId20"/>
    <p:sldId id="570" r:id="rId21"/>
    <p:sldId id="730" r:id="rId22"/>
    <p:sldId id="49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8" autoAdjust="0"/>
    <p:restoredTop sz="94660"/>
  </p:normalViewPr>
  <p:slideViewPr>
    <p:cSldViewPr snapToGrid="0">
      <p:cViewPr varScale="1">
        <p:scale>
          <a:sx n="86" d="100"/>
          <a:sy n="86" d="100"/>
        </p:scale>
        <p:origin x="42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7E02A8-DAC8-41C6-8BAF-14C41326EA52}" type="doc">
      <dgm:prSet loTypeId="urn:microsoft.com/office/officeart/2011/layout/CircleProcess" loCatId="officeonline" qsTypeId="urn:microsoft.com/office/officeart/2005/8/quickstyle/simple1" qsCatId="simple" csTypeId="urn:microsoft.com/office/officeart/2005/8/colors/accent1_2" csCatId="accent1" phldr="1"/>
      <dgm:spPr/>
      <dgm:t>
        <a:bodyPr/>
        <a:lstStyle/>
        <a:p>
          <a:endParaRPr lang="en-IN"/>
        </a:p>
      </dgm:t>
    </dgm:pt>
    <dgm:pt modelId="{3BD15BB1-DF1F-4E6C-A2B2-7E341C8A5513}">
      <dgm:prSet phldrT="[Text]" custT="1"/>
      <dgm:spPr>
        <a:ln>
          <a:solidFill>
            <a:srgbClr val="FFCC01"/>
          </a:solidFill>
        </a:ln>
      </dgm:spPr>
      <dgm:t>
        <a:bodyPr/>
        <a:lstStyle/>
        <a:p>
          <a:pPr>
            <a:buFontTx/>
            <a:buAutoNum type="arabicParenR"/>
          </a:pPr>
          <a:r>
            <a:rPr lang="en-US" altLang="en-US" sz="1500">
              <a:latin typeface="Century Gothic" panose="020B0502020202020204" pitchFamily="34" charset="0"/>
            </a:rPr>
            <a:t>Range</a:t>
          </a:r>
          <a:endParaRPr lang="en-IN" sz="1500">
            <a:latin typeface="Century Gothic" panose="020B0502020202020204" pitchFamily="34" charset="0"/>
          </a:endParaRPr>
        </a:p>
      </dgm:t>
    </dgm:pt>
    <dgm:pt modelId="{F4EDBA32-B2DD-4C34-9FD4-2E236BFF3244}" type="parTrans" cxnId="{E5733A5D-1913-4930-9783-C71C6FDD7025}">
      <dgm:prSet/>
      <dgm:spPr/>
      <dgm:t>
        <a:bodyPr/>
        <a:lstStyle/>
        <a:p>
          <a:endParaRPr lang="en-IN"/>
        </a:p>
      </dgm:t>
    </dgm:pt>
    <dgm:pt modelId="{997B0B48-8EAA-498A-B5A0-187E17DE7368}" type="sibTrans" cxnId="{E5733A5D-1913-4930-9783-C71C6FDD7025}">
      <dgm:prSet/>
      <dgm:spPr/>
      <dgm:t>
        <a:bodyPr/>
        <a:lstStyle/>
        <a:p>
          <a:endParaRPr lang="en-IN"/>
        </a:p>
      </dgm:t>
    </dgm:pt>
    <dgm:pt modelId="{D0DDDF82-7382-4D67-BA38-78AC257A14AC}">
      <dgm:prSet custT="1"/>
      <dgm:spPr>
        <a:ln>
          <a:solidFill>
            <a:srgbClr val="FFCC01"/>
          </a:solidFill>
        </a:ln>
      </dgm:spPr>
      <dgm:t>
        <a:bodyPr/>
        <a:lstStyle/>
        <a:p>
          <a:r>
            <a:rPr lang="en-US" altLang="en-US" sz="1500" dirty="0">
              <a:latin typeface="Century Gothic" panose="020B0502020202020204" pitchFamily="34" charset="0"/>
            </a:rPr>
            <a:t>Quartile Deviation</a:t>
          </a:r>
        </a:p>
      </dgm:t>
    </dgm:pt>
    <dgm:pt modelId="{3E4B7B02-C9AA-485D-B59C-B268C8C2EEAA}" type="parTrans" cxnId="{03C26D25-BB23-488E-97C7-7B107A6E8CCA}">
      <dgm:prSet/>
      <dgm:spPr/>
      <dgm:t>
        <a:bodyPr/>
        <a:lstStyle/>
        <a:p>
          <a:endParaRPr lang="en-IN"/>
        </a:p>
      </dgm:t>
    </dgm:pt>
    <dgm:pt modelId="{DDB8890F-A5E9-49ED-8B82-C963F4ACC2B7}" type="sibTrans" cxnId="{03C26D25-BB23-488E-97C7-7B107A6E8CCA}">
      <dgm:prSet/>
      <dgm:spPr/>
      <dgm:t>
        <a:bodyPr/>
        <a:lstStyle/>
        <a:p>
          <a:endParaRPr lang="en-IN"/>
        </a:p>
      </dgm:t>
    </dgm:pt>
    <dgm:pt modelId="{9602E6FB-B239-43E9-B357-B5877DD9F1DF}">
      <dgm:prSet custT="1"/>
      <dgm:spPr>
        <a:ln>
          <a:solidFill>
            <a:srgbClr val="FFCC01"/>
          </a:solidFill>
        </a:ln>
      </dgm:spPr>
      <dgm:t>
        <a:bodyPr/>
        <a:lstStyle/>
        <a:p>
          <a:r>
            <a:rPr lang="en-US" altLang="en-US" sz="1500" dirty="0">
              <a:latin typeface="Century Gothic" panose="020B0502020202020204" pitchFamily="34" charset="0"/>
            </a:rPr>
            <a:t>Mean Deviation</a:t>
          </a:r>
        </a:p>
      </dgm:t>
    </dgm:pt>
    <dgm:pt modelId="{8D5CDA14-9B72-4B7B-A375-84A22758C141}" type="parTrans" cxnId="{63661058-C728-4F10-8905-E3A3188E7A0A}">
      <dgm:prSet/>
      <dgm:spPr/>
      <dgm:t>
        <a:bodyPr/>
        <a:lstStyle/>
        <a:p>
          <a:endParaRPr lang="en-IN"/>
        </a:p>
      </dgm:t>
    </dgm:pt>
    <dgm:pt modelId="{FB2513F9-D76A-4FE9-8D72-951A20179B4F}" type="sibTrans" cxnId="{63661058-C728-4F10-8905-E3A3188E7A0A}">
      <dgm:prSet/>
      <dgm:spPr/>
      <dgm:t>
        <a:bodyPr/>
        <a:lstStyle/>
        <a:p>
          <a:endParaRPr lang="en-IN"/>
        </a:p>
      </dgm:t>
    </dgm:pt>
    <dgm:pt modelId="{1C679CD6-94A0-46E0-9543-635B11881EBE}">
      <dgm:prSet custT="1"/>
      <dgm:spPr>
        <a:ln>
          <a:solidFill>
            <a:srgbClr val="FFCC01"/>
          </a:solidFill>
        </a:ln>
      </dgm:spPr>
      <dgm:t>
        <a:bodyPr/>
        <a:lstStyle/>
        <a:p>
          <a:r>
            <a:rPr lang="en-US" altLang="en-US" sz="1500" dirty="0">
              <a:latin typeface="Century Gothic" panose="020B0502020202020204" pitchFamily="34" charset="0"/>
            </a:rPr>
            <a:t>Standard Deviation</a:t>
          </a:r>
          <a:endParaRPr lang="en-IN" altLang="en-US" sz="1500" dirty="0">
            <a:latin typeface="Century Gothic" panose="020B0502020202020204" pitchFamily="34" charset="0"/>
          </a:endParaRPr>
        </a:p>
      </dgm:t>
    </dgm:pt>
    <dgm:pt modelId="{C7A0FE6F-BC07-4A2C-A9C8-2273018282E5}" type="parTrans" cxnId="{2EB14603-B4A0-4351-A80A-AB1763345D58}">
      <dgm:prSet/>
      <dgm:spPr/>
      <dgm:t>
        <a:bodyPr/>
        <a:lstStyle/>
        <a:p>
          <a:endParaRPr lang="en-IN"/>
        </a:p>
      </dgm:t>
    </dgm:pt>
    <dgm:pt modelId="{C064FB31-9938-4F47-A113-739FB192FE27}" type="sibTrans" cxnId="{2EB14603-B4A0-4351-A80A-AB1763345D58}">
      <dgm:prSet/>
      <dgm:spPr/>
      <dgm:t>
        <a:bodyPr/>
        <a:lstStyle/>
        <a:p>
          <a:endParaRPr lang="en-IN"/>
        </a:p>
      </dgm:t>
    </dgm:pt>
    <dgm:pt modelId="{2C33BDAA-724B-43A2-B6DE-5617CE08A0B2}" type="pres">
      <dgm:prSet presAssocID="{E67E02A8-DAC8-41C6-8BAF-14C41326EA52}" presName="Name0" presStyleCnt="0">
        <dgm:presLayoutVars>
          <dgm:chMax val="11"/>
          <dgm:chPref val="11"/>
          <dgm:dir/>
          <dgm:resizeHandles/>
        </dgm:presLayoutVars>
      </dgm:prSet>
      <dgm:spPr/>
    </dgm:pt>
    <dgm:pt modelId="{0437B3C0-30A7-47E4-9EA9-06D196FE3C9A}" type="pres">
      <dgm:prSet presAssocID="{1C679CD6-94A0-46E0-9543-635B11881EBE}" presName="Accent4" presStyleCnt="0"/>
      <dgm:spPr/>
    </dgm:pt>
    <dgm:pt modelId="{82D9C6DB-2450-4630-BC02-6CD4C06532E3}" type="pres">
      <dgm:prSet presAssocID="{1C679CD6-94A0-46E0-9543-635B11881EBE}" presName="Accent" presStyleLbl="node1" presStyleIdx="0" presStyleCnt="4"/>
      <dgm:spPr>
        <a:solidFill>
          <a:srgbClr val="2C2C2C"/>
        </a:solidFill>
      </dgm:spPr>
    </dgm:pt>
    <dgm:pt modelId="{D3D281ED-9A34-428E-8448-C15B7862098B}" type="pres">
      <dgm:prSet presAssocID="{1C679CD6-94A0-46E0-9543-635B11881EBE}" presName="ParentBackground4" presStyleCnt="0"/>
      <dgm:spPr/>
    </dgm:pt>
    <dgm:pt modelId="{D91B04D4-39A8-474B-933A-A6FF7DF3F917}" type="pres">
      <dgm:prSet presAssocID="{1C679CD6-94A0-46E0-9543-635B11881EBE}" presName="ParentBackground" presStyleLbl="fgAcc1" presStyleIdx="0" presStyleCnt="4"/>
      <dgm:spPr/>
    </dgm:pt>
    <dgm:pt modelId="{FB764B80-EDF3-424E-AB2E-82FC9216C5B1}" type="pres">
      <dgm:prSet presAssocID="{1C679CD6-94A0-46E0-9543-635B11881EBE}" presName="Parent4" presStyleLbl="revTx" presStyleIdx="0" presStyleCnt="0">
        <dgm:presLayoutVars>
          <dgm:chMax val="1"/>
          <dgm:chPref val="1"/>
          <dgm:bulletEnabled val="1"/>
        </dgm:presLayoutVars>
      </dgm:prSet>
      <dgm:spPr/>
    </dgm:pt>
    <dgm:pt modelId="{81B5A30E-1348-44CA-8DEC-B9CC3D14BEE3}" type="pres">
      <dgm:prSet presAssocID="{9602E6FB-B239-43E9-B357-B5877DD9F1DF}" presName="Accent3" presStyleCnt="0"/>
      <dgm:spPr/>
    </dgm:pt>
    <dgm:pt modelId="{84FA9757-3E22-4BF3-BECB-31AB88B9F84A}" type="pres">
      <dgm:prSet presAssocID="{9602E6FB-B239-43E9-B357-B5877DD9F1DF}" presName="Accent" presStyleLbl="node1" presStyleIdx="1" presStyleCnt="4"/>
      <dgm:spPr>
        <a:solidFill>
          <a:srgbClr val="2C2C2C"/>
        </a:solidFill>
      </dgm:spPr>
    </dgm:pt>
    <dgm:pt modelId="{F08966EA-5B32-4830-B3C9-50B48AF5D6F0}" type="pres">
      <dgm:prSet presAssocID="{9602E6FB-B239-43E9-B357-B5877DD9F1DF}" presName="ParentBackground3" presStyleCnt="0"/>
      <dgm:spPr/>
    </dgm:pt>
    <dgm:pt modelId="{6AF9A4C0-6B3C-40C9-8533-1270FA5907F9}" type="pres">
      <dgm:prSet presAssocID="{9602E6FB-B239-43E9-B357-B5877DD9F1DF}" presName="ParentBackground" presStyleLbl="fgAcc1" presStyleIdx="1" presStyleCnt="4"/>
      <dgm:spPr/>
    </dgm:pt>
    <dgm:pt modelId="{1CD718FC-27A2-4D67-8021-ACA5A957DB51}" type="pres">
      <dgm:prSet presAssocID="{9602E6FB-B239-43E9-B357-B5877DD9F1DF}" presName="Parent3" presStyleLbl="revTx" presStyleIdx="0" presStyleCnt="0">
        <dgm:presLayoutVars>
          <dgm:chMax val="1"/>
          <dgm:chPref val="1"/>
          <dgm:bulletEnabled val="1"/>
        </dgm:presLayoutVars>
      </dgm:prSet>
      <dgm:spPr/>
    </dgm:pt>
    <dgm:pt modelId="{6DFBD7E2-DC22-4BC8-926E-9EBE7F00E8E4}" type="pres">
      <dgm:prSet presAssocID="{D0DDDF82-7382-4D67-BA38-78AC257A14AC}" presName="Accent2" presStyleCnt="0"/>
      <dgm:spPr/>
    </dgm:pt>
    <dgm:pt modelId="{0E165DE6-5B55-4385-A390-7B9433716B3B}" type="pres">
      <dgm:prSet presAssocID="{D0DDDF82-7382-4D67-BA38-78AC257A14AC}" presName="Accent" presStyleLbl="node1" presStyleIdx="2" presStyleCnt="4"/>
      <dgm:spPr>
        <a:solidFill>
          <a:srgbClr val="2C2C2C"/>
        </a:solidFill>
      </dgm:spPr>
    </dgm:pt>
    <dgm:pt modelId="{9BF7FF55-EDFE-43B1-8751-17B913DBB1A0}" type="pres">
      <dgm:prSet presAssocID="{D0DDDF82-7382-4D67-BA38-78AC257A14AC}" presName="ParentBackground2" presStyleCnt="0"/>
      <dgm:spPr/>
    </dgm:pt>
    <dgm:pt modelId="{A6610B66-7517-460F-B33C-CF7571F48705}" type="pres">
      <dgm:prSet presAssocID="{D0DDDF82-7382-4D67-BA38-78AC257A14AC}" presName="ParentBackground" presStyleLbl="fgAcc1" presStyleIdx="2" presStyleCnt="4"/>
      <dgm:spPr/>
    </dgm:pt>
    <dgm:pt modelId="{BA60103F-2377-4A42-BC21-F3DFEE71CBCF}" type="pres">
      <dgm:prSet presAssocID="{D0DDDF82-7382-4D67-BA38-78AC257A14AC}" presName="Parent2" presStyleLbl="revTx" presStyleIdx="0" presStyleCnt="0">
        <dgm:presLayoutVars>
          <dgm:chMax val="1"/>
          <dgm:chPref val="1"/>
          <dgm:bulletEnabled val="1"/>
        </dgm:presLayoutVars>
      </dgm:prSet>
      <dgm:spPr/>
    </dgm:pt>
    <dgm:pt modelId="{2882CC36-F449-4F06-A80A-634E798FD14E}" type="pres">
      <dgm:prSet presAssocID="{3BD15BB1-DF1F-4E6C-A2B2-7E341C8A5513}" presName="Accent1" presStyleCnt="0"/>
      <dgm:spPr/>
    </dgm:pt>
    <dgm:pt modelId="{CF35D901-4D33-4E7C-92CE-2D99A4D05B3B}" type="pres">
      <dgm:prSet presAssocID="{3BD15BB1-DF1F-4E6C-A2B2-7E341C8A5513}" presName="Accent" presStyleLbl="node1" presStyleIdx="3" presStyleCnt="4"/>
      <dgm:spPr>
        <a:solidFill>
          <a:srgbClr val="2C2C2C"/>
        </a:solidFill>
      </dgm:spPr>
    </dgm:pt>
    <dgm:pt modelId="{EE34136D-4687-4AB9-813E-A450137B5F50}" type="pres">
      <dgm:prSet presAssocID="{3BD15BB1-DF1F-4E6C-A2B2-7E341C8A5513}" presName="ParentBackground1" presStyleCnt="0"/>
      <dgm:spPr/>
    </dgm:pt>
    <dgm:pt modelId="{E5E1A056-C271-4F3F-8CF1-8320313680D0}" type="pres">
      <dgm:prSet presAssocID="{3BD15BB1-DF1F-4E6C-A2B2-7E341C8A5513}" presName="ParentBackground" presStyleLbl="fgAcc1" presStyleIdx="3" presStyleCnt="4"/>
      <dgm:spPr/>
    </dgm:pt>
    <dgm:pt modelId="{638D905B-62DD-4F66-9D98-3CA4D8C2CE4F}" type="pres">
      <dgm:prSet presAssocID="{3BD15BB1-DF1F-4E6C-A2B2-7E341C8A5513}" presName="Parent1" presStyleLbl="revTx" presStyleIdx="0" presStyleCnt="0">
        <dgm:presLayoutVars>
          <dgm:chMax val="1"/>
          <dgm:chPref val="1"/>
          <dgm:bulletEnabled val="1"/>
        </dgm:presLayoutVars>
      </dgm:prSet>
      <dgm:spPr/>
    </dgm:pt>
  </dgm:ptLst>
  <dgm:cxnLst>
    <dgm:cxn modelId="{2EB14603-B4A0-4351-A80A-AB1763345D58}" srcId="{E67E02A8-DAC8-41C6-8BAF-14C41326EA52}" destId="{1C679CD6-94A0-46E0-9543-635B11881EBE}" srcOrd="3" destOrd="0" parTransId="{C7A0FE6F-BC07-4A2C-A9C8-2273018282E5}" sibTransId="{C064FB31-9938-4F47-A113-739FB192FE27}"/>
    <dgm:cxn modelId="{66DAC016-DAD9-4AD8-931C-1A9B08E292EC}" type="presOf" srcId="{9602E6FB-B239-43E9-B357-B5877DD9F1DF}" destId="{1CD718FC-27A2-4D67-8021-ACA5A957DB51}" srcOrd="1" destOrd="0" presId="urn:microsoft.com/office/officeart/2011/layout/CircleProcess"/>
    <dgm:cxn modelId="{03C26D25-BB23-488E-97C7-7B107A6E8CCA}" srcId="{E67E02A8-DAC8-41C6-8BAF-14C41326EA52}" destId="{D0DDDF82-7382-4D67-BA38-78AC257A14AC}" srcOrd="1" destOrd="0" parTransId="{3E4B7B02-C9AA-485D-B59C-B268C8C2EEAA}" sibTransId="{DDB8890F-A5E9-49ED-8B82-C963F4ACC2B7}"/>
    <dgm:cxn modelId="{7DF61527-C298-4F6D-96F4-9524C9D6FA4E}" type="presOf" srcId="{9602E6FB-B239-43E9-B357-B5877DD9F1DF}" destId="{6AF9A4C0-6B3C-40C9-8533-1270FA5907F9}" srcOrd="0" destOrd="0" presId="urn:microsoft.com/office/officeart/2011/layout/CircleProcess"/>
    <dgm:cxn modelId="{C7E0982F-FAC1-450F-B661-C87A8A948BD8}" type="presOf" srcId="{1C679CD6-94A0-46E0-9543-635B11881EBE}" destId="{D91B04D4-39A8-474B-933A-A6FF7DF3F917}" srcOrd="0" destOrd="0" presId="urn:microsoft.com/office/officeart/2011/layout/CircleProcess"/>
    <dgm:cxn modelId="{E5733A5D-1913-4930-9783-C71C6FDD7025}" srcId="{E67E02A8-DAC8-41C6-8BAF-14C41326EA52}" destId="{3BD15BB1-DF1F-4E6C-A2B2-7E341C8A5513}" srcOrd="0" destOrd="0" parTransId="{F4EDBA32-B2DD-4C34-9FD4-2E236BFF3244}" sibTransId="{997B0B48-8EAA-498A-B5A0-187E17DE7368}"/>
    <dgm:cxn modelId="{633B5B42-A262-4C9B-BDB0-62FABC55657B}" type="presOf" srcId="{D0DDDF82-7382-4D67-BA38-78AC257A14AC}" destId="{BA60103F-2377-4A42-BC21-F3DFEE71CBCF}" srcOrd="1" destOrd="0" presId="urn:microsoft.com/office/officeart/2011/layout/CircleProcess"/>
    <dgm:cxn modelId="{50E2FF66-B414-41E0-9F38-FC894AAB46CA}" type="presOf" srcId="{3BD15BB1-DF1F-4E6C-A2B2-7E341C8A5513}" destId="{E5E1A056-C271-4F3F-8CF1-8320313680D0}" srcOrd="0" destOrd="0" presId="urn:microsoft.com/office/officeart/2011/layout/CircleProcess"/>
    <dgm:cxn modelId="{63661058-C728-4F10-8905-E3A3188E7A0A}" srcId="{E67E02A8-DAC8-41C6-8BAF-14C41326EA52}" destId="{9602E6FB-B239-43E9-B357-B5877DD9F1DF}" srcOrd="2" destOrd="0" parTransId="{8D5CDA14-9B72-4B7B-A375-84A22758C141}" sibTransId="{FB2513F9-D76A-4FE9-8D72-951A20179B4F}"/>
    <dgm:cxn modelId="{F641A18D-F041-4F8B-A5B4-B8C0B8B9B26A}" type="presOf" srcId="{3BD15BB1-DF1F-4E6C-A2B2-7E341C8A5513}" destId="{638D905B-62DD-4F66-9D98-3CA4D8C2CE4F}" srcOrd="1" destOrd="0" presId="urn:microsoft.com/office/officeart/2011/layout/CircleProcess"/>
    <dgm:cxn modelId="{32F520A6-F4EC-4838-8623-BD6D12E2DC62}" type="presOf" srcId="{E67E02A8-DAC8-41C6-8BAF-14C41326EA52}" destId="{2C33BDAA-724B-43A2-B6DE-5617CE08A0B2}" srcOrd="0" destOrd="0" presId="urn:microsoft.com/office/officeart/2011/layout/CircleProcess"/>
    <dgm:cxn modelId="{CD522FD1-EFE5-4ADA-B890-E77D4C1DD811}" type="presOf" srcId="{D0DDDF82-7382-4D67-BA38-78AC257A14AC}" destId="{A6610B66-7517-460F-B33C-CF7571F48705}" srcOrd="0" destOrd="0" presId="urn:microsoft.com/office/officeart/2011/layout/CircleProcess"/>
    <dgm:cxn modelId="{E2C32CF1-9460-453D-AD3B-94A2C87BFC01}" type="presOf" srcId="{1C679CD6-94A0-46E0-9543-635B11881EBE}" destId="{FB764B80-EDF3-424E-AB2E-82FC9216C5B1}" srcOrd="1" destOrd="0" presId="urn:microsoft.com/office/officeart/2011/layout/CircleProcess"/>
    <dgm:cxn modelId="{53AFEB95-B8F7-48B6-98B6-EF1784D56904}" type="presParOf" srcId="{2C33BDAA-724B-43A2-B6DE-5617CE08A0B2}" destId="{0437B3C0-30A7-47E4-9EA9-06D196FE3C9A}" srcOrd="0" destOrd="0" presId="urn:microsoft.com/office/officeart/2011/layout/CircleProcess"/>
    <dgm:cxn modelId="{F77DC211-E504-46AA-B367-0C5B1D48097A}" type="presParOf" srcId="{0437B3C0-30A7-47E4-9EA9-06D196FE3C9A}" destId="{82D9C6DB-2450-4630-BC02-6CD4C06532E3}" srcOrd="0" destOrd="0" presId="urn:microsoft.com/office/officeart/2011/layout/CircleProcess"/>
    <dgm:cxn modelId="{7A8BFFDA-3CE0-45CD-A4C1-29728A990819}" type="presParOf" srcId="{2C33BDAA-724B-43A2-B6DE-5617CE08A0B2}" destId="{D3D281ED-9A34-428E-8448-C15B7862098B}" srcOrd="1" destOrd="0" presId="urn:microsoft.com/office/officeart/2011/layout/CircleProcess"/>
    <dgm:cxn modelId="{3117C90F-3CBE-4FE8-BC78-F667A91256F3}" type="presParOf" srcId="{D3D281ED-9A34-428E-8448-C15B7862098B}" destId="{D91B04D4-39A8-474B-933A-A6FF7DF3F917}" srcOrd="0" destOrd="0" presId="urn:microsoft.com/office/officeart/2011/layout/CircleProcess"/>
    <dgm:cxn modelId="{898BFCE0-AFC7-4D29-B67E-AF2A7F64FC89}" type="presParOf" srcId="{2C33BDAA-724B-43A2-B6DE-5617CE08A0B2}" destId="{FB764B80-EDF3-424E-AB2E-82FC9216C5B1}" srcOrd="2" destOrd="0" presId="urn:microsoft.com/office/officeart/2011/layout/CircleProcess"/>
    <dgm:cxn modelId="{F6EA124F-D1F9-48DF-A025-7531274D789A}" type="presParOf" srcId="{2C33BDAA-724B-43A2-B6DE-5617CE08A0B2}" destId="{81B5A30E-1348-44CA-8DEC-B9CC3D14BEE3}" srcOrd="3" destOrd="0" presId="urn:microsoft.com/office/officeart/2011/layout/CircleProcess"/>
    <dgm:cxn modelId="{A5A803FE-ECE9-41BC-B4D6-5D50B16CFD0F}" type="presParOf" srcId="{81B5A30E-1348-44CA-8DEC-B9CC3D14BEE3}" destId="{84FA9757-3E22-4BF3-BECB-31AB88B9F84A}" srcOrd="0" destOrd="0" presId="urn:microsoft.com/office/officeart/2011/layout/CircleProcess"/>
    <dgm:cxn modelId="{43E45522-73ED-46F0-AB4C-C25CDFF10DBD}" type="presParOf" srcId="{2C33BDAA-724B-43A2-B6DE-5617CE08A0B2}" destId="{F08966EA-5B32-4830-B3C9-50B48AF5D6F0}" srcOrd="4" destOrd="0" presId="urn:microsoft.com/office/officeart/2011/layout/CircleProcess"/>
    <dgm:cxn modelId="{5B3C4B6A-FF7C-4494-B124-0550B834360D}" type="presParOf" srcId="{F08966EA-5B32-4830-B3C9-50B48AF5D6F0}" destId="{6AF9A4C0-6B3C-40C9-8533-1270FA5907F9}" srcOrd="0" destOrd="0" presId="urn:microsoft.com/office/officeart/2011/layout/CircleProcess"/>
    <dgm:cxn modelId="{AC5E3F58-D84E-4790-89AD-4F4AB3302FCD}" type="presParOf" srcId="{2C33BDAA-724B-43A2-B6DE-5617CE08A0B2}" destId="{1CD718FC-27A2-4D67-8021-ACA5A957DB51}" srcOrd="5" destOrd="0" presId="urn:microsoft.com/office/officeart/2011/layout/CircleProcess"/>
    <dgm:cxn modelId="{D358EBC1-6C27-475C-8EA5-AFE20A624C1F}" type="presParOf" srcId="{2C33BDAA-724B-43A2-B6DE-5617CE08A0B2}" destId="{6DFBD7E2-DC22-4BC8-926E-9EBE7F00E8E4}" srcOrd="6" destOrd="0" presId="urn:microsoft.com/office/officeart/2011/layout/CircleProcess"/>
    <dgm:cxn modelId="{3BF511FE-4AB6-4891-91B5-27C9AE5E1CA9}" type="presParOf" srcId="{6DFBD7E2-DC22-4BC8-926E-9EBE7F00E8E4}" destId="{0E165DE6-5B55-4385-A390-7B9433716B3B}" srcOrd="0" destOrd="0" presId="urn:microsoft.com/office/officeart/2011/layout/CircleProcess"/>
    <dgm:cxn modelId="{9A64C324-2B97-4D6E-9700-B8423B7BE6A1}" type="presParOf" srcId="{2C33BDAA-724B-43A2-B6DE-5617CE08A0B2}" destId="{9BF7FF55-EDFE-43B1-8751-17B913DBB1A0}" srcOrd="7" destOrd="0" presId="urn:microsoft.com/office/officeart/2011/layout/CircleProcess"/>
    <dgm:cxn modelId="{1A48E944-4B51-4D2E-8B12-7DBA80917C1E}" type="presParOf" srcId="{9BF7FF55-EDFE-43B1-8751-17B913DBB1A0}" destId="{A6610B66-7517-460F-B33C-CF7571F48705}" srcOrd="0" destOrd="0" presId="urn:microsoft.com/office/officeart/2011/layout/CircleProcess"/>
    <dgm:cxn modelId="{210C4466-6370-4E9C-84CB-193F6F5536B5}" type="presParOf" srcId="{2C33BDAA-724B-43A2-B6DE-5617CE08A0B2}" destId="{BA60103F-2377-4A42-BC21-F3DFEE71CBCF}" srcOrd="8" destOrd="0" presId="urn:microsoft.com/office/officeart/2011/layout/CircleProcess"/>
    <dgm:cxn modelId="{17325DCD-1B88-4B4C-A87F-2494BC38E79D}" type="presParOf" srcId="{2C33BDAA-724B-43A2-B6DE-5617CE08A0B2}" destId="{2882CC36-F449-4F06-A80A-634E798FD14E}" srcOrd="9" destOrd="0" presId="urn:microsoft.com/office/officeart/2011/layout/CircleProcess"/>
    <dgm:cxn modelId="{CEE9B360-0CE0-4E84-AB96-2E619E3EBA47}" type="presParOf" srcId="{2882CC36-F449-4F06-A80A-634E798FD14E}" destId="{CF35D901-4D33-4E7C-92CE-2D99A4D05B3B}" srcOrd="0" destOrd="0" presId="urn:microsoft.com/office/officeart/2011/layout/CircleProcess"/>
    <dgm:cxn modelId="{45FFF0DA-A44A-4F73-BD32-E5933415EBEB}" type="presParOf" srcId="{2C33BDAA-724B-43A2-B6DE-5617CE08A0B2}" destId="{EE34136D-4687-4AB9-813E-A450137B5F50}" srcOrd="10" destOrd="0" presId="urn:microsoft.com/office/officeart/2011/layout/CircleProcess"/>
    <dgm:cxn modelId="{4E2CD61F-63E2-4A2A-9BEC-AF8D1BA58685}" type="presParOf" srcId="{EE34136D-4687-4AB9-813E-A450137B5F50}" destId="{E5E1A056-C271-4F3F-8CF1-8320313680D0}" srcOrd="0" destOrd="0" presId="urn:microsoft.com/office/officeart/2011/layout/CircleProcess"/>
    <dgm:cxn modelId="{51E2E89D-A514-493C-AC3A-37EE58F22B64}" type="presParOf" srcId="{2C33BDAA-724B-43A2-B6DE-5617CE08A0B2}" destId="{638D905B-62DD-4F66-9D98-3CA4D8C2CE4F}" srcOrd="11"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D42899-61AD-4613-9B61-B96957FA3117}" type="doc">
      <dgm:prSet loTypeId="urn:microsoft.com/office/officeart/2005/8/layout/hProcess9" loCatId="process" qsTypeId="urn:microsoft.com/office/officeart/2005/8/quickstyle/simple4" qsCatId="simple" csTypeId="urn:microsoft.com/office/officeart/2005/8/colors/accent1_2" csCatId="accent1" phldr="1"/>
      <dgm:spPr/>
    </dgm:pt>
    <dgm:pt modelId="{156D3AE0-7D7D-4710-A846-BED8F3ECF95A}">
      <dgm:prSet phldrT="[Text]" custT="1"/>
      <dgm:spPr>
        <a:solidFill>
          <a:schemeClr val="bg1"/>
        </a:solidFill>
        <a:ln>
          <a:solidFill>
            <a:srgbClr val="FFCC01"/>
          </a:solidFill>
        </a:ln>
      </dgm:spPr>
      <dgm:t>
        <a:bodyPr/>
        <a:lstStyle/>
        <a:p>
          <a:pPr algn="just"/>
          <a:r>
            <a:rPr lang="en-US" altLang="en-US" sz="1500" dirty="0">
              <a:solidFill>
                <a:sysClr val="windowText" lastClr="000000"/>
              </a:solidFill>
              <a:latin typeface="Century Gothic" panose="020B0502020202020204" pitchFamily="34" charset="0"/>
              <a:cs typeface="Times New Roman" panose="02020603050405020304" pitchFamily="18" charset="0"/>
            </a:rPr>
            <a:t>The range is the difference between the largest and the smallest observation. Though it is easy to calculate, yet it is not reliable and depends entirely upon extreme values.</a:t>
          </a:r>
          <a:endParaRPr lang="en-IN" altLang="en-US" sz="1500" dirty="0">
            <a:solidFill>
              <a:sysClr val="windowText" lastClr="000000"/>
            </a:solidFill>
            <a:latin typeface="Century Gothic" panose="020B0502020202020204" pitchFamily="34" charset="0"/>
            <a:cs typeface="Times New Roman" panose="02020603050405020304" pitchFamily="18" charset="0"/>
          </a:endParaRPr>
        </a:p>
      </dgm:t>
    </dgm:pt>
    <dgm:pt modelId="{C2083F45-B3D7-4F20-AD37-70FBDEAA9ECE}" type="parTrans" cxnId="{EF8AD9BA-599E-45E0-B15B-AD92003589D1}">
      <dgm:prSet/>
      <dgm:spPr/>
      <dgm:t>
        <a:bodyPr/>
        <a:lstStyle/>
        <a:p>
          <a:endParaRPr lang="en-IN"/>
        </a:p>
      </dgm:t>
    </dgm:pt>
    <dgm:pt modelId="{485EC088-2F1C-4DEA-BF92-FAF18FF873E2}" type="sibTrans" cxnId="{EF8AD9BA-599E-45E0-B15B-AD92003589D1}">
      <dgm:prSet/>
      <dgm:spPr/>
      <dgm:t>
        <a:bodyPr/>
        <a:lstStyle/>
        <a:p>
          <a:endParaRPr lang="en-IN"/>
        </a:p>
      </dgm:t>
    </dgm:pt>
    <dgm:pt modelId="{49660859-6A0A-4E14-A701-38A54A4F8512}" type="pres">
      <dgm:prSet presAssocID="{7ED42899-61AD-4613-9B61-B96957FA3117}" presName="CompostProcess" presStyleCnt="0">
        <dgm:presLayoutVars>
          <dgm:dir/>
          <dgm:resizeHandles val="exact"/>
        </dgm:presLayoutVars>
      </dgm:prSet>
      <dgm:spPr/>
    </dgm:pt>
    <dgm:pt modelId="{3265F3B2-4DF8-4E68-9DB8-8C6D0B8F8E17}" type="pres">
      <dgm:prSet presAssocID="{7ED42899-61AD-4613-9B61-B96957FA3117}" presName="arrow" presStyleLbl="bgShp" presStyleIdx="0" presStyleCnt="1" custScaleX="117647" custScaleY="75132"/>
      <dgm:spPr>
        <a:solidFill>
          <a:srgbClr val="2C2C2C"/>
        </a:solidFill>
      </dgm:spPr>
    </dgm:pt>
    <dgm:pt modelId="{6451A6A6-42FD-47AB-9599-ED9CFA50F085}" type="pres">
      <dgm:prSet presAssocID="{7ED42899-61AD-4613-9B61-B96957FA3117}" presName="linearProcess" presStyleCnt="0"/>
      <dgm:spPr/>
    </dgm:pt>
    <dgm:pt modelId="{73092868-ADD3-43C1-8835-2880A771ECD8}" type="pres">
      <dgm:prSet presAssocID="{156D3AE0-7D7D-4710-A846-BED8F3ECF95A}" presName="textNode" presStyleLbl="node1" presStyleIdx="0" presStyleCnt="1" custScaleX="201455" custScaleY="75132">
        <dgm:presLayoutVars>
          <dgm:bulletEnabled val="1"/>
        </dgm:presLayoutVars>
      </dgm:prSet>
      <dgm:spPr/>
    </dgm:pt>
  </dgm:ptLst>
  <dgm:cxnLst>
    <dgm:cxn modelId="{ACE495B5-C76D-4A2E-9EB9-2031D700105D}" type="presOf" srcId="{7ED42899-61AD-4613-9B61-B96957FA3117}" destId="{49660859-6A0A-4E14-A701-38A54A4F8512}" srcOrd="0" destOrd="0" presId="urn:microsoft.com/office/officeart/2005/8/layout/hProcess9"/>
    <dgm:cxn modelId="{C94994B7-5352-4A7F-98D7-FC9EF25AA8E0}" type="presOf" srcId="{156D3AE0-7D7D-4710-A846-BED8F3ECF95A}" destId="{73092868-ADD3-43C1-8835-2880A771ECD8}" srcOrd="0" destOrd="0" presId="urn:microsoft.com/office/officeart/2005/8/layout/hProcess9"/>
    <dgm:cxn modelId="{EF8AD9BA-599E-45E0-B15B-AD92003589D1}" srcId="{7ED42899-61AD-4613-9B61-B96957FA3117}" destId="{156D3AE0-7D7D-4710-A846-BED8F3ECF95A}" srcOrd="0" destOrd="0" parTransId="{C2083F45-B3D7-4F20-AD37-70FBDEAA9ECE}" sibTransId="{485EC088-2F1C-4DEA-BF92-FAF18FF873E2}"/>
    <dgm:cxn modelId="{50876CB8-A4C0-4E9C-9227-524C67B6E0BF}" type="presParOf" srcId="{49660859-6A0A-4E14-A701-38A54A4F8512}" destId="{3265F3B2-4DF8-4E68-9DB8-8C6D0B8F8E17}" srcOrd="0" destOrd="0" presId="urn:microsoft.com/office/officeart/2005/8/layout/hProcess9"/>
    <dgm:cxn modelId="{B2753B1B-B6FD-4D61-A9B1-33A36C5AAB43}" type="presParOf" srcId="{49660859-6A0A-4E14-A701-38A54A4F8512}" destId="{6451A6A6-42FD-47AB-9599-ED9CFA50F085}" srcOrd="1" destOrd="0" presId="urn:microsoft.com/office/officeart/2005/8/layout/hProcess9"/>
    <dgm:cxn modelId="{0AE4F5DA-B47F-4BAE-B799-3053B21E761A}" type="presParOf" srcId="{6451A6A6-42FD-47AB-9599-ED9CFA50F085}" destId="{73092868-ADD3-43C1-8835-2880A771ECD8}"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9C6DB-2450-4630-BC02-6CD4C06532E3}">
      <dsp:nvSpPr>
        <dsp:cNvPr id="0" name=""/>
        <dsp:cNvSpPr/>
      </dsp:nvSpPr>
      <dsp:spPr>
        <a:xfrm>
          <a:off x="8147070" y="1219432"/>
          <a:ext cx="2438238" cy="2438363"/>
        </a:xfrm>
        <a:prstGeom prst="ellipse">
          <a:avLst/>
        </a:prstGeom>
        <a:solidFill>
          <a:srgbClr val="2C2C2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1B04D4-39A8-474B-933A-A6FF7DF3F917}">
      <dsp:nvSpPr>
        <dsp:cNvPr id="0" name=""/>
        <dsp:cNvSpPr/>
      </dsp:nvSpPr>
      <dsp:spPr>
        <a:xfrm>
          <a:off x="8228623" y="1300725"/>
          <a:ext cx="2276176" cy="2275776"/>
        </a:xfrm>
        <a:prstGeom prst="ellipse">
          <a:avLst/>
        </a:prstGeom>
        <a:solidFill>
          <a:schemeClr val="lt1">
            <a:alpha val="90000"/>
            <a:hueOff val="0"/>
            <a:satOff val="0"/>
            <a:lumOff val="0"/>
            <a:alphaOff val="0"/>
          </a:schemeClr>
        </a:solidFill>
        <a:ln w="12700" cap="flat" cmpd="sng" algn="ctr">
          <a:solidFill>
            <a:srgbClr val="FFCC0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latin typeface="Century Gothic" panose="020B0502020202020204" pitchFamily="34" charset="0"/>
            </a:rPr>
            <a:t>Standard Deviation</a:t>
          </a:r>
          <a:endParaRPr lang="en-IN" altLang="en-US" sz="1500" kern="1200" dirty="0">
            <a:latin typeface="Century Gothic" panose="020B0502020202020204" pitchFamily="34" charset="0"/>
          </a:endParaRPr>
        </a:p>
      </dsp:txBody>
      <dsp:txXfrm>
        <a:off x="8553791" y="1625897"/>
        <a:ext cx="1625840" cy="1625432"/>
      </dsp:txXfrm>
    </dsp:sp>
    <dsp:sp modelId="{84FA9757-3E22-4BF3-BECB-31AB88B9F84A}">
      <dsp:nvSpPr>
        <dsp:cNvPr id="0" name=""/>
        <dsp:cNvSpPr/>
      </dsp:nvSpPr>
      <dsp:spPr>
        <a:xfrm rot="2700000">
          <a:off x="5616803" y="1219260"/>
          <a:ext cx="2438278" cy="2438278"/>
        </a:xfrm>
        <a:prstGeom prst="teardrop">
          <a:avLst>
            <a:gd name="adj" fmla="val 100000"/>
          </a:avLst>
        </a:prstGeom>
        <a:solidFill>
          <a:srgbClr val="2C2C2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F9A4C0-6B3C-40C9-8533-1270FA5907F9}">
      <dsp:nvSpPr>
        <dsp:cNvPr id="0" name=""/>
        <dsp:cNvSpPr/>
      </dsp:nvSpPr>
      <dsp:spPr>
        <a:xfrm>
          <a:off x="5708832" y="1300725"/>
          <a:ext cx="2276176" cy="2275776"/>
        </a:xfrm>
        <a:prstGeom prst="ellipse">
          <a:avLst/>
        </a:prstGeom>
        <a:solidFill>
          <a:schemeClr val="lt1">
            <a:alpha val="90000"/>
            <a:hueOff val="0"/>
            <a:satOff val="0"/>
            <a:lumOff val="0"/>
            <a:alphaOff val="0"/>
          </a:schemeClr>
        </a:solidFill>
        <a:ln w="12700" cap="flat" cmpd="sng" algn="ctr">
          <a:solidFill>
            <a:srgbClr val="FFCC0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latin typeface="Century Gothic" panose="020B0502020202020204" pitchFamily="34" charset="0"/>
            </a:rPr>
            <a:t>Mean Deviation</a:t>
          </a:r>
        </a:p>
      </dsp:txBody>
      <dsp:txXfrm>
        <a:off x="6034000" y="1625897"/>
        <a:ext cx="1625840" cy="1625432"/>
      </dsp:txXfrm>
    </dsp:sp>
    <dsp:sp modelId="{0E165DE6-5B55-4385-A390-7B9433716B3B}">
      <dsp:nvSpPr>
        <dsp:cNvPr id="0" name=""/>
        <dsp:cNvSpPr/>
      </dsp:nvSpPr>
      <dsp:spPr>
        <a:xfrm rot="2700000">
          <a:off x="3107467" y="1219260"/>
          <a:ext cx="2438278" cy="2438278"/>
        </a:xfrm>
        <a:prstGeom prst="teardrop">
          <a:avLst>
            <a:gd name="adj" fmla="val 100000"/>
          </a:avLst>
        </a:prstGeom>
        <a:solidFill>
          <a:srgbClr val="2C2C2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610B66-7517-460F-B33C-CF7571F48705}">
      <dsp:nvSpPr>
        <dsp:cNvPr id="0" name=""/>
        <dsp:cNvSpPr/>
      </dsp:nvSpPr>
      <dsp:spPr>
        <a:xfrm>
          <a:off x="3189040" y="1300725"/>
          <a:ext cx="2276176" cy="2275776"/>
        </a:xfrm>
        <a:prstGeom prst="ellipse">
          <a:avLst/>
        </a:prstGeom>
        <a:solidFill>
          <a:schemeClr val="lt1">
            <a:alpha val="90000"/>
            <a:hueOff val="0"/>
            <a:satOff val="0"/>
            <a:lumOff val="0"/>
            <a:alphaOff val="0"/>
          </a:schemeClr>
        </a:solidFill>
        <a:ln w="12700" cap="flat" cmpd="sng" algn="ctr">
          <a:solidFill>
            <a:srgbClr val="FFCC0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latin typeface="Century Gothic" panose="020B0502020202020204" pitchFamily="34" charset="0"/>
            </a:rPr>
            <a:t>Quartile Deviation</a:t>
          </a:r>
        </a:p>
      </dsp:txBody>
      <dsp:txXfrm>
        <a:off x="3514208" y="1625897"/>
        <a:ext cx="1625840" cy="1625432"/>
      </dsp:txXfrm>
    </dsp:sp>
    <dsp:sp modelId="{CF35D901-4D33-4E7C-92CE-2D99A4D05B3B}">
      <dsp:nvSpPr>
        <dsp:cNvPr id="0" name=""/>
        <dsp:cNvSpPr/>
      </dsp:nvSpPr>
      <dsp:spPr>
        <a:xfrm rot="2700000">
          <a:off x="587675" y="1219260"/>
          <a:ext cx="2438278" cy="2438278"/>
        </a:xfrm>
        <a:prstGeom prst="teardrop">
          <a:avLst>
            <a:gd name="adj" fmla="val 100000"/>
          </a:avLst>
        </a:prstGeom>
        <a:solidFill>
          <a:srgbClr val="2C2C2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E1A056-C271-4F3F-8CF1-8320313680D0}">
      <dsp:nvSpPr>
        <dsp:cNvPr id="0" name=""/>
        <dsp:cNvSpPr/>
      </dsp:nvSpPr>
      <dsp:spPr>
        <a:xfrm>
          <a:off x="669248" y="1300725"/>
          <a:ext cx="2276176" cy="2275776"/>
        </a:xfrm>
        <a:prstGeom prst="ellipse">
          <a:avLst/>
        </a:prstGeom>
        <a:solidFill>
          <a:schemeClr val="lt1">
            <a:alpha val="90000"/>
            <a:hueOff val="0"/>
            <a:satOff val="0"/>
            <a:lumOff val="0"/>
            <a:alphaOff val="0"/>
          </a:schemeClr>
        </a:solidFill>
        <a:ln w="12700" cap="flat" cmpd="sng" algn="ctr">
          <a:solidFill>
            <a:srgbClr val="FFCC0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FontTx/>
            <a:buNone/>
          </a:pPr>
          <a:r>
            <a:rPr lang="en-US" altLang="en-US" sz="1500" kern="1200">
              <a:latin typeface="Century Gothic" panose="020B0502020202020204" pitchFamily="34" charset="0"/>
            </a:rPr>
            <a:t>Range</a:t>
          </a:r>
          <a:endParaRPr lang="en-IN" sz="1500" kern="1200">
            <a:latin typeface="Century Gothic" panose="020B0502020202020204" pitchFamily="34" charset="0"/>
          </a:endParaRPr>
        </a:p>
      </dsp:txBody>
      <dsp:txXfrm>
        <a:off x="994416" y="1625897"/>
        <a:ext cx="1625840" cy="16254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5F3B2-4DF8-4E68-9DB8-8C6D0B8F8E17}">
      <dsp:nvSpPr>
        <dsp:cNvPr id="0" name=""/>
        <dsp:cNvSpPr/>
      </dsp:nvSpPr>
      <dsp:spPr>
        <a:xfrm>
          <a:off x="2" y="606381"/>
          <a:ext cx="10667994" cy="3664037"/>
        </a:xfrm>
        <a:prstGeom prst="rightArrow">
          <a:avLst/>
        </a:prstGeom>
        <a:solidFill>
          <a:srgbClr val="2C2C2C"/>
        </a:solidFill>
        <a:ln>
          <a:noFill/>
        </a:ln>
        <a:effectLst/>
      </dsp:spPr>
      <dsp:style>
        <a:lnRef idx="0">
          <a:scrgbClr r="0" g="0" b="0"/>
        </a:lnRef>
        <a:fillRef idx="1">
          <a:scrgbClr r="0" g="0" b="0"/>
        </a:fillRef>
        <a:effectRef idx="2">
          <a:scrgbClr r="0" g="0" b="0"/>
        </a:effectRef>
        <a:fontRef idx="minor"/>
      </dsp:style>
    </dsp:sp>
    <dsp:sp modelId="{73092868-ADD3-43C1-8835-2880A771ECD8}">
      <dsp:nvSpPr>
        <dsp:cNvPr id="0" name=""/>
        <dsp:cNvSpPr/>
      </dsp:nvSpPr>
      <dsp:spPr>
        <a:xfrm>
          <a:off x="2110317" y="1705592"/>
          <a:ext cx="6447365" cy="1465614"/>
        </a:xfrm>
        <a:prstGeom prst="roundRect">
          <a:avLst/>
        </a:prstGeom>
        <a:solidFill>
          <a:schemeClr val="bg1"/>
        </a:solidFill>
        <a:ln>
          <a:solidFill>
            <a:srgbClr val="FFCC0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n-US" altLang="en-US" sz="1500" kern="1200" dirty="0">
              <a:solidFill>
                <a:sysClr val="windowText" lastClr="000000"/>
              </a:solidFill>
              <a:latin typeface="Century Gothic" panose="020B0502020202020204" pitchFamily="34" charset="0"/>
              <a:cs typeface="Times New Roman" panose="02020603050405020304" pitchFamily="18" charset="0"/>
            </a:rPr>
            <a:t>The range is the difference between the largest and the smallest observation. Though it is easy to calculate, yet it is not reliable and depends entirely upon extreme values.</a:t>
          </a:r>
          <a:endParaRPr lang="en-IN" altLang="en-US" sz="1500" kern="1200" dirty="0">
            <a:solidFill>
              <a:sysClr val="windowText" lastClr="000000"/>
            </a:solidFill>
            <a:latin typeface="Century Gothic" panose="020B0502020202020204" pitchFamily="34" charset="0"/>
            <a:cs typeface="Times New Roman" panose="02020603050405020304" pitchFamily="18" charset="0"/>
          </a:endParaRPr>
        </a:p>
      </dsp:txBody>
      <dsp:txXfrm>
        <a:off x="2181862" y="1777137"/>
        <a:ext cx="6304275" cy="1322524"/>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6D4FF-DEA4-4892-92B1-559585551894}" type="datetimeFigureOut">
              <a:rPr lang="en-IN" smtClean="0"/>
              <a:t>09-11-2020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A5FB5-0710-47CC-8F83-FD860005E88A}" type="slidenum">
              <a:rPr lang="en-IN" smtClean="0"/>
              <a:t>‹#›</a:t>
            </a:fld>
            <a:endParaRPr lang="en-IN"/>
          </a:p>
        </p:txBody>
      </p:sp>
    </p:spTree>
    <p:extLst>
      <p:ext uri="{BB962C8B-B14F-4D97-AF65-F5344CB8AC3E}">
        <p14:creationId xmlns:p14="http://schemas.microsoft.com/office/powerpoint/2010/main" val="241810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8F9BCF-6C3B-4706-A57E-62DF77EB85B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Amity Institute of Information Technology</a:t>
            </a:r>
          </a:p>
        </p:txBody>
      </p:sp>
      <p:sp>
        <p:nvSpPr>
          <p:cNvPr id="5123" name="Rectangle 7">
            <a:extLst>
              <a:ext uri="{FF2B5EF4-FFF2-40B4-BE49-F238E27FC236}">
                <a16:creationId xmlns:a16="http://schemas.microsoft.com/office/drawing/2014/main" id="{A9643575-2427-488D-9ACC-8601D357A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B0C161-B90F-4386-A4C0-CF9C7E8033D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Rectangle 2">
            <a:extLst>
              <a:ext uri="{FF2B5EF4-FFF2-40B4-BE49-F238E27FC236}">
                <a16:creationId xmlns:a16="http://schemas.microsoft.com/office/drawing/2014/main" id="{4B098021-E45A-46DC-8FB4-8B7C02CA01A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5DDACB0A-87E8-404A-9A9D-CEBF51E825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7294E0-43BA-4050-978A-B5F4E62A110E}" type="slidenum">
              <a:rPr lang="en-IN" smtClean="0"/>
              <a:pPr/>
              <a:t>2</a:t>
            </a:fld>
            <a:endParaRPr lang="en-IN" dirty="0"/>
          </a:p>
        </p:txBody>
      </p:sp>
    </p:spTree>
    <p:extLst>
      <p:ext uri="{BB962C8B-B14F-4D97-AF65-F5344CB8AC3E}">
        <p14:creationId xmlns:p14="http://schemas.microsoft.com/office/powerpoint/2010/main" val="2994825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697815AB-70D8-49EB-A36D-D442E40DD67F}"/>
              </a:ext>
            </a:extLst>
          </p:cNvPr>
          <p:cNvSpPr>
            <a:spLocks noGrp="1" noChangeArrowheads="1"/>
          </p:cNvSpPr>
          <p:nvPr>
            <p:ph type="sldNum" sz="quarter" idx="10"/>
          </p:nvPr>
        </p:nvSpPr>
        <p:spPr>
          <a:ln/>
        </p:spPr>
        <p:txBody>
          <a:bodyPr/>
          <a:lstStyle>
            <a:lvl1pPr>
              <a:defRPr/>
            </a:lvl1pPr>
          </a:lstStyle>
          <a:p>
            <a:pPr>
              <a:defRPr/>
            </a:pPr>
            <a:fld id="{2DBB581B-2F53-4A21-A360-4A739774B45E}" type="slidenum">
              <a:rPr lang="en-US" altLang="en-US"/>
              <a:pPr>
                <a:defRPr/>
              </a:pPr>
              <a:t>‹#›</a:t>
            </a:fld>
            <a:endParaRPr lang="en-US" altLang="en-US"/>
          </a:p>
        </p:txBody>
      </p:sp>
    </p:spTree>
    <p:extLst>
      <p:ext uri="{BB962C8B-B14F-4D97-AF65-F5344CB8AC3E}">
        <p14:creationId xmlns:p14="http://schemas.microsoft.com/office/powerpoint/2010/main" val="158778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DADD6217-5E64-455F-8FDC-A22BBF22A3A9}"/>
              </a:ext>
            </a:extLst>
          </p:cNvPr>
          <p:cNvSpPr>
            <a:spLocks noGrp="1" noChangeArrowheads="1"/>
          </p:cNvSpPr>
          <p:nvPr>
            <p:ph type="sldNum" sz="quarter" idx="10"/>
          </p:nvPr>
        </p:nvSpPr>
        <p:spPr>
          <a:ln/>
        </p:spPr>
        <p:txBody>
          <a:bodyPr/>
          <a:lstStyle>
            <a:lvl1pPr>
              <a:defRPr/>
            </a:lvl1pPr>
          </a:lstStyle>
          <a:p>
            <a:pPr>
              <a:defRPr/>
            </a:pPr>
            <a:fld id="{941F7A49-95A6-4D3E-8239-B64543B8D690}" type="slidenum">
              <a:rPr lang="en-US" altLang="en-US"/>
              <a:pPr>
                <a:defRPr/>
              </a:pPr>
              <a:t>‹#›</a:t>
            </a:fld>
            <a:endParaRPr lang="en-US" altLang="en-US"/>
          </a:p>
        </p:txBody>
      </p:sp>
    </p:spTree>
    <p:extLst>
      <p:ext uri="{BB962C8B-B14F-4D97-AF65-F5344CB8AC3E}">
        <p14:creationId xmlns:p14="http://schemas.microsoft.com/office/powerpoint/2010/main" val="189195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140E1339-A830-4559-98A3-35372A9481FD}"/>
              </a:ext>
            </a:extLst>
          </p:cNvPr>
          <p:cNvSpPr>
            <a:spLocks noGrp="1" noChangeArrowheads="1"/>
          </p:cNvSpPr>
          <p:nvPr>
            <p:ph type="sldNum" sz="quarter" idx="10"/>
          </p:nvPr>
        </p:nvSpPr>
        <p:spPr>
          <a:ln/>
        </p:spPr>
        <p:txBody>
          <a:bodyPr/>
          <a:lstStyle>
            <a:lvl1pPr>
              <a:defRPr/>
            </a:lvl1pPr>
          </a:lstStyle>
          <a:p>
            <a:pPr>
              <a:defRPr/>
            </a:pPr>
            <a:fld id="{27EC55A9-C5C2-4034-8C68-E5E00DA01365}" type="slidenum">
              <a:rPr lang="en-US" altLang="en-US"/>
              <a:pPr>
                <a:defRPr/>
              </a:pPr>
              <a:t>‹#›</a:t>
            </a:fld>
            <a:endParaRPr lang="en-US" altLang="en-US"/>
          </a:p>
        </p:txBody>
      </p:sp>
    </p:spTree>
    <p:extLst>
      <p:ext uri="{BB962C8B-B14F-4D97-AF65-F5344CB8AC3E}">
        <p14:creationId xmlns:p14="http://schemas.microsoft.com/office/powerpoint/2010/main" val="128151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2E924A73-6C50-4AC3-9D70-9BF5CD770347}"/>
              </a:ext>
            </a:extLst>
          </p:cNvPr>
          <p:cNvSpPr>
            <a:spLocks noGrp="1" noChangeArrowheads="1"/>
          </p:cNvSpPr>
          <p:nvPr>
            <p:ph type="sldNum" sz="quarter" idx="10"/>
          </p:nvPr>
        </p:nvSpPr>
        <p:spPr>
          <a:ln/>
        </p:spPr>
        <p:txBody>
          <a:bodyPr/>
          <a:lstStyle>
            <a:lvl1pPr>
              <a:defRPr/>
            </a:lvl1pPr>
          </a:lstStyle>
          <a:p>
            <a:pPr>
              <a:defRPr/>
            </a:pPr>
            <a:fld id="{BC88B6BB-978E-4895-9FE3-804546364DB5}" type="slidenum">
              <a:rPr lang="en-US" altLang="en-US"/>
              <a:pPr>
                <a:defRPr/>
              </a:pPr>
              <a:t>‹#›</a:t>
            </a:fld>
            <a:endParaRPr lang="en-US" altLang="en-US"/>
          </a:p>
        </p:txBody>
      </p:sp>
    </p:spTree>
    <p:extLst>
      <p:ext uri="{BB962C8B-B14F-4D97-AF65-F5344CB8AC3E}">
        <p14:creationId xmlns:p14="http://schemas.microsoft.com/office/powerpoint/2010/main" val="111234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56EA8121-B2D3-41F8-8E89-A3FE9A413EE6}"/>
              </a:ext>
            </a:extLst>
          </p:cNvPr>
          <p:cNvSpPr>
            <a:spLocks noGrp="1" noChangeArrowheads="1"/>
          </p:cNvSpPr>
          <p:nvPr>
            <p:ph type="sldNum" sz="quarter" idx="10"/>
          </p:nvPr>
        </p:nvSpPr>
        <p:spPr>
          <a:ln/>
        </p:spPr>
        <p:txBody>
          <a:bodyPr/>
          <a:lstStyle>
            <a:lvl1pPr>
              <a:defRPr/>
            </a:lvl1pPr>
          </a:lstStyle>
          <a:p>
            <a:pPr>
              <a:defRPr/>
            </a:pPr>
            <a:fld id="{A5E00F77-6DD8-4988-B35E-0535D76BCEF6}" type="slidenum">
              <a:rPr lang="en-US" altLang="en-US"/>
              <a:pPr>
                <a:defRPr/>
              </a:pPr>
              <a:t>‹#›</a:t>
            </a:fld>
            <a:endParaRPr lang="en-US" altLang="en-US"/>
          </a:p>
        </p:txBody>
      </p:sp>
    </p:spTree>
    <p:extLst>
      <p:ext uri="{BB962C8B-B14F-4D97-AF65-F5344CB8AC3E}">
        <p14:creationId xmlns:p14="http://schemas.microsoft.com/office/powerpoint/2010/main" val="347160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9A4A9970-884C-47F6-8626-E1D4CD9DE41A}"/>
              </a:ext>
            </a:extLst>
          </p:cNvPr>
          <p:cNvSpPr>
            <a:spLocks noGrp="1" noChangeArrowheads="1"/>
          </p:cNvSpPr>
          <p:nvPr>
            <p:ph type="sldNum" sz="quarter" idx="10"/>
          </p:nvPr>
        </p:nvSpPr>
        <p:spPr>
          <a:ln/>
        </p:spPr>
        <p:txBody>
          <a:bodyPr/>
          <a:lstStyle>
            <a:lvl1pPr>
              <a:defRPr/>
            </a:lvl1pPr>
          </a:lstStyle>
          <a:p>
            <a:pPr>
              <a:defRPr/>
            </a:pPr>
            <a:fld id="{4FFCD857-033F-41E3-AE3F-066F8AF172C6}" type="slidenum">
              <a:rPr lang="en-US" altLang="en-US"/>
              <a:pPr>
                <a:defRPr/>
              </a:pPr>
              <a:t>‹#›</a:t>
            </a:fld>
            <a:endParaRPr lang="en-US" altLang="en-US"/>
          </a:p>
        </p:txBody>
      </p:sp>
    </p:spTree>
    <p:extLst>
      <p:ext uri="{BB962C8B-B14F-4D97-AF65-F5344CB8AC3E}">
        <p14:creationId xmlns:p14="http://schemas.microsoft.com/office/powerpoint/2010/main" val="102726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EFACFA-D5B0-4964-A16D-E8A4CBC7117D}"/>
              </a:ext>
            </a:extLst>
          </p:cNvPr>
          <p:cNvSpPr>
            <a:spLocks noGrp="1" noChangeArrowheads="1"/>
          </p:cNvSpPr>
          <p:nvPr>
            <p:ph type="sldNum" sz="quarter" idx="10"/>
          </p:nvPr>
        </p:nvSpPr>
        <p:spPr>
          <a:ln/>
        </p:spPr>
        <p:txBody>
          <a:bodyPr/>
          <a:lstStyle>
            <a:lvl1pPr>
              <a:defRPr/>
            </a:lvl1pPr>
          </a:lstStyle>
          <a:p>
            <a:pPr>
              <a:defRPr/>
            </a:pPr>
            <a:fld id="{40CE7F4D-6297-41C0-ACE0-955D72B832BD}" type="slidenum">
              <a:rPr lang="en-US" altLang="en-US"/>
              <a:pPr>
                <a:defRPr/>
              </a:pPr>
              <a:t>‹#›</a:t>
            </a:fld>
            <a:endParaRPr lang="en-US" altLang="en-US"/>
          </a:p>
        </p:txBody>
      </p:sp>
    </p:spTree>
    <p:extLst>
      <p:ext uri="{BB962C8B-B14F-4D97-AF65-F5344CB8AC3E}">
        <p14:creationId xmlns:p14="http://schemas.microsoft.com/office/powerpoint/2010/main" val="20787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EB96FA9-73D7-4AB6-8917-C92D30A6B63A}"/>
              </a:ext>
            </a:extLst>
          </p:cNvPr>
          <p:cNvSpPr>
            <a:spLocks noGrp="1" noChangeArrowheads="1"/>
          </p:cNvSpPr>
          <p:nvPr>
            <p:ph type="sldNum" sz="quarter" idx="10"/>
          </p:nvPr>
        </p:nvSpPr>
        <p:spPr>
          <a:ln/>
        </p:spPr>
        <p:txBody>
          <a:bodyPr/>
          <a:lstStyle>
            <a:lvl1pPr>
              <a:defRPr/>
            </a:lvl1pPr>
          </a:lstStyle>
          <a:p>
            <a:pPr>
              <a:defRPr/>
            </a:pPr>
            <a:fld id="{69B29622-9F7E-4FEE-927C-378CA5783F19}" type="slidenum">
              <a:rPr lang="en-US" altLang="en-US"/>
              <a:pPr>
                <a:defRPr/>
              </a:pPr>
              <a:t>‹#›</a:t>
            </a:fld>
            <a:endParaRPr lang="en-US" altLang="en-US"/>
          </a:p>
        </p:txBody>
      </p:sp>
    </p:spTree>
    <p:extLst>
      <p:ext uri="{BB962C8B-B14F-4D97-AF65-F5344CB8AC3E}">
        <p14:creationId xmlns:p14="http://schemas.microsoft.com/office/powerpoint/2010/main" val="4776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F7CD70D-4D46-46B4-BEE2-A008FF3640C8}"/>
              </a:ext>
            </a:extLst>
          </p:cNvPr>
          <p:cNvSpPr>
            <a:spLocks noGrp="1" noChangeArrowheads="1"/>
          </p:cNvSpPr>
          <p:nvPr>
            <p:ph type="sldNum" sz="quarter" idx="10"/>
          </p:nvPr>
        </p:nvSpPr>
        <p:spPr>
          <a:ln/>
        </p:spPr>
        <p:txBody>
          <a:bodyPr/>
          <a:lstStyle>
            <a:lvl1pPr>
              <a:defRPr/>
            </a:lvl1pPr>
          </a:lstStyle>
          <a:p>
            <a:pPr>
              <a:defRPr/>
            </a:pPr>
            <a:fld id="{EF827498-146B-4988-8324-4FDA45D96EE1}" type="slidenum">
              <a:rPr lang="en-US" altLang="en-US"/>
              <a:pPr>
                <a:defRPr/>
              </a:pPr>
              <a:t>‹#›</a:t>
            </a:fld>
            <a:endParaRPr lang="en-US" altLang="en-US"/>
          </a:p>
        </p:txBody>
      </p:sp>
    </p:spTree>
    <p:extLst>
      <p:ext uri="{BB962C8B-B14F-4D97-AF65-F5344CB8AC3E}">
        <p14:creationId xmlns:p14="http://schemas.microsoft.com/office/powerpoint/2010/main" val="23018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8968565-86CB-4886-8DC6-AAC02891B8FB}"/>
              </a:ext>
            </a:extLst>
          </p:cNvPr>
          <p:cNvSpPr>
            <a:spLocks noGrp="1" noChangeArrowheads="1"/>
          </p:cNvSpPr>
          <p:nvPr>
            <p:ph type="sldNum" sz="quarter" idx="10"/>
          </p:nvPr>
        </p:nvSpPr>
        <p:spPr>
          <a:ln/>
        </p:spPr>
        <p:txBody>
          <a:bodyPr/>
          <a:lstStyle>
            <a:lvl1pPr>
              <a:defRPr/>
            </a:lvl1pPr>
          </a:lstStyle>
          <a:p>
            <a:pPr>
              <a:defRPr/>
            </a:pPr>
            <a:fld id="{1CF355AD-7026-4A51-92AC-BDE138BCA4A8}" type="slidenum">
              <a:rPr lang="en-US" altLang="en-US"/>
              <a:pPr>
                <a:defRPr/>
              </a:pPr>
              <a:t>‹#›</a:t>
            </a:fld>
            <a:endParaRPr lang="en-US" altLang="en-US"/>
          </a:p>
        </p:txBody>
      </p:sp>
    </p:spTree>
    <p:extLst>
      <p:ext uri="{BB962C8B-B14F-4D97-AF65-F5344CB8AC3E}">
        <p14:creationId xmlns:p14="http://schemas.microsoft.com/office/powerpoint/2010/main" val="12380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125B6C0-0E44-4A4E-819E-36CEE900B639}"/>
              </a:ext>
            </a:extLst>
          </p:cNvPr>
          <p:cNvSpPr>
            <a:spLocks noGrp="1" noChangeArrowheads="1"/>
          </p:cNvSpPr>
          <p:nvPr>
            <p:ph type="sldNum" sz="quarter" idx="10"/>
          </p:nvPr>
        </p:nvSpPr>
        <p:spPr>
          <a:ln/>
        </p:spPr>
        <p:txBody>
          <a:bodyPr/>
          <a:lstStyle>
            <a:lvl1pPr>
              <a:defRPr/>
            </a:lvl1pPr>
          </a:lstStyle>
          <a:p>
            <a:pPr>
              <a:defRPr/>
            </a:pPr>
            <a:fld id="{52F2FCC7-3B50-42FE-BACC-7717F049D3C3}" type="slidenum">
              <a:rPr lang="en-US" altLang="en-US"/>
              <a:pPr>
                <a:defRPr/>
              </a:pPr>
              <a:t>‹#›</a:t>
            </a:fld>
            <a:endParaRPr lang="en-US" altLang="en-US"/>
          </a:p>
        </p:txBody>
      </p:sp>
    </p:spTree>
    <p:extLst>
      <p:ext uri="{BB962C8B-B14F-4D97-AF65-F5344CB8AC3E}">
        <p14:creationId xmlns:p14="http://schemas.microsoft.com/office/powerpoint/2010/main" val="1695484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BD7087-FF66-4DC3-89BC-F97889426A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Picture 2" descr="A close up of a sign&#10;&#10;Description automatically generated">
            <a:extLst>
              <a:ext uri="{FF2B5EF4-FFF2-40B4-BE49-F238E27FC236}">
                <a16:creationId xmlns:a16="http://schemas.microsoft.com/office/drawing/2014/main" id="{E1123F4C-6A31-4C1F-A6F6-826F5AEAF06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44000" y="177800"/>
            <a:ext cx="2885445" cy="1202947"/>
          </a:xfrm>
          <a:prstGeom prst="rect">
            <a:avLst/>
          </a:prstGeom>
        </p:spPr>
      </p:pic>
    </p:spTree>
    <p:extLst>
      <p:ext uri="{BB962C8B-B14F-4D97-AF65-F5344CB8AC3E}">
        <p14:creationId xmlns:p14="http://schemas.microsoft.com/office/powerpoint/2010/main" val="556770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a:extLst>
              <a:ext uri="{FF2B5EF4-FFF2-40B4-BE49-F238E27FC236}">
                <a16:creationId xmlns:a16="http://schemas.microsoft.com/office/drawing/2014/main" id="{8449A887-5DE0-4487-B255-3AF567F9C73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b="83365"/>
          <a:stretch>
            <a:fillRect/>
          </a:stretch>
        </p:blipFill>
        <p:spPr bwMode="auto">
          <a:xfrm>
            <a:off x="0" y="76201"/>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3725FC8C-A2FB-4E54-9109-26A80C5FA7A2}"/>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smtClean="0"/>
            </a:lvl1pPr>
          </a:lstStyle>
          <a:p>
            <a:pPr>
              <a:defRPr/>
            </a:pPr>
            <a:fld id="{87D83082-6E93-47F3-BCEC-6D6F7AC7DA64}" type="slidenum">
              <a:rPr lang="en-US" altLang="en-US"/>
              <a:pPr>
                <a:defRPr/>
              </a:pPr>
              <a:t>‹#›</a:t>
            </a:fld>
            <a:endParaRPr lang="en-US" altLang="en-US"/>
          </a:p>
        </p:txBody>
      </p:sp>
      <p:sp>
        <p:nvSpPr>
          <p:cNvPr id="1028" name="Rectangle 8">
            <a:extLst>
              <a:ext uri="{FF2B5EF4-FFF2-40B4-BE49-F238E27FC236}">
                <a16:creationId xmlns:a16="http://schemas.microsoft.com/office/drawing/2014/main" id="{F2006CED-6E1C-4C80-84FC-50B3EA341DF5}"/>
              </a:ext>
            </a:extLst>
          </p:cNvPr>
          <p:cNvSpPr>
            <a:spLocks noChangeArrowheads="1"/>
          </p:cNvSpPr>
          <p:nvPr/>
        </p:nvSpPr>
        <p:spPr bwMode="auto">
          <a:xfrm>
            <a:off x="4656667" y="611188"/>
            <a:ext cx="721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600" b="1">
                <a:solidFill>
                  <a:schemeClr val="accent2"/>
                </a:solidFill>
              </a:rPr>
              <a:t>Amity Institute of Information Technology</a:t>
            </a:r>
          </a:p>
        </p:txBody>
      </p:sp>
      <p:sp>
        <p:nvSpPr>
          <p:cNvPr id="1029" name="Rectangle 10">
            <a:extLst>
              <a:ext uri="{FF2B5EF4-FFF2-40B4-BE49-F238E27FC236}">
                <a16:creationId xmlns:a16="http://schemas.microsoft.com/office/drawing/2014/main" id="{85D5D199-E1F6-467A-A88F-299499A5AE5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sz="1800"/>
          </a:p>
        </p:txBody>
      </p:sp>
    </p:spTree>
    <p:extLst>
      <p:ext uri="{BB962C8B-B14F-4D97-AF65-F5344CB8AC3E}">
        <p14:creationId xmlns:p14="http://schemas.microsoft.com/office/powerpoint/2010/main" val="694566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8469C9C1-BD22-4CF2-9C58-53B367FE92B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8AB5C7E-C987-4B17-8B6C-FB2215A95668}" type="slidenum">
              <a:rPr lang="en-US" altLang="en-US">
                <a:solidFill>
                  <a:srgbClr val="000000"/>
                </a:solidFill>
              </a:rPr>
              <a:pPr fontAlgn="base">
                <a:spcBef>
                  <a:spcPct val="0"/>
                </a:spcBef>
                <a:spcAft>
                  <a:spcPct val="0"/>
                </a:spcAft>
              </a:pPr>
              <a:t>1</a:t>
            </a:fld>
            <a:endParaRPr lang="en-US" altLang="en-US">
              <a:solidFill>
                <a:srgbClr val="000000"/>
              </a:solidFill>
            </a:endParaRPr>
          </a:p>
        </p:txBody>
      </p:sp>
      <p:sp>
        <p:nvSpPr>
          <p:cNvPr id="4099" name="Rectangle 4">
            <a:extLst>
              <a:ext uri="{FF2B5EF4-FFF2-40B4-BE49-F238E27FC236}">
                <a16:creationId xmlns:a16="http://schemas.microsoft.com/office/drawing/2014/main" id="{A377AE03-F191-4623-A034-86DA79FC7120}"/>
              </a:ext>
            </a:extLst>
          </p:cNvPr>
          <p:cNvSpPr>
            <a:spLocks noGrp="1" noChangeArrowheads="1"/>
          </p:cNvSpPr>
          <p:nvPr>
            <p:ph type="ctrTitle"/>
          </p:nvPr>
        </p:nvSpPr>
        <p:spPr bwMode="auto">
          <a:xfrm>
            <a:off x="2209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pPr>
            <a:r>
              <a:rPr lang="en-US" altLang="en-US" sz="4500" dirty="0">
                <a:solidFill>
                  <a:schemeClr val="tx1"/>
                </a:solidFill>
                <a:latin typeface="Times New Roman" panose="02020603050405020304" pitchFamily="18" charset="0"/>
              </a:rPr>
              <a:t>Amity Institute of Information Technology</a:t>
            </a:r>
            <a:br>
              <a:rPr lang="en-US" altLang="en-US" sz="4500" b="1" dirty="0">
                <a:solidFill>
                  <a:schemeClr val="tx1"/>
                </a:solidFill>
                <a:latin typeface="Times New Roman" panose="02020603050405020304" pitchFamily="18" charset="0"/>
              </a:rPr>
            </a:br>
            <a:r>
              <a:rPr lang="en-US" altLang="en-US" sz="2500" b="1" dirty="0">
                <a:solidFill>
                  <a:schemeClr val="tx1"/>
                </a:solidFill>
                <a:latin typeface="Times New Roman" panose="02020603050405020304" pitchFamily="18" charset="0"/>
              </a:rPr>
              <a:t>BCA </a:t>
            </a:r>
            <a:r>
              <a:rPr lang="en-US" altLang="en-US" sz="2500" dirty="0">
                <a:solidFill>
                  <a:schemeClr val="tx1"/>
                </a:solidFill>
                <a:latin typeface="Times New Roman" panose="02020603050405020304" pitchFamily="18" charset="0"/>
              </a:rPr>
              <a:t>, </a:t>
            </a:r>
            <a:r>
              <a:rPr lang="en-US" altLang="en-US" sz="2500" dirty="0" err="1">
                <a:solidFill>
                  <a:schemeClr val="tx1"/>
                </a:solidFill>
                <a:latin typeface="Times New Roman" panose="02020603050405020304" pitchFamily="18" charset="0"/>
              </a:rPr>
              <a:t>Ist</a:t>
            </a:r>
            <a:r>
              <a:rPr lang="en-US" altLang="en-US" sz="2500" dirty="0">
                <a:solidFill>
                  <a:schemeClr val="tx1"/>
                </a:solidFill>
                <a:latin typeface="Times New Roman" panose="02020603050405020304" pitchFamily="18" charset="0"/>
              </a:rPr>
              <a:t> Semester </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Basic Mathematics- Measure of Dispersion</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Dr Sarika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304589-BD54-45D9-A84C-DE8A3A67047B}"/>
              </a:ext>
            </a:extLst>
          </p:cNvPr>
          <p:cNvSpPr txBox="1"/>
          <p:nvPr/>
        </p:nvSpPr>
        <p:spPr>
          <a:xfrm>
            <a:off x="228600" y="3080187"/>
            <a:ext cx="11734800" cy="666786"/>
          </a:xfrm>
          <a:prstGeom prst="rect">
            <a:avLst/>
          </a:prstGeom>
          <a:noFill/>
        </p:spPr>
        <p:txBody>
          <a:bodyPr wrap="square" rtlCol="0">
            <a:spAutoFit/>
          </a:bodyPr>
          <a:lstStyle/>
          <a:p>
            <a:pPr algn="ctr"/>
            <a:r>
              <a:rPr lang="en-US" altLang="en-US" sz="3733" b="1" dirty="0">
                <a:solidFill>
                  <a:schemeClr val="bg1"/>
                </a:solidFill>
                <a:effectLst>
                  <a:outerShdw blurRad="38100" dist="38100" dir="2700000" algn="tl">
                    <a:srgbClr val="000000">
                      <a:alpha val="43137"/>
                    </a:srgbClr>
                  </a:outerShdw>
                </a:effectLst>
                <a:highlight>
                  <a:srgbClr val="00FF00"/>
                </a:highlight>
                <a:latin typeface="Century Gothic" panose="020B0502020202020204" pitchFamily="34" charset="0"/>
              </a:rPr>
              <a:t>Measure of Dispersion</a:t>
            </a:r>
          </a:p>
        </p:txBody>
      </p:sp>
    </p:spTree>
    <p:extLst>
      <p:ext uri="{BB962C8B-B14F-4D97-AF65-F5344CB8AC3E}">
        <p14:creationId xmlns:p14="http://schemas.microsoft.com/office/powerpoint/2010/main" val="376007607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5016758"/>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The central tendency though gives us an idea about the population from which the sample is taken, but it fails to give the more practical description while comparing different samples of different populations. This is more clear from  this example: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scores of marks (out of 40) of students of different sections are given as: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Section A: </a:t>
            </a:r>
            <a:r>
              <a:rPr lang="en-US" altLang="en-US" sz="2000" dirty="0">
                <a:latin typeface="Century Gothic" panose="020B0502020202020204" pitchFamily="34" charset="0"/>
                <a:cs typeface="Times New Roman" panose="02020603050405020304" pitchFamily="18" charset="0"/>
              </a:rPr>
              <a:t>7, 10, 12, 13, 15, 20, 21, 27, 30, 35</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Section B: </a:t>
            </a:r>
            <a:r>
              <a:rPr lang="en-US" altLang="en-US" sz="2000" dirty="0">
                <a:latin typeface="Century Gothic" panose="020B0502020202020204" pitchFamily="34" charset="0"/>
                <a:cs typeface="Times New Roman" panose="02020603050405020304" pitchFamily="18" charset="0"/>
              </a:rPr>
              <a:t>15, 15, 15, 15, 18, 19, 21, 22, 25, 25</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Section C:  </a:t>
            </a:r>
            <a:r>
              <a:rPr lang="en-US" altLang="en-US" sz="2000" dirty="0">
                <a:latin typeface="Century Gothic" panose="020B0502020202020204" pitchFamily="34" charset="0"/>
                <a:cs typeface="Times New Roman" panose="02020603050405020304" pitchFamily="18" charset="0"/>
              </a:rPr>
              <a:t>0, 5, 10, 10, 14, 23, 25, 30, 35, 38</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We observe that in each of the above three series there are 10 items and the average marks of students in each section is 19. But there is lot of difference in their formation, i.e. the quality of students in different sections is not same. The marks are spread out differently, i.e. the dispersion is different in each section.</a:t>
            </a:r>
          </a:p>
        </p:txBody>
      </p:sp>
      <p:sp>
        <p:nvSpPr>
          <p:cNvPr id="2" name="TextBox 1">
            <a:extLst>
              <a:ext uri="{FF2B5EF4-FFF2-40B4-BE49-F238E27FC236}">
                <a16:creationId xmlns:a16="http://schemas.microsoft.com/office/drawing/2014/main" id="{5E53F7AB-5CFF-43A5-A60B-16AA5F75ED4B}"/>
              </a:ext>
            </a:extLst>
          </p:cNvPr>
          <p:cNvSpPr txBox="1"/>
          <p:nvPr/>
        </p:nvSpPr>
        <p:spPr>
          <a:xfrm>
            <a:off x="4203410" y="353822"/>
            <a:ext cx="239841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Introduction</a:t>
            </a:r>
          </a:p>
        </p:txBody>
      </p:sp>
    </p:spTree>
    <p:extLst>
      <p:ext uri="{BB962C8B-B14F-4D97-AF65-F5344CB8AC3E}">
        <p14:creationId xmlns:p14="http://schemas.microsoft.com/office/powerpoint/2010/main" val="2340544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53F7AB-5CFF-43A5-A60B-16AA5F75ED4B}"/>
              </a:ext>
            </a:extLst>
          </p:cNvPr>
          <p:cNvSpPr txBox="1"/>
          <p:nvPr/>
        </p:nvSpPr>
        <p:spPr>
          <a:xfrm>
            <a:off x="2942780" y="282801"/>
            <a:ext cx="429636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Measures of Dispersion</a:t>
            </a:r>
          </a:p>
        </p:txBody>
      </p:sp>
      <p:graphicFrame>
        <p:nvGraphicFramePr>
          <p:cNvPr id="3" name="Diagram 2">
            <a:extLst>
              <a:ext uri="{FF2B5EF4-FFF2-40B4-BE49-F238E27FC236}">
                <a16:creationId xmlns:a16="http://schemas.microsoft.com/office/drawing/2014/main" id="{DAB26F45-62E4-40AD-8AA9-52D88731F075}"/>
              </a:ext>
            </a:extLst>
          </p:cNvPr>
          <p:cNvGraphicFramePr/>
          <p:nvPr/>
        </p:nvGraphicFramePr>
        <p:xfrm>
          <a:off x="711200" y="1600200"/>
          <a:ext cx="106680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4997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graphicEl>
                                              <a:dgm id="{CF35D901-4D33-4E7C-92CE-2D99A4D05B3B}"/>
                                            </p:graphicEl>
                                          </p:spTgt>
                                        </p:tgtEl>
                                        <p:attrNameLst>
                                          <p:attrName>style.visibility</p:attrName>
                                        </p:attrNameLst>
                                      </p:cBhvr>
                                      <p:to>
                                        <p:strVal val="visible"/>
                                      </p:to>
                                    </p:set>
                                    <p:animEffect transition="in" filter="wipe(left)">
                                      <p:cBhvr>
                                        <p:cTn id="7" dur="500"/>
                                        <p:tgtEl>
                                          <p:spTgt spid="3">
                                            <p:graphicEl>
                                              <a:dgm id="{CF35D901-4D33-4E7C-92CE-2D99A4D05B3B}"/>
                                            </p:graphic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graphicEl>
                                              <a:dgm id="{E5E1A056-C271-4F3F-8CF1-8320313680D0}"/>
                                            </p:graphicEl>
                                          </p:spTgt>
                                        </p:tgtEl>
                                        <p:attrNameLst>
                                          <p:attrName>style.visibility</p:attrName>
                                        </p:attrNameLst>
                                      </p:cBhvr>
                                      <p:to>
                                        <p:strVal val="visible"/>
                                      </p:to>
                                    </p:set>
                                    <p:animEffect transition="in" filter="wipe(left)">
                                      <p:cBhvr>
                                        <p:cTn id="10" dur="500"/>
                                        <p:tgtEl>
                                          <p:spTgt spid="3">
                                            <p:graphicEl>
                                              <a:dgm id="{E5E1A056-C271-4F3F-8CF1-8320313680D0}"/>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graphicEl>
                                              <a:dgm id="{0E165DE6-5B55-4385-A390-7B9433716B3B}"/>
                                            </p:graphicEl>
                                          </p:spTgt>
                                        </p:tgtEl>
                                        <p:attrNameLst>
                                          <p:attrName>style.visibility</p:attrName>
                                        </p:attrNameLst>
                                      </p:cBhvr>
                                      <p:to>
                                        <p:strVal val="visible"/>
                                      </p:to>
                                    </p:set>
                                    <p:animEffect transition="in" filter="wipe(left)">
                                      <p:cBhvr>
                                        <p:cTn id="15" dur="500"/>
                                        <p:tgtEl>
                                          <p:spTgt spid="3">
                                            <p:graphicEl>
                                              <a:dgm id="{0E165DE6-5B55-4385-A390-7B9433716B3B}"/>
                                            </p:graphic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
                                            <p:graphicEl>
                                              <a:dgm id="{A6610B66-7517-460F-B33C-CF7571F48705}"/>
                                            </p:graphicEl>
                                          </p:spTgt>
                                        </p:tgtEl>
                                        <p:attrNameLst>
                                          <p:attrName>style.visibility</p:attrName>
                                        </p:attrNameLst>
                                      </p:cBhvr>
                                      <p:to>
                                        <p:strVal val="visible"/>
                                      </p:to>
                                    </p:set>
                                    <p:animEffect transition="in" filter="wipe(left)">
                                      <p:cBhvr>
                                        <p:cTn id="18" dur="500"/>
                                        <p:tgtEl>
                                          <p:spTgt spid="3">
                                            <p:graphicEl>
                                              <a:dgm id="{A6610B66-7517-460F-B33C-CF7571F48705}"/>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graphicEl>
                                              <a:dgm id="{84FA9757-3E22-4BF3-BECB-31AB88B9F84A}"/>
                                            </p:graphicEl>
                                          </p:spTgt>
                                        </p:tgtEl>
                                        <p:attrNameLst>
                                          <p:attrName>style.visibility</p:attrName>
                                        </p:attrNameLst>
                                      </p:cBhvr>
                                      <p:to>
                                        <p:strVal val="visible"/>
                                      </p:to>
                                    </p:set>
                                    <p:animEffect transition="in" filter="wipe(left)">
                                      <p:cBhvr>
                                        <p:cTn id="23" dur="500"/>
                                        <p:tgtEl>
                                          <p:spTgt spid="3">
                                            <p:graphicEl>
                                              <a:dgm id="{84FA9757-3E22-4BF3-BECB-31AB88B9F84A}"/>
                                            </p:graphic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
                                            <p:graphicEl>
                                              <a:dgm id="{6AF9A4C0-6B3C-40C9-8533-1270FA5907F9}"/>
                                            </p:graphicEl>
                                          </p:spTgt>
                                        </p:tgtEl>
                                        <p:attrNameLst>
                                          <p:attrName>style.visibility</p:attrName>
                                        </p:attrNameLst>
                                      </p:cBhvr>
                                      <p:to>
                                        <p:strVal val="visible"/>
                                      </p:to>
                                    </p:set>
                                    <p:animEffect transition="in" filter="wipe(left)">
                                      <p:cBhvr>
                                        <p:cTn id="26" dur="500"/>
                                        <p:tgtEl>
                                          <p:spTgt spid="3">
                                            <p:graphicEl>
                                              <a:dgm id="{6AF9A4C0-6B3C-40C9-8533-1270FA5907F9}"/>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graphicEl>
                                              <a:dgm id="{82D9C6DB-2450-4630-BC02-6CD4C06532E3}"/>
                                            </p:graphicEl>
                                          </p:spTgt>
                                        </p:tgtEl>
                                        <p:attrNameLst>
                                          <p:attrName>style.visibility</p:attrName>
                                        </p:attrNameLst>
                                      </p:cBhvr>
                                      <p:to>
                                        <p:strVal val="visible"/>
                                      </p:to>
                                    </p:set>
                                    <p:animEffect transition="in" filter="wipe(left)">
                                      <p:cBhvr>
                                        <p:cTn id="31" dur="500"/>
                                        <p:tgtEl>
                                          <p:spTgt spid="3">
                                            <p:graphicEl>
                                              <a:dgm id="{82D9C6DB-2450-4630-BC02-6CD4C06532E3}"/>
                                            </p:graphic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
                                            <p:graphicEl>
                                              <a:dgm id="{D91B04D4-39A8-474B-933A-A6FF7DF3F917}"/>
                                            </p:graphicEl>
                                          </p:spTgt>
                                        </p:tgtEl>
                                        <p:attrNameLst>
                                          <p:attrName>style.visibility</p:attrName>
                                        </p:attrNameLst>
                                      </p:cBhvr>
                                      <p:to>
                                        <p:strVal val="visible"/>
                                      </p:to>
                                    </p:set>
                                    <p:animEffect transition="in" filter="wipe(left)">
                                      <p:cBhvr>
                                        <p:cTn id="34" dur="500"/>
                                        <p:tgtEl>
                                          <p:spTgt spid="3">
                                            <p:graphicEl>
                                              <a:dgm id="{D91B04D4-39A8-474B-933A-A6FF7DF3F91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53F7AB-5CFF-43A5-A60B-16AA5F75ED4B}"/>
              </a:ext>
            </a:extLst>
          </p:cNvPr>
          <p:cNvSpPr txBox="1"/>
          <p:nvPr/>
        </p:nvSpPr>
        <p:spPr>
          <a:xfrm>
            <a:off x="4701066" y="381000"/>
            <a:ext cx="1394934"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Range</a:t>
            </a:r>
          </a:p>
        </p:txBody>
      </p:sp>
      <p:graphicFrame>
        <p:nvGraphicFramePr>
          <p:cNvPr id="4" name="Diagram 3">
            <a:extLst>
              <a:ext uri="{FF2B5EF4-FFF2-40B4-BE49-F238E27FC236}">
                <a16:creationId xmlns:a16="http://schemas.microsoft.com/office/drawing/2014/main" id="{5ACDB186-86C6-4A3D-A7DD-5E4A081B6920}"/>
              </a:ext>
            </a:extLst>
          </p:cNvPr>
          <p:cNvGraphicFramePr/>
          <p:nvPr/>
        </p:nvGraphicFramePr>
        <p:xfrm>
          <a:off x="711200" y="1600200"/>
          <a:ext cx="106680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94002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3265F3B2-4DF8-4E68-9DB8-8C6D0B8F8E17}"/>
                                            </p:graphicEl>
                                          </p:spTgt>
                                        </p:tgtEl>
                                        <p:attrNameLst>
                                          <p:attrName>style.visibility</p:attrName>
                                        </p:attrNameLst>
                                      </p:cBhvr>
                                      <p:to>
                                        <p:strVal val="visible"/>
                                      </p:to>
                                    </p:set>
                                    <p:animEffect transition="in" filter="wipe(left)">
                                      <p:cBhvr>
                                        <p:cTn id="7" dur="500"/>
                                        <p:tgtEl>
                                          <p:spTgt spid="4">
                                            <p:graphicEl>
                                              <a:dgm id="{3265F3B2-4DF8-4E68-9DB8-8C6D0B8F8E1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73092868-ADD3-43C1-8835-2880A771ECD8}"/>
                                            </p:graphicEl>
                                          </p:spTgt>
                                        </p:tgtEl>
                                        <p:attrNameLst>
                                          <p:attrName>style.visibility</p:attrName>
                                        </p:attrNameLst>
                                      </p:cBhvr>
                                      <p:to>
                                        <p:strVal val="visible"/>
                                      </p:to>
                                    </p:set>
                                    <p:animEffect transition="in" filter="wipe(left)">
                                      <p:cBhvr>
                                        <p:cTn id="12" dur="500"/>
                                        <p:tgtEl>
                                          <p:spTgt spid="4">
                                            <p:graphicEl>
                                              <a:dgm id="{73092868-ADD3-43C1-8835-2880A771ECD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659913"/>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It is half of the difference between the upper and lower quartiles, i.e.</a:t>
                </a:r>
              </a:p>
              <a:p>
                <a:pPr algn="just"/>
                <a:endParaRPr lang="en-US" altLang="en-US" sz="2000" dirty="0">
                  <a:latin typeface="Century Gothic" panose="020B050202020202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f>
                        <m:fPr>
                          <m:ctrlPr>
                            <a:rPr lang="en-IN" sz="2000" i="1">
                              <a:solidFill>
                                <a:srgbClr val="000000"/>
                              </a:solidFill>
                              <a:latin typeface="Cambria Math" panose="02040503050406030204" pitchFamily="18" charset="0"/>
                            </a:rPr>
                          </m:ctrlPr>
                        </m:fPr>
                        <m:num>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𝑄</m:t>
                              </m:r>
                            </m:e>
                            <m:sub>
                              <m:r>
                                <a:rPr lang="en-IN" sz="2000" i="1">
                                  <a:solidFill>
                                    <a:srgbClr val="000000"/>
                                  </a:solidFill>
                                  <a:latin typeface="Cambria Math" panose="02040503050406030204" pitchFamily="18" charset="0"/>
                                </a:rPr>
                                <m:t>3</m:t>
                              </m:r>
                            </m:sub>
                          </m:sSub>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𝑄</m:t>
                              </m:r>
                            </m:e>
                            <m:sub>
                              <m:r>
                                <a:rPr lang="en-IN" sz="2000" i="1">
                                  <a:solidFill>
                                    <a:srgbClr val="000000"/>
                                  </a:solidFill>
                                  <a:latin typeface="Cambria Math" panose="02040503050406030204" pitchFamily="18" charset="0"/>
                                </a:rPr>
                                <m:t>1</m:t>
                              </m:r>
                            </m:sub>
                          </m:sSub>
                        </m:num>
                        <m:den>
                          <m:r>
                            <a:rPr lang="en-IN" sz="2000" i="1">
                              <a:solidFill>
                                <a:srgbClr val="000000"/>
                              </a:solidFill>
                              <a:latin typeface="Cambria Math" panose="02040503050406030204" pitchFamily="18" charset="0"/>
                            </a:rPr>
                            <m:t>2</m:t>
                          </m:r>
                        </m:den>
                      </m:f>
                    </m:oMath>
                  </m:oMathPara>
                </a14:m>
                <a:endParaRPr lang="en-IN" sz="2000" dirty="0"/>
              </a:p>
              <a:p>
                <a:pPr algn="just"/>
                <a:endParaRPr lang="en-IN" sz="2133" dirty="0"/>
              </a:p>
              <a:p>
                <a:pPr algn="just"/>
                <a:r>
                  <a:rPr lang="en-US" altLang="en-US" sz="2000" dirty="0">
                    <a:latin typeface="Century Gothic" panose="020B0502020202020204" pitchFamily="34" charset="0"/>
                    <a:cs typeface="Times New Roman" panose="02020603050405020304" pitchFamily="18" charset="0"/>
                  </a:rPr>
                  <a:t>It is also called Semi Inter Quartile range.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For comparing two or more series for variability, the measure of quartile deviation will not work. For this purpose we calculate coefficient of Q.D. which is given as ,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Coeff. of Q = </a:t>
                </a:r>
                <a14:m>
                  <m:oMath xmlns:m="http://schemas.openxmlformats.org/officeDocument/2006/math">
                    <m:f>
                      <m:fPr>
                        <m:ctrlPr>
                          <a:rPr lang="en-IN" sz="2133" i="1">
                            <a:solidFill>
                              <a:srgbClr val="000000"/>
                            </a:solidFill>
                            <a:latin typeface="Cambria Math" panose="02040503050406030204" pitchFamily="18" charset="0"/>
                          </a:rPr>
                        </m:ctrlPr>
                      </m:fPr>
                      <m:num>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𝑄</m:t>
                            </m:r>
                          </m:e>
                          <m:sub>
                            <m:r>
                              <a:rPr lang="en-IN" sz="2133" i="1">
                                <a:solidFill>
                                  <a:srgbClr val="000000"/>
                                </a:solidFill>
                                <a:latin typeface="Cambria Math" panose="02040503050406030204" pitchFamily="18" charset="0"/>
                              </a:rPr>
                              <m:t>3</m:t>
                            </m:r>
                          </m:sub>
                        </m:sSub>
                        <m:r>
                          <a:rPr lang="en-IN" sz="2133" i="1">
                            <a:solidFill>
                              <a:srgbClr val="000000"/>
                            </a:solidFill>
                            <a:latin typeface="Cambria Math" panose="02040503050406030204" pitchFamily="18" charset="0"/>
                          </a:rPr>
                          <m:t>−</m:t>
                        </m:r>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𝑄</m:t>
                            </m:r>
                          </m:e>
                          <m:sub>
                            <m:r>
                              <a:rPr lang="en-IN" sz="2133" i="1">
                                <a:solidFill>
                                  <a:srgbClr val="000000"/>
                                </a:solidFill>
                                <a:latin typeface="Cambria Math" panose="02040503050406030204" pitchFamily="18" charset="0"/>
                              </a:rPr>
                              <m:t>1</m:t>
                            </m:r>
                          </m:sub>
                        </m:sSub>
                      </m:num>
                      <m:den>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𝑄</m:t>
                            </m:r>
                          </m:e>
                          <m:sub>
                            <m:r>
                              <a:rPr lang="en-IN" sz="2133" i="1">
                                <a:solidFill>
                                  <a:srgbClr val="000000"/>
                                </a:solidFill>
                                <a:latin typeface="Cambria Math" panose="02040503050406030204" pitchFamily="18" charset="0"/>
                              </a:rPr>
                              <m:t>3</m:t>
                            </m:r>
                          </m:sub>
                        </m:sSub>
                        <m:r>
                          <a:rPr lang="en-IN" sz="2133" i="1">
                            <a:solidFill>
                              <a:srgbClr val="000000"/>
                            </a:solidFill>
                            <a:latin typeface="Cambria Math" panose="02040503050406030204" pitchFamily="18" charset="0"/>
                          </a:rPr>
                          <m:t>+</m:t>
                        </m:r>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𝑄</m:t>
                            </m:r>
                          </m:e>
                          <m:sub>
                            <m:r>
                              <a:rPr lang="en-IN" sz="2133" i="1">
                                <a:solidFill>
                                  <a:srgbClr val="000000"/>
                                </a:solidFill>
                                <a:latin typeface="Cambria Math" panose="02040503050406030204" pitchFamily="18" charset="0"/>
                              </a:rPr>
                              <m:t>1</m:t>
                            </m:r>
                          </m:sub>
                        </m:sSub>
                      </m:den>
                    </m:f>
                  </m:oMath>
                </a14:m>
                <a:endParaRPr lang="en-US" altLang="en-US" sz="2000" dirty="0">
                  <a:latin typeface="Century Gothic" panose="020B0502020202020204" pitchFamily="34"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2"/>
                <a:ext cx="10655837" cy="3659913"/>
              </a:xfrm>
              <a:prstGeom prst="rect">
                <a:avLst/>
              </a:prstGeom>
              <a:blipFill>
                <a:blip r:embed="rId2"/>
                <a:stretch>
                  <a:fillRect l="-629" t="-832" r="-572"/>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3519829" y="273922"/>
            <a:ext cx="348204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Quartile Deviation</a:t>
            </a:r>
          </a:p>
        </p:txBody>
      </p:sp>
    </p:spTree>
    <p:extLst>
      <p:ext uri="{BB962C8B-B14F-4D97-AF65-F5344CB8AC3E}">
        <p14:creationId xmlns:p14="http://schemas.microsoft.com/office/powerpoint/2010/main" val="3349485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862322"/>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Example 1. </a:t>
            </a:r>
            <a:r>
              <a:rPr lang="en-US" altLang="en-US" sz="2000" dirty="0">
                <a:latin typeface="Century Gothic" panose="020B0502020202020204" pitchFamily="34" charset="0"/>
                <a:cs typeface="Times New Roman" panose="02020603050405020304" pitchFamily="18" charset="0"/>
              </a:rPr>
              <a:t>Find the range and Q.D. and its coefficient from the following data: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Class: 	</a:t>
            </a:r>
            <a:r>
              <a:rPr lang="en-US" altLang="en-US" sz="2000" dirty="0">
                <a:latin typeface="Century Gothic" panose="020B0502020202020204" pitchFamily="34" charset="0"/>
                <a:cs typeface="Times New Roman" panose="02020603050405020304" pitchFamily="18" charset="0"/>
              </a:rPr>
              <a:t>	10-20	20-30	30-40	40-50	50-60	60-70</a:t>
            </a:r>
          </a:p>
          <a:p>
            <a:pPr algn="just"/>
            <a:r>
              <a:rPr lang="en-US" altLang="en-US" sz="2000" b="1" dirty="0">
                <a:latin typeface="Century Gothic" panose="020B0502020202020204" pitchFamily="34" charset="0"/>
                <a:cs typeface="Times New Roman" panose="02020603050405020304" pitchFamily="18" charset="0"/>
              </a:rPr>
              <a:t>Frequency:</a:t>
            </a:r>
            <a:r>
              <a:rPr lang="en-US" altLang="en-US" sz="2000" dirty="0">
                <a:latin typeface="Century Gothic" panose="020B0502020202020204" pitchFamily="34" charset="0"/>
                <a:cs typeface="Times New Roman" panose="02020603050405020304" pitchFamily="18" charset="0"/>
              </a:rPr>
              <a:t>	   3	   5	   15	   10	   4	   2</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Solution: </a:t>
            </a:r>
            <a:r>
              <a:rPr lang="en-US" altLang="en-US" sz="2000" dirty="0">
                <a:latin typeface="Century Gothic" panose="020B0502020202020204" pitchFamily="34" charset="0"/>
                <a:cs typeface="Times New Roman" panose="02020603050405020304" pitchFamily="18" charset="0"/>
              </a:rPr>
              <a:t>Here the lower limit of smallest class is 10 and higher limit of the highest class is 70.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Therefore range </a:t>
            </a:r>
            <a:r>
              <a:rPr lang="en-US" altLang="en-US" sz="2000" dirty="0">
                <a:latin typeface="Century Gothic" panose="020B0502020202020204" pitchFamily="34" charset="0"/>
                <a:cs typeface="Times New Roman" panose="02020603050405020304" pitchFamily="18" charset="0"/>
              </a:rPr>
              <a:t>= 70-10 = 60. </a:t>
            </a:r>
          </a:p>
        </p:txBody>
      </p:sp>
      <p:sp>
        <p:nvSpPr>
          <p:cNvPr id="2" name="TextBox 1">
            <a:extLst>
              <a:ext uri="{FF2B5EF4-FFF2-40B4-BE49-F238E27FC236}">
                <a16:creationId xmlns:a16="http://schemas.microsoft.com/office/drawing/2014/main" id="{5E53F7AB-5CFF-43A5-A60B-16AA5F75ED4B}"/>
              </a:ext>
            </a:extLst>
          </p:cNvPr>
          <p:cNvSpPr txBox="1"/>
          <p:nvPr/>
        </p:nvSpPr>
        <p:spPr>
          <a:xfrm>
            <a:off x="3351154" y="318311"/>
            <a:ext cx="406713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Quartile Deviation…..</a:t>
            </a:r>
          </a:p>
        </p:txBody>
      </p:sp>
    </p:spTree>
    <p:extLst>
      <p:ext uri="{BB962C8B-B14F-4D97-AF65-F5344CB8AC3E}">
        <p14:creationId xmlns:p14="http://schemas.microsoft.com/office/powerpoint/2010/main" val="528423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wipe(left)">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left)">
                                      <p:cBhvr>
                                        <p:cTn id="2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011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Calculation of Q.D.</a:t>
            </a:r>
          </a:p>
        </p:txBody>
      </p:sp>
      <p:sp>
        <p:nvSpPr>
          <p:cNvPr id="2" name="TextBox 1">
            <a:extLst>
              <a:ext uri="{FF2B5EF4-FFF2-40B4-BE49-F238E27FC236}">
                <a16:creationId xmlns:a16="http://schemas.microsoft.com/office/drawing/2014/main" id="{5E53F7AB-5CFF-43A5-A60B-16AA5F75ED4B}"/>
              </a:ext>
            </a:extLst>
          </p:cNvPr>
          <p:cNvSpPr txBox="1"/>
          <p:nvPr/>
        </p:nvSpPr>
        <p:spPr>
          <a:xfrm>
            <a:off x="723363" y="158513"/>
            <a:ext cx="406713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Quartile Deviation…..</a:t>
            </a:r>
          </a:p>
        </p:txBody>
      </p:sp>
      <p:graphicFrame>
        <p:nvGraphicFramePr>
          <p:cNvPr id="3" name="Group 64">
            <a:extLst>
              <a:ext uri="{FF2B5EF4-FFF2-40B4-BE49-F238E27FC236}">
                <a16:creationId xmlns:a16="http://schemas.microsoft.com/office/drawing/2014/main" id="{F8C00D03-F51C-4B35-9031-83B078FC4A2E}"/>
              </a:ext>
            </a:extLst>
          </p:cNvPr>
          <p:cNvGraphicFramePr>
            <a:graphicFrameLocks noGrp="1"/>
          </p:cNvGraphicFramePr>
          <p:nvPr/>
        </p:nvGraphicFramePr>
        <p:xfrm>
          <a:off x="723363" y="2482848"/>
          <a:ext cx="10655837" cy="3999867"/>
        </p:xfrm>
        <a:graphic>
          <a:graphicData uri="http://schemas.openxmlformats.org/drawingml/2006/table">
            <a:tbl>
              <a:tblPr/>
              <a:tblGrid>
                <a:gridCol w="3063553">
                  <a:extLst>
                    <a:ext uri="{9D8B030D-6E8A-4147-A177-3AD203B41FA5}">
                      <a16:colId xmlns:a16="http://schemas.microsoft.com/office/drawing/2014/main" val="20000"/>
                    </a:ext>
                  </a:extLst>
                </a:gridCol>
                <a:gridCol w="4040339">
                  <a:extLst>
                    <a:ext uri="{9D8B030D-6E8A-4147-A177-3AD203B41FA5}">
                      <a16:colId xmlns:a16="http://schemas.microsoft.com/office/drawing/2014/main" val="20001"/>
                    </a:ext>
                  </a:extLst>
                </a:gridCol>
                <a:gridCol w="3551945">
                  <a:extLst>
                    <a:ext uri="{9D8B030D-6E8A-4147-A177-3AD203B41FA5}">
                      <a16:colId xmlns:a16="http://schemas.microsoft.com/office/drawing/2014/main" val="20002"/>
                    </a:ext>
                  </a:extLst>
                </a:gridCol>
              </a:tblGrid>
              <a:tr h="5334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Class</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Frequency (f)</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C.F.</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4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10-20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20-30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8</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30-40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15</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23</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40-50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33</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50-60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4</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37</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60-70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39</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26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N= 39</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426455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323370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Q1 = size of (N/4)</a:t>
                </a:r>
                <a:r>
                  <a:rPr lang="en-US" altLang="en-US" sz="2000" dirty="0" err="1">
                    <a:latin typeface="Century Gothic" panose="020B0502020202020204" pitchFamily="34" charset="0"/>
                    <a:cs typeface="Times New Roman" panose="02020603050405020304" pitchFamily="18" charset="0"/>
                  </a:rPr>
                  <a:t>th</a:t>
                </a:r>
                <a:r>
                  <a:rPr lang="en-US" altLang="en-US" sz="2000" dirty="0">
                    <a:latin typeface="Century Gothic" panose="020B0502020202020204" pitchFamily="34" charset="0"/>
                    <a:cs typeface="Times New Roman" panose="02020603050405020304" pitchFamily="18" charset="0"/>
                  </a:rPr>
                  <a:t> item = (39/4)</a:t>
                </a:r>
                <a:r>
                  <a:rPr lang="en-US" altLang="en-US" sz="2000" dirty="0" err="1">
                    <a:latin typeface="Century Gothic" panose="020B0502020202020204" pitchFamily="34" charset="0"/>
                    <a:cs typeface="Times New Roman" panose="02020603050405020304" pitchFamily="18" charset="0"/>
                  </a:rPr>
                  <a:t>th</a:t>
                </a:r>
                <a:r>
                  <a:rPr lang="en-US" altLang="en-US" sz="2000" dirty="0">
                    <a:latin typeface="Century Gothic" panose="020B0502020202020204" pitchFamily="34" charset="0"/>
                    <a:cs typeface="Times New Roman" panose="02020603050405020304" pitchFamily="18" charset="0"/>
                  </a:rPr>
                  <a:t> item = 9.75th item</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Therefore Q1 class is 30-40.</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Here l = 30,  h = 10,  f = 15,  C = 8</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Q1 = </a:t>
                </a:r>
                <a14:m>
                  <m:oMath xmlns:m="http://schemas.openxmlformats.org/officeDocument/2006/math">
                    <m:r>
                      <a:rPr lang="en-IN" sz="2133" i="1">
                        <a:solidFill>
                          <a:srgbClr val="000000"/>
                        </a:solidFill>
                        <a:latin typeface="Cambria Math" panose="02040503050406030204" pitchFamily="18" charset="0"/>
                      </a:rPr>
                      <m:t>𝑙</m:t>
                    </m:r>
                    <m:r>
                      <a:rPr lang="en-IN" sz="2133" i="1">
                        <a:solidFill>
                          <a:srgbClr val="000000"/>
                        </a:solidFill>
                        <a:latin typeface="Cambria Math" panose="02040503050406030204" pitchFamily="18" charset="0"/>
                      </a:rPr>
                      <m:t>+</m:t>
                    </m:r>
                    <m:f>
                      <m:fPr>
                        <m:ctrlPr>
                          <a:rPr lang="en-IN" sz="2133" i="1">
                            <a:solidFill>
                              <a:srgbClr val="000000"/>
                            </a:solidFill>
                            <a:latin typeface="Cambria Math" panose="02040503050406030204" pitchFamily="18" charset="0"/>
                          </a:rPr>
                        </m:ctrlPr>
                      </m:fPr>
                      <m:num>
                        <m:r>
                          <a:rPr lang="en-IN" sz="2133" i="1">
                            <a:solidFill>
                              <a:srgbClr val="000000"/>
                            </a:solidFill>
                            <a:latin typeface="Cambria Math" panose="02040503050406030204" pitchFamily="18" charset="0"/>
                          </a:rPr>
                          <m:t>h</m:t>
                        </m:r>
                      </m:num>
                      <m:den>
                        <m:r>
                          <a:rPr lang="en-IN" sz="2133" i="1">
                            <a:solidFill>
                              <a:srgbClr val="000000"/>
                            </a:solidFill>
                            <a:latin typeface="Cambria Math" panose="02040503050406030204" pitchFamily="18" charset="0"/>
                          </a:rPr>
                          <m:t>𝑓</m:t>
                        </m:r>
                      </m:den>
                    </m:f>
                    <m:d>
                      <m:dPr>
                        <m:ctrlPr>
                          <a:rPr lang="en-IN" sz="2133" i="1">
                            <a:solidFill>
                              <a:srgbClr val="000000"/>
                            </a:solidFill>
                            <a:latin typeface="Cambria Math" panose="02040503050406030204" pitchFamily="18" charset="0"/>
                          </a:rPr>
                        </m:ctrlPr>
                      </m:dPr>
                      <m:e>
                        <m:f>
                          <m:fPr>
                            <m:ctrlPr>
                              <a:rPr lang="en-IN" sz="2133" i="1">
                                <a:solidFill>
                                  <a:srgbClr val="000000"/>
                                </a:solidFill>
                                <a:latin typeface="Cambria Math" panose="02040503050406030204" pitchFamily="18" charset="0"/>
                              </a:rPr>
                            </m:ctrlPr>
                          </m:fPr>
                          <m:num>
                            <m:r>
                              <a:rPr lang="en-IN" sz="2133" i="1">
                                <a:solidFill>
                                  <a:srgbClr val="000000"/>
                                </a:solidFill>
                                <a:latin typeface="Cambria Math" panose="02040503050406030204" pitchFamily="18" charset="0"/>
                              </a:rPr>
                              <m:t>𝑁</m:t>
                            </m:r>
                          </m:num>
                          <m:den>
                            <m:r>
                              <a:rPr lang="en-IN" sz="2133" i="1">
                                <a:solidFill>
                                  <a:srgbClr val="000000"/>
                                </a:solidFill>
                                <a:latin typeface="Cambria Math" panose="02040503050406030204" pitchFamily="18" charset="0"/>
                              </a:rPr>
                              <m:t>4</m:t>
                            </m:r>
                          </m:den>
                        </m:f>
                        <m:r>
                          <a:rPr lang="en-IN" sz="2133" i="1">
                            <a:solidFill>
                              <a:srgbClr val="000000"/>
                            </a:solidFill>
                            <a:latin typeface="Cambria Math" panose="02040503050406030204" pitchFamily="18" charset="0"/>
                          </a:rPr>
                          <m:t>−</m:t>
                        </m:r>
                        <m:r>
                          <a:rPr lang="en-IN" sz="2133" i="1">
                            <a:solidFill>
                              <a:srgbClr val="000000"/>
                            </a:solidFill>
                            <a:latin typeface="Cambria Math" panose="02040503050406030204" pitchFamily="18" charset="0"/>
                          </a:rPr>
                          <m:t>𝐶</m:t>
                        </m:r>
                      </m:e>
                    </m:d>
                  </m:oMath>
                </a14:m>
                <a:endParaRPr lang="en-IN" sz="2133" dirty="0"/>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     = </a:t>
                </a:r>
                <a14:m>
                  <m:oMath xmlns:m="http://schemas.openxmlformats.org/officeDocument/2006/math">
                    <m:r>
                      <a:rPr lang="en-IN" sz="2133" i="1">
                        <a:solidFill>
                          <a:srgbClr val="000000"/>
                        </a:solidFill>
                        <a:latin typeface="Cambria Math" panose="02040503050406030204" pitchFamily="18" charset="0"/>
                      </a:rPr>
                      <m:t>30+</m:t>
                    </m:r>
                    <m:f>
                      <m:fPr>
                        <m:ctrlPr>
                          <a:rPr lang="en-IN" sz="2133" i="1">
                            <a:solidFill>
                              <a:srgbClr val="000000"/>
                            </a:solidFill>
                            <a:latin typeface="Cambria Math" panose="02040503050406030204" pitchFamily="18" charset="0"/>
                          </a:rPr>
                        </m:ctrlPr>
                      </m:fPr>
                      <m:num>
                        <m:r>
                          <a:rPr lang="en-IN" sz="2133" i="1">
                            <a:solidFill>
                              <a:srgbClr val="000000"/>
                            </a:solidFill>
                            <a:latin typeface="Cambria Math" panose="02040503050406030204" pitchFamily="18" charset="0"/>
                          </a:rPr>
                          <m:t>10</m:t>
                        </m:r>
                      </m:num>
                      <m:den>
                        <m:r>
                          <a:rPr lang="en-IN" sz="2133" i="1">
                            <a:solidFill>
                              <a:srgbClr val="000000"/>
                            </a:solidFill>
                            <a:latin typeface="Cambria Math" panose="02040503050406030204" pitchFamily="18" charset="0"/>
                          </a:rPr>
                          <m:t>15</m:t>
                        </m:r>
                      </m:den>
                    </m:f>
                    <m:d>
                      <m:dPr>
                        <m:ctrlPr>
                          <a:rPr lang="en-IN" sz="2133" i="1">
                            <a:solidFill>
                              <a:srgbClr val="000000"/>
                            </a:solidFill>
                            <a:latin typeface="Cambria Math" panose="02040503050406030204" pitchFamily="18" charset="0"/>
                          </a:rPr>
                        </m:ctrlPr>
                      </m:dPr>
                      <m:e>
                        <m:r>
                          <a:rPr lang="en-IN" sz="2133" i="1">
                            <a:solidFill>
                              <a:srgbClr val="000000"/>
                            </a:solidFill>
                            <a:latin typeface="Cambria Math" panose="02040503050406030204" pitchFamily="18" charset="0"/>
                          </a:rPr>
                          <m:t>9.75−8</m:t>
                        </m:r>
                      </m:e>
                    </m:d>
                    <m:r>
                      <a:rPr lang="en-IN" sz="2133" i="1">
                        <a:solidFill>
                          <a:srgbClr val="000000"/>
                        </a:solidFill>
                        <a:latin typeface="Cambria Math" panose="02040503050406030204" pitchFamily="18" charset="0"/>
                      </a:rPr>
                      <m:t>=31.167</m:t>
                    </m:r>
                  </m:oMath>
                </a14:m>
                <a:endParaRPr lang="en-IN" sz="2133" dirty="0"/>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1"/>
                <a:ext cx="10655837" cy="3233706"/>
              </a:xfrm>
              <a:prstGeom prst="rect">
                <a:avLst/>
              </a:prstGeom>
              <a:blipFill>
                <a:blip r:embed="rId2"/>
                <a:stretch>
                  <a:fillRect l="-629" t="-942"/>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3129212" y="202901"/>
            <a:ext cx="406713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Quartile Deviation…..</a:t>
            </a:r>
          </a:p>
        </p:txBody>
      </p:sp>
    </p:spTree>
    <p:extLst>
      <p:ext uri="{BB962C8B-B14F-4D97-AF65-F5344CB8AC3E}">
        <p14:creationId xmlns:p14="http://schemas.microsoft.com/office/powerpoint/2010/main" val="20062916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32886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Q3 = size of (3N/4)</a:t>
                </a:r>
                <a:r>
                  <a:rPr lang="en-US" altLang="en-US" sz="2000" baseline="30000" dirty="0" err="1">
                    <a:latin typeface="Century Gothic" panose="020B0502020202020204" pitchFamily="34" charset="0"/>
                    <a:cs typeface="Times New Roman" panose="02020603050405020304" pitchFamily="18" charset="0"/>
                  </a:rPr>
                  <a:t>th</a:t>
                </a:r>
                <a:r>
                  <a:rPr lang="en-US" altLang="en-US" sz="2000" dirty="0">
                    <a:latin typeface="Century Gothic" panose="020B0502020202020204" pitchFamily="34" charset="0"/>
                    <a:cs typeface="Times New Roman" panose="02020603050405020304" pitchFamily="18" charset="0"/>
                  </a:rPr>
                  <a:t> item = size of (3 * 39/4)</a:t>
                </a:r>
                <a:r>
                  <a:rPr lang="en-US" altLang="en-US" sz="2000" baseline="30000" dirty="0" err="1">
                    <a:latin typeface="Century Gothic" panose="020B0502020202020204" pitchFamily="34" charset="0"/>
                    <a:cs typeface="Times New Roman" panose="02020603050405020304" pitchFamily="18" charset="0"/>
                  </a:rPr>
                  <a:t>th</a:t>
                </a:r>
                <a:r>
                  <a:rPr lang="en-US" altLang="en-US" sz="2000" dirty="0">
                    <a:latin typeface="Century Gothic" panose="020B0502020202020204" pitchFamily="34" charset="0"/>
                    <a:cs typeface="Times New Roman" panose="02020603050405020304" pitchFamily="18" charset="0"/>
                  </a:rPr>
                  <a:t> item</a:t>
                </a:r>
              </a:p>
              <a:p>
                <a:pPr algn="just"/>
                <a:r>
                  <a:rPr lang="en-US" altLang="en-US" sz="2000" dirty="0">
                    <a:latin typeface="Century Gothic" panose="020B0502020202020204" pitchFamily="34" charset="0"/>
                    <a:cs typeface="Times New Roman" panose="02020603050405020304" pitchFamily="18" charset="0"/>
                  </a:rPr>
                  <a:t>		         = size of 29.25</a:t>
                </a:r>
                <a:r>
                  <a:rPr lang="en-US" altLang="en-US" sz="2000" baseline="30000" dirty="0">
                    <a:latin typeface="Century Gothic" panose="020B0502020202020204" pitchFamily="34" charset="0"/>
                    <a:cs typeface="Times New Roman" panose="02020603050405020304" pitchFamily="18" charset="0"/>
                  </a:rPr>
                  <a:t>th</a:t>
                </a:r>
                <a:r>
                  <a:rPr lang="en-US" altLang="en-US" sz="2000" dirty="0">
                    <a:latin typeface="Century Gothic" panose="020B0502020202020204" pitchFamily="34" charset="0"/>
                    <a:cs typeface="Times New Roman" panose="02020603050405020304" pitchFamily="18" charset="0"/>
                  </a:rPr>
                  <a:t> item</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Q3 class is 40-50</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Here l = 40,  h = 10, f = 10, C =23</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Q3 = </a:t>
                </a:r>
                <a14:m>
                  <m:oMath xmlns:m="http://schemas.openxmlformats.org/officeDocument/2006/math">
                    <m:r>
                      <a:rPr lang="en-IN" sz="2133" i="1">
                        <a:solidFill>
                          <a:srgbClr val="000000"/>
                        </a:solidFill>
                        <a:latin typeface="Cambria Math" panose="02040503050406030204" pitchFamily="18" charset="0"/>
                      </a:rPr>
                      <m:t>40+</m:t>
                    </m:r>
                    <m:f>
                      <m:fPr>
                        <m:ctrlPr>
                          <a:rPr lang="en-IN" sz="2133" i="1">
                            <a:solidFill>
                              <a:srgbClr val="000000"/>
                            </a:solidFill>
                            <a:latin typeface="Cambria Math" panose="02040503050406030204" pitchFamily="18" charset="0"/>
                          </a:rPr>
                        </m:ctrlPr>
                      </m:fPr>
                      <m:num>
                        <m:r>
                          <a:rPr lang="en-IN" sz="2133" i="1">
                            <a:solidFill>
                              <a:srgbClr val="000000"/>
                            </a:solidFill>
                            <a:latin typeface="Cambria Math" panose="02040503050406030204" pitchFamily="18" charset="0"/>
                          </a:rPr>
                          <m:t>10</m:t>
                        </m:r>
                      </m:num>
                      <m:den>
                        <m:r>
                          <a:rPr lang="en-IN" sz="2133" i="1">
                            <a:solidFill>
                              <a:srgbClr val="000000"/>
                            </a:solidFill>
                            <a:latin typeface="Cambria Math" panose="02040503050406030204" pitchFamily="18" charset="0"/>
                          </a:rPr>
                          <m:t>10</m:t>
                        </m:r>
                      </m:den>
                    </m:f>
                    <m:d>
                      <m:dPr>
                        <m:ctrlPr>
                          <a:rPr lang="en-IN" sz="2133" i="1">
                            <a:solidFill>
                              <a:srgbClr val="000000"/>
                            </a:solidFill>
                            <a:latin typeface="Cambria Math" panose="02040503050406030204" pitchFamily="18" charset="0"/>
                          </a:rPr>
                        </m:ctrlPr>
                      </m:dPr>
                      <m:e>
                        <m:r>
                          <a:rPr lang="en-IN" sz="2133" i="1">
                            <a:solidFill>
                              <a:srgbClr val="000000"/>
                            </a:solidFill>
                            <a:latin typeface="Cambria Math" panose="02040503050406030204" pitchFamily="18" charset="0"/>
                          </a:rPr>
                          <m:t>29.25−23</m:t>
                        </m:r>
                      </m:e>
                    </m:d>
                    <m:r>
                      <a:rPr lang="en-IN" sz="2133" i="1">
                        <a:solidFill>
                          <a:srgbClr val="000000"/>
                        </a:solidFill>
                        <a:latin typeface="Cambria Math" panose="02040503050406030204" pitchFamily="18" charset="0"/>
                      </a:rPr>
                      <m:t>=46.25</m:t>
                    </m:r>
                  </m:oMath>
                </a14:m>
                <a:endParaRPr lang="en-IN" sz="2133" dirty="0"/>
              </a:p>
              <a:p>
                <a:pPr algn="just"/>
                <a:endParaRPr lang="en-US" altLang="en-US" sz="2000" dirty="0">
                  <a:latin typeface="Century Gothic" panose="020B0502020202020204" pitchFamily="34" charset="0"/>
                  <a:cs typeface="Times New Roman" panose="02020603050405020304" pitchFamily="18" charset="0"/>
                </a:endParaRPr>
              </a:p>
              <a:p>
                <a:pPr algn="just"/>
                <a:r>
                  <a:rPr lang="fr-FR" altLang="en-US" sz="2000" dirty="0">
                    <a:latin typeface="Century Gothic" panose="020B0502020202020204" pitchFamily="34" charset="0"/>
                    <a:cs typeface="Times New Roman" panose="02020603050405020304" pitchFamily="18" charset="0"/>
                  </a:rPr>
                  <a:t>Q. D. = (Q3-Q1)/ (Q3+Q1)  =  (46.25-31.167)/(46.25+31.167) = 0.195</a:t>
                </a: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2"/>
                <a:ext cx="10655837" cy="3328860"/>
              </a:xfrm>
              <a:prstGeom prst="rect">
                <a:avLst/>
              </a:prstGeom>
              <a:blipFill>
                <a:blip r:embed="rId2"/>
                <a:stretch>
                  <a:fillRect l="-629" t="-916" b="-2381"/>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3120334" y="273923"/>
            <a:ext cx="406713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Quartile Deviation…..</a:t>
            </a:r>
          </a:p>
        </p:txBody>
      </p:sp>
    </p:spTree>
    <p:extLst>
      <p:ext uri="{BB962C8B-B14F-4D97-AF65-F5344CB8AC3E}">
        <p14:creationId xmlns:p14="http://schemas.microsoft.com/office/powerpoint/2010/main" val="675320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wipe(left)">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left)">
                                      <p:cBhvr>
                                        <p:cTn id="27" dur="500"/>
                                        <p:tgtEl>
                                          <p:spTgt spid="5">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wipe(left)">
                                      <p:cBhvr>
                                        <p:cTn id="3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189993"/>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It is simply the arithmetic mean of the numerical values of deviation of each observation from the central values , i.e. mean , mode or median of the distribution.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For individual series, M. D. is given by</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M. D. = </a:t>
                </a:r>
                <a14:m>
                  <m:oMath xmlns:m="http://schemas.openxmlformats.org/officeDocument/2006/math">
                    <m:f>
                      <m:fPr>
                        <m:ctrlPr>
                          <a:rPr lang="en-IN" sz="2133" i="1">
                            <a:solidFill>
                              <a:srgbClr val="000000"/>
                            </a:solidFill>
                            <a:latin typeface="Cambria Math" panose="02040503050406030204" pitchFamily="18" charset="0"/>
                          </a:rPr>
                        </m:ctrlPr>
                      </m:fPr>
                      <m:num>
                        <m:r>
                          <a:rPr lang="en-IN" sz="2133" i="1">
                            <a:solidFill>
                              <a:srgbClr val="000000"/>
                            </a:solidFill>
                            <a:latin typeface="Cambria Math" panose="02040503050406030204" pitchFamily="18" charset="0"/>
                          </a:rPr>
                          <m:t>∑</m:t>
                        </m:r>
                        <m:d>
                          <m:dPr>
                            <m:ctrlPr>
                              <a:rPr lang="en-IN" sz="2133" i="1">
                                <a:solidFill>
                                  <a:srgbClr val="000000"/>
                                </a:solidFill>
                                <a:latin typeface="Cambria Math" panose="02040503050406030204" pitchFamily="18" charset="0"/>
                              </a:rPr>
                            </m:ctrlPr>
                          </m:dPr>
                          <m:e>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𝑥</m:t>
                                </m:r>
                              </m:e>
                              <m:sub>
                                <m:r>
                                  <a:rPr lang="en-IN" sz="2133" i="1">
                                    <a:solidFill>
                                      <a:srgbClr val="000000"/>
                                    </a:solidFill>
                                    <a:latin typeface="Cambria Math" panose="02040503050406030204" pitchFamily="18" charset="0"/>
                                  </a:rPr>
                                  <m:t>𝑖</m:t>
                                </m:r>
                              </m:sub>
                            </m:sSub>
                            <m:r>
                              <a:rPr lang="en-IN" sz="2133" i="1">
                                <a:solidFill>
                                  <a:srgbClr val="000000"/>
                                </a:solidFill>
                                <a:latin typeface="Cambria Math" panose="02040503050406030204" pitchFamily="18" charset="0"/>
                              </a:rPr>
                              <m:t>−</m:t>
                            </m:r>
                            <m:r>
                              <a:rPr lang="en-IN" sz="2133" i="1">
                                <a:solidFill>
                                  <a:srgbClr val="000000"/>
                                </a:solidFill>
                                <a:latin typeface="Cambria Math" panose="02040503050406030204" pitchFamily="18" charset="0"/>
                              </a:rPr>
                              <m:t>𝑎</m:t>
                            </m:r>
                          </m:e>
                        </m:d>
                      </m:num>
                      <m:den>
                        <m:r>
                          <a:rPr lang="en-IN" sz="2133" i="1">
                            <a:solidFill>
                              <a:srgbClr val="000000"/>
                            </a:solidFill>
                            <a:latin typeface="Cambria Math" panose="02040503050406030204" pitchFamily="18" charset="0"/>
                          </a:rPr>
                          <m:t>𝑛</m:t>
                        </m:r>
                      </m:den>
                    </m:f>
                  </m:oMath>
                </a14:m>
                <a:endParaRPr lang="en-IN" sz="2133" dirty="0"/>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where x1, x2, …., x. are the values of the variable and a is the central value or the average of the distribution.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For frequency distribution, </a:t>
                </a:r>
                <a14:m>
                  <m:oMath xmlns:m="http://schemas.openxmlformats.org/officeDocument/2006/math">
                    <m:r>
                      <a:rPr lang="en-IN" sz="2133" i="1">
                        <a:solidFill>
                          <a:srgbClr val="000000"/>
                        </a:solidFill>
                        <a:latin typeface="Cambria Math" panose="02040503050406030204" pitchFamily="18" charset="0"/>
                      </a:rPr>
                      <m:t>𝑀</m:t>
                    </m:r>
                    <m:r>
                      <a:rPr lang="en-IN" sz="2133" i="1">
                        <a:solidFill>
                          <a:srgbClr val="000000"/>
                        </a:solidFill>
                        <a:latin typeface="Cambria Math" panose="02040503050406030204" pitchFamily="18" charset="0"/>
                      </a:rPr>
                      <m:t>.</m:t>
                    </m:r>
                    <m:r>
                      <a:rPr lang="en-IN" sz="2133" i="1">
                        <a:solidFill>
                          <a:srgbClr val="000000"/>
                        </a:solidFill>
                        <a:latin typeface="Cambria Math" panose="02040503050406030204" pitchFamily="18" charset="0"/>
                      </a:rPr>
                      <m:t>𝐷</m:t>
                    </m:r>
                    <m:r>
                      <a:rPr lang="en-IN" sz="2133" i="1">
                        <a:solidFill>
                          <a:srgbClr val="000000"/>
                        </a:solidFill>
                        <a:latin typeface="Cambria Math" panose="02040503050406030204" pitchFamily="18" charset="0"/>
                      </a:rPr>
                      <m:t>.=</m:t>
                    </m:r>
                    <m:f>
                      <m:fPr>
                        <m:ctrlPr>
                          <a:rPr lang="en-IN" sz="2133" i="1">
                            <a:solidFill>
                              <a:srgbClr val="000000"/>
                            </a:solidFill>
                            <a:latin typeface="Cambria Math" panose="02040503050406030204" pitchFamily="18" charset="0"/>
                          </a:rPr>
                        </m:ctrlPr>
                      </m:fPr>
                      <m:num>
                        <m:r>
                          <a:rPr lang="en-IN" sz="2133" i="1">
                            <a:solidFill>
                              <a:srgbClr val="000000"/>
                            </a:solidFill>
                            <a:latin typeface="Cambria Math" panose="02040503050406030204" pitchFamily="18" charset="0"/>
                          </a:rPr>
                          <m:t>∑</m:t>
                        </m:r>
                        <m:d>
                          <m:dPr>
                            <m:begChr m:val="|"/>
                            <m:endChr m:val="|"/>
                            <m:ctrlPr>
                              <a:rPr lang="en-IN" sz="2133" i="1">
                                <a:solidFill>
                                  <a:srgbClr val="000000"/>
                                </a:solidFill>
                                <a:latin typeface="Cambria Math" panose="02040503050406030204" pitchFamily="18" charset="0"/>
                              </a:rPr>
                            </m:ctrlPr>
                          </m:dPr>
                          <m:e>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𝑥</m:t>
                                </m:r>
                              </m:e>
                              <m:sub>
                                <m:r>
                                  <a:rPr lang="en-IN" sz="2133" i="1">
                                    <a:solidFill>
                                      <a:srgbClr val="000000"/>
                                    </a:solidFill>
                                    <a:latin typeface="Cambria Math" panose="02040503050406030204" pitchFamily="18" charset="0"/>
                                  </a:rPr>
                                  <m:t>𝑖</m:t>
                                </m:r>
                              </m:sub>
                            </m:sSub>
                            <m:r>
                              <a:rPr lang="en-IN" sz="2133" i="1">
                                <a:solidFill>
                                  <a:srgbClr val="000000"/>
                                </a:solidFill>
                                <a:latin typeface="Cambria Math" panose="02040503050406030204" pitchFamily="18" charset="0"/>
                              </a:rPr>
                              <m:t>−</m:t>
                            </m:r>
                            <m:r>
                              <a:rPr lang="en-IN" sz="2133" i="1">
                                <a:solidFill>
                                  <a:srgbClr val="000000"/>
                                </a:solidFill>
                                <a:latin typeface="Cambria Math" panose="02040503050406030204" pitchFamily="18" charset="0"/>
                              </a:rPr>
                              <m:t>𝑎</m:t>
                            </m:r>
                          </m:e>
                        </m:d>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𝑓</m:t>
                            </m:r>
                          </m:e>
                          <m:sub>
                            <m:r>
                              <a:rPr lang="en-IN" sz="2133" i="1">
                                <a:solidFill>
                                  <a:srgbClr val="000000"/>
                                </a:solidFill>
                                <a:latin typeface="Cambria Math" panose="02040503050406030204" pitchFamily="18" charset="0"/>
                              </a:rPr>
                              <m:t>𝑖</m:t>
                            </m:r>
                          </m:sub>
                        </m:sSub>
                      </m:num>
                      <m:den>
                        <m:r>
                          <a:rPr lang="en-IN" sz="2133" i="1">
                            <a:solidFill>
                              <a:srgbClr val="000000"/>
                            </a:solidFill>
                            <a:latin typeface="Cambria Math" panose="02040503050406030204" pitchFamily="18" charset="0"/>
                          </a:rPr>
                          <m:t>∑</m:t>
                        </m:r>
                        <m:sSub>
                          <m:sSubPr>
                            <m:ctrlPr>
                              <a:rPr lang="en-IN" sz="2133" i="1">
                                <a:solidFill>
                                  <a:srgbClr val="000000"/>
                                </a:solidFill>
                                <a:latin typeface="Cambria Math" panose="02040503050406030204" pitchFamily="18" charset="0"/>
                              </a:rPr>
                            </m:ctrlPr>
                          </m:sSubPr>
                          <m:e>
                            <m:r>
                              <a:rPr lang="en-IN" sz="2133" i="1">
                                <a:solidFill>
                                  <a:srgbClr val="000000"/>
                                </a:solidFill>
                                <a:latin typeface="Cambria Math" panose="02040503050406030204" pitchFamily="18" charset="0"/>
                              </a:rPr>
                              <m:t>𝑓</m:t>
                            </m:r>
                          </m:e>
                          <m:sub>
                            <m:r>
                              <a:rPr lang="en-IN" sz="2133" i="1">
                                <a:solidFill>
                                  <a:srgbClr val="000000"/>
                                </a:solidFill>
                                <a:latin typeface="Cambria Math" panose="02040503050406030204" pitchFamily="18" charset="0"/>
                              </a:rPr>
                              <m:t>𝑖</m:t>
                            </m:r>
                          </m:sub>
                        </m:sSub>
                      </m:den>
                    </m:f>
                  </m:oMath>
                </a14:m>
                <a:endParaRPr lang="en-US" altLang="en-US" sz="2000" dirty="0">
                  <a:latin typeface="Century Gothic" panose="020B0502020202020204" pitchFamily="34" charset="0"/>
                  <a:cs typeface="Times New Roman" panose="02020603050405020304" pitchFamily="18" charset="0"/>
                </a:endParaRPr>
              </a:p>
              <a:p>
                <a:pPr algn="just"/>
                <a:endParaRPr lang="en-US" altLang="en-US" sz="2000" dirty="0">
                  <a:latin typeface="Century Gothic" panose="020B0502020202020204" pitchFamily="34"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1"/>
                <a:ext cx="10655837" cy="4189993"/>
              </a:xfrm>
              <a:prstGeom prst="rect">
                <a:avLst/>
              </a:prstGeom>
              <a:blipFill>
                <a:blip r:embed="rId2"/>
                <a:stretch>
                  <a:fillRect l="-629" t="-727" r="-572"/>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3928202" y="442599"/>
            <a:ext cx="310854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Mean Deviation</a:t>
            </a:r>
          </a:p>
        </p:txBody>
      </p:sp>
    </p:spTree>
    <p:extLst>
      <p:ext uri="{BB962C8B-B14F-4D97-AF65-F5344CB8AC3E}">
        <p14:creationId xmlns:p14="http://schemas.microsoft.com/office/powerpoint/2010/main" val="537774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05846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For comparing two or more series for variability, the </a:t>
                </a:r>
                <a:r>
                  <a:rPr lang="en-US" altLang="en-US" sz="2000" dirty="0" err="1">
                    <a:latin typeface="Century Gothic" panose="020B0502020202020204" pitchFamily="34" charset="0"/>
                    <a:cs typeface="Times New Roman" panose="02020603050405020304" pitchFamily="18" charset="0"/>
                  </a:rPr>
                  <a:t>coeff</a:t>
                </a:r>
                <a:r>
                  <a:rPr lang="en-US" altLang="en-US" sz="2000" dirty="0">
                    <a:latin typeface="Century Gothic" panose="020B0502020202020204" pitchFamily="34" charset="0"/>
                    <a:cs typeface="Times New Roman" panose="02020603050405020304" pitchFamily="18" charset="0"/>
                  </a:rPr>
                  <a:t>. of M.D. is used and is defined as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Coeff. Of </a:t>
                </a:r>
                <a14:m>
                  <m:oMath xmlns:m="http://schemas.openxmlformats.org/officeDocument/2006/math">
                    <m:r>
                      <a:rPr lang="en-IN" sz="2133" i="1">
                        <a:solidFill>
                          <a:srgbClr val="000000"/>
                        </a:solidFill>
                        <a:latin typeface="Cambria Math" panose="02040503050406030204" pitchFamily="18" charset="0"/>
                      </a:rPr>
                      <m:t>𝑀</m:t>
                    </m:r>
                    <m:r>
                      <a:rPr lang="en-IN" sz="2133" i="1">
                        <a:solidFill>
                          <a:srgbClr val="000000"/>
                        </a:solidFill>
                        <a:latin typeface="Cambria Math" panose="02040503050406030204" pitchFamily="18" charset="0"/>
                      </a:rPr>
                      <m:t>.</m:t>
                    </m:r>
                    <m:r>
                      <a:rPr lang="en-IN" sz="2133" i="1">
                        <a:solidFill>
                          <a:srgbClr val="000000"/>
                        </a:solidFill>
                        <a:latin typeface="Cambria Math" panose="02040503050406030204" pitchFamily="18" charset="0"/>
                      </a:rPr>
                      <m:t>𝐷</m:t>
                    </m:r>
                    <m:r>
                      <a:rPr lang="en-IN" sz="2133" i="1">
                        <a:solidFill>
                          <a:srgbClr val="000000"/>
                        </a:solidFill>
                        <a:latin typeface="Cambria Math" panose="02040503050406030204" pitchFamily="18" charset="0"/>
                      </a:rPr>
                      <m:t>.=</m:t>
                    </m:r>
                    <m:f>
                      <m:fPr>
                        <m:ctrlPr>
                          <a:rPr lang="en-IN" sz="2133" i="1">
                            <a:solidFill>
                              <a:srgbClr val="000000"/>
                            </a:solidFill>
                            <a:latin typeface="Cambria Math" panose="02040503050406030204" pitchFamily="18" charset="0"/>
                          </a:rPr>
                        </m:ctrlPr>
                      </m:fPr>
                      <m:num>
                        <m:r>
                          <a:rPr lang="en-IN" sz="2133" i="1">
                            <a:solidFill>
                              <a:srgbClr val="000000"/>
                            </a:solidFill>
                            <a:latin typeface="Cambria Math" panose="02040503050406030204" pitchFamily="18" charset="0"/>
                          </a:rPr>
                          <m:t>𝑀</m:t>
                        </m:r>
                        <m:r>
                          <a:rPr lang="en-IN" sz="2133" i="1">
                            <a:solidFill>
                              <a:srgbClr val="000000"/>
                            </a:solidFill>
                            <a:latin typeface="Cambria Math" panose="02040503050406030204" pitchFamily="18" charset="0"/>
                          </a:rPr>
                          <m:t>.</m:t>
                        </m:r>
                        <m:r>
                          <a:rPr lang="en-IN" sz="2133" i="1">
                            <a:solidFill>
                              <a:srgbClr val="000000"/>
                            </a:solidFill>
                            <a:latin typeface="Cambria Math" panose="02040503050406030204" pitchFamily="18" charset="0"/>
                          </a:rPr>
                          <m:t>𝐷</m:t>
                        </m:r>
                        <m:r>
                          <a:rPr lang="en-IN" sz="2133" i="1">
                            <a:solidFill>
                              <a:srgbClr val="000000"/>
                            </a:solidFill>
                            <a:latin typeface="Cambria Math" panose="02040503050406030204" pitchFamily="18" charset="0"/>
                          </a:rPr>
                          <m:t>.</m:t>
                        </m:r>
                      </m:num>
                      <m:den>
                        <m:r>
                          <a:rPr lang="en-IN" sz="2133" i="1">
                            <a:solidFill>
                              <a:srgbClr val="000000"/>
                            </a:solidFill>
                            <a:latin typeface="Cambria Math" panose="02040503050406030204" pitchFamily="18" charset="0"/>
                          </a:rPr>
                          <m:t>𝑎𝑣𝑒𝑟𝑎𝑔𝑒</m:t>
                        </m:r>
                      </m:den>
                    </m:f>
                  </m:oMath>
                </a14:m>
                <a:endParaRPr lang="en-IN" sz="2133" dirty="0"/>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Example:	</a:t>
                </a:r>
                <a:r>
                  <a:rPr lang="en-US" altLang="en-US" sz="2000" dirty="0">
                    <a:latin typeface="Century Gothic" panose="020B0502020202020204" pitchFamily="34" charset="0"/>
                    <a:cs typeface="Times New Roman" panose="02020603050405020304" pitchFamily="18" charset="0"/>
                  </a:rPr>
                  <a:t>Find the mean deviation about the median of the data:</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x:</a:t>
                </a:r>
                <a:r>
                  <a:rPr lang="en-US" altLang="en-US" sz="2000" dirty="0">
                    <a:latin typeface="Century Gothic" panose="020B0502020202020204" pitchFamily="34" charset="0"/>
                    <a:cs typeface="Times New Roman" panose="02020603050405020304" pitchFamily="18" charset="0"/>
                  </a:rPr>
                  <a:t>	06	12	18	24	30	36	42</a:t>
                </a:r>
              </a:p>
              <a:p>
                <a:pPr algn="just"/>
                <a:r>
                  <a:rPr lang="en-US" altLang="en-US" sz="2000" b="1" dirty="0">
                    <a:latin typeface="Century Gothic" panose="020B0502020202020204" pitchFamily="34" charset="0"/>
                    <a:cs typeface="Times New Roman" panose="02020603050405020304" pitchFamily="18" charset="0"/>
                  </a:rPr>
                  <a:t>f:</a:t>
                </a:r>
                <a:r>
                  <a:rPr lang="en-US" altLang="en-US" sz="2000" dirty="0">
                    <a:latin typeface="Century Gothic" panose="020B0502020202020204" pitchFamily="34" charset="0"/>
                    <a:cs typeface="Times New Roman" panose="02020603050405020304" pitchFamily="18" charset="0"/>
                  </a:rPr>
                  <a:t>	04	07	09	18	15	10	05</a:t>
                </a: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2"/>
                <a:ext cx="10655837" cy="3058466"/>
              </a:xfrm>
              <a:prstGeom prst="rect">
                <a:avLst/>
              </a:prstGeom>
              <a:blipFill>
                <a:blip r:embed="rId2"/>
                <a:stretch>
                  <a:fillRect l="-629" t="-996" r="-572" b="-2590"/>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3786159" y="451476"/>
            <a:ext cx="369364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Mean Deviation…..</a:t>
            </a:r>
          </a:p>
        </p:txBody>
      </p:sp>
    </p:spTree>
    <p:extLst>
      <p:ext uri="{BB962C8B-B14F-4D97-AF65-F5344CB8AC3E}">
        <p14:creationId xmlns:p14="http://schemas.microsoft.com/office/powerpoint/2010/main" val="42430954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left)">
                                      <p:cBhvr>
                                        <p:cTn id="2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53F7AB-5CFF-43A5-A60B-16AA5F75ED4B}"/>
              </a:ext>
            </a:extLst>
          </p:cNvPr>
          <p:cNvSpPr txBox="1"/>
          <p:nvPr/>
        </p:nvSpPr>
        <p:spPr>
          <a:xfrm>
            <a:off x="3484318" y="282801"/>
            <a:ext cx="369364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Mean Deviation…..</a:t>
            </a:r>
          </a:p>
        </p:txBody>
      </p:sp>
      <p:graphicFrame>
        <p:nvGraphicFramePr>
          <p:cNvPr id="3" name="Group 49">
            <a:extLst>
              <a:ext uri="{FF2B5EF4-FFF2-40B4-BE49-F238E27FC236}">
                <a16:creationId xmlns:a16="http://schemas.microsoft.com/office/drawing/2014/main" id="{D4BC3B42-3969-4971-A8F8-F416AEA42B88}"/>
              </a:ext>
            </a:extLst>
          </p:cNvPr>
          <p:cNvGraphicFramePr>
            <a:graphicFrameLocks noGrp="1"/>
          </p:cNvGraphicFramePr>
          <p:nvPr/>
        </p:nvGraphicFramePr>
        <p:xfrm>
          <a:off x="723363" y="1600200"/>
          <a:ext cx="10655836" cy="3886528"/>
        </p:xfrm>
        <a:graphic>
          <a:graphicData uri="http://schemas.openxmlformats.org/drawingml/2006/table">
            <a:tbl>
              <a:tblPr/>
              <a:tblGrid>
                <a:gridCol w="1198781">
                  <a:extLst>
                    <a:ext uri="{9D8B030D-6E8A-4147-A177-3AD203B41FA5}">
                      <a16:colId xmlns:a16="http://schemas.microsoft.com/office/drawing/2014/main" val="20000"/>
                    </a:ext>
                  </a:extLst>
                </a:gridCol>
                <a:gridCol w="1065584">
                  <a:extLst>
                    <a:ext uri="{9D8B030D-6E8A-4147-A177-3AD203B41FA5}">
                      <a16:colId xmlns:a16="http://schemas.microsoft.com/office/drawing/2014/main" val="20001"/>
                    </a:ext>
                  </a:extLst>
                </a:gridCol>
                <a:gridCol w="1997969">
                  <a:extLst>
                    <a:ext uri="{9D8B030D-6E8A-4147-A177-3AD203B41FA5}">
                      <a16:colId xmlns:a16="http://schemas.microsoft.com/office/drawing/2014/main" val="20002"/>
                    </a:ext>
                  </a:extLst>
                </a:gridCol>
                <a:gridCol w="2530761">
                  <a:extLst>
                    <a:ext uri="{9D8B030D-6E8A-4147-A177-3AD203B41FA5}">
                      <a16:colId xmlns:a16="http://schemas.microsoft.com/office/drawing/2014/main" val="20003"/>
                    </a:ext>
                  </a:extLst>
                </a:gridCol>
                <a:gridCol w="3862741">
                  <a:extLst>
                    <a:ext uri="{9D8B030D-6E8A-4147-A177-3AD203B41FA5}">
                      <a16:colId xmlns:a16="http://schemas.microsoft.com/office/drawing/2014/main" val="20004"/>
                    </a:ext>
                  </a:extLst>
                </a:gridCol>
              </a:tblGrid>
              <a:tr h="61175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X</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f</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c.f.</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08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18</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24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30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36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42</a:t>
                      </a:r>
                      <a:endParaRPr kumimoji="0" lang="en-IN" sz="2000" b="0" i="0" u="none" strike="noStrike" cap="none" normalizeH="0" baseline="0" dirty="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7</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9</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18</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15</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11</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38</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53</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63</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68</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18</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18</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72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84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90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120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90</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39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N = 68</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510</a:t>
                      </a:r>
                      <a:endParaRPr kumimoji="0" lang="en-IN" sz="2000" b="0"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47297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243368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median = value of ((68+1)/2)</a:t>
                </a:r>
                <a:r>
                  <a:rPr lang="en-US" altLang="en-US" sz="2000" dirty="0" err="1">
                    <a:latin typeface="Century Gothic" panose="020B0502020202020204" pitchFamily="34" charset="0"/>
                    <a:cs typeface="Times New Roman" panose="02020603050405020304" pitchFamily="18" charset="0"/>
                  </a:rPr>
                  <a:t>th</a:t>
                </a:r>
                <a:r>
                  <a:rPr lang="en-US" altLang="en-US" sz="2000" dirty="0">
                    <a:latin typeface="Century Gothic" panose="020B0502020202020204" pitchFamily="34" charset="0"/>
                    <a:cs typeface="Times New Roman" panose="02020603050405020304" pitchFamily="18" charset="0"/>
                  </a:rPr>
                  <a:t> item = 24</a:t>
                </a:r>
              </a:p>
              <a:p>
                <a:pPr algn="just"/>
                <a:endParaRPr lang="en-US" altLang="en-US" sz="2000" dirty="0">
                  <a:latin typeface="Century Gothic" panose="020B0502020202020204" pitchFamily="34" charset="0"/>
                  <a:cs typeface="Times New Roman" panose="02020603050405020304" pitchFamily="18" charset="0"/>
                </a:endParaRPr>
              </a:p>
              <a:p>
                <a:pPr algn="just"/>
                <a14:m>
                  <m:oMath xmlns:m="http://schemas.openxmlformats.org/officeDocument/2006/math">
                    <m:r>
                      <a:rPr lang="en-IN" sz="2000" i="1">
                        <a:solidFill>
                          <a:srgbClr val="000000"/>
                        </a:solidFill>
                        <a:latin typeface="Cambria Math" panose="02040503050406030204" pitchFamily="18" charset="0"/>
                      </a:rPr>
                      <m:t>𝑓</m:t>
                    </m:r>
                    <m:r>
                      <a:rPr lang="en-IN" sz="2000" i="1">
                        <a:solidFill>
                          <a:srgbClr val="000000"/>
                        </a:solidFill>
                        <a:latin typeface="Cambria Math" panose="02040503050406030204" pitchFamily="18" charset="0"/>
                      </a:rPr>
                      <m:t>.</m:t>
                    </m:r>
                    <m:d>
                      <m:dPr>
                        <m:begChr m:val="|"/>
                        <m:endChr m:val="|"/>
                        <m:ctrlPr>
                          <a:rPr lang="en-IN" sz="2000" i="1">
                            <a:solidFill>
                              <a:srgbClr val="000000"/>
                            </a:solidFill>
                            <a:latin typeface="Cambria Math" panose="02040503050406030204" pitchFamily="18" charset="0"/>
                          </a:rPr>
                        </m:ctrlPr>
                      </m:dPr>
                      <m:e>
                        <m:r>
                          <a:rPr lang="en-IN" sz="2000" i="1">
                            <a:solidFill>
                              <a:srgbClr val="000000"/>
                            </a:solidFill>
                            <a:latin typeface="Cambria Math" panose="02040503050406030204" pitchFamily="18" charset="0"/>
                          </a:rPr>
                          <m:t>𝑥</m:t>
                        </m:r>
                        <m:r>
                          <a:rPr lang="en-IN" sz="2000" i="1">
                            <a:solidFill>
                              <a:srgbClr val="000000"/>
                            </a:solidFill>
                            <a:latin typeface="Cambria Math" panose="02040503050406030204" pitchFamily="18" charset="0"/>
                          </a:rPr>
                          <m:t>−</m:t>
                        </m:r>
                        <m:r>
                          <a:rPr lang="en-IN" sz="2000" i="1">
                            <a:solidFill>
                              <a:srgbClr val="000000"/>
                            </a:solidFill>
                            <a:latin typeface="Cambria Math" panose="02040503050406030204" pitchFamily="18" charset="0"/>
                          </a:rPr>
                          <m:t>𝑚𝑒𝑑</m:t>
                        </m:r>
                      </m:e>
                    </m:d>
                  </m:oMath>
                </a14:m>
                <a:r>
                  <a:rPr lang="en-IN" sz="2000" dirty="0">
                    <a:latin typeface="Century Gothic" panose="020B0502020202020204" pitchFamily="34" charset="0"/>
                  </a:rPr>
                  <a:t> </a:t>
                </a:r>
                <a:r>
                  <a:rPr lang="en-US" altLang="en-US" sz="2000" dirty="0">
                    <a:latin typeface="Century Gothic" panose="020B0502020202020204" pitchFamily="34" charset="0"/>
                  </a:rPr>
                  <a:t>= 510</a:t>
                </a:r>
                <a:endParaRPr lang="en-IN" altLang="en-US" sz="2000" dirty="0">
                  <a:latin typeface="Century Gothic" panose="020B0502020202020204" pitchFamily="34" charset="0"/>
                </a:endParaRPr>
              </a:p>
              <a:p>
                <a:pPr algn="just"/>
                <a:endParaRPr lang="en-IN" sz="2000" dirty="0">
                  <a:latin typeface="Century Gothic" panose="020B0502020202020204" pitchFamily="34" charset="0"/>
                </a:endParaRPr>
              </a:p>
              <a:p>
                <a:r>
                  <a:rPr lang="en-US" altLang="en-US" sz="2000" dirty="0">
                    <a:latin typeface="Century Gothic" panose="020B0502020202020204" pitchFamily="34" charset="0"/>
                  </a:rPr>
                  <a:t>Mean deviation about median = </a:t>
                </a:r>
                <a14:m>
                  <m:oMath xmlns:m="http://schemas.openxmlformats.org/officeDocument/2006/math">
                    <m:r>
                      <a:rPr lang="en-IN" sz="2000" i="1">
                        <a:solidFill>
                          <a:srgbClr val="000000"/>
                        </a:solidFill>
                        <a:latin typeface="Cambria Math" panose="02040503050406030204" pitchFamily="18" charset="0"/>
                      </a:rPr>
                      <m:t>𝑀</m:t>
                    </m:r>
                    <m:r>
                      <a:rPr lang="en-IN" sz="2000" i="1">
                        <a:solidFill>
                          <a:srgbClr val="000000"/>
                        </a:solidFill>
                        <a:latin typeface="Cambria Math" panose="02040503050406030204" pitchFamily="18" charset="0"/>
                      </a:rPr>
                      <m:t>.</m:t>
                    </m:r>
                    <m:r>
                      <a:rPr lang="en-IN" sz="2000" i="1">
                        <a:solidFill>
                          <a:srgbClr val="000000"/>
                        </a:solidFill>
                        <a:latin typeface="Cambria Math" panose="02040503050406030204" pitchFamily="18" charset="0"/>
                      </a:rPr>
                      <m:t>𝐷</m:t>
                    </m:r>
                    <m:r>
                      <a:rPr lang="en-IN" sz="2000" i="1">
                        <a:solidFill>
                          <a:srgbClr val="000000"/>
                        </a:solidFill>
                        <a:latin typeface="Cambria Math" panose="02040503050406030204" pitchFamily="18" charset="0"/>
                      </a:rPr>
                      <m:t>.=</m:t>
                    </m:r>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d>
                          <m:dPr>
                            <m:begChr m:val="|"/>
                            <m:endChr m:val="|"/>
                            <m:ctrlPr>
                              <a:rPr lang="en-IN" sz="2000" i="1">
                                <a:solidFill>
                                  <a:srgbClr val="000000"/>
                                </a:solidFill>
                                <a:latin typeface="Cambria Math" panose="02040503050406030204" pitchFamily="18" charset="0"/>
                              </a:rPr>
                            </m:ctrlPr>
                          </m:dPr>
                          <m:e>
                            <m:r>
                              <a:rPr lang="en-IN" sz="2000" i="1">
                                <a:solidFill>
                                  <a:srgbClr val="000000"/>
                                </a:solidFill>
                                <a:latin typeface="Cambria Math" panose="02040503050406030204" pitchFamily="18" charset="0"/>
                              </a:rPr>
                              <m:t>𝑥</m:t>
                            </m:r>
                            <m:r>
                              <a:rPr lang="en-IN" sz="2000" i="1">
                                <a:solidFill>
                                  <a:srgbClr val="000000"/>
                                </a:solidFill>
                                <a:latin typeface="Cambria Math" panose="02040503050406030204" pitchFamily="18" charset="0"/>
                              </a:rPr>
                              <m:t>−</m:t>
                            </m:r>
                            <m:r>
                              <a:rPr lang="en-IN" sz="2000" i="1">
                                <a:solidFill>
                                  <a:srgbClr val="000000"/>
                                </a:solidFill>
                                <a:latin typeface="Cambria Math" panose="02040503050406030204" pitchFamily="18" charset="0"/>
                              </a:rPr>
                              <m:t>𝑎</m:t>
                            </m:r>
                          </m:e>
                        </m:d>
                        <m:r>
                          <a:rPr lang="en-IN" sz="2000" i="1">
                            <a:solidFill>
                              <a:srgbClr val="000000"/>
                            </a:solidFill>
                            <a:latin typeface="Cambria Math" panose="02040503050406030204" pitchFamily="18" charset="0"/>
                          </a:rPr>
                          <m:t>𝑓</m:t>
                        </m:r>
                      </m:num>
                      <m:den>
                        <m:r>
                          <a:rPr lang="en-IN" sz="2000" i="1">
                            <a:solidFill>
                              <a:srgbClr val="000000"/>
                            </a:solidFill>
                            <a:latin typeface="Cambria Math" panose="02040503050406030204" pitchFamily="18" charset="0"/>
                          </a:rPr>
                          <m:t>∑</m:t>
                        </m:r>
                        <m:r>
                          <a:rPr lang="en-IN" sz="2000" i="1">
                            <a:solidFill>
                              <a:srgbClr val="000000"/>
                            </a:solidFill>
                            <a:latin typeface="Cambria Math" panose="02040503050406030204" pitchFamily="18" charset="0"/>
                          </a:rPr>
                          <m:t>𝑓</m:t>
                        </m:r>
                      </m:den>
                    </m:f>
                  </m:oMath>
                </a14:m>
                <a:endParaRPr lang="en-IN" sz="2000" dirty="0">
                  <a:latin typeface="Century Gothic" panose="020B0502020202020204" pitchFamily="34" charset="0"/>
                </a:endParaRPr>
              </a:p>
              <a:p>
                <a:pPr algn="just"/>
                <a:endParaRPr lang="en-IN" sz="2000" dirty="0">
                  <a:latin typeface="Century Gothic" panose="020B0502020202020204" pitchFamily="34" charset="0"/>
                </a:endParaRPr>
              </a:p>
              <a:p>
                <a:pPr algn="just"/>
                <a:r>
                  <a:rPr lang="en-IN" sz="2000" dirty="0">
                    <a:latin typeface="Century Gothic" panose="020B0502020202020204" pitchFamily="34" charset="0"/>
                  </a:rPr>
                  <a:t>= 510/68 = 7.5</a:t>
                </a: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1"/>
                <a:ext cx="10655837" cy="2433680"/>
              </a:xfrm>
              <a:prstGeom prst="rect">
                <a:avLst/>
              </a:prstGeom>
              <a:blipFill>
                <a:blip r:embed="rId2"/>
                <a:stretch>
                  <a:fillRect l="-629" t="-1250" b="-3250"/>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4025856" y="415966"/>
            <a:ext cx="369364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Mean Deviation…..</a:t>
            </a:r>
          </a:p>
        </p:txBody>
      </p:sp>
    </p:spTree>
    <p:extLst>
      <p:ext uri="{BB962C8B-B14F-4D97-AF65-F5344CB8AC3E}">
        <p14:creationId xmlns:p14="http://schemas.microsoft.com/office/powerpoint/2010/main" val="2301857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3796424"/>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The standard deviation of the data is define as the positive square root of the arithmetic mean of the square of deviations of items from the arithmetic mean of the series under consideration.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It is generally denoted by σ (sigma).</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For an individual series: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S. D.= </a:t>
                </a:r>
                <a14:m>
                  <m:oMath xmlns:m="http://schemas.openxmlformats.org/officeDocument/2006/math">
                    <m:rad>
                      <m:radPr>
                        <m:degHide m:val="on"/>
                        <m:ctrlPr>
                          <a:rPr lang="en-IN" sz="2000" i="1">
                            <a:solidFill>
                              <a:srgbClr val="000000"/>
                            </a:solidFill>
                            <a:latin typeface="Cambria Math" panose="02040503050406030204" pitchFamily="18" charset="0"/>
                          </a:rPr>
                        </m:ctrlPr>
                      </m:radPr>
                      <m:deg/>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1</m:t>
                            </m:r>
                          </m:num>
                          <m:den>
                            <m:r>
                              <a:rPr lang="en-IN" sz="2000" i="1">
                                <a:solidFill>
                                  <a:srgbClr val="000000"/>
                                </a:solidFill>
                                <a:latin typeface="Cambria Math" panose="02040503050406030204" pitchFamily="18" charset="0"/>
                              </a:rPr>
                              <m:t>𝑛</m:t>
                            </m:r>
                          </m:den>
                        </m:f>
                        <m:r>
                          <a:rPr lang="en-IN" sz="2000" i="1">
                            <a:solidFill>
                              <a:srgbClr val="000000"/>
                            </a:solidFill>
                            <a:latin typeface="Cambria Math" panose="02040503050406030204" pitchFamily="18" charset="0"/>
                          </a:rPr>
                          <m:t>∑</m:t>
                        </m:r>
                        <m:sSup>
                          <m:sSupPr>
                            <m:ctrlPr>
                              <a:rPr lang="en-IN" sz="2000" i="1">
                                <a:solidFill>
                                  <a:srgbClr val="000000"/>
                                </a:solidFill>
                                <a:latin typeface="Cambria Math" panose="02040503050406030204" pitchFamily="18" charset="0"/>
                              </a:rPr>
                            </m:ctrlPr>
                          </m:sSupPr>
                          <m:e>
                            <m:d>
                              <m:dPr>
                                <m:ctrlPr>
                                  <a:rPr lang="en-IN" sz="2000" i="1">
                                    <a:solidFill>
                                      <a:srgbClr val="000000"/>
                                    </a:solidFill>
                                    <a:latin typeface="Cambria Math" panose="02040503050406030204" pitchFamily="18" charset="0"/>
                                  </a:rPr>
                                </m:ctrlPr>
                              </m:dPr>
                              <m:e>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𝑥</m:t>
                                    </m:r>
                                  </m:e>
                                  <m:sub>
                                    <m:r>
                                      <a:rPr lang="en-IN" sz="2000" i="1">
                                        <a:solidFill>
                                          <a:srgbClr val="000000"/>
                                        </a:solidFill>
                                        <a:latin typeface="Cambria Math" panose="02040503050406030204" pitchFamily="18" charset="0"/>
                                      </a:rPr>
                                      <m:t>𝑖</m:t>
                                    </m:r>
                                  </m:sub>
                                </m:sSub>
                                <m:r>
                                  <a:rPr lang="en-IN" sz="2000" i="1">
                                    <a:solidFill>
                                      <a:srgbClr val="000000"/>
                                    </a:solidFill>
                                    <a:latin typeface="Cambria Math" panose="02040503050406030204" pitchFamily="18" charset="0"/>
                                  </a:rPr>
                                  <m:t>−</m:t>
                                </m:r>
                                <m:acc>
                                  <m:accPr>
                                    <m:chr m:val="̄"/>
                                    <m:ctrlPr>
                                      <a:rPr lang="en-IN" sz="2000" i="1">
                                        <a:solidFill>
                                          <a:srgbClr val="000000"/>
                                        </a:solidFill>
                                        <a:latin typeface="Cambria Math" panose="02040503050406030204" pitchFamily="18" charset="0"/>
                                      </a:rPr>
                                    </m:ctrlPr>
                                  </m:accPr>
                                  <m:e>
                                    <m:r>
                                      <a:rPr lang="en-IN" sz="2000" i="1">
                                        <a:solidFill>
                                          <a:srgbClr val="000000"/>
                                        </a:solidFill>
                                        <a:latin typeface="Cambria Math" panose="02040503050406030204" pitchFamily="18" charset="0"/>
                                      </a:rPr>
                                      <m:t>𝑥</m:t>
                                    </m:r>
                                  </m:e>
                                </m:acc>
                              </m:e>
                            </m:d>
                          </m:e>
                          <m:sup>
                            <m:r>
                              <a:rPr lang="en-IN" sz="2000" i="1">
                                <a:solidFill>
                                  <a:srgbClr val="000000"/>
                                </a:solidFill>
                                <a:latin typeface="Cambria Math" panose="02040503050406030204" pitchFamily="18" charset="0"/>
                              </a:rPr>
                              <m:t>2</m:t>
                            </m:r>
                          </m:sup>
                        </m:sSup>
                      </m:e>
                    </m:rad>
                  </m:oMath>
                </a14:m>
                <a:endParaRPr lang="en-IN" sz="2000" dirty="0"/>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where x1, x2, …., </a:t>
                </a:r>
                <a:r>
                  <a:rPr lang="en-US" altLang="en-US" sz="2000" dirty="0" err="1">
                    <a:latin typeface="Century Gothic" panose="020B0502020202020204" pitchFamily="34" charset="0"/>
                    <a:cs typeface="Times New Roman" panose="02020603050405020304" pitchFamily="18" charset="0"/>
                  </a:rPr>
                  <a:t>xn</a:t>
                </a:r>
                <a:r>
                  <a:rPr lang="en-US" altLang="en-US" sz="2000" dirty="0">
                    <a:latin typeface="Century Gothic" panose="020B0502020202020204" pitchFamily="34" charset="0"/>
                    <a:cs typeface="Times New Roman" panose="02020603050405020304" pitchFamily="18" charset="0"/>
                  </a:rPr>
                  <a:t> are the variables under consideration.</a:t>
                </a: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1"/>
                <a:ext cx="10655837" cy="3796424"/>
              </a:xfrm>
              <a:prstGeom prst="rect">
                <a:avLst/>
              </a:prstGeom>
              <a:blipFill>
                <a:blip r:embed="rId2"/>
                <a:stretch>
                  <a:fillRect l="-629" t="-803" r="-572" b="-1926"/>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3209111" y="291678"/>
            <a:ext cx="3720890"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Standard Deviation</a:t>
            </a:r>
          </a:p>
        </p:txBody>
      </p:sp>
    </p:spTree>
    <p:extLst>
      <p:ext uri="{BB962C8B-B14F-4D97-AF65-F5344CB8AC3E}">
        <p14:creationId xmlns:p14="http://schemas.microsoft.com/office/powerpoint/2010/main" val="755317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180871"/>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For frequency distribution,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S.D. = </a:t>
                </a:r>
                <a14:m>
                  <m:oMath xmlns:m="http://schemas.openxmlformats.org/officeDocument/2006/math">
                    <m:rad>
                      <m:radPr>
                        <m:degHide m:val="on"/>
                        <m:ctrlPr>
                          <a:rPr lang="en-IN" sz="2000" i="1">
                            <a:solidFill>
                              <a:srgbClr val="000000"/>
                            </a:solidFill>
                            <a:latin typeface="Cambria Math" panose="02040503050406030204" pitchFamily="18" charset="0"/>
                          </a:rPr>
                        </m:ctrlPr>
                      </m:radPr>
                      <m:deg/>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1</m:t>
                            </m:r>
                          </m:num>
                          <m:den>
                            <m:r>
                              <a:rPr lang="en-IN" sz="2000" i="1">
                                <a:solidFill>
                                  <a:srgbClr val="000000"/>
                                </a:solidFill>
                                <a:latin typeface="Cambria Math" panose="02040503050406030204" pitchFamily="18" charset="0"/>
                              </a:rPr>
                              <m:t>𝑁</m:t>
                            </m:r>
                          </m:den>
                        </m:f>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p>
                          <m:sSupPr>
                            <m:ctrlPr>
                              <a:rPr lang="en-IN" sz="2000" i="1">
                                <a:solidFill>
                                  <a:srgbClr val="000000"/>
                                </a:solidFill>
                                <a:latin typeface="Cambria Math" panose="02040503050406030204" pitchFamily="18" charset="0"/>
                              </a:rPr>
                            </m:ctrlPr>
                          </m:sSupPr>
                          <m:e>
                            <m:d>
                              <m:dPr>
                                <m:ctrlPr>
                                  <a:rPr lang="en-IN" sz="2000" i="1">
                                    <a:solidFill>
                                      <a:srgbClr val="000000"/>
                                    </a:solidFill>
                                    <a:latin typeface="Cambria Math" panose="02040503050406030204" pitchFamily="18" charset="0"/>
                                  </a:rPr>
                                </m:ctrlPr>
                              </m:dPr>
                              <m:e>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𝑥</m:t>
                                    </m:r>
                                  </m:e>
                                  <m:sub>
                                    <m:r>
                                      <a:rPr lang="en-IN" sz="2000" i="1">
                                        <a:solidFill>
                                          <a:srgbClr val="000000"/>
                                        </a:solidFill>
                                        <a:latin typeface="Cambria Math" panose="02040503050406030204" pitchFamily="18" charset="0"/>
                                      </a:rPr>
                                      <m:t>𝑖</m:t>
                                    </m:r>
                                  </m:sub>
                                </m:sSub>
                                <m:r>
                                  <a:rPr lang="en-IN" sz="2000" i="1">
                                    <a:solidFill>
                                      <a:srgbClr val="000000"/>
                                    </a:solidFill>
                                    <a:latin typeface="Cambria Math" panose="02040503050406030204" pitchFamily="18" charset="0"/>
                                  </a:rPr>
                                  <m:t>−</m:t>
                                </m:r>
                                <m:acc>
                                  <m:accPr>
                                    <m:chr m:val="̄"/>
                                    <m:ctrlPr>
                                      <a:rPr lang="en-IN" sz="2000" i="1">
                                        <a:solidFill>
                                          <a:srgbClr val="000000"/>
                                        </a:solidFill>
                                        <a:latin typeface="Cambria Math" panose="02040503050406030204" pitchFamily="18" charset="0"/>
                                      </a:rPr>
                                    </m:ctrlPr>
                                  </m:accPr>
                                  <m:e>
                                    <m:r>
                                      <a:rPr lang="en-IN" sz="2000" i="1">
                                        <a:solidFill>
                                          <a:srgbClr val="000000"/>
                                        </a:solidFill>
                                        <a:latin typeface="Cambria Math" panose="02040503050406030204" pitchFamily="18" charset="0"/>
                                      </a:rPr>
                                      <m:t>𝑥</m:t>
                                    </m:r>
                                  </m:e>
                                </m:acc>
                              </m:e>
                            </m:d>
                          </m:e>
                          <m:sup>
                            <m:r>
                              <a:rPr lang="en-IN" sz="2000" i="1">
                                <a:solidFill>
                                  <a:srgbClr val="000000"/>
                                </a:solidFill>
                                <a:latin typeface="Cambria Math" panose="02040503050406030204" pitchFamily="18" charset="0"/>
                              </a:rPr>
                              <m:t>2</m:t>
                            </m:r>
                          </m:sup>
                        </m:sSup>
                      </m:e>
                    </m:rad>
                  </m:oMath>
                </a14:m>
                <a:endParaRPr lang="en-IN" sz="2000" dirty="0"/>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square of S. D. is called variance.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Coeff. of S. D. = S.D. /average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Coeff. of variation = (S. D. / average)* 100</a:t>
                </a: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23363" y="1611722"/>
                <a:ext cx="10655837" cy="3180871"/>
              </a:xfrm>
              <a:prstGeom prst="rect">
                <a:avLst/>
              </a:prstGeom>
              <a:blipFill>
                <a:blip r:embed="rId2"/>
                <a:stretch>
                  <a:fillRect l="-629" t="-958" b="-2490"/>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3226866" y="460354"/>
            <a:ext cx="4305987"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Standard Deviation…..</a:t>
            </a:r>
          </a:p>
        </p:txBody>
      </p:sp>
    </p:spTree>
    <p:extLst>
      <p:ext uri="{BB962C8B-B14F-4D97-AF65-F5344CB8AC3E}">
        <p14:creationId xmlns:p14="http://schemas.microsoft.com/office/powerpoint/2010/main" val="1433008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11200" y="1600200"/>
                <a:ext cx="10655837" cy="4494820"/>
              </a:xfrm>
              <a:prstGeom prst="rect">
                <a:avLst/>
              </a:prstGeom>
              <a:noFill/>
            </p:spPr>
            <p:txBody>
              <a:bodyPr wrap="square">
                <a:spAutoFit/>
              </a:bodyPr>
              <a:lstStyle/>
              <a:p>
                <a:pPr marL="457189" indent="-457189" algn="just">
                  <a:buFont typeface="+mj-lt"/>
                  <a:buAutoNum type="arabicParenR"/>
                </a:pPr>
                <a:r>
                  <a:rPr lang="en-US" altLang="en-US" sz="2000" b="1" dirty="0">
                    <a:latin typeface="Century Gothic" panose="020B0502020202020204" pitchFamily="34" charset="0"/>
                    <a:cs typeface="Times New Roman" panose="02020603050405020304" pitchFamily="18" charset="0"/>
                  </a:rPr>
                  <a:t>Direct Method</a:t>
                </a:r>
                <a:endParaRPr lang="en-US" sz="2000" b="1" i="1" dirty="0">
                  <a:solidFill>
                    <a:srgbClr val="000000"/>
                  </a:solidFill>
                  <a:latin typeface="Century Gothic" panose="020B0502020202020204" pitchFamily="34"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IN" sz="2000" i="1">
                          <a:solidFill>
                            <a:srgbClr val="000000"/>
                          </a:solidFill>
                          <a:latin typeface="Cambria Math" panose="02040503050406030204" pitchFamily="18" charset="0"/>
                        </a:rPr>
                        <m:t>𝜎</m:t>
                      </m:r>
                      <m:r>
                        <a:rPr lang="en-IN" sz="2000" i="1">
                          <a:solidFill>
                            <a:srgbClr val="000000"/>
                          </a:solidFill>
                          <a:latin typeface="Cambria Math" panose="02040503050406030204" pitchFamily="18" charset="0"/>
                        </a:rPr>
                        <m:t>=</m:t>
                      </m:r>
                      <m:sSup>
                        <m:sSupPr>
                          <m:ctrlPr>
                            <a:rPr lang="en-IN" sz="2000" i="1">
                              <a:solidFill>
                                <a:srgbClr val="000000"/>
                              </a:solidFill>
                              <a:latin typeface="Cambria Math" panose="02040503050406030204" pitchFamily="18" charset="0"/>
                            </a:rPr>
                          </m:ctrlPr>
                        </m:sSupPr>
                        <m:e>
                          <m:rad>
                            <m:radPr>
                              <m:degHide m:val="on"/>
                              <m:ctrlPr>
                                <a:rPr lang="en-IN" sz="2000" i="1">
                                  <a:solidFill>
                                    <a:srgbClr val="000000"/>
                                  </a:solidFill>
                                  <a:latin typeface="Cambria Math" panose="02040503050406030204" pitchFamily="18" charset="0"/>
                                </a:rPr>
                              </m:ctrlPr>
                            </m:radPr>
                            <m:deg/>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bSup>
                                    <m:sSubSupPr>
                                      <m:ctrlPr>
                                        <a:rPr lang="en-IN" sz="2000" i="1">
                                          <a:solidFill>
                                            <a:srgbClr val="000000"/>
                                          </a:solidFill>
                                          <a:latin typeface="Cambria Math" panose="02040503050406030204" pitchFamily="18" charset="0"/>
                                        </a:rPr>
                                      </m:ctrlPr>
                                    </m:sSubSupPr>
                                    <m:e>
                                      <m:r>
                                        <a:rPr lang="en-IN" sz="2000" i="1">
                                          <a:solidFill>
                                            <a:srgbClr val="000000"/>
                                          </a:solidFill>
                                          <a:latin typeface="Cambria Math" panose="02040503050406030204" pitchFamily="18" charset="0"/>
                                        </a:rPr>
                                        <m:t>𝑥</m:t>
                                      </m:r>
                                    </m:e>
                                    <m:sub>
                                      <m:r>
                                        <a:rPr lang="en-IN" sz="2000" i="1">
                                          <a:solidFill>
                                            <a:srgbClr val="000000"/>
                                          </a:solidFill>
                                          <a:latin typeface="Cambria Math" panose="02040503050406030204" pitchFamily="18" charset="0"/>
                                        </a:rPr>
                                        <m:t>𝑖</m:t>
                                      </m:r>
                                    </m:sub>
                                    <m:sup>
                                      <m:r>
                                        <a:rPr lang="en-IN" sz="2000" i="1">
                                          <a:solidFill>
                                            <a:srgbClr val="000000"/>
                                          </a:solidFill>
                                          <a:latin typeface="Cambria Math" panose="02040503050406030204" pitchFamily="18" charset="0"/>
                                        </a:rPr>
                                        <m:t>2</m:t>
                                      </m:r>
                                    </m:sup>
                                  </m:sSubSup>
                                </m:num>
                                <m:den>
                                  <m:r>
                                    <a:rPr lang="en-IN" sz="2000" i="1">
                                      <a:solidFill>
                                        <a:srgbClr val="000000"/>
                                      </a:solidFill>
                                      <a:latin typeface="Cambria Math" panose="02040503050406030204" pitchFamily="18" charset="0"/>
                                    </a:rPr>
                                    <m:t>𝑁</m:t>
                                  </m:r>
                                </m:den>
                              </m:f>
                              <m:r>
                                <a:rPr lang="en-IN" sz="2000" i="1">
                                  <a:solidFill>
                                    <a:srgbClr val="000000"/>
                                  </a:solidFill>
                                  <a:latin typeface="Cambria Math" panose="02040503050406030204" pitchFamily="18" charset="0"/>
                                </a:rPr>
                                <m:t>−</m:t>
                              </m:r>
                              <m:d>
                                <m:dPr>
                                  <m:ctrlPr>
                                    <a:rPr lang="en-IN" sz="2000" i="1">
                                      <a:solidFill>
                                        <a:srgbClr val="000000"/>
                                      </a:solidFill>
                                      <a:latin typeface="Cambria Math" panose="02040503050406030204" pitchFamily="18" charset="0"/>
                                    </a:rPr>
                                  </m:ctrlPr>
                                </m:dPr>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𝑥</m:t>
                                          </m:r>
                                        </m:e>
                                        <m:sub>
                                          <m:r>
                                            <a:rPr lang="en-IN" sz="2000" i="1">
                                              <a:solidFill>
                                                <a:srgbClr val="000000"/>
                                              </a:solidFill>
                                              <a:latin typeface="Cambria Math" panose="02040503050406030204" pitchFamily="18" charset="0"/>
                                            </a:rPr>
                                            <m:t>𝑖</m:t>
                                          </m:r>
                                        </m:sub>
                                      </m:sSub>
                                    </m:num>
                                    <m:den>
                                      <m:r>
                                        <a:rPr lang="en-IN" sz="2000" i="1">
                                          <a:solidFill>
                                            <a:srgbClr val="000000"/>
                                          </a:solidFill>
                                          <a:latin typeface="Cambria Math" panose="02040503050406030204" pitchFamily="18" charset="0"/>
                                        </a:rPr>
                                        <m:t>𝑁</m:t>
                                      </m:r>
                                    </m:den>
                                  </m:f>
                                </m:e>
                              </m:d>
                            </m:e>
                          </m:rad>
                        </m:e>
                        <m:sup>
                          <m:r>
                            <a:rPr lang="en-IN" sz="2000" i="1">
                              <a:solidFill>
                                <a:srgbClr val="000000"/>
                              </a:solidFill>
                              <a:latin typeface="Cambria Math" panose="02040503050406030204" pitchFamily="18" charset="0"/>
                            </a:rPr>
                            <m:t>2</m:t>
                          </m:r>
                        </m:sup>
                      </m:sSup>
                    </m:oMath>
                  </m:oMathPara>
                </a14:m>
                <a:endParaRPr lang="en-IN" sz="2000" dirty="0">
                  <a:latin typeface="Century Gothic" panose="020B0502020202020204" pitchFamily="34" charset="0"/>
                </a:endParaRPr>
              </a:p>
              <a:p>
                <a:pPr algn="just"/>
                <a:endParaRPr lang="en-IN" sz="2000" dirty="0">
                  <a:latin typeface="Century Gothic" panose="020B0502020202020204" pitchFamily="34" charset="0"/>
                </a:endParaRPr>
              </a:p>
              <a:p>
                <a:pPr marL="457189" indent="-457189" algn="just">
                  <a:buFont typeface="+mj-lt"/>
                  <a:buAutoNum type="arabicParenR" startAt="2"/>
                </a:pPr>
                <a:r>
                  <a:rPr lang="en-US" sz="2000" b="1" dirty="0">
                    <a:latin typeface="Century Gothic" panose="020B0502020202020204" pitchFamily="34" charset="0"/>
                  </a:rPr>
                  <a:t>Change of origin (short cut method)</a:t>
                </a:r>
              </a:p>
              <a:p>
                <a:pPr algn="just"/>
                <a14:m>
                  <m:oMathPara xmlns:m="http://schemas.openxmlformats.org/officeDocument/2006/math">
                    <m:oMathParaPr>
                      <m:jc m:val="left"/>
                    </m:oMathParaPr>
                    <m:oMath xmlns:m="http://schemas.openxmlformats.org/officeDocument/2006/math">
                      <m:r>
                        <a:rPr lang="en-IN" sz="2000" i="1">
                          <a:solidFill>
                            <a:srgbClr val="000000"/>
                          </a:solidFill>
                          <a:latin typeface="Cambria Math" panose="02040503050406030204" pitchFamily="18" charset="0"/>
                        </a:rPr>
                        <m:t>𝜎</m:t>
                      </m:r>
                      <m:r>
                        <a:rPr lang="en-IN" sz="2000" i="1">
                          <a:solidFill>
                            <a:srgbClr val="000000"/>
                          </a:solidFill>
                          <a:latin typeface="Cambria Math" panose="02040503050406030204" pitchFamily="18" charset="0"/>
                        </a:rPr>
                        <m:t>=</m:t>
                      </m:r>
                      <m:sSup>
                        <m:sSupPr>
                          <m:ctrlPr>
                            <a:rPr lang="en-IN" sz="2000" i="1">
                              <a:solidFill>
                                <a:srgbClr val="000000"/>
                              </a:solidFill>
                              <a:latin typeface="Cambria Math" panose="02040503050406030204" pitchFamily="18" charset="0"/>
                            </a:rPr>
                          </m:ctrlPr>
                        </m:sSupPr>
                        <m:e>
                          <m:rad>
                            <m:radPr>
                              <m:degHide m:val="on"/>
                              <m:ctrlPr>
                                <a:rPr lang="en-IN" sz="2000" i="1">
                                  <a:solidFill>
                                    <a:srgbClr val="000000"/>
                                  </a:solidFill>
                                  <a:latin typeface="Cambria Math" panose="02040503050406030204" pitchFamily="18" charset="0"/>
                                </a:rPr>
                              </m:ctrlPr>
                            </m:radPr>
                            <m:deg/>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bSup>
                                    <m:sSubSupPr>
                                      <m:ctrlPr>
                                        <a:rPr lang="en-IN" sz="2000" i="1">
                                          <a:solidFill>
                                            <a:srgbClr val="000000"/>
                                          </a:solidFill>
                                          <a:latin typeface="Cambria Math" panose="02040503050406030204" pitchFamily="18" charset="0"/>
                                        </a:rPr>
                                      </m:ctrlPr>
                                    </m:sSubSupPr>
                                    <m:e>
                                      <m:r>
                                        <a:rPr lang="en-IN" sz="2000" i="1">
                                          <a:solidFill>
                                            <a:srgbClr val="000000"/>
                                          </a:solidFill>
                                          <a:latin typeface="Cambria Math" panose="02040503050406030204" pitchFamily="18" charset="0"/>
                                        </a:rPr>
                                        <m:t>𝑋</m:t>
                                      </m:r>
                                    </m:e>
                                    <m:sub>
                                      <m:r>
                                        <a:rPr lang="en-IN" sz="2000" i="1">
                                          <a:solidFill>
                                            <a:srgbClr val="000000"/>
                                          </a:solidFill>
                                          <a:latin typeface="Cambria Math" panose="02040503050406030204" pitchFamily="18" charset="0"/>
                                        </a:rPr>
                                        <m:t>𝑖</m:t>
                                      </m:r>
                                    </m:sub>
                                    <m:sup>
                                      <m:r>
                                        <a:rPr lang="en-IN" sz="2000" i="1">
                                          <a:solidFill>
                                            <a:srgbClr val="000000"/>
                                          </a:solidFill>
                                          <a:latin typeface="Cambria Math" panose="02040503050406030204" pitchFamily="18" charset="0"/>
                                        </a:rPr>
                                        <m:t>2</m:t>
                                      </m:r>
                                    </m:sup>
                                  </m:sSubSup>
                                </m:num>
                                <m:den>
                                  <m:r>
                                    <a:rPr lang="en-IN" sz="2000" i="1">
                                      <a:solidFill>
                                        <a:srgbClr val="000000"/>
                                      </a:solidFill>
                                      <a:latin typeface="Cambria Math" panose="02040503050406030204" pitchFamily="18" charset="0"/>
                                    </a:rPr>
                                    <m:t>𝑁</m:t>
                                  </m:r>
                                </m:den>
                              </m:f>
                              <m:r>
                                <a:rPr lang="en-IN" sz="2000" i="1">
                                  <a:solidFill>
                                    <a:srgbClr val="000000"/>
                                  </a:solidFill>
                                  <a:latin typeface="Cambria Math" panose="02040503050406030204" pitchFamily="18" charset="0"/>
                                </a:rPr>
                                <m:t>−</m:t>
                              </m:r>
                              <m:d>
                                <m:dPr>
                                  <m:ctrlPr>
                                    <a:rPr lang="en-IN" sz="2000" i="1">
                                      <a:solidFill>
                                        <a:srgbClr val="000000"/>
                                      </a:solidFill>
                                      <a:latin typeface="Cambria Math" panose="02040503050406030204" pitchFamily="18" charset="0"/>
                                    </a:rPr>
                                  </m:ctrlPr>
                                </m:dPr>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𝑋</m:t>
                                          </m:r>
                                        </m:e>
                                        <m:sub>
                                          <m:r>
                                            <a:rPr lang="en-IN" sz="2000" i="1">
                                              <a:solidFill>
                                                <a:srgbClr val="000000"/>
                                              </a:solidFill>
                                              <a:latin typeface="Cambria Math" panose="02040503050406030204" pitchFamily="18" charset="0"/>
                                            </a:rPr>
                                            <m:t>𝑖</m:t>
                                          </m:r>
                                        </m:sub>
                                      </m:sSub>
                                    </m:num>
                                    <m:den>
                                      <m:r>
                                        <a:rPr lang="en-IN" sz="2000" i="1">
                                          <a:solidFill>
                                            <a:srgbClr val="000000"/>
                                          </a:solidFill>
                                          <a:latin typeface="Cambria Math" panose="02040503050406030204" pitchFamily="18" charset="0"/>
                                        </a:rPr>
                                        <m:t>𝑁</m:t>
                                      </m:r>
                                    </m:den>
                                  </m:f>
                                </m:e>
                              </m:d>
                            </m:e>
                          </m:rad>
                        </m:e>
                        <m:sup>
                          <m:r>
                            <a:rPr lang="en-IN" sz="2000" i="1">
                              <a:solidFill>
                                <a:srgbClr val="000000"/>
                              </a:solidFill>
                              <a:latin typeface="Cambria Math" panose="02040503050406030204" pitchFamily="18" charset="0"/>
                            </a:rPr>
                            <m:t>2</m:t>
                          </m:r>
                        </m:sup>
                      </m:sSup>
                    </m:oMath>
                  </m:oMathPara>
                </a14:m>
                <a:endParaRPr lang="en-IN" sz="2000" dirty="0"/>
              </a:p>
              <a:p>
                <a:pPr algn="just"/>
                <a:endParaRPr lang="en-IN" sz="2000" dirty="0"/>
              </a:p>
              <a:p>
                <a:pPr algn="just"/>
                <a:r>
                  <a:rPr lang="en-US" sz="2000" dirty="0"/>
                  <a:t>where Xi = xi – a  are deviations of xi from an arbitrary number a,</a:t>
                </a:r>
              </a:p>
              <a:p>
                <a:pPr algn="just"/>
                <a:r>
                  <a:rPr lang="en-US" sz="2000" dirty="0"/>
                  <a:t>i.e., a is the new origin.</a:t>
                </a:r>
                <a:endParaRPr lang="en-IN" sz="2000" dirty="0"/>
              </a:p>
              <a:p>
                <a:pPr algn="just"/>
                <a:endParaRPr lang="en-IN" sz="2000" dirty="0"/>
              </a:p>
              <a:p>
                <a:pPr algn="just"/>
                <a:r>
                  <a:rPr lang="en-US" sz="2000" dirty="0"/>
                  <a:t>Standard deviation remains unchanged by the change of origin.</a:t>
                </a: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11200" y="1600200"/>
                <a:ext cx="10655837" cy="4494820"/>
              </a:xfrm>
              <a:prstGeom prst="rect">
                <a:avLst/>
              </a:prstGeom>
              <a:blipFill>
                <a:blip r:embed="rId2"/>
                <a:stretch>
                  <a:fillRect l="-629" t="-950" b="-1493"/>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2818494" y="1056525"/>
            <a:ext cx="775885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Methods to calculate Standard Deviation</a:t>
            </a:r>
          </a:p>
        </p:txBody>
      </p:sp>
    </p:spTree>
    <p:extLst>
      <p:ext uri="{BB962C8B-B14F-4D97-AF65-F5344CB8AC3E}">
        <p14:creationId xmlns:p14="http://schemas.microsoft.com/office/powerpoint/2010/main" val="176084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left)">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wipe(left)">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wipe(left)">
                                      <p:cBhvr>
                                        <p:cTn id="37"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11200" y="1600200"/>
                <a:ext cx="10655837" cy="3216906"/>
              </a:xfrm>
              <a:prstGeom prst="rect">
                <a:avLst/>
              </a:prstGeom>
              <a:noFill/>
            </p:spPr>
            <p:txBody>
              <a:bodyPr wrap="square">
                <a:spAutoFit/>
              </a:bodyPr>
              <a:lstStyle/>
              <a:p>
                <a:pPr marL="457189" indent="-457189" algn="just">
                  <a:buFont typeface="+mj-lt"/>
                  <a:buAutoNum type="arabicParenR" startAt="3"/>
                </a:pPr>
                <a:r>
                  <a:rPr lang="en-US" altLang="en-US" sz="2000" b="1" dirty="0">
                    <a:latin typeface="Century Gothic" panose="020B0502020202020204" pitchFamily="34" charset="0"/>
                    <a:cs typeface="Times New Roman" panose="02020603050405020304" pitchFamily="18" charset="0"/>
                  </a:rPr>
                  <a:t>Change of origin and change of scale</a:t>
                </a:r>
              </a:p>
              <a:p>
                <a:pPr algn="just"/>
                <a14:m>
                  <m:oMathPara xmlns:m="http://schemas.openxmlformats.org/officeDocument/2006/math">
                    <m:oMathParaPr>
                      <m:jc m:val="left"/>
                    </m:oMathParaPr>
                    <m:oMath xmlns:m="http://schemas.openxmlformats.org/officeDocument/2006/math">
                      <m:r>
                        <a:rPr lang="en-IN" sz="2000" i="1">
                          <a:solidFill>
                            <a:srgbClr val="000000"/>
                          </a:solidFill>
                          <a:latin typeface="Cambria Math" panose="02040503050406030204" pitchFamily="18" charset="0"/>
                        </a:rPr>
                        <m:t>𝜎</m:t>
                      </m:r>
                      <m:r>
                        <a:rPr lang="en-IN" sz="2000" i="1">
                          <a:solidFill>
                            <a:srgbClr val="000000"/>
                          </a:solidFill>
                          <a:latin typeface="Cambria Math" panose="02040503050406030204" pitchFamily="18" charset="0"/>
                        </a:rPr>
                        <m:t>=</m:t>
                      </m:r>
                      <m:r>
                        <a:rPr lang="en-IN" sz="2000" i="1">
                          <a:solidFill>
                            <a:srgbClr val="000000"/>
                          </a:solidFill>
                          <a:latin typeface="Cambria Math" panose="02040503050406030204" pitchFamily="18" charset="0"/>
                        </a:rPr>
                        <m:t>h</m:t>
                      </m:r>
                      <m:r>
                        <a:rPr lang="en-IN" sz="2000" i="1">
                          <a:solidFill>
                            <a:srgbClr val="000000"/>
                          </a:solidFill>
                          <a:latin typeface="Cambria Math" panose="02040503050406030204" pitchFamily="18" charset="0"/>
                        </a:rPr>
                        <m:t>.</m:t>
                      </m:r>
                      <m:sSup>
                        <m:sSupPr>
                          <m:ctrlPr>
                            <a:rPr lang="en-IN" sz="2000" i="1">
                              <a:solidFill>
                                <a:srgbClr val="000000"/>
                              </a:solidFill>
                              <a:latin typeface="Cambria Math" panose="02040503050406030204" pitchFamily="18" charset="0"/>
                            </a:rPr>
                          </m:ctrlPr>
                        </m:sSupPr>
                        <m:e>
                          <m:rad>
                            <m:radPr>
                              <m:degHide m:val="on"/>
                              <m:ctrlPr>
                                <a:rPr lang="en-IN" sz="2000" i="1">
                                  <a:solidFill>
                                    <a:srgbClr val="000000"/>
                                  </a:solidFill>
                                  <a:latin typeface="Cambria Math" panose="02040503050406030204" pitchFamily="18" charset="0"/>
                                </a:rPr>
                              </m:ctrlPr>
                            </m:radPr>
                            <m:deg/>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bSup>
                                    <m:sSubSupPr>
                                      <m:ctrlPr>
                                        <a:rPr lang="en-IN" sz="2000" i="1">
                                          <a:solidFill>
                                            <a:srgbClr val="000000"/>
                                          </a:solidFill>
                                          <a:latin typeface="Cambria Math" panose="02040503050406030204" pitchFamily="18" charset="0"/>
                                        </a:rPr>
                                      </m:ctrlPr>
                                    </m:sSubSupPr>
                                    <m:e>
                                      <m:r>
                                        <a:rPr lang="en-IN" sz="2000" i="1">
                                          <a:solidFill>
                                            <a:srgbClr val="000000"/>
                                          </a:solidFill>
                                          <a:latin typeface="Cambria Math" panose="02040503050406030204" pitchFamily="18" charset="0"/>
                                        </a:rPr>
                                        <m:t>𝑢</m:t>
                                      </m:r>
                                    </m:e>
                                    <m:sub>
                                      <m:r>
                                        <a:rPr lang="en-IN" sz="2000" i="1">
                                          <a:solidFill>
                                            <a:srgbClr val="000000"/>
                                          </a:solidFill>
                                          <a:latin typeface="Cambria Math" panose="02040503050406030204" pitchFamily="18" charset="0"/>
                                        </a:rPr>
                                        <m:t>𝑖</m:t>
                                      </m:r>
                                    </m:sub>
                                    <m:sup>
                                      <m:r>
                                        <a:rPr lang="en-IN" sz="2000" i="1">
                                          <a:solidFill>
                                            <a:srgbClr val="000000"/>
                                          </a:solidFill>
                                          <a:latin typeface="Cambria Math" panose="02040503050406030204" pitchFamily="18" charset="0"/>
                                        </a:rPr>
                                        <m:t>2</m:t>
                                      </m:r>
                                    </m:sup>
                                  </m:sSubSup>
                                </m:num>
                                <m:den>
                                  <m:r>
                                    <a:rPr lang="en-IN" sz="2000" i="1">
                                      <a:solidFill>
                                        <a:srgbClr val="000000"/>
                                      </a:solidFill>
                                      <a:latin typeface="Cambria Math" panose="02040503050406030204" pitchFamily="18" charset="0"/>
                                    </a:rPr>
                                    <m:t>𝑁</m:t>
                                  </m:r>
                                </m:den>
                              </m:f>
                              <m:r>
                                <a:rPr lang="en-IN" sz="2000" i="1">
                                  <a:solidFill>
                                    <a:srgbClr val="000000"/>
                                  </a:solidFill>
                                  <a:latin typeface="Cambria Math" panose="02040503050406030204" pitchFamily="18" charset="0"/>
                                </a:rPr>
                                <m:t>−</m:t>
                              </m:r>
                              <m:d>
                                <m:dPr>
                                  <m:ctrlPr>
                                    <a:rPr lang="en-IN" sz="2000" i="1">
                                      <a:solidFill>
                                        <a:srgbClr val="000000"/>
                                      </a:solidFill>
                                      <a:latin typeface="Cambria Math" panose="02040503050406030204" pitchFamily="18" charset="0"/>
                                    </a:rPr>
                                  </m:ctrlPr>
                                </m:dPr>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𝑢</m:t>
                                          </m:r>
                                        </m:e>
                                        <m:sub>
                                          <m:r>
                                            <a:rPr lang="en-IN" sz="2000" i="1">
                                              <a:solidFill>
                                                <a:srgbClr val="000000"/>
                                              </a:solidFill>
                                              <a:latin typeface="Cambria Math" panose="02040503050406030204" pitchFamily="18" charset="0"/>
                                            </a:rPr>
                                            <m:t>𝑖</m:t>
                                          </m:r>
                                        </m:sub>
                                      </m:sSub>
                                    </m:num>
                                    <m:den>
                                      <m:r>
                                        <a:rPr lang="en-IN" sz="2000" i="1">
                                          <a:solidFill>
                                            <a:srgbClr val="000000"/>
                                          </a:solidFill>
                                          <a:latin typeface="Cambria Math" panose="02040503050406030204" pitchFamily="18" charset="0"/>
                                        </a:rPr>
                                        <m:t>𝑁</m:t>
                                      </m:r>
                                    </m:den>
                                  </m:f>
                                </m:e>
                              </m:d>
                            </m:e>
                          </m:rad>
                        </m:e>
                        <m:sup>
                          <m:r>
                            <a:rPr lang="en-IN" sz="2000" i="1">
                              <a:solidFill>
                                <a:srgbClr val="000000"/>
                              </a:solidFill>
                              <a:latin typeface="Cambria Math" panose="02040503050406030204" pitchFamily="18" charset="0"/>
                            </a:rPr>
                            <m:t>2</m:t>
                          </m:r>
                        </m:sup>
                      </m:sSup>
                    </m:oMath>
                  </m:oMathPara>
                </a14:m>
                <a:endParaRPr lang="en-IN" sz="2000" dirty="0">
                  <a:latin typeface="Century Gothic" panose="020B0502020202020204" pitchFamily="34" charset="0"/>
                </a:endParaRPr>
              </a:p>
              <a:p>
                <a:pPr algn="just"/>
                <a:endParaRPr lang="en-IN" sz="2000" dirty="0">
                  <a:latin typeface="Century Gothic" panose="020B0502020202020204" pitchFamily="34" charset="0"/>
                </a:endParaRPr>
              </a:p>
              <a:p>
                <a:pPr algn="just"/>
                <a:r>
                  <a:rPr lang="en-US" sz="2000" dirty="0">
                    <a:latin typeface="Century Gothic" panose="020B0502020202020204" pitchFamily="34" charset="0"/>
                  </a:rPr>
                  <a:t>where </a:t>
                </a:r>
                <a:r>
                  <a:rPr lang="en-US" sz="2000" dirty="0" err="1">
                    <a:latin typeface="Century Gothic" panose="020B0502020202020204" pitchFamily="34" charset="0"/>
                  </a:rPr>
                  <a:t>ui</a:t>
                </a:r>
                <a:r>
                  <a:rPr lang="en-US" sz="2000" dirty="0">
                    <a:latin typeface="Century Gothic" panose="020B0502020202020204" pitchFamily="34" charset="0"/>
                  </a:rPr>
                  <a:t> = (xi –a)/h,</a:t>
                </a:r>
              </a:p>
              <a:p>
                <a:pPr algn="just"/>
                <a:endParaRPr lang="en-US" sz="2000" dirty="0">
                  <a:latin typeface="Century Gothic" panose="020B0502020202020204" pitchFamily="34" charset="0"/>
                </a:endParaRPr>
              </a:p>
              <a:p>
                <a:pPr algn="just"/>
                <a:r>
                  <a:rPr lang="en-US" sz="2000" dirty="0">
                    <a:latin typeface="Century Gothic" panose="020B0502020202020204" pitchFamily="34" charset="0"/>
                  </a:rPr>
                  <a:t>a be the new origin  and scale be h times the original scale.</a:t>
                </a:r>
              </a:p>
              <a:p>
                <a:pPr algn="just"/>
                <a:endParaRPr lang="en-US" sz="2000" dirty="0">
                  <a:latin typeface="Century Gothic" panose="020B0502020202020204" pitchFamily="34" charset="0"/>
                </a:endParaRPr>
              </a:p>
              <a:p>
                <a:pPr algn="just"/>
                <a:r>
                  <a:rPr lang="en-US" sz="2000" dirty="0">
                    <a:latin typeface="Century Gothic" panose="020B0502020202020204" pitchFamily="34" charset="0"/>
                  </a:rPr>
                  <a:t>S.D. is independent of change of origin and change of scale.</a:t>
                </a:r>
                <a:endParaRPr lang="en-US" altLang="en-US" sz="2000" b="1" dirty="0">
                  <a:latin typeface="Century Gothic" panose="020B0502020202020204" pitchFamily="34"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11200" y="1600200"/>
                <a:ext cx="10655837" cy="3216906"/>
              </a:xfrm>
              <a:prstGeom prst="rect">
                <a:avLst/>
              </a:prstGeom>
              <a:blipFill>
                <a:blip r:embed="rId2"/>
                <a:stretch>
                  <a:fillRect l="-629" t="-1328" b="-2277"/>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2871759" y="1056525"/>
            <a:ext cx="834395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Methods to calculate Standard Deviation.….</a:t>
            </a:r>
          </a:p>
        </p:txBody>
      </p:sp>
    </p:spTree>
    <p:extLst>
      <p:ext uri="{BB962C8B-B14F-4D97-AF65-F5344CB8AC3E}">
        <p14:creationId xmlns:p14="http://schemas.microsoft.com/office/powerpoint/2010/main" val="25800564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wipe(left)">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wipe(left)">
                                      <p:cBhvr>
                                        <p:cTn id="2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11200" y="1600201"/>
            <a:ext cx="10655837" cy="1323439"/>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Example:	</a:t>
            </a:r>
            <a:r>
              <a:rPr lang="en-US" altLang="en-US" sz="2000" dirty="0">
                <a:latin typeface="Century Gothic" panose="020B0502020202020204" pitchFamily="34" charset="0"/>
                <a:cs typeface="Times New Roman" panose="02020603050405020304" pitchFamily="18" charset="0"/>
              </a:rPr>
              <a:t>Compute the S.D.</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x:	</a:t>
            </a:r>
            <a:r>
              <a:rPr lang="en-US" altLang="en-US" sz="2000" dirty="0">
                <a:latin typeface="Century Gothic" panose="020B0502020202020204" pitchFamily="34" charset="0"/>
                <a:cs typeface="Times New Roman" panose="02020603050405020304" pitchFamily="18" charset="0"/>
              </a:rPr>
              <a:t>1	2	3	4	5	6	7</a:t>
            </a:r>
          </a:p>
          <a:p>
            <a:pPr algn="just"/>
            <a:r>
              <a:rPr lang="en-US" altLang="en-US" sz="2000" b="1" dirty="0">
                <a:latin typeface="Century Gothic" panose="020B0502020202020204" pitchFamily="34" charset="0"/>
                <a:cs typeface="Times New Roman" panose="02020603050405020304" pitchFamily="18" charset="0"/>
              </a:rPr>
              <a:t>f:</a:t>
            </a:r>
            <a:r>
              <a:rPr lang="en-US" altLang="en-US" sz="2000" dirty="0">
                <a:latin typeface="Century Gothic" panose="020B0502020202020204" pitchFamily="34" charset="0"/>
                <a:cs typeface="Times New Roman" panose="02020603050405020304" pitchFamily="18" charset="0"/>
              </a:rPr>
              <a:t>	6	12	18	26	16	10	8</a:t>
            </a:r>
          </a:p>
        </p:txBody>
      </p:sp>
      <p:sp>
        <p:nvSpPr>
          <p:cNvPr id="2" name="TextBox 1">
            <a:extLst>
              <a:ext uri="{FF2B5EF4-FFF2-40B4-BE49-F238E27FC236}">
                <a16:creationId xmlns:a16="http://schemas.microsoft.com/office/drawing/2014/main" id="{5E53F7AB-5CFF-43A5-A60B-16AA5F75ED4B}"/>
              </a:ext>
            </a:extLst>
          </p:cNvPr>
          <p:cNvSpPr txBox="1"/>
          <p:nvPr/>
        </p:nvSpPr>
        <p:spPr>
          <a:xfrm>
            <a:off x="3333398" y="971485"/>
            <a:ext cx="834395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Methods to calculate Standard Deviation.….</a:t>
            </a:r>
          </a:p>
        </p:txBody>
      </p:sp>
      <p:graphicFrame>
        <p:nvGraphicFramePr>
          <p:cNvPr id="3" name="Group 53">
            <a:extLst>
              <a:ext uri="{FF2B5EF4-FFF2-40B4-BE49-F238E27FC236}">
                <a16:creationId xmlns:a16="http://schemas.microsoft.com/office/drawing/2014/main" id="{3611417C-5B08-4DAF-900F-0F07B5D738F8}"/>
              </a:ext>
            </a:extLst>
          </p:cNvPr>
          <p:cNvGraphicFramePr>
            <a:graphicFrameLocks noGrp="1"/>
          </p:cNvGraphicFramePr>
          <p:nvPr/>
        </p:nvGraphicFramePr>
        <p:xfrm>
          <a:off x="723363" y="3093721"/>
          <a:ext cx="10643673" cy="3383280"/>
        </p:xfrm>
        <a:graphic>
          <a:graphicData uri="http://schemas.openxmlformats.org/drawingml/2006/table">
            <a:tbl>
              <a:tblPr/>
              <a:tblGrid>
                <a:gridCol w="897659">
                  <a:extLst>
                    <a:ext uri="{9D8B030D-6E8A-4147-A177-3AD203B41FA5}">
                      <a16:colId xmlns:a16="http://schemas.microsoft.com/office/drawing/2014/main" val="20000"/>
                    </a:ext>
                  </a:extLst>
                </a:gridCol>
                <a:gridCol w="1410607">
                  <a:extLst>
                    <a:ext uri="{9D8B030D-6E8A-4147-A177-3AD203B41FA5}">
                      <a16:colId xmlns:a16="http://schemas.microsoft.com/office/drawing/2014/main" val="20001"/>
                    </a:ext>
                  </a:extLst>
                </a:gridCol>
                <a:gridCol w="1410607">
                  <a:extLst>
                    <a:ext uri="{9D8B030D-6E8A-4147-A177-3AD203B41FA5}">
                      <a16:colId xmlns:a16="http://schemas.microsoft.com/office/drawing/2014/main" val="20002"/>
                    </a:ext>
                  </a:extLst>
                </a:gridCol>
                <a:gridCol w="2051792">
                  <a:extLst>
                    <a:ext uri="{9D8B030D-6E8A-4147-A177-3AD203B41FA5}">
                      <a16:colId xmlns:a16="http://schemas.microsoft.com/office/drawing/2014/main" val="20003"/>
                    </a:ext>
                  </a:extLst>
                </a:gridCol>
                <a:gridCol w="2180029">
                  <a:extLst>
                    <a:ext uri="{9D8B030D-6E8A-4147-A177-3AD203B41FA5}">
                      <a16:colId xmlns:a16="http://schemas.microsoft.com/office/drawing/2014/main" val="20004"/>
                    </a:ext>
                  </a:extLst>
                </a:gridCol>
                <a:gridCol w="2692979">
                  <a:extLst>
                    <a:ext uri="{9D8B030D-6E8A-4147-A177-3AD203B41FA5}">
                      <a16:colId xmlns:a16="http://schemas.microsoft.com/office/drawing/2014/main" val="20005"/>
                    </a:ext>
                  </a:extLst>
                </a:gridCol>
              </a:tblGrid>
              <a:tr h="39624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x</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f</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chemeClr val="tx1"/>
                          </a:solidFill>
                          <a:effectLst/>
                          <a:latin typeface="Century Gothic" panose="020B0502020202020204" pitchFamily="34" charset="0"/>
                        </a:rPr>
                        <a:t>f.x</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(x –avg)</a:t>
                      </a:r>
                      <a:endParaRPr kumimoji="0" lang="en-IN" sz="2000" b="1"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(x –avg)</a:t>
                      </a:r>
                      <a:r>
                        <a:rPr kumimoji="0" lang="en-US" sz="2000" b="1" i="0" u="none" strike="noStrike" cap="none" normalizeH="0" baseline="30000" dirty="0">
                          <a:ln>
                            <a:noFill/>
                          </a:ln>
                          <a:solidFill>
                            <a:schemeClr val="tx1"/>
                          </a:solidFill>
                          <a:effectLst/>
                          <a:latin typeface="Century Gothic" panose="020B0502020202020204" pitchFamily="34" charset="0"/>
                        </a:rPr>
                        <a:t>2</a:t>
                      </a:r>
                      <a:endParaRPr kumimoji="0" lang="en-IN" sz="2000" b="1" i="0" u="none" strike="noStrike" cap="none" normalizeH="0" baseline="3000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Century Gothic" panose="020B0502020202020204" pitchFamily="34" charset="0"/>
                        </a:rPr>
                        <a:t>f. (x – avg)</a:t>
                      </a:r>
                      <a:r>
                        <a:rPr kumimoji="0" lang="en-US" sz="2000" b="1" i="0" u="none" strike="noStrike" cap="none" normalizeH="0" baseline="30000" dirty="0">
                          <a:ln>
                            <a:noFill/>
                          </a:ln>
                          <a:solidFill>
                            <a:schemeClr val="tx1"/>
                          </a:solidFill>
                          <a:effectLst/>
                          <a:latin typeface="Century Gothic" panose="020B0502020202020204" pitchFamily="34" charset="0"/>
                        </a:rPr>
                        <a:t>2</a:t>
                      </a:r>
                      <a:endParaRPr kumimoji="0" lang="en-IN" sz="2000" b="1" i="0" u="none" strike="noStrike" cap="none" normalizeH="0" baseline="3000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08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7</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18</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26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8</a:t>
                      </a:r>
                      <a:endParaRPr kumimoji="0" lang="en-IN" sz="2000" b="0"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104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80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60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56</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2</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9</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1</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9</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54</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48</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18</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16</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40</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72</a:t>
                      </a:r>
                      <a:endParaRPr kumimoji="0" lang="en-IN" sz="2000" b="0"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4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96</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entury Gothic" panose="020B0502020202020204" pitchFamily="34" charset="0"/>
                        </a:rPr>
                        <a:t>384</a:t>
                      </a: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IN" sz="2000" b="0" i="0" u="none" strike="noStrike" cap="none" normalizeH="0" baseline="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entury Gothic" panose="020B0502020202020204" pitchFamily="34" charset="0"/>
                        </a:rPr>
                        <a:t>248</a:t>
                      </a:r>
                      <a:endParaRPr kumimoji="0" lang="en-IN" sz="2000" b="0" i="0" u="none" strike="noStrike" cap="none" normalizeH="0" baseline="0" dirty="0">
                        <a:ln>
                          <a:noFill/>
                        </a:ln>
                        <a:solidFill>
                          <a:schemeClr val="tx1"/>
                        </a:solidFill>
                        <a:effectLst/>
                        <a:latin typeface="Century Gothic" panose="020B0502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235656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wipe(left)">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1B16CEC-5382-4936-91C2-86CA7AF3650A}"/>
                  </a:ext>
                </a:extLst>
              </p:cNvPr>
              <p:cNvSpPr txBox="1"/>
              <p:nvPr/>
            </p:nvSpPr>
            <p:spPr>
              <a:xfrm>
                <a:off x="711200" y="1600201"/>
                <a:ext cx="10655837" cy="311174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IN" sz="2000" i="1">
                              <a:solidFill>
                                <a:srgbClr val="000000"/>
                              </a:solidFill>
                              <a:latin typeface="Cambria Math" panose="02040503050406030204" pitchFamily="18" charset="0"/>
                            </a:rPr>
                          </m:ctrlPr>
                        </m:accPr>
                        <m:e>
                          <m:r>
                            <a:rPr lang="en-IN" sz="2000" i="1">
                              <a:solidFill>
                                <a:srgbClr val="000000"/>
                              </a:solidFill>
                              <a:latin typeface="Cambria Math" panose="02040503050406030204" pitchFamily="18" charset="0"/>
                            </a:rPr>
                            <m:t>𝑥</m:t>
                          </m:r>
                        </m:e>
                      </m:acc>
                      <m:r>
                        <a:rPr lang="en-IN" sz="2000" i="1">
                          <a:solidFill>
                            <a:srgbClr val="000000"/>
                          </a:solidFill>
                          <a:latin typeface="Cambria Math" panose="02040503050406030204" pitchFamily="18" charset="0"/>
                        </a:rPr>
                        <m:t>=</m:t>
                      </m:r>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m:t>
                          </m:r>
                          <m:r>
                            <a:rPr lang="en-IN" sz="2000" i="1">
                              <a:solidFill>
                                <a:srgbClr val="000000"/>
                              </a:solidFill>
                              <a:latin typeface="Cambria Math" panose="02040503050406030204" pitchFamily="18" charset="0"/>
                            </a:rPr>
                            <m:t>𝑓𝑥</m:t>
                          </m:r>
                        </m:num>
                        <m:den>
                          <m:r>
                            <a:rPr lang="en-IN" sz="2000" i="1">
                              <a:solidFill>
                                <a:srgbClr val="000000"/>
                              </a:solidFill>
                              <a:latin typeface="Cambria Math" panose="02040503050406030204" pitchFamily="18" charset="0"/>
                            </a:rPr>
                            <m:t>𝑁</m:t>
                          </m:r>
                        </m:den>
                      </m:f>
                      <m:r>
                        <a:rPr lang="en-IN" sz="2000" i="1">
                          <a:solidFill>
                            <a:srgbClr val="000000"/>
                          </a:solidFill>
                          <a:latin typeface="Cambria Math" panose="02040503050406030204" pitchFamily="18" charset="0"/>
                        </a:rPr>
                        <m:t>=</m:t>
                      </m:r>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384</m:t>
                          </m:r>
                        </m:num>
                        <m:den>
                          <m:r>
                            <a:rPr lang="en-IN" sz="2000" i="1">
                              <a:solidFill>
                                <a:srgbClr val="000000"/>
                              </a:solidFill>
                              <a:latin typeface="Cambria Math" panose="02040503050406030204" pitchFamily="18" charset="0"/>
                            </a:rPr>
                            <m:t>96</m:t>
                          </m:r>
                        </m:den>
                      </m:f>
                      <m:r>
                        <a:rPr lang="en-IN" sz="2000" i="1">
                          <a:solidFill>
                            <a:srgbClr val="000000"/>
                          </a:solidFill>
                          <a:latin typeface="Cambria Math" panose="02040503050406030204" pitchFamily="18" charset="0"/>
                        </a:rPr>
                        <m:t>=4</m:t>
                      </m:r>
                    </m:oMath>
                  </m:oMathPara>
                </a14:m>
                <a:endParaRPr lang="en-IN" sz="2000" i="1" dirty="0">
                  <a:solidFill>
                    <a:srgbClr val="000000"/>
                  </a:solidFill>
                  <a:latin typeface="Cambria Math" panose="02040503050406030204" pitchFamily="18" charset="0"/>
                </a:endParaRPr>
              </a:p>
              <a:p>
                <a:pPr/>
                <a:br>
                  <a:rPr lang="en-IN" sz="20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en-IN" sz="2000" i="1">
                          <a:solidFill>
                            <a:srgbClr val="000000"/>
                          </a:solidFill>
                          <a:latin typeface="Cambria Math" panose="02040503050406030204" pitchFamily="18" charset="0"/>
                        </a:rPr>
                        <m:t>𝜎</m:t>
                      </m:r>
                      <m:r>
                        <a:rPr lang="en-IN" sz="2000" i="1">
                          <a:solidFill>
                            <a:srgbClr val="000000"/>
                          </a:solidFill>
                          <a:latin typeface="Cambria Math" panose="02040503050406030204" pitchFamily="18" charset="0"/>
                        </a:rPr>
                        <m:t>=</m:t>
                      </m:r>
                      <m:rad>
                        <m:radPr>
                          <m:degHide m:val="on"/>
                          <m:ctrlPr>
                            <a:rPr lang="en-IN" sz="2000" i="1">
                              <a:solidFill>
                                <a:srgbClr val="000000"/>
                              </a:solidFill>
                              <a:latin typeface="Cambria Math" panose="02040503050406030204" pitchFamily="18" charset="0"/>
                            </a:rPr>
                          </m:ctrlPr>
                        </m:radPr>
                        <m:deg/>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1</m:t>
                              </m:r>
                            </m:num>
                            <m:den>
                              <m:r>
                                <a:rPr lang="en-IN" sz="2000" i="1">
                                  <a:solidFill>
                                    <a:srgbClr val="000000"/>
                                  </a:solidFill>
                                  <a:latin typeface="Cambria Math" panose="02040503050406030204" pitchFamily="18" charset="0"/>
                                </a:rPr>
                                <m:t>𝑁</m:t>
                              </m:r>
                            </m:den>
                          </m:f>
                          <m:r>
                            <a:rPr lang="en-IN" sz="2000" i="1">
                              <a:solidFill>
                                <a:srgbClr val="000000"/>
                              </a:solidFill>
                              <a:latin typeface="Cambria Math" panose="02040503050406030204" pitchFamily="18" charset="0"/>
                            </a:rPr>
                            <m:t>∑</m:t>
                          </m:r>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𝑓</m:t>
                              </m:r>
                            </m:e>
                            <m:sub>
                              <m:r>
                                <a:rPr lang="en-IN" sz="2000" i="1">
                                  <a:solidFill>
                                    <a:srgbClr val="000000"/>
                                  </a:solidFill>
                                  <a:latin typeface="Cambria Math" panose="02040503050406030204" pitchFamily="18" charset="0"/>
                                </a:rPr>
                                <m:t>𝑖</m:t>
                              </m:r>
                            </m:sub>
                          </m:sSub>
                          <m:sSup>
                            <m:sSupPr>
                              <m:ctrlPr>
                                <a:rPr lang="en-IN" sz="2000" i="1">
                                  <a:solidFill>
                                    <a:srgbClr val="000000"/>
                                  </a:solidFill>
                                  <a:latin typeface="Cambria Math" panose="02040503050406030204" pitchFamily="18" charset="0"/>
                                </a:rPr>
                              </m:ctrlPr>
                            </m:sSupPr>
                            <m:e>
                              <m:d>
                                <m:dPr>
                                  <m:ctrlPr>
                                    <a:rPr lang="en-IN" sz="2000" i="1">
                                      <a:solidFill>
                                        <a:srgbClr val="000000"/>
                                      </a:solidFill>
                                      <a:latin typeface="Cambria Math" panose="02040503050406030204" pitchFamily="18" charset="0"/>
                                    </a:rPr>
                                  </m:ctrlPr>
                                </m:dPr>
                                <m:e>
                                  <m:sSub>
                                    <m:sSubPr>
                                      <m:ctrlPr>
                                        <a:rPr lang="en-IN" sz="2000" i="1">
                                          <a:solidFill>
                                            <a:srgbClr val="000000"/>
                                          </a:solidFill>
                                          <a:latin typeface="Cambria Math" panose="02040503050406030204" pitchFamily="18" charset="0"/>
                                        </a:rPr>
                                      </m:ctrlPr>
                                    </m:sSubPr>
                                    <m:e>
                                      <m:r>
                                        <a:rPr lang="en-IN" sz="2000" i="1">
                                          <a:solidFill>
                                            <a:srgbClr val="000000"/>
                                          </a:solidFill>
                                          <a:latin typeface="Cambria Math" panose="02040503050406030204" pitchFamily="18" charset="0"/>
                                        </a:rPr>
                                        <m:t>𝑥</m:t>
                                      </m:r>
                                    </m:e>
                                    <m:sub>
                                      <m:r>
                                        <a:rPr lang="en-IN" sz="2000" i="1">
                                          <a:solidFill>
                                            <a:srgbClr val="000000"/>
                                          </a:solidFill>
                                          <a:latin typeface="Cambria Math" panose="02040503050406030204" pitchFamily="18" charset="0"/>
                                        </a:rPr>
                                        <m:t>𝑖</m:t>
                                      </m:r>
                                    </m:sub>
                                  </m:sSub>
                                  <m:r>
                                    <a:rPr lang="en-IN" sz="2000" i="1">
                                      <a:solidFill>
                                        <a:srgbClr val="000000"/>
                                      </a:solidFill>
                                      <a:latin typeface="Cambria Math" panose="02040503050406030204" pitchFamily="18" charset="0"/>
                                    </a:rPr>
                                    <m:t>−</m:t>
                                  </m:r>
                                  <m:acc>
                                    <m:accPr>
                                      <m:chr m:val="̄"/>
                                      <m:ctrlPr>
                                        <a:rPr lang="en-IN" sz="2000" i="1">
                                          <a:solidFill>
                                            <a:srgbClr val="000000"/>
                                          </a:solidFill>
                                          <a:latin typeface="Cambria Math" panose="02040503050406030204" pitchFamily="18" charset="0"/>
                                        </a:rPr>
                                      </m:ctrlPr>
                                    </m:accPr>
                                    <m:e>
                                      <m:r>
                                        <a:rPr lang="en-IN" sz="2000" i="1">
                                          <a:solidFill>
                                            <a:srgbClr val="000000"/>
                                          </a:solidFill>
                                          <a:latin typeface="Cambria Math" panose="02040503050406030204" pitchFamily="18" charset="0"/>
                                        </a:rPr>
                                        <m:t>𝑥</m:t>
                                      </m:r>
                                    </m:e>
                                  </m:acc>
                                </m:e>
                              </m:d>
                            </m:e>
                            <m:sup>
                              <m:r>
                                <a:rPr lang="en-IN" sz="2000" i="1">
                                  <a:solidFill>
                                    <a:srgbClr val="000000"/>
                                  </a:solidFill>
                                  <a:latin typeface="Cambria Math" panose="02040503050406030204" pitchFamily="18" charset="0"/>
                                </a:rPr>
                                <m:t>2</m:t>
                              </m:r>
                            </m:sup>
                          </m:sSup>
                        </m:e>
                      </m:rad>
                    </m:oMath>
                  </m:oMathPara>
                </a14:m>
                <a:endParaRPr lang="en-IN" sz="2000" i="1" dirty="0">
                  <a:solidFill>
                    <a:srgbClr val="000000"/>
                  </a:solidFill>
                  <a:latin typeface="Cambria Math" panose="02040503050406030204" pitchFamily="18" charset="0"/>
                </a:endParaRPr>
              </a:p>
              <a:p>
                <a:pPr/>
                <a:br>
                  <a:rPr lang="en-IN" sz="20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en-IN" sz="2000" i="1">
                          <a:solidFill>
                            <a:srgbClr val="000000"/>
                          </a:solidFill>
                          <a:latin typeface="Cambria Math" panose="02040503050406030204" pitchFamily="18" charset="0"/>
                        </a:rPr>
                        <m:t> =</m:t>
                      </m:r>
                      <m:rad>
                        <m:radPr>
                          <m:degHide m:val="on"/>
                          <m:ctrlPr>
                            <a:rPr lang="en-IN" sz="2000" i="1">
                              <a:solidFill>
                                <a:srgbClr val="000000"/>
                              </a:solidFill>
                              <a:latin typeface="Cambria Math" panose="02040503050406030204" pitchFamily="18" charset="0"/>
                            </a:rPr>
                          </m:ctrlPr>
                        </m:radPr>
                        <m:deg/>
                        <m:e>
                          <m:f>
                            <m:fPr>
                              <m:ctrlPr>
                                <a:rPr lang="en-IN" sz="2000" i="1">
                                  <a:solidFill>
                                    <a:srgbClr val="000000"/>
                                  </a:solidFill>
                                  <a:latin typeface="Cambria Math" panose="02040503050406030204" pitchFamily="18" charset="0"/>
                                </a:rPr>
                              </m:ctrlPr>
                            </m:fPr>
                            <m:num>
                              <m:r>
                                <a:rPr lang="en-IN" sz="2000" i="1">
                                  <a:solidFill>
                                    <a:srgbClr val="000000"/>
                                  </a:solidFill>
                                  <a:latin typeface="Cambria Math" panose="02040503050406030204" pitchFamily="18" charset="0"/>
                                </a:rPr>
                                <m:t>248</m:t>
                              </m:r>
                            </m:num>
                            <m:den>
                              <m:r>
                                <a:rPr lang="en-IN" sz="2000" i="1">
                                  <a:solidFill>
                                    <a:srgbClr val="000000"/>
                                  </a:solidFill>
                                  <a:latin typeface="Cambria Math" panose="02040503050406030204" pitchFamily="18" charset="0"/>
                                </a:rPr>
                                <m:t>96</m:t>
                              </m:r>
                            </m:den>
                          </m:f>
                        </m:e>
                      </m:rad>
                      <m:r>
                        <a:rPr lang="en-IN" sz="2000" i="1">
                          <a:solidFill>
                            <a:srgbClr val="000000"/>
                          </a:solidFill>
                          <a:latin typeface="Cambria Math" panose="02040503050406030204" pitchFamily="18" charset="0"/>
                        </a:rPr>
                        <m:t>=1.6 </m:t>
                      </m:r>
                      <m:r>
                        <a:rPr lang="en-IN" sz="2000" i="1">
                          <a:solidFill>
                            <a:srgbClr val="000000"/>
                          </a:solidFill>
                          <a:latin typeface="Cambria Math" panose="02040503050406030204" pitchFamily="18" charset="0"/>
                        </a:rPr>
                        <m:t>𝑛𝑒𝑎𝑟𝑙𝑦</m:t>
                      </m:r>
                    </m:oMath>
                  </m:oMathPara>
                </a14:m>
                <a:endParaRPr lang="en-IN" sz="2000" dirty="0"/>
              </a:p>
            </p:txBody>
          </p:sp>
        </mc:Choice>
        <mc:Fallback>
          <p:sp>
            <p:nvSpPr>
              <p:cNvPr id="5" name="TextBox 4">
                <a:extLst>
                  <a:ext uri="{FF2B5EF4-FFF2-40B4-BE49-F238E27FC236}">
                    <a16:creationId xmlns:a16="http://schemas.microsoft.com/office/drawing/2014/main" id="{01B16CEC-5382-4936-91C2-86CA7AF3650A}"/>
                  </a:ext>
                </a:extLst>
              </p:cNvPr>
              <p:cNvSpPr txBox="1">
                <a:spLocks noRot="1" noChangeAspect="1" noMove="1" noResize="1" noEditPoints="1" noAdjustHandles="1" noChangeArrowheads="1" noChangeShapeType="1" noTextEdit="1"/>
              </p:cNvSpPr>
              <p:nvPr/>
            </p:nvSpPr>
            <p:spPr>
              <a:xfrm>
                <a:off x="711200" y="1600201"/>
                <a:ext cx="10655837" cy="3111749"/>
              </a:xfrm>
              <a:prstGeom prst="rect">
                <a:avLst/>
              </a:prstGeom>
              <a:blipFill>
                <a:blip r:embed="rId2"/>
                <a:stretch>
                  <a:fillRect/>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5E53F7AB-5CFF-43A5-A60B-16AA5F75ED4B}"/>
              </a:ext>
            </a:extLst>
          </p:cNvPr>
          <p:cNvSpPr txBox="1"/>
          <p:nvPr/>
        </p:nvSpPr>
        <p:spPr>
          <a:xfrm>
            <a:off x="2676450" y="966381"/>
            <a:ext cx="834395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Methods to calculate Standard Deviation.….</a:t>
            </a:r>
          </a:p>
        </p:txBody>
      </p:sp>
    </p:spTree>
    <p:extLst>
      <p:ext uri="{BB962C8B-B14F-4D97-AF65-F5344CB8AC3E}">
        <p14:creationId xmlns:p14="http://schemas.microsoft.com/office/powerpoint/2010/main" val="8802592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594028" y="495865"/>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40043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Which of the following is not a measure of dispersion?</a:t>
            </a:r>
          </a:p>
          <a:p>
            <a:pPr algn="just"/>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The range</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The 50th percentile</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The standard deviation</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The interquartile range</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The variance</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algn="just"/>
            <a:r>
              <a:rPr lang="en-US" sz="2133" b="1" dirty="0">
                <a:latin typeface="Century Gothic" panose="020B0502020202020204" pitchFamily="34" charset="0"/>
                <a:cs typeface="Arial" panose="020B0604020202020204" pitchFamily="34" charset="0"/>
              </a:rPr>
              <a:t>Answer: </a:t>
            </a:r>
            <a:r>
              <a:rPr lang="en-US" sz="2133" dirty="0">
                <a:latin typeface="Century Gothic" panose="020B0502020202020204" pitchFamily="34" charset="0"/>
                <a:cs typeface="Arial" panose="020B0604020202020204" pitchFamily="34" charset="0"/>
              </a:rPr>
              <a:t>ii.</a:t>
            </a:r>
          </a:p>
        </p:txBody>
      </p:sp>
    </p:spTree>
    <p:extLst>
      <p:ext uri="{BB962C8B-B14F-4D97-AF65-F5344CB8AC3E}">
        <p14:creationId xmlns:p14="http://schemas.microsoft.com/office/powerpoint/2010/main" val="11624930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animEffect transition="in" filter="wipe(left)">
                                      <p:cBhvr>
                                        <p:cTn id="3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629539" y="433721"/>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1544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If the arithmetic mean is multiplied to the coefficient of variation, then resulting value is classified as</a:t>
            </a:r>
          </a:p>
          <a:p>
            <a:pPr algn="just"/>
            <a:endParaRPr lang="en-US" sz="2400" b="1"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Coefficient of deviation</a:t>
            </a:r>
          </a:p>
          <a:p>
            <a:pPr marL="457189" indent="-457189" algn="just">
              <a:buFont typeface="+mj-lt"/>
              <a:buAutoNum type="alphaLcParenR"/>
            </a:pPr>
            <a:endParaRPr lang="en-US" sz="2133"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Coefficient of mean</a:t>
            </a:r>
          </a:p>
          <a:p>
            <a:pPr marL="457189" indent="-457189" algn="just">
              <a:buFont typeface="+mj-lt"/>
              <a:buAutoNum type="alphaLcParenR"/>
            </a:pPr>
            <a:endParaRPr lang="en-US" sz="2133"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Standard deviation</a:t>
            </a:r>
          </a:p>
          <a:p>
            <a:pPr marL="457189" indent="-457189" algn="just">
              <a:buFont typeface="+mj-lt"/>
              <a:buAutoNum type="alphaLcParenR"/>
            </a:pPr>
            <a:endParaRPr lang="en-US" sz="2133"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Variance</a:t>
            </a:r>
          </a:p>
          <a:p>
            <a:pPr algn="just"/>
            <a:endParaRPr lang="en-US" sz="2133" b="1" dirty="0">
              <a:latin typeface="Century Gothic" panose="020B0502020202020204" pitchFamily="34" charset="0"/>
              <a:cs typeface="Arial" panose="020B0604020202020204" pitchFamily="34" charset="0"/>
            </a:endParaRPr>
          </a:p>
          <a:p>
            <a:pPr algn="just"/>
            <a:r>
              <a:rPr lang="en-US" sz="2133" b="1" dirty="0">
                <a:latin typeface="Century Gothic" panose="020B0502020202020204" pitchFamily="34" charset="0"/>
                <a:cs typeface="Arial" panose="020B0604020202020204" pitchFamily="34" charset="0"/>
              </a:rPr>
              <a:t>Answer: </a:t>
            </a:r>
            <a:r>
              <a:rPr lang="en-US" sz="2133" dirty="0">
                <a:latin typeface="Century Gothic" panose="020B0502020202020204" pitchFamily="34" charset="0"/>
                <a:cs typeface="Arial" panose="020B0604020202020204" pitchFamily="34" charset="0"/>
              </a:rPr>
              <a:t>c).</a:t>
            </a:r>
          </a:p>
        </p:txBody>
      </p:sp>
    </p:spTree>
    <p:extLst>
      <p:ext uri="{BB962C8B-B14F-4D97-AF65-F5344CB8AC3E}">
        <p14:creationId xmlns:p14="http://schemas.microsoft.com/office/powerpoint/2010/main" val="16252261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9309</TotalTime>
  <Words>1298</Words>
  <Application>Microsoft Office PowerPoint</Application>
  <PresentationFormat>Widescreen</PresentationFormat>
  <Paragraphs>283</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 Math</vt:lpstr>
      <vt:lpstr>Century Gothic</vt:lpstr>
      <vt:lpstr>Times New Roman</vt:lpstr>
      <vt:lpstr>Default Design</vt:lpstr>
      <vt:lpstr>Amity Institute of Information Technology BCA , Ist Semester  Basic Mathematics- Measure of Dispersion Dr Sarika Jain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Amity Institute of Information Technology MCA , Ist Semester  Graph Theory  Dr Sarika Jain</dc:title>
  <dc:creator>Lalit Kumar</dc:creator>
  <cp:lastModifiedBy>Lalit Kumar</cp:lastModifiedBy>
  <cp:revision>33</cp:revision>
  <dcterms:created xsi:type="dcterms:W3CDTF">2020-09-10T06:54:54Z</dcterms:created>
  <dcterms:modified xsi:type="dcterms:W3CDTF">2020-11-09T04:50:09Z</dcterms:modified>
</cp:coreProperties>
</file>