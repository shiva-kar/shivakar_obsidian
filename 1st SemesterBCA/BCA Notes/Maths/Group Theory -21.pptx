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57" r:id="rId2"/>
    <p:sldId id="735" r:id="rId3"/>
    <p:sldId id="487" r:id="rId4"/>
    <p:sldId id="484" r:id="rId5"/>
    <p:sldId id="499" r:id="rId6"/>
    <p:sldId id="500" r:id="rId7"/>
    <p:sldId id="501" r:id="rId8"/>
    <p:sldId id="502" r:id="rId9"/>
    <p:sldId id="503" r:id="rId10"/>
    <p:sldId id="504" r:id="rId11"/>
    <p:sldId id="736" r:id="rId12"/>
    <p:sldId id="498" r:id="rId13"/>
    <p:sldId id="457" r:id="rId14"/>
    <p:sldId id="562" r:id="rId15"/>
    <p:sldId id="552" r:id="rId16"/>
    <p:sldId id="563" r:id="rId17"/>
    <p:sldId id="553" r:id="rId18"/>
    <p:sldId id="554" r:id="rId19"/>
    <p:sldId id="555" r:id="rId20"/>
    <p:sldId id="556" r:id="rId21"/>
    <p:sldId id="564" r:id="rId22"/>
    <p:sldId id="557" r:id="rId23"/>
    <p:sldId id="558" r:id="rId24"/>
    <p:sldId id="566" r:id="rId25"/>
    <p:sldId id="559" r:id="rId26"/>
    <p:sldId id="569" r:id="rId27"/>
    <p:sldId id="463" r:id="rId28"/>
    <p:sldId id="466" r:id="rId29"/>
    <p:sldId id="737" r:id="rId30"/>
    <p:sldId id="561" r:id="rId31"/>
    <p:sldId id="570" r:id="rId32"/>
    <p:sldId id="560" r:id="rId33"/>
    <p:sldId id="571" r:id="rId34"/>
    <p:sldId id="572" r:id="rId35"/>
    <p:sldId id="573" r:id="rId36"/>
    <p:sldId id="574" r:id="rId37"/>
    <p:sldId id="575" r:id="rId38"/>
    <p:sldId id="576" r:id="rId39"/>
    <p:sldId id="577" r:id="rId40"/>
    <p:sldId id="578" r:id="rId41"/>
    <p:sldId id="738" r:id="rId42"/>
    <p:sldId id="739"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8" autoAdjust="0"/>
    <p:restoredTop sz="94660"/>
  </p:normalViewPr>
  <p:slideViewPr>
    <p:cSldViewPr snapToGrid="0">
      <p:cViewPr varScale="1">
        <p:scale>
          <a:sx n="64" d="100"/>
          <a:sy n="64" d="100"/>
        </p:scale>
        <p:origin x="72" y="46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922510-F597-4992-8D47-0586F8365CDA}" type="doc">
      <dgm:prSet loTypeId="urn:microsoft.com/office/officeart/2005/8/layout/lProcess1" loCatId="process" qsTypeId="urn:microsoft.com/office/officeart/2005/8/quickstyle/simple4" qsCatId="simple" csTypeId="urn:microsoft.com/office/officeart/2005/8/colors/accent1_2" csCatId="accent1" phldr="1"/>
      <dgm:spPr/>
    </dgm:pt>
    <dgm:pt modelId="{024BBD71-A6CC-400B-86DB-BB7A97B70CD5}">
      <dgm:prSet phldrT="[Text]" custT="1"/>
      <dgm:spPr>
        <a:solidFill>
          <a:schemeClr val="bg1"/>
        </a:solidFill>
        <a:ln w="19050">
          <a:solidFill>
            <a:srgbClr val="FCC800"/>
          </a:solidFill>
        </a:ln>
      </dgm:spPr>
      <dgm:t>
        <a:bodyPr/>
        <a:lstStyle/>
        <a:p>
          <a:pPr algn="just"/>
          <a:r>
            <a:rPr lang="en-US" sz="1500" dirty="0">
              <a:solidFill>
                <a:sysClr val="windowText" lastClr="000000"/>
              </a:solidFill>
              <a:latin typeface="Century Gothic" panose="020B0502020202020204" pitchFamily="34" charset="0"/>
            </a:rPr>
            <a:t>Group Theory is one of the most important fundamental concepts of modern  algebra. Groups arise naturally in various mathematical situations. They have  found wide applications in physical sciences and biological sciences particularly in the study of crystal structures, configuration molecules and structure of human </a:t>
          </a:r>
          <a:r>
            <a:rPr lang="en-IN" sz="1500" dirty="0">
              <a:solidFill>
                <a:sysClr val="windowText" lastClr="000000"/>
              </a:solidFill>
              <a:latin typeface="Century Gothic" panose="020B0502020202020204" pitchFamily="34" charset="0"/>
            </a:rPr>
            <a:t>genes.</a:t>
          </a:r>
        </a:p>
        <a:p>
          <a:pPr algn="just"/>
          <a:endParaRPr lang="en-IN" sz="1500" dirty="0">
            <a:solidFill>
              <a:sysClr val="windowText" lastClr="000000"/>
            </a:solidFill>
            <a:latin typeface="Century Gothic" panose="020B0502020202020204" pitchFamily="34" charset="0"/>
          </a:endParaRPr>
        </a:p>
        <a:p>
          <a:pPr algn="just"/>
          <a:r>
            <a:rPr lang="en-US" sz="1500" dirty="0">
              <a:solidFill>
                <a:sysClr val="windowText" lastClr="000000"/>
              </a:solidFill>
              <a:latin typeface="Century Gothic" panose="020B0502020202020204" pitchFamily="34" charset="0"/>
            </a:rPr>
            <a:t>The structure of a group is one of the simplest mathematical structure. Hence,  groups may be considered as the starting point of the study of various algebraic  </a:t>
          </a:r>
          <a:r>
            <a:rPr lang="en-IN" sz="1500" dirty="0">
              <a:solidFill>
                <a:sysClr val="windowText" lastClr="000000"/>
              </a:solidFill>
              <a:latin typeface="Century Gothic" panose="020B0502020202020204" pitchFamily="34" charset="0"/>
            </a:rPr>
            <a:t>structures. </a:t>
          </a:r>
        </a:p>
      </dgm:t>
    </dgm:pt>
    <dgm:pt modelId="{37777BAB-EB02-4ADE-A7F2-244047ECA33B}" type="parTrans" cxnId="{90682070-BE02-4277-A67A-ACD751F7CFC3}">
      <dgm:prSet/>
      <dgm:spPr/>
      <dgm:t>
        <a:bodyPr/>
        <a:lstStyle/>
        <a:p>
          <a:endParaRPr lang="en-IN"/>
        </a:p>
      </dgm:t>
    </dgm:pt>
    <dgm:pt modelId="{D75BA25C-EF50-4C52-8479-C76B637313B6}" type="sibTrans" cxnId="{90682070-BE02-4277-A67A-ACD751F7CFC3}">
      <dgm:prSet/>
      <dgm:spPr/>
      <dgm:t>
        <a:bodyPr/>
        <a:lstStyle/>
        <a:p>
          <a:endParaRPr lang="en-IN"/>
        </a:p>
      </dgm:t>
    </dgm:pt>
    <dgm:pt modelId="{0C6C1F8E-CFDE-45E0-BFC1-13B5BF041248}" type="pres">
      <dgm:prSet presAssocID="{84922510-F597-4992-8D47-0586F8365CDA}" presName="Name0" presStyleCnt="0">
        <dgm:presLayoutVars>
          <dgm:dir/>
          <dgm:animLvl val="lvl"/>
          <dgm:resizeHandles val="exact"/>
        </dgm:presLayoutVars>
      </dgm:prSet>
      <dgm:spPr/>
    </dgm:pt>
    <dgm:pt modelId="{25FAD50D-1655-4E13-B79E-A00A28D4F2A6}" type="pres">
      <dgm:prSet presAssocID="{024BBD71-A6CC-400B-86DB-BB7A97B70CD5}" presName="vertFlow" presStyleCnt="0"/>
      <dgm:spPr/>
    </dgm:pt>
    <dgm:pt modelId="{3A499F33-14B2-40FB-A54F-B542AAD7D2E8}" type="pres">
      <dgm:prSet presAssocID="{024BBD71-A6CC-400B-86DB-BB7A97B70CD5}" presName="header" presStyleLbl="node1" presStyleIdx="0" presStyleCnt="1" custScaleY="146410"/>
      <dgm:spPr/>
    </dgm:pt>
  </dgm:ptLst>
  <dgm:cxnLst>
    <dgm:cxn modelId="{90682070-BE02-4277-A67A-ACD751F7CFC3}" srcId="{84922510-F597-4992-8D47-0586F8365CDA}" destId="{024BBD71-A6CC-400B-86DB-BB7A97B70CD5}" srcOrd="0" destOrd="0" parTransId="{37777BAB-EB02-4ADE-A7F2-244047ECA33B}" sibTransId="{D75BA25C-EF50-4C52-8479-C76B637313B6}"/>
    <dgm:cxn modelId="{72D303C3-2D90-4F67-A507-916D462CF97F}" type="presOf" srcId="{84922510-F597-4992-8D47-0586F8365CDA}" destId="{0C6C1F8E-CFDE-45E0-BFC1-13B5BF041248}" srcOrd="0" destOrd="0" presId="urn:microsoft.com/office/officeart/2005/8/layout/lProcess1"/>
    <dgm:cxn modelId="{028E8EED-7506-4A80-A195-C97EA4F8DD40}" type="presOf" srcId="{024BBD71-A6CC-400B-86DB-BB7A97B70CD5}" destId="{3A499F33-14B2-40FB-A54F-B542AAD7D2E8}" srcOrd="0" destOrd="0" presId="urn:microsoft.com/office/officeart/2005/8/layout/lProcess1"/>
    <dgm:cxn modelId="{C06C782E-CD9B-4424-A332-BF9AB26FC349}" type="presParOf" srcId="{0C6C1F8E-CFDE-45E0-BFC1-13B5BF041248}" destId="{25FAD50D-1655-4E13-B79E-A00A28D4F2A6}" srcOrd="0" destOrd="0" presId="urn:microsoft.com/office/officeart/2005/8/layout/lProcess1"/>
    <dgm:cxn modelId="{1CE95979-BDD1-4820-BA1B-1032AD9095A5}" type="presParOf" srcId="{25FAD50D-1655-4E13-B79E-A00A28D4F2A6}" destId="{3A499F33-14B2-40FB-A54F-B542AAD7D2E8}" srcOrd="0" destOrd="0" presId="urn:microsoft.com/office/officeart/2005/8/layout/l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499F33-14B2-40FB-A54F-B542AAD7D2E8}">
      <dsp:nvSpPr>
        <dsp:cNvPr id="0" name=""/>
        <dsp:cNvSpPr/>
      </dsp:nvSpPr>
      <dsp:spPr>
        <a:xfrm>
          <a:off x="0" y="486022"/>
          <a:ext cx="10667999" cy="3904754"/>
        </a:xfrm>
        <a:prstGeom prst="roundRect">
          <a:avLst>
            <a:gd name="adj" fmla="val 10000"/>
          </a:avLst>
        </a:prstGeom>
        <a:solidFill>
          <a:schemeClr val="bg1"/>
        </a:solidFill>
        <a:ln w="19050">
          <a:solidFill>
            <a:srgbClr val="FCC800"/>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just" defTabSz="666750">
            <a:lnSpc>
              <a:spcPct val="90000"/>
            </a:lnSpc>
            <a:spcBef>
              <a:spcPct val="0"/>
            </a:spcBef>
            <a:spcAft>
              <a:spcPct val="35000"/>
            </a:spcAft>
            <a:buNone/>
          </a:pPr>
          <a:r>
            <a:rPr lang="en-US" sz="1500" kern="1200" dirty="0">
              <a:solidFill>
                <a:sysClr val="windowText" lastClr="000000"/>
              </a:solidFill>
              <a:latin typeface="Century Gothic" panose="020B0502020202020204" pitchFamily="34" charset="0"/>
            </a:rPr>
            <a:t>Group Theory is one of the most important fundamental concepts of modern  algebra. Groups arise naturally in various mathematical situations. They have  found wide applications in physical sciences and biological sciences particularly in the study of crystal structures, configuration molecules and structure of human </a:t>
          </a:r>
          <a:r>
            <a:rPr lang="en-IN" sz="1500" kern="1200" dirty="0">
              <a:solidFill>
                <a:sysClr val="windowText" lastClr="000000"/>
              </a:solidFill>
              <a:latin typeface="Century Gothic" panose="020B0502020202020204" pitchFamily="34" charset="0"/>
            </a:rPr>
            <a:t>genes.</a:t>
          </a:r>
        </a:p>
        <a:p>
          <a:pPr marL="0" lvl="0" indent="0" algn="just" defTabSz="666750">
            <a:lnSpc>
              <a:spcPct val="90000"/>
            </a:lnSpc>
            <a:spcBef>
              <a:spcPct val="0"/>
            </a:spcBef>
            <a:spcAft>
              <a:spcPct val="35000"/>
            </a:spcAft>
            <a:buNone/>
          </a:pPr>
          <a:endParaRPr lang="en-IN" sz="1500" kern="1200" dirty="0">
            <a:solidFill>
              <a:sysClr val="windowText" lastClr="000000"/>
            </a:solidFill>
            <a:latin typeface="Century Gothic" panose="020B0502020202020204" pitchFamily="34" charset="0"/>
          </a:endParaRPr>
        </a:p>
        <a:p>
          <a:pPr marL="0" lvl="0" indent="0" algn="just" defTabSz="666750">
            <a:lnSpc>
              <a:spcPct val="90000"/>
            </a:lnSpc>
            <a:spcBef>
              <a:spcPct val="0"/>
            </a:spcBef>
            <a:spcAft>
              <a:spcPct val="35000"/>
            </a:spcAft>
            <a:buNone/>
          </a:pPr>
          <a:r>
            <a:rPr lang="en-US" sz="1500" kern="1200" dirty="0">
              <a:solidFill>
                <a:sysClr val="windowText" lastClr="000000"/>
              </a:solidFill>
              <a:latin typeface="Century Gothic" panose="020B0502020202020204" pitchFamily="34" charset="0"/>
            </a:rPr>
            <a:t>The structure of a group is one of the simplest mathematical structure. Hence,  groups may be considered as the starting point of the study of various algebraic  </a:t>
          </a:r>
          <a:r>
            <a:rPr lang="en-IN" sz="1500" kern="1200" dirty="0">
              <a:solidFill>
                <a:sysClr val="windowText" lastClr="000000"/>
              </a:solidFill>
              <a:latin typeface="Century Gothic" panose="020B0502020202020204" pitchFamily="34" charset="0"/>
            </a:rPr>
            <a:t>structures. </a:t>
          </a:r>
        </a:p>
      </dsp:txBody>
      <dsp:txXfrm>
        <a:off x="114366" y="600388"/>
        <a:ext cx="10439267" cy="3676022"/>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1-17T07:00:18.744"/>
    </inkml:context>
    <inkml:brush xml:id="br0">
      <inkml:brushProperty name="width" value="0.05" units="cm"/>
      <inkml:brushProperty name="height" value="0.05" units="cm"/>
      <inkml:brushProperty name="color" value="#333333"/>
      <inkml:brushProperty name="ignorePressure" value="1"/>
    </inkml:brush>
  </inkml:definitions>
  <inkml:trace contextRef="#ctx0" brushRef="#br0">1 86,'0'0,"0"0,0 0,0 0,0 0,0 0,0 0,0 0,0 0,0 0,11-11,10-9,7-2,-2 3,-4 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1-17T07:08:41.402"/>
    </inkml:context>
    <inkml:brush xml:id="br0">
      <inkml:brushProperty name="width" value="0.05" units="cm"/>
      <inkml:brushProperty name="height" value="0.05" units="cm"/>
      <inkml:brushProperty name="color" value="#333333"/>
      <inkml:brushProperty name="ignorePressure" value="1"/>
    </inkml:brush>
  </inkml:definitions>
  <inkml:trace contextRef="#ctx0" brushRef="#br0">1 39,'0'0,"0"0,0 0,0 0,0 0,0 0,0 0,0 0,0 0,16 0,18-5,8-2,3-6,-6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6D4FF-DEA4-4892-92B1-559585551894}" type="datetimeFigureOut">
              <a:rPr lang="en-IN" smtClean="0"/>
              <a:t>17-11-2020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3A5FB5-0710-47CC-8F83-FD860005E88A}" type="slidenum">
              <a:rPr lang="en-IN" smtClean="0"/>
              <a:t>‹#›</a:t>
            </a:fld>
            <a:endParaRPr lang="en-IN"/>
          </a:p>
        </p:txBody>
      </p:sp>
    </p:spTree>
    <p:extLst>
      <p:ext uri="{BB962C8B-B14F-4D97-AF65-F5344CB8AC3E}">
        <p14:creationId xmlns:p14="http://schemas.microsoft.com/office/powerpoint/2010/main" val="2418103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B8F9BCF-6C3B-4706-A57E-62DF77EB85B1}"/>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Amity Institute of Information Technology</a:t>
            </a:r>
          </a:p>
        </p:txBody>
      </p:sp>
      <p:sp>
        <p:nvSpPr>
          <p:cNvPr id="5123" name="Rectangle 7">
            <a:extLst>
              <a:ext uri="{FF2B5EF4-FFF2-40B4-BE49-F238E27FC236}">
                <a16:creationId xmlns:a16="http://schemas.microsoft.com/office/drawing/2014/main" id="{A9643575-2427-488D-9ACC-8601D357AE2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4B0C161-B90F-4386-A4C0-CF9C7E8033D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4" name="Rectangle 2">
            <a:extLst>
              <a:ext uri="{FF2B5EF4-FFF2-40B4-BE49-F238E27FC236}">
                <a16:creationId xmlns:a16="http://schemas.microsoft.com/office/drawing/2014/main" id="{4B098021-E45A-46DC-8FB4-8B7C02CA01AE}"/>
              </a:ext>
            </a:extLst>
          </p:cNvPr>
          <p:cNvSpPr>
            <a:spLocks noGrp="1" noRot="1" noChangeAspect="1" noChangeArrowheads="1" noTextEdit="1"/>
          </p:cNvSpPr>
          <p:nvPr>
            <p:ph type="sldImg"/>
          </p:nvPr>
        </p:nvSpPr>
        <p:spPr>
          <a:ln/>
        </p:spPr>
      </p:sp>
      <p:sp>
        <p:nvSpPr>
          <p:cNvPr id="5125" name="Rectangle 3">
            <a:extLst>
              <a:ext uri="{FF2B5EF4-FFF2-40B4-BE49-F238E27FC236}">
                <a16:creationId xmlns:a16="http://schemas.microsoft.com/office/drawing/2014/main" id="{5DDACB0A-87E8-404A-9A9D-CEBF51E825E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7294E0-43BA-4050-978A-B5F4E62A110E}" type="slidenum">
              <a:rPr lang="en-IN" smtClean="0"/>
              <a:pPr/>
              <a:t>2</a:t>
            </a:fld>
            <a:endParaRPr lang="en-IN" dirty="0"/>
          </a:p>
        </p:txBody>
      </p:sp>
    </p:spTree>
    <p:extLst>
      <p:ext uri="{BB962C8B-B14F-4D97-AF65-F5344CB8AC3E}">
        <p14:creationId xmlns:p14="http://schemas.microsoft.com/office/powerpoint/2010/main" val="29948252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7294E0-43BA-4050-978A-B5F4E62A110E}" type="slidenum">
              <a:rPr lang="en-IN" smtClean="0"/>
              <a:pPr/>
              <a:t>13</a:t>
            </a:fld>
            <a:endParaRPr lang="en-IN" dirty="0"/>
          </a:p>
        </p:txBody>
      </p:sp>
    </p:spTree>
    <p:extLst>
      <p:ext uri="{BB962C8B-B14F-4D97-AF65-F5344CB8AC3E}">
        <p14:creationId xmlns:p14="http://schemas.microsoft.com/office/powerpoint/2010/main" val="29948252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C0C5AC05-491E-4C2B-A4A3-0BB98A37AAC3}"/>
              </a:ext>
            </a:extLst>
          </p:cNvPr>
          <p:cNvSpPr>
            <a:spLocks noGrp="1" noRot="1" noChangeAspect="1" noChangeArrowheads="1" noTextEdit="1"/>
          </p:cNvSpPr>
          <p:nvPr>
            <p:ph type="sldImg"/>
          </p:nvPr>
        </p:nvSpPr>
        <p:spPr>
          <a:ln/>
        </p:spPr>
      </p:sp>
      <p:sp>
        <p:nvSpPr>
          <p:cNvPr id="106499" name="Rectangle 3">
            <a:extLst>
              <a:ext uri="{FF2B5EF4-FFF2-40B4-BE49-F238E27FC236}">
                <a16:creationId xmlns:a16="http://schemas.microsoft.com/office/drawing/2014/main" id="{64720F72-686C-42E2-846B-6A9455213A7A}"/>
              </a:ext>
            </a:extLst>
          </p:cNvPr>
          <p:cNvSpPr>
            <a:spLocks noGrp="1" noChangeArrowheads="1"/>
          </p:cNvSpPr>
          <p:nvPr>
            <p:ph type="body" idx="1"/>
          </p:nvPr>
        </p:nvSpPr>
        <p:spPr/>
        <p:txBody>
          <a:bodyPr/>
          <a:lstStyle/>
          <a:p>
            <a:r>
              <a:rPr lang="en-US" altLang="en-US"/>
              <a:t>the right identity</a:t>
            </a:r>
            <a:endParaRPr lang="en-I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C453EB1E-D696-4CC4-BA00-DE986C097503}"/>
              </a:ext>
            </a:extLst>
          </p:cNvPr>
          <p:cNvSpPr>
            <a:spLocks noGrp="1" noRot="1" noChangeAspect="1" noChangeArrowheads="1" noTextEdit="1"/>
          </p:cNvSpPr>
          <p:nvPr>
            <p:ph type="sldImg"/>
          </p:nvPr>
        </p:nvSpPr>
        <p:spPr>
          <a:ln/>
        </p:spPr>
      </p:sp>
      <p:sp>
        <p:nvSpPr>
          <p:cNvPr id="120835" name="Rectangle 3">
            <a:extLst>
              <a:ext uri="{FF2B5EF4-FFF2-40B4-BE49-F238E27FC236}">
                <a16:creationId xmlns:a16="http://schemas.microsoft.com/office/drawing/2014/main" id="{B3B2ADC8-D9C6-4EAD-A8DB-32E13F714A35}"/>
              </a:ext>
            </a:extLst>
          </p:cNvPr>
          <p:cNvSpPr>
            <a:spLocks noGrp="1" noChangeArrowheads="1"/>
          </p:cNvSpPr>
          <p:nvPr>
            <p:ph type="body" idx="1"/>
          </p:nvPr>
        </p:nvSpPr>
        <p:spPr/>
        <p:txBody>
          <a:bodyPr/>
          <a:lstStyle/>
          <a:p>
            <a:r>
              <a:rPr lang="en-US" altLang="en-US"/>
              <a:t>the right identity</a:t>
            </a:r>
            <a:endParaRPr lang="en-I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38719D39-D7F9-4090-8B73-7749A40F2352}"/>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6D4C2C06-3C89-4011-924D-C7888FE3C40D}"/>
              </a:ext>
            </a:extLst>
          </p:cNvPr>
          <p:cNvSpPr>
            <a:spLocks noGrp="1" noChangeArrowheads="1"/>
          </p:cNvSpPr>
          <p:nvPr>
            <p:ph type="body" idx="1"/>
          </p:nvPr>
        </p:nvSpPr>
        <p:spPr/>
        <p:txBody>
          <a:bodyPr/>
          <a:lstStyle/>
          <a:p>
            <a:r>
              <a:rPr lang="en-US" altLang="en-US"/>
              <a:t>the right identity</a:t>
            </a:r>
            <a:endParaRPr lang="en-I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CF35A843-EEBA-4473-9E17-8F38DBC3ADE6}"/>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945037D2-38B0-41E1-8277-6DF6C8369657}"/>
              </a:ext>
            </a:extLst>
          </p:cNvPr>
          <p:cNvSpPr>
            <a:spLocks noGrp="1" noChangeArrowheads="1"/>
          </p:cNvSpPr>
          <p:nvPr>
            <p:ph type="body" idx="1"/>
          </p:nvPr>
        </p:nvSpPr>
        <p:spPr/>
        <p:txBody>
          <a:bodyPr/>
          <a:lstStyle/>
          <a:p>
            <a:r>
              <a:rPr lang="en-US" altLang="en-US"/>
              <a:t>the right identity</a:t>
            </a:r>
            <a:endParaRPr lang="en-I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5A26938A-5AA6-4835-99E4-BFCC7FAB2A24}"/>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E011D7EC-A5A9-46B8-B35F-D7C96D38EEFF}"/>
              </a:ext>
            </a:extLst>
          </p:cNvPr>
          <p:cNvSpPr>
            <a:spLocks noGrp="1" noChangeArrowheads="1"/>
          </p:cNvSpPr>
          <p:nvPr>
            <p:ph type="body" idx="1"/>
          </p:nvPr>
        </p:nvSpPr>
        <p:spPr/>
        <p:txBody>
          <a:bodyPr/>
          <a:lstStyle/>
          <a:p>
            <a:r>
              <a:rPr lang="en-US" altLang="en-US"/>
              <a:t>the right identity</a:t>
            </a:r>
            <a:endParaRPr lang="en-I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7294E0-43BA-4050-978A-B5F4E62A110E}" type="slidenum">
              <a:rPr lang="en-IN" smtClean="0"/>
              <a:pPr/>
              <a:t>29</a:t>
            </a:fld>
            <a:endParaRPr lang="en-IN" dirty="0"/>
          </a:p>
        </p:txBody>
      </p:sp>
    </p:spTree>
    <p:extLst>
      <p:ext uri="{BB962C8B-B14F-4D97-AF65-F5344CB8AC3E}">
        <p14:creationId xmlns:p14="http://schemas.microsoft.com/office/powerpoint/2010/main" val="29948252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2E5ED766-6FEC-4F18-80C8-C0E3BE1E7A26}"/>
              </a:ext>
            </a:extLst>
          </p:cNvPr>
          <p:cNvSpPr>
            <a:spLocks noGrp="1" noRot="1" noChangeAspect="1" noChangeArrowheads="1" noTextEdit="1"/>
          </p:cNvSpPr>
          <p:nvPr>
            <p:ph type="sldImg"/>
          </p:nvPr>
        </p:nvSpPr>
        <p:spPr>
          <a:ln/>
        </p:spPr>
      </p:sp>
      <p:sp>
        <p:nvSpPr>
          <p:cNvPr id="116739" name="Rectangle 3">
            <a:extLst>
              <a:ext uri="{FF2B5EF4-FFF2-40B4-BE49-F238E27FC236}">
                <a16:creationId xmlns:a16="http://schemas.microsoft.com/office/drawing/2014/main" id="{FCCB7DA1-B761-4E16-8D07-952D5474EA39}"/>
              </a:ext>
            </a:extLst>
          </p:cNvPr>
          <p:cNvSpPr>
            <a:spLocks noGrp="1" noChangeArrowheads="1"/>
          </p:cNvSpPr>
          <p:nvPr>
            <p:ph type="body" idx="1"/>
          </p:nvPr>
        </p:nvSpPr>
        <p:spPr/>
        <p:txBody>
          <a:bodyPr/>
          <a:lstStyle/>
          <a:p>
            <a:r>
              <a:rPr lang="en-US" altLang="en-US"/>
              <a:t>the right identity</a:t>
            </a:r>
            <a:endParaRPr lang="en-IN" altLang="en-US"/>
          </a:p>
        </p:txBody>
      </p:sp>
    </p:spTree>
    <p:extLst>
      <p:ext uri="{BB962C8B-B14F-4D97-AF65-F5344CB8AC3E}">
        <p14:creationId xmlns:p14="http://schemas.microsoft.com/office/powerpoint/2010/main" val="2797264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5B77F8E1-F9B3-4651-861D-F297A2302102}"/>
              </a:ext>
            </a:extLst>
          </p:cNvPr>
          <p:cNvSpPr>
            <a:spLocks noGrp="1" noRot="1" noChangeAspect="1" noChangeArrowheads="1" noTextEdit="1"/>
          </p:cNvSpPr>
          <p:nvPr>
            <p:ph type="sldImg"/>
          </p:nvPr>
        </p:nvSpPr>
        <p:spPr>
          <a:ln/>
        </p:spPr>
      </p:sp>
      <p:sp>
        <p:nvSpPr>
          <p:cNvPr id="130051" name="Rectangle 3">
            <a:extLst>
              <a:ext uri="{FF2B5EF4-FFF2-40B4-BE49-F238E27FC236}">
                <a16:creationId xmlns:a16="http://schemas.microsoft.com/office/drawing/2014/main" id="{9F49D546-BD52-4ECD-886C-1C0B0A302233}"/>
              </a:ext>
            </a:extLst>
          </p:cNvPr>
          <p:cNvSpPr>
            <a:spLocks noGrp="1" noChangeArrowheads="1"/>
          </p:cNvSpPr>
          <p:nvPr>
            <p:ph type="body" idx="1"/>
          </p:nvPr>
        </p:nvSpPr>
        <p:spPr/>
        <p:txBody>
          <a:bodyPr/>
          <a:lstStyle/>
          <a:p>
            <a:r>
              <a:rPr lang="en-US" altLang="en-US"/>
              <a:t>the right identity</a:t>
            </a:r>
            <a:endParaRPr lang="en-IN" altLang="en-US"/>
          </a:p>
        </p:txBody>
      </p:sp>
    </p:spTree>
    <p:extLst>
      <p:ext uri="{BB962C8B-B14F-4D97-AF65-F5344CB8AC3E}">
        <p14:creationId xmlns:p14="http://schemas.microsoft.com/office/powerpoint/2010/main" val="37958581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6C24E889-3FE8-439D-A07B-10BB30FD8C8F}"/>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2AA12D17-0F97-44CE-81E4-09D035043520}"/>
              </a:ext>
            </a:extLst>
          </p:cNvPr>
          <p:cNvSpPr>
            <a:spLocks noGrp="1" noChangeArrowheads="1"/>
          </p:cNvSpPr>
          <p:nvPr>
            <p:ph type="body" idx="1"/>
          </p:nvPr>
        </p:nvSpPr>
        <p:spPr/>
        <p:txBody>
          <a:bodyPr/>
          <a:lstStyle/>
          <a:p>
            <a:r>
              <a:rPr lang="en-US" altLang="en-US"/>
              <a:t>the right identity</a:t>
            </a:r>
            <a:endParaRPr lang="en-I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1A8FCCE4-4F7E-444B-AEAD-7C68519B9E2A}"/>
              </a:ext>
            </a:extLst>
          </p:cNvPr>
          <p:cNvSpPr>
            <a:spLocks noGrp="1" noRot="1" noChangeAspect="1" noChangeArrowheads="1" noTextEdit="1"/>
          </p:cNvSpPr>
          <p:nvPr>
            <p:ph type="sldImg"/>
          </p:nvPr>
        </p:nvSpPr>
        <p:spPr>
          <a:ln/>
        </p:spPr>
      </p:sp>
      <p:sp>
        <p:nvSpPr>
          <p:cNvPr id="132099" name="Rectangle 3">
            <a:extLst>
              <a:ext uri="{FF2B5EF4-FFF2-40B4-BE49-F238E27FC236}">
                <a16:creationId xmlns:a16="http://schemas.microsoft.com/office/drawing/2014/main" id="{B903401F-8293-4F44-ABD9-AEA2A8AB5AB9}"/>
              </a:ext>
            </a:extLst>
          </p:cNvPr>
          <p:cNvSpPr>
            <a:spLocks noGrp="1" noChangeArrowheads="1"/>
          </p:cNvSpPr>
          <p:nvPr>
            <p:ph type="body" idx="1"/>
          </p:nvPr>
        </p:nvSpPr>
        <p:spPr/>
        <p:txBody>
          <a:bodyPr/>
          <a:lstStyle/>
          <a:p>
            <a:r>
              <a:rPr lang="en-US" altLang="en-US"/>
              <a:t>the right identity</a:t>
            </a:r>
            <a:endParaRPr lang="en-I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0706114E-1A32-4BA1-A56E-01E1CFFFE9F1}"/>
              </a:ext>
            </a:extLst>
          </p:cNvPr>
          <p:cNvSpPr>
            <a:spLocks noGrp="1" noRot="1" noChangeAspect="1" noChangeArrowheads="1" noTextEdit="1"/>
          </p:cNvSpPr>
          <p:nvPr>
            <p:ph type="sldImg"/>
          </p:nvPr>
        </p:nvSpPr>
        <p:spPr>
          <a:ln/>
        </p:spPr>
      </p:sp>
      <p:sp>
        <p:nvSpPr>
          <p:cNvPr id="136195" name="Rectangle 3">
            <a:extLst>
              <a:ext uri="{FF2B5EF4-FFF2-40B4-BE49-F238E27FC236}">
                <a16:creationId xmlns:a16="http://schemas.microsoft.com/office/drawing/2014/main" id="{BFA876C7-3323-4040-AEA6-4A05AC13E8E2}"/>
              </a:ext>
            </a:extLst>
          </p:cNvPr>
          <p:cNvSpPr>
            <a:spLocks noGrp="1" noChangeArrowheads="1"/>
          </p:cNvSpPr>
          <p:nvPr>
            <p:ph type="body" idx="1"/>
          </p:nvPr>
        </p:nvSpPr>
        <p:spPr/>
        <p:txBody>
          <a:bodyPr/>
          <a:lstStyle/>
          <a:p>
            <a:r>
              <a:rPr lang="en-US" altLang="en-US"/>
              <a:t>the right identity</a:t>
            </a:r>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6">
            <a:extLst>
              <a:ext uri="{FF2B5EF4-FFF2-40B4-BE49-F238E27FC236}">
                <a16:creationId xmlns:a16="http://schemas.microsoft.com/office/drawing/2014/main" id="{697815AB-70D8-49EB-A36D-D442E40DD67F}"/>
              </a:ext>
            </a:extLst>
          </p:cNvPr>
          <p:cNvSpPr>
            <a:spLocks noGrp="1" noChangeArrowheads="1"/>
          </p:cNvSpPr>
          <p:nvPr>
            <p:ph type="sldNum" sz="quarter" idx="10"/>
          </p:nvPr>
        </p:nvSpPr>
        <p:spPr>
          <a:ln/>
        </p:spPr>
        <p:txBody>
          <a:bodyPr/>
          <a:lstStyle>
            <a:lvl1pPr>
              <a:defRPr/>
            </a:lvl1pPr>
          </a:lstStyle>
          <a:p>
            <a:pPr>
              <a:defRPr/>
            </a:pPr>
            <a:fld id="{2DBB581B-2F53-4A21-A360-4A739774B45E}" type="slidenum">
              <a:rPr lang="en-US" altLang="en-US"/>
              <a:pPr>
                <a:defRPr/>
              </a:pPr>
              <a:t>‹#›</a:t>
            </a:fld>
            <a:endParaRPr lang="en-US" altLang="en-US"/>
          </a:p>
        </p:txBody>
      </p:sp>
    </p:spTree>
    <p:extLst>
      <p:ext uri="{BB962C8B-B14F-4D97-AF65-F5344CB8AC3E}">
        <p14:creationId xmlns:p14="http://schemas.microsoft.com/office/powerpoint/2010/main" val="1587785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DADD6217-5E64-455F-8FDC-A22BBF22A3A9}"/>
              </a:ext>
            </a:extLst>
          </p:cNvPr>
          <p:cNvSpPr>
            <a:spLocks noGrp="1" noChangeArrowheads="1"/>
          </p:cNvSpPr>
          <p:nvPr>
            <p:ph type="sldNum" sz="quarter" idx="10"/>
          </p:nvPr>
        </p:nvSpPr>
        <p:spPr>
          <a:ln/>
        </p:spPr>
        <p:txBody>
          <a:bodyPr/>
          <a:lstStyle>
            <a:lvl1pPr>
              <a:defRPr/>
            </a:lvl1pPr>
          </a:lstStyle>
          <a:p>
            <a:pPr>
              <a:defRPr/>
            </a:pPr>
            <a:fld id="{941F7A49-95A6-4D3E-8239-B64543B8D690}" type="slidenum">
              <a:rPr lang="en-US" altLang="en-US"/>
              <a:pPr>
                <a:defRPr/>
              </a:pPr>
              <a:t>‹#›</a:t>
            </a:fld>
            <a:endParaRPr lang="en-US" altLang="en-US"/>
          </a:p>
        </p:txBody>
      </p:sp>
    </p:spTree>
    <p:extLst>
      <p:ext uri="{BB962C8B-B14F-4D97-AF65-F5344CB8AC3E}">
        <p14:creationId xmlns:p14="http://schemas.microsoft.com/office/powerpoint/2010/main" val="1891958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6">
            <a:extLst>
              <a:ext uri="{FF2B5EF4-FFF2-40B4-BE49-F238E27FC236}">
                <a16:creationId xmlns:a16="http://schemas.microsoft.com/office/drawing/2014/main" id="{140E1339-A830-4559-98A3-35372A9481FD}"/>
              </a:ext>
            </a:extLst>
          </p:cNvPr>
          <p:cNvSpPr>
            <a:spLocks noGrp="1" noChangeArrowheads="1"/>
          </p:cNvSpPr>
          <p:nvPr>
            <p:ph type="sldNum" sz="quarter" idx="10"/>
          </p:nvPr>
        </p:nvSpPr>
        <p:spPr>
          <a:ln/>
        </p:spPr>
        <p:txBody>
          <a:bodyPr/>
          <a:lstStyle>
            <a:lvl1pPr>
              <a:defRPr/>
            </a:lvl1pPr>
          </a:lstStyle>
          <a:p>
            <a:pPr>
              <a:defRPr/>
            </a:pPr>
            <a:fld id="{27EC55A9-C5C2-4034-8C68-E5E00DA01365}" type="slidenum">
              <a:rPr lang="en-US" altLang="en-US"/>
              <a:pPr>
                <a:defRPr/>
              </a:pPr>
              <a:t>‹#›</a:t>
            </a:fld>
            <a:endParaRPr lang="en-US" altLang="en-US"/>
          </a:p>
        </p:txBody>
      </p:sp>
    </p:spTree>
    <p:extLst>
      <p:ext uri="{BB962C8B-B14F-4D97-AF65-F5344CB8AC3E}">
        <p14:creationId xmlns:p14="http://schemas.microsoft.com/office/powerpoint/2010/main" val="1281515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6">
            <a:extLst>
              <a:ext uri="{FF2B5EF4-FFF2-40B4-BE49-F238E27FC236}">
                <a16:creationId xmlns:a16="http://schemas.microsoft.com/office/drawing/2014/main" id="{2E924A73-6C50-4AC3-9D70-9BF5CD770347}"/>
              </a:ext>
            </a:extLst>
          </p:cNvPr>
          <p:cNvSpPr>
            <a:spLocks noGrp="1" noChangeArrowheads="1"/>
          </p:cNvSpPr>
          <p:nvPr>
            <p:ph type="sldNum" sz="quarter" idx="10"/>
          </p:nvPr>
        </p:nvSpPr>
        <p:spPr>
          <a:ln/>
        </p:spPr>
        <p:txBody>
          <a:bodyPr/>
          <a:lstStyle>
            <a:lvl1pPr>
              <a:defRPr/>
            </a:lvl1pPr>
          </a:lstStyle>
          <a:p>
            <a:pPr>
              <a:defRPr/>
            </a:pPr>
            <a:fld id="{BC88B6BB-978E-4895-9FE3-804546364DB5}" type="slidenum">
              <a:rPr lang="en-US" altLang="en-US"/>
              <a:pPr>
                <a:defRPr/>
              </a:pPr>
              <a:t>‹#›</a:t>
            </a:fld>
            <a:endParaRPr lang="en-US" altLang="en-US"/>
          </a:p>
        </p:txBody>
      </p:sp>
    </p:spTree>
    <p:extLst>
      <p:ext uri="{BB962C8B-B14F-4D97-AF65-F5344CB8AC3E}">
        <p14:creationId xmlns:p14="http://schemas.microsoft.com/office/powerpoint/2010/main" val="1112341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6">
            <a:extLst>
              <a:ext uri="{FF2B5EF4-FFF2-40B4-BE49-F238E27FC236}">
                <a16:creationId xmlns:a16="http://schemas.microsoft.com/office/drawing/2014/main" id="{56EA8121-B2D3-41F8-8E89-A3FE9A413EE6}"/>
              </a:ext>
            </a:extLst>
          </p:cNvPr>
          <p:cNvSpPr>
            <a:spLocks noGrp="1" noChangeArrowheads="1"/>
          </p:cNvSpPr>
          <p:nvPr>
            <p:ph type="sldNum" sz="quarter" idx="10"/>
          </p:nvPr>
        </p:nvSpPr>
        <p:spPr>
          <a:ln/>
        </p:spPr>
        <p:txBody>
          <a:bodyPr/>
          <a:lstStyle>
            <a:lvl1pPr>
              <a:defRPr/>
            </a:lvl1pPr>
          </a:lstStyle>
          <a:p>
            <a:pPr>
              <a:defRPr/>
            </a:pPr>
            <a:fld id="{A5E00F77-6DD8-4988-B35E-0535D76BCEF6}" type="slidenum">
              <a:rPr lang="en-US" altLang="en-US"/>
              <a:pPr>
                <a:defRPr/>
              </a:pPr>
              <a:t>‹#›</a:t>
            </a:fld>
            <a:endParaRPr lang="en-US" altLang="en-US"/>
          </a:p>
        </p:txBody>
      </p:sp>
    </p:spTree>
    <p:extLst>
      <p:ext uri="{BB962C8B-B14F-4D97-AF65-F5344CB8AC3E}">
        <p14:creationId xmlns:p14="http://schemas.microsoft.com/office/powerpoint/2010/main" val="3471602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Rectangle 6">
            <a:extLst>
              <a:ext uri="{FF2B5EF4-FFF2-40B4-BE49-F238E27FC236}">
                <a16:creationId xmlns:a16="http://schemas.microsoft.com/office/drawing/2014/main" id="{9A4A9970-884C-47F6-8626-E1D4CD9DE41A}"/>
              </a:ext>
            </a:extLst>
          </p:cNvPr>
          <p:cNvSpPr>
            <a:spLocks noGrp="1" noChangeArrowheads="1"/>
          </p:cNvSpPr>
          <p:nvPr>
            <p:ph type="sldNum" sz="quarter" idx="10"/>
          </p:nvPr>
        </p:nvSpPr>
        <p:spPr>
          <a:ln/>
        </p:spPr>
        <p:txBody>
          <a:bodyPr/>
          <a:lstStyle>
            <a:lvl1pPr>
              <a:defRPr/>
            </a:lvl1pPr>
          </a:lstStyle>
          <a:p>
            <a:pPr>
              <a:defRPr/>
            </a:pPr>
            <a:fld id="{4FFCD857-033F-41E3-AE3F-066F8AF172C6}" type="slidenum">
              <a:rPr lang="en-US" altLang="en-US"/>
              <a:pPr>
                <a:defRPr/>
              </a:pPr>
              <a:t>‹#›</a:t>
            </a:fld>
            <a:endParaRPr lang="en-US" altLang="en-US"/>
          </a:p>
        </p:txBody>
      </p:sp>
    </p:spTree>
    <p:extLst>
      <p:ext uri="{BB962C8B-B14F-4D97-AF65-F5344CB8AC3E}">
        <p14:creationId xmlns:p14="http://schemas.microsoft.com/office/powerpoint/2010/main" val="1027265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3EEFACFA-D5B0-4964-A16D-E8A4CBC7117D}"/>
              </a:ext>
            </a:extLst>
          </p:cNvPr>
          <p:cNvSpPr>
            <a:spLocks noGrp="1" noChangeArrowheads="1"/>
          </p:cNvSpPr>
          <p:nvPr>
            <p:ph type="sldNum" sz="quarter" idx="10"/>
          </p:nvPr>
        </p:nvSpPr>
        <p:spPr>
          <a:ln/>
        </p:spPr>
        <p:txBody>
          <a:bodyPr/>
          <a:lstStyle>
            <a:lvl1pPr>
              <a:defRPr/>
            </a:lvl1pPr>
          </a:lstStyle>
          <a:p>
            <a:pPr>
              <a:defRPr/>
            </a:pPr>
            <a:fld id="{40CE7F4D-6297-41C0-ACE0-955D72B832BD}" type="slidenum">
              <a:rPr lang="en-US" altLang="en-US"/>
              <a:pPr>
                <a:defRPr/>
              </a:pPr>
              <a:t>‹#›</a:t>
            </a:fld>
            <a:endParaRPr lang="en-US" altLang="en-US"/>
          </a:p>
        </p:txBody>
      </p:sp>
    </p:spTree>
    <p:extLst>
      <p:ext uri="{BB962C8B-B14F-4D97-AF65-F5344CB8AC3E}">
        <p14:creationId xmlns:p14="http://schemas.microsoft.com/office/powerpoint/2010/main" val="2078777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8EB96FA9-73D7-4AB6-8917-C92D30A6B63A}"/>
              </a:ext>
            </a:extLst>
          </p:cNvPr>
          <p:cNvSpPr>
            <a:spLocks noGrp="1" noChangeArrowheads="1"/>
          </p:cNvSpPr>
          <p:nvPr>
            <p:ph type="sldNum" sz="quarter" idx="10"/>
          </p:nvPr>
        </p:nvSpPr>
        <p:spPr>
          <a:ln/>
        </p:spPr>
        <p:txBody>
          <a:bodyPr/>
          <a:lstStyle>
            <a:lvl1pPr>
              <a:defRPr/>
            </a:lvl1pPr>
          </a:lstStyle>
          <a:p>
            <a:pPr>
              <a:defRPr/>
            </a:pPr>
            <a:fld id="{69B29622-9F7E-4FEE-927C-378CA5783F19}" type="slidenum">
              <a:rPr lang="en-US" altLang="en-US"/>
              <a:pPr>
                <a:defRPr/>
              </a:pPr>
              <a:t>‹#›</a:t>
            </a:fld>
            <a:endParaRPr lang="en-US" altLang="en-US"/>
          </a:p>
        </p:txBody>
      </p:sp>
    </p:spTree>
    <p:extLst>
      <p:ext uri="{BB962C8B-B14F-4D97-AF65-F5344CB8AC3E}">
        <p14:creationId xmlns:p14="http://schemas.microsoft.com/office/powerpoint/2010/main" val="47768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CF7CD70D-4D46-46B4-BEE2-A008FF3640C8}"/>
              </a:ext>
            </a:extLst>
          </p:cNvPr>
          <p:cNvSpPr>
            <a:spLocks noGrp="1" noChangeArrowheads="1"/>
          </p:cNvSpPr>
          <p:nvPr>
            <p:ph type="sldNum" sz="quarter" idx="10"/>
          </p:nvPr>
        </p:nvSpPr>
        <p:spPr>
          <a:ln/>
        </p:spPr>
        <p:txBody>
          <a:bodyPr/>
          <a:lstStyle>
            <a:lvl1pPr>
              <a:defRPr/>
            </a:lvl1pPr>
          </a:lstStyle>
          <a:p>
            <a:pPr>
              <a:defRPr/>
            </a:pPr>
            <a:fld id="{EF827498-146B-4988-8324-4FDA45D96EE1}" type="slidenum">
              <a:rPr lang="en-US" altLang="en-US"/>
              <a:pPr>
                <a:defRPr/>
              </a:pPr>
              <a:t>‹#›</a:t>
            </a:fld>
            <a:endParaRPr lang="en-US" altLang="en-US"/>
          </a:p>
        </p:txBody>
      </p:sp>
    </p:spTree>
    <p:extLst>
      <p:ext uri="{BB962C8B-B14F-4D97-AF65-F5344CB8AC3E}">
        <p14:creationId xmlns:p14="http://schemas.microsoft.com/office/powerpoint/2010/main" val="2301845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A8968565-86CB-4886-8DC6-AAC02891B8FB}"/>
              </a:ext>
            </a:extLst>
          </p:cNvPr>
          <p:cNvSpPr>
            <a:spLocks noGrp="1" noChangeArrowheads="1"/>
          </p:cNvSpPr>
          <p:nvPr>
            <p:ph type="sldNum" sz="quarter" idx="10"/>
          </p:nvPr>
        </p:nvSpPr>
        <p:spPr>
          <a:ln/>
        </p:spPr>
        <p:txBody>
          <a:bodyPr/>
          <a:lstStyle>
            <a:lvl1pPr>
              <a:defRPr/>
            </a:lvl1pPr>
          </a:lstStyle>
          <a:p>
            <a:pPr>
              <a:defRPr/>
            </a:pPr>
            <a:fld id="{1CF355AD-7026-4A51-92AC-BDE138BCA4A8}" type="slidenum">
              <a:rPr lang="en-US" altLang="en-US"/>
              <a:pPr>
                <a:defRPr/>
              </a:pPr>
              <a:t>‹#›</a:t>
            </a:fld>
            <a:endParaRPr lang="en-US" altLang="en-US"/>
          </a:p>
        </p:txBody>
      </p:sp>
    </p:spTree>
    <p:extLst>
      <p:ext uri="{BB962C8B-B14F-4D97-AF65-F5344CB8AC3E}">
        <p14:creationId xmlns:p14="http://schemas.microsoft.com/office/powerpoint/2010/main" val="1238090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A125B6C0-0E44-4A4E-819E-36CEE900B639}"/>
              </a:ext>
            </a:extLst>
          </p:cNvPr>
          <p:cNvSpPr>
            <a:spLocks noGrp="1" noChangeArrowheads="1"/>
          </p:cNvSpPr>
          <p:nvPr>
            <p:ph type="sldNum" sz="quarter" idx="10"/>
          </p:nvPr>
        </p:nvSpPr>
        <p:spPr>
          <a:ln/>
        </p:spPr>
        <p:txBody>
          <a:bodyPr/>
          <a:lstStyle>
            <a:lvl1pPr>
              <a:defRPr/>
            </a:lvl1pPr>
          </a:lstStyle>
          <a:p>
            <a:pPr>
              <a:defRPr/>
            </a:pPr>
            <a:fld id="{52F2FCC7-3B50-42FE-BACC-7717F049D3C3}" type="slidenum">
              <a:rPr lang="en-US" altLang="en-US"/>
              <a:pPr>
                <a:defRPr/>
              </a:pPr>
              <a:t>‹#›</a:t>
            </a:fld>
            <a:endParaRPr lang="en-US" altLang="en-US"/>
          </a:p>
        </p:txBody>
      </p:sp>
    </p:spTree>
    <p:extLst>
      <p:ext uri="{BB962C8B-B14F-4D97-AF65-F5344CB8AC3E}">
        <p14:creationId xmlns:p14="http://schemas.microsoft.com/office/powerpoint/2010/main" val="16954849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Vertical Tex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BD7087-FF66-4DC3-89BC-F97889426A8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3" name="Picture 2" descr="A close up of a sign&#10;&#10;Description automatically generated">
            <a:extLst>
              <a:ext uri="{FF2B5EF4-FFF2-40B4-BE49-F238E27FC236}">
                <a16:creationId xmlns:a16="http://schemas.microsoft.com/office/drawing/2014/main" id="{E1123F4C-6A31-4C1F-A6F6-826F5AEAF06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44000" y="177800"/>
            <a:ext cx="2885445" cy="1202947"/>
          </a:xfrm>
          <a:prstGeom prst="rect">
            <a:avLst/>
          </a:prstGeom>
        </p:spPr>
      </p:pic>
    </p:spTree>
    <p:extLst>
      <p:ext uri="{BB962C8B-B14F-4D97-AF65-F5344CB8AC3E}">
        <p14:creationId xmlns:p14="http://schemas.microsoft.com/office/powerpoint/2010/main" val="5567709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2933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a:extLst>
              <a:ext uri="{FF2B5EF4-FFF2-40B4-BE49-F238E27FC236}">
                <a16:creationId xmlns:a16="http://schemas.microsoft.com/office/drawing/2014/main" id="{8449A887-5DE0-4487-B255-3AF567F9C735}"/>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b="83365"/>
          <a:stretch>
            <a:fillRect/>
          </a:stretch>
        </p:blipFill>
        <p:spPr bwMode="auto">
          <a:xfrm>
            <a:off x="0" y="76201"/>
            <a:ext cx="12183533"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6">
            <a:extLst>
              <a:ext uri="{FF2B5EF4-FFF2-40B4-BE49-F238E27FC236}">
                <a16:creationId xmlns:a16="http://schemas.microsoft.com/office/drawing/2014/main" id="{3725FC8C-A2FB-4E54-9109-26A80C5FA7A2}"/>
              </a:ext>
            </a:extLst>
          </p:cNvPr>
          <p:cNvSpPr>
            <a:spLocks noGrp="1" noChangeArrowheads="1"/>
          </p:cNvSpPr>
          <p:nvPr>
            <p:ph type="sldNum" sz="quarter" idx="4"/>
          </p:nvPr>
        </p:nvSpPr>
        <p:spPr bwMode="auto">
          <a:xfrm>
            <a:off x="9065684" y="6400800"/>
            <a:ext cx="2844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100" smtClean="0"/>
            </a:lvl1pPr>
          </a:lstStyle>
          <a:p>
            <a:pPr>
              <a:defRPr/>
            </a:pPr>
            <a:fld id="{87D83082-6E93-47F3-BCEC-6D6F7AC7DA64}" type="slidenum">
              <a:rPr lang="en-US" altLang="en-US"/>
              <a:pPr>
                <a:defRPr/>
              </a:pPr>
              <a:t>‹#›</a:t>
            </a:fld>
            <a:endParaRPr lang="en-US" altLang="en-US"/>
          </a:p>
        </p:txBody>
      </p:sp>
      <p:sp>
        <p:nvSpPr>
          <p:cNvPr id="1028" name="Rectangle 8">
            <a:extLst>
              <a:ext uri="{FF2B5EF4-FFF2-40B4-BE49-F238E27FC236}">
                <a16:creationId xmlns:a16="http://schemas.microsoft.com/office/drawing/2014/main" id="{F2006CED-6E1C-4C80-84FC-50B3EA341DF5}"/>
              </a:ext>
            </a:extLst>
          </p:cNvPr>
          <p:cNvSpPr>
            <a:spLocks noChangeArrowheads="1"/>
          </p:cNvSpPr>
          <p:nvPr/>
        </p:nvSpPr>
        <p:spPr bwMode="auto">
          <a:xfrm>
            <a:off x="4656667" y="611188"/>
            <a:ext cx="7213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en-US" altLang="en-US" sz="1600" b="1">
                <a:solidFill>
                  <a:schemeClr val="accent2"/>
                </a:solidFill>
              </a:rPr>
              <a:t>Amity Institute of Information Technology</a:t>
            </a:r>
          </a:p>
        </p:txBody>
      </p:sp>
      <p:sp>
        <p:nvSpPr>
          <p:cNvPr id="1029" name="Rectangle 10">
            <a:extLst>
              <a:ext uri="{FF2B5EF4-FFF2-40B4-BE49-F238E27FC236}">
                <a16:creationId xmlns:a16="http://schemas.microsoft.com/office/drawing/2014/main" id="{85D5D199-E1F6-467A-A88F-299499A5AE56}"/>
              </a:ext>
            </a:extLst>
          </p:cNvPr>
          <p:cNvSpPr>
            <a:spLocks noChangeArrowheads="1"/>
          </p:cNvSpPr>
          <p:nvPr userDrawn="1"/>
        </p:nvSpPr>
        <p:spPr bwMode="auto">
          <a:xfrm>
            <a:off x="3251200" y="6705600"/>
            <a:ext cx="8940800" cy="152400"/>
          </a:xfrm>
          <a:prstGeom prst="rect">
            <a:avLst/>
          </a:prstGeom>
          <a:solidFill>
            <a:srgbClr val="F1B4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sz="1800"/>
          </a:p>
        </p:txBody>
      </p:sp>
    </p:spTree>
    <p:extLst>
      <p:ext uri="{BB962C8B-B14F-4D97-AF65-F5344CB8AC3E}">
        <p14:creationId xmlns:p14="http://schemas.microsoft.com/office/powerpoint/2010/main" val="6945666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74" r:id="rId13"/>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a:extLst>
              <a:ext uri="{FF2B5EF4-FFF2-40B4-BE49-F238E27FC236}">
                <a16:creationId xmlns:a16="http://schemas.microsoft.com/office/drawing/2014/main" id="{8469C9C1-BD22-4CF2-9C58-53B367FE92B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48AB5C7E-C987-4B17-8B6C-FB2215A95668}" type="slidenum">
              <a:rPr lang="en-US" altLang="en-US">
                <a:solidFill>
                  <a:srgbClr val="000000"/>
                </a:solidFill>
              </a:rPr>
              <a:pPr fontAlgn="base">
                <a:spcBef>
                  <a:spcPct val="0"/>
                </a:spcBef>
                <a:spcAft>
                  <a:spcPct val="0"/>
                </a:spcAft>
              </a:pPr>
              <a:t>1</a:t>
            </a:fld>
            <a:endParaRPr lang="en-US" altLang="en-US">
              <a:solidFill>
                <a:srgbClr val="000000"/>
              </a:solidFill>
            </a:endParaRPr>
          </a:p>
        </p:txBody>
      </p:sp>
      <p:sp>
        <p:nvSpPr>
          <p:cNvPr id="4099" name="Rectangle 4">
            <a:extLst>
              <a:ext uri="{FF2B5EF4-FFF2-40B4-BE49-F238E27FC236}">
                <a16:creationId xmlns:a16="http://schemas.microsoft.com/office/drawing/2014/main" id="{A377AE03-F191-4623-A034-86DA79FC7120}"/>
              </a:ext>
            </a:extLst>
          </p:cNvPr>
          <p:cNvSpPr>
            <a:spLocks noGrp="1" noChangeArrowheads="1"/>
          </p:cNvSpPr>
          <p:nvPr>
            <p:ph type="ctrTitle"/>
          </p:nvPr>
        </p:nvSpPr>
        <p:spPr bwMode="auto">
          <a:xfrm>
            <a:off x="2209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50000"/>
              </a:lnSpc>
            </a:pPr>
            <a:r>
              <a:rPr lang="en-US" altLang="en-US" sz="4500" dirty="0">
                <a:solidFill>
                  <a:schemeClr val="tx1"/>
                </a:solidFill>
                <a:latin typeface="Times New Roman" panose="02020603050405020304" pitchFamily="18" charset="0"/>
              </a:rPr>
              <a:t>Amity Institute of Information Technology</a:t>
            </a:r>
            <a:br>
              <a:rPr lang="en-US" altLang="en-US" sz="4500" b="1" dirty="0">
                <a:solidFill>
                  <a:schemeClr val="tx1"/>
                </a:solidFill>
                <a:latin typeface="Times New Roman" panose="02020603050405020304" pitchFamily="18" charset="0"/>
              </a:rPr>
            </a:br>
            <a:r>
              <a:rPr lang="en-US" altLang="en-US" sz="2500" b="1" dirty="0">
                <a:solidFill>
                  <a:schemeClr val="tx1"/>
                </a:solidFill>
                <a:latin typeface="Times New Roman" panose="02020603050405020304" pitchFamily="18" charset="0"/>
              </a:rPr>
              <a:t>BCA </a:t>
            </a:r>
            <a:r>
              <a:rPr lang="en-US" altLang="en-US" sz="2500" dirty="0">
                <a:solidFill>
                  <a:schemeClr val="tx1"/>
                </a:solidFill>
                <a:latin typeface="Times New Roman" panose="02020603050405020304" pitchFamily="18" charset="0"/>
              </a:rPr>
              <a:t>, </a:t>
            </a:r>
            <a:r>
              <a:rPr lang="en-US" altLang="en-US" sz="2500" dirty="0" err="1">
                <a:solidFill>
                  <a:schemeClr val="tx1"/>
                </a:solidFill>
                <a:latin typeface="Times New Roman" panose="02020603050405020304" pitchFamily="18" charset="0"/>
              </a:rPr>
              <a:t>Ist</a:t>
            </a:r>
            <a:r>
              <a:rPr lang="en-US" altLang="en-US" sz="2500" dirty="0">
                <a:solidFill>
                  <a:schemeClr val="tx1"/>
                </a:solidFill>
                <a:latin typeface="Times New Roman" panose="02020603050405020304" pitchFamily="18" charset="0"/>
              </a:rPr>
              <a:t> Semester </a:t>
            </a:r>
            <a:br>
              <a:rPr lang="en-US" altLang="en-US" sz="2500" dirty="0">
                <a:solidFill>
                  <a:schemeClr val="tx1"/>
                </a:solidFill>
                <a:latin typeface="Times New Roman" panose="02020603050405020304" pitchFamily="18" charset="0"/>
              </a:rPr>
            </a:br>
            <a:r>
              <a:rPr lang="en-US" altLang="en-US" sz="2500" dirty="0">
                <a:solidFill>
                  <a:schemeClr val="tx1"/>
                </a:solidFill>
                <a:latin typeface="Times New Roman" panose="02020603050405020304" pitchFamily="18" charset="0"/>
              </a:rPr>
              <a:t>Basic Mathematics- Group Theory</a:t>
            </a:r>
            <a:br>
              <a:rPr lang="en-US" altLang="en-US" sz="2500" dirty="0">
                <a:solidFill>
                  <a:schemeClr val="tx1"/>
                </a:solidFill>
                <a:latin typeface="Times New Roman" panose="02020603050405020304" pitchFamily="18" charset="0"/>
              </a:rPr>
            </a:br>
            <a:r>
              <a:rPr lang="en-US" altLang="en-US" sz="2500" dirty="0">
                <a:solidFill>
                  <a:schemeClr val="tx1"/>
                </a:solidFill>
                <a:latin typeface="Times New Roman" panose="02020603050405020304" pitchFamily="18" charset="0"/>
              </a:rPr>
              <a:t>Dr Sarika Jain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304589-BD54-45D9-A84C-DE8A3A67047B}"/>
              </a:ext>
            </a:extLst>
          </p:cNvPr>
          <p:cNvSpPr txBox="1"/>
          <p:nvPr/>
        </p:nvSpPr>
        <p:spPr>
          <a:xfrm>
            <a:off x="228600" y="3080187"/>
            <a:ext cx="11734800" cy="666786"/>
          </a:xfrm>
          <a:prstGeom prst="rect">
            <a:avLst/>
          </a:prstGeom>
          <a:noFill/>
        </p:spPr>
        <p:txBody>
          <a:bodyPr wrap="square" rtlCol="0">
            <a:spAutoFit/>
          </a:bodyPr>
          <a:lstStyle/>
          <a:p>
            <a:pPr algn="ctr"/>
            <a:r>
              <a:rPr lang="en-US" altLang="en-US" sz="3733" b="1" dirty="0">
                <a:solidFill>
                  <a:schemeClr val="bg1"/>
                </a:solidFill>
                <a:effectLst>
                  <a:outerShdw blurRad="38100" dist="38100" dir="2700000" algn="tl">
                    <a:srgbClr val="000000">
                      <a:alpha val="43137"/>
                    </a:srgbClr>
                  </a:outerShdw>
                </a:effectLst>
                <a:highlight>
                  <a:srgbClr val="00FF00"/>
                </a:highlight>
                <a:latin typeface="Century Gothic" panose="020B0502020202020204" pitchFamily="34" charset="0"/>
              </a:rPr>
              <a:t>Binary Operations</a:t>
            </a:r>
          </a:p>
        </p:txBody>
      </p:sp>
    </p:spTree>
    <p:extLst>
      <p:ext uri="{BB962C8B-B14F-4D97-AF65-F5344CB8AC3E}">
        <p14:creationId xmlns:p14="http://schemas.microsoft.com/office/powerpoint/2010/main" val="208849885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4141266" y="291678"/>
            <a:ext cx="2398413"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Introduction</a:t>
            </a:r>
          </a:p>
        </p:txBody>
      </p:sp>
      <p:graphicFrame>
        <p:nvGraphicFramePr>
          <p:cNvPr id="2" name="Diagram 1">
            <a:extLst>
              <a:ext uri="{FF2B5EF4-FFF2-40B4-BE49-F238E27FC236}">
                <a16:creationId xmlns:a16="http://schemas.microsoft.com/office/drawing/2014/main" id="{EF34758D-E66F-4511-9DA4-848C6E35662D}"/>
              </a:ext>
            </a:extLst>
          </p:cNvPr>
          <p:cNvGraphicFramePr/>
          <p:nvPr/>
        </p:nvGraphicFramePr>
        <p:xfrm>
          <a:off x="711200" y="1600200"/>
          <a:ext cx="106680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95038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graphicEl>
                                              <a:dgm id="{3A499F33-14B2-40FB-A54F-B542AAD7D2E8}"/>
                                            </p:graphicEl>
                                          </p:spTgt>
                                        </p:tgtEl>
                                        <p:attrNameLst>
                                          <p:attrName>style.visibility</p:attrName>
                                        </p:attrNameLst>
                                      </p:cBhvr>
                                      <p:to>
                                        <p:strVal val="visible"/>
                                      </p:to>
                                    </p:set>
                                    <p:animEffect transition="in" filter="wipe(left)">
                                      <p:cBhvr>
                                        <p:cTn id="7" dur="500"/>
                                        <p:tgtEl>
                                          <p:spTgt spid="2">
                                            <p:graphicEl>
                                              <a:dgm id="{3A499F33-14B2-40FB-A54F-B542AAD7D2E8}"/>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lvl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3049312" y="291678"/>
            <a:ext cx="3405099"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Binary Operations</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5016758"/>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Let G be non empty set. Then G × G = {(a, b): a ϵ G, b ϵ G }.</a:t>
            </a:r>
          </a:p>
          <a:p>
            <a:pPr algn="just"/>
            <a:r>
              <a:rPr lang="en-US" altLang="en-US" sz="2000" b="1" dirty="0">
                <a:latin typeface="Century Gothic" panose="020B0502020202020204" pitchFamily="34" charset="0"/>
                <a:cs typeface="Times New Roman" panose="02020603050405020304" pitchFamily="18" charset="0"/>
              </a:rPr>
              <a:t>If f: </a:t>
            </a:r>
            <a:r>
              <a:rPr lang="en-US" altLang="en-US" sz="2000" dirty="0">
                <a:latin typeface="Century Gothic" panose="020B0502020202020204" pitchFamily="34" charset="0"/>
                <a:cs typeface="Times New Roman" panose="02020603050405020304" pitchFamily="18" charset="0"/>
              </a:rPr>
              <a:t>G × G  → G, then f is said to be binary operation on G.</a:t>
            </a:r>
          </a:p>
          <a:p>
            <a:pPr algn="just"/>
            <a:r>
              <a:rPr lang="en-US" altLang="en-US" sz="2000" dirty="0">
                <a:latin typeface="Century Gothic" panose="020B0502020202020204" pitchFamily="34" charset="0"/>
                <a:cs typeface="Times New Roman" panose="02020603050405020304" pitchFamily="18" charset="0"/>
              </a:rPr>
              <a:t>Thus a binary operation on G is a function that assign each ordered pair</a:t>
            </a:r>
          </a:p>
          <a:p>
            <a:pPr algn="just"/>
            <a:r>
              <a:rPr lang="en-US" altLang="en-US" sz="2000" dirty="0">
                <a:latin typeface="Century Gothic" panose="020B0502020202020204" pitchFamily="34" charset="0"/>
                <a:cs typeface="Times New Roman" panose="02020603050405020304" pitchFamily="18" charset="0"/>
              </a:rPr>
              <a:t>of elements of G to an element of G.</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For example, </a:t>
            </a:r>
            <a:r>
              <a:rPr lang="en-US" altLang="en-US" sz="2000" dirty="0">
                <a:latin typeface="Century Gothic" panose="020B0502020202020204" pitchFamily="34" charset="0"/>
                <a:cs typeface="Times New Roman" panose="02020603050405020304" pitchFamily="18" charset="0"/>
              </a:rPr>
              <a:t>given the set A={1,2,3,4,5}, we can say * is a binary operator for the operation c=a * b, if it specifies a rule for finding c for the pair of (</a:t>
            </a:r>
            <a:r>
              <a:rPr lang="en-US" altLang="en-US" sz="2000" dirty="0" err="1">
                <a:latin typeface="Century Gothic" panose="020B0502020202020204" pitchFamily="34" charset="0"/>
                <a:cs typeface="Times New Roman" panose="02020603050405020304" pitchFamily="18" charset="0"/>
              </a:rPr>
              <a:t>a,b</a:t>
            </a:r>
            <a:r>
              <a:rPr lang="en-US" altLang="en-US" sz="2000" dirty="0">
                <a:latin typeface="Century Gothic" panose="020B0502020202020204" pitchFamily="34" charset="0"/>
                <a:cs typeface="Times New Roman" panose="02020603050405020304" pitchFamily="18" charset="0"/>
              </a:rPr>
              <a:t>), such that a, b, c ∈ A.</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The symbols +, ., 0, *, </a:t>
            </a:r>
            <a:r>
              <a:rPr lang="en-US" altLang="en-US" sz="2000" dirty="0" err="1">
                <a:latin typeface="Century Gothic" panose="020B0502020202020204" pitchFamily="34" charset="0"/>
                <a:cs typeface="Times New Roman" panose="02020603050405020304" pitchFamily="18" charset="0"/>
              </a:rPr>
              <a:t>etc.are</a:t>
            </a:r>
            <a:r>
              <a:rPr lang="en-US" altLang="en-US" sz="2000" dirty="0">
                <a:latin typeface="Century Gothic" panose="020B0502020202020204" pitchFamily="34" charset="0"/>
                <a:cs typeface="Times New Roman" panose="02020603050405020304" pitchFamily="18" charset="0"/>
              </a:rPr>
              <a:t> used to denote binary operations on a set.</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Thus + will be a binary operation on G if and only if</a:t>
            </a:r>
          </a:p>
          <a:p>
            <a:pPr algn="just"/>
            <a:r>
              <a:rPr lang="en-US" altLang="en-US" sz="2000" dirty="0">
                <a:latin typeface="Century Gothic" panose="020B0502020202020204" pitchFamily="34" charset="0"/>
                <a:cs typeface="Times New Roman" panose="02020603050405020304" pitchFamily="18" charset="0"/>
              </a:rPr>
              <a:t>a + b ϵ G for all a, b ϵ G and a+ b is unique.</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Similarly, </a:t>
            </a:r>
            <a:r>
              <a:rPr lang="en-US" altLang="en-US" sz="2000" dirty="0">
                <a:latin typeface="Century Gothic" panose="020B0502020202020204" pitchFamily="34" charset="0"/>
                <a:cs typeface="Times New Roman" panose="02020603050405020304" pitchFamily="18" charset="0"/>
              </a:rPr>
              <a:t>* will be a binary operation on G if and only if</a:t>
            </a:r>
          </a:p>
          <a:p>
            <a:pPr algn="just"/>
            <a:r>
              <a:rPr lang="en-US" altLang="en-US" sz="2000" dirty="0">
                <a:latin typeface="Century Gothic" panose="020B0502020202020204" pitchFamily="34" charset="0"/>
                <a:cs typeface="Times New Roman" panose="02020603050405020304" pitchFamily="18" charset="0"/>
              </a:rPr>
              <a:t>a * b ϵ G for all a, b ϵ G and a * b is unique.</a:t>
            </a:r>
          </a:p>
        </p:txBody>
      </p:sp>
    </p:spTree>
    <p:extLst>
      <p:ext uri="{BB962C8B-B14F-4D97-AF65-F5344CB8AC3E}">
        <p14:creationId xmlns:p14="http://schemas.microsoft.com/office/powerpoint/2010/main" val="6873933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wipe(left)">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wipe(left)">
                                      <p:cBhvr>
                                        <p:cTn id="32" dur="500"/>
                                        <p:tgtEl>
                                          <p:spTgt spid="5">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9" end="9"/>
                                            </p:txEl>
                                          </p:spTgt>
                                        </p:tgtEl>
                                        <p:attrNameLst>
                                          <p:attrName>style.visibility</p:attrName>
                                        </p:attrNameLst>
                                      </p:cBhvr>
                                      <p:to>
                                        <p:strVal val="visible"/>
                                      </p:to>
                                    </p:set>
                                    <p:animEffect transition="in" filter="wipe(left)">
                                      <p:cBhvr>
                                        <p:cTn id="37" dur="500"/>
                                        <p:tgtEl>
                                          <p:spTgt spid="5">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txEl>
                                              <p:pRg st="10" end="10"/>
                                            </p:txEl>
                                          </p:spTgt>
                                        </p:tgtEl>
                                        <p:attrNameLst>
                                          <p:attrName>style.visibility</p:attrName>
                                        </p:attrNameLst>
                                      </p:cBhvr>
                                      <p:to>
                                        <p:strVal val="visible"/>
                                      </p:to>
                                    </p:set>
                                    <p:animEffect transition="in" filter="wipe(left)">
                                      <p:cBhvr>
                                        <p:cTn id="42" dur="500"/>
                                        <p:tgtEl>
                                          <p:spTgt spid="5">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
                                            <p:txEl>
                                              <p:pRg st="12" end="12"/>
                                            </p:txEl>
                                          </p:spTgt>
                                        </p:tgtEl>
                                        <p:attrNameLst>
                                          <p:attrName>style.visibility</p:attrName>
                                        </p:attrNameLst>
                                      </p:cBhvr>
                                      <p:to>
                                        <p:strVal val="visible"/>
                                      </p:to>
                                    </p:set>
                                    <p:animEffect transition="in" filter="wipe(left)">
                                      <p:cBhvr>
                                        <p:cTn id="47" dur="500"/>
                                        <p:tgtEl>
                                          <p:spTgt spid="5">
                                            <p:txEl>
                                              <p:pRg st="12" end="1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
                                            <p:txEl>
                                              <p:pRg st="13" end="13"/>
                                            </p:txEl>
                                          </p:spTgt>
                                        </p:tgtEl>
                                        <p:attrNameLst>
                                          <p:attrName>style.visibility</p:attrName>
                                        </p:attrNameLst>
                                      </p:cBhvr>
                                      <p:to>
                                        <p:strVal val="visible"/>
                                      </p:to>
                                    </p:set>
                                    <p:animEffect transition="in" filter="wipe(left)">
                                      <p:cBhvr>
                                        <p:cTn id="52" dur="500"/>
                                        <p:tgtEl>
                                          <p:spTgt spid="5">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3235744" y="336066"/>
            <a:ext cx="3990195"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Binary Operations…..</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3170099"/>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This is said to be the closure property of the binary operation and the set G is said to be closed with respect to the binary operation.</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For example, addition (+) and multiplication (*) binary operations on the set N of natural numbers. Therefore, N is closed with respect to addition and multiplication, i.e.</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a + b ϵ N for all a, b ϵ N</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a * b ϵ N for all a, b ϵ N</a:t>
            </a:r>
          </a:p>
        </p:txBody>
      </p:sp>
    </p:spTree>
    <p:extLst>
      <p:ext uri="{BB962C8B-B14F-4D97-AF65-F5344CB8AC3E}">
        <p14:creationId xmlns:p14="http://schemas.microsoft.com/office/powerpoint/2010/main" val="27945011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3058190" y="300555"/>
            <a:ext cx="3990195"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Binary Operations…..</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2"/>
            <a:ext cx="10655837" cy="2862322"/>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Note that subtraction is not a binary operation on N.</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As, for example, 5 – 9 = -4 does not belong to N whereas 5 ϵ N and 9 ϵ N .</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But subtraction is a binary operation on Z, the set of integers.</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The most important of describing a particular binary operation * on a given set  is to characterize the element a * b assigned to each pair (a, b) by some property defined in terms of a and b. </a:t>
            </a:r>
          </a:p>
        </p:txBody>
      </p:sp>
    </p:spTree>
    <p:extLst>
      <p:ext uri="{BB962C8B-B14F-4D97-AF65-F5344CB8AC3E}">
        <p14:creationId xmlns:p14="http://schemas.microsoft.com/office/powerpoint/2010/main" val="11796399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3146967" y="407088"/>
            <a:ext cx="3990195"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Binary Operations…..</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4093428"/>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A binary operation on a set G is sometimes called a composition in G.</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For finite set, a binary operation on the set G can be defined by means of a table, called the composition table. </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Let S be a set with n distinct elements. To construct the table, the elements of S are arranged horizontally in a row called the initial  row or 0 – row.</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These are again arranged vertically in a column, called the initial column or 0 – column.</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The (</a:t>
            </a:r>
            <a:r>
              <a:rPr lang="en-US" altLang="en-US" sz="2000" dirty="0" err="1">
                <a:latin typeface="Century Gothic" panose="020B0502020202020204" pitchFamily="34" charset="0"/>
                <a:cs typeface="Times New Roman" panose="02020603050405020304" pitchFamily="18" charset="0"/>
              </a:rPr>
              <a:t>i</a:t>
            </a:r>
            <a:r>
              <a:rPr lang="en-US" altLang="en-US" sz="2000" dirty="0">
                <a:latin typeface="Century Gothic" panose="020B0502020202020204" pitchFamily="34" charset="0"/>
                <a:cs typeface="Times New Roman" panose="02020603050405020304" pitchFamily="18" charset="0"/>
              </a:rPr>
              <a:t>, j)</a:t>
            </a:r>
            <a:r>
              <a:rPr lang="en-US" altLang="en-US" sz="2000" dirty="0" err="1">
                <a:latin typeface="Century Gothic" panose="020B0502020202020204" pitchFamily="34" charset="0"/>
                <a:cs typeface="Times New Roman" panose="02020603050405020304" pitchFamily="18" charset="0"/>
              </a:rPr>
              <a:t>th</a:t>
            </a:r>
            <a:r>
              <a:rPr lang="en-US" altLang="en-US" sz="2000" dirty="0">
                <a:latin typeface="Century Gothic" panose="020B0502020202020204" pitchFamily="34" charset="0"/>
                <a:cs typeface="Times New Roman" panose="02020603050405020304" pitchFamily="18" charset="0"/>
              </a:rPr>
              <a:t> position in the table is determined by the intersection of the </a:t>
            </a:r>
            <a:r>
              <a:rPr lang="en-US" altLang="en-US" sz="2000" dirty="0" err="1">
                <a:latin typeface="Century Gothic" panose="020B0502020202020204" pitchFamily="34" charset="0"/>
                <a:cs typeface="Times New Roman" panose="02020603050405020304" pitchFamily="18" charset="0"/>
              </a:rPr>
              <a:t>ith</a:t>
            </a:r>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row and </a:t>
            </a:r>
            <a:r>
              <a:rPr lang="en-US" altLang="en-US" sz="2000" dirty="0" err="1">
                <a:latin typeface="Century Gothic" panose="020B0502020202020204" pitchFamily="34" charset="0"/>
                <a:cs typeface="Times New Roman" panose="02020603050405020304" pitchFamily="18" charset="0"/>
              </a:rPr>
              <a:t>jth</a:t>
            </a:r>
            <a:r>
              <a:rPr lang="en-US" altLang="en-US" sz="2000" dirty="0">
                <a:latin typeface="Century Gothic" panose="020B0502020202020204" pitchFamily="34" charset="0"/>
                <a:cs typeface="Times New Roman" panose="02020603050405020304" pitchFamily="18" charset="0"/>
              </a:rPr>
              <a:t> column.</a:t>
            </a:r>
          </a:p>
        </p:txBody>
      </p:sp>
    </p:spTree>
    <p:extLst>
      <p:ext uri="{BB962C8B-B14F-4D97-AF65-F5344CB8AC3E}">
        <p14:creationId xmlns:p14="http://schemas.microsoft.com/office/powerpoint/2010/main" val="26199087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wipe(left)">
                                      <p:cBhvr>
                                        <p:cTn id="27" dur="500"/>
                                        <p:tgtEl>
                                          <p:spTgt spid="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9" end="9"/>
                                            </p:txEl>
                                          </p:spTgt>
                                        </p:tgtEl>
                                        <p:attrNameLst>
                                          <p:attrName>style.visibility</p:attrName>
                                        </p:attrNameLst>
                                      </p:cBhvr>
                                      <p:to>
                                        <p:strVal val="visible"/>
                                      </p:to>
                                    </p:set>
                                    <p:animEffect transition="in" filter="wipe(left)">
                                      <p:cBhvr>
                                        <p:cTn id="32"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723363" y="158513"/>
            <a:ext cx="3990195"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Binary Operations…..</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400110"/>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For example Let S = {0, 1}. Define * on S by the following table:</a:t>
            </a:r>
          </a:p>
        </p:txBody>
      </p:sp>
      <p:sp>
        <p:nvSpPr>
          <p:cNvPr id="2" name="Line 5">
            <a:extLst>
              <a:ext uri="{FF2B5EF4-FFF2-40B4-BE49-F238E27FC236}">
                <a16:creationId xmlns:a16="http://schemas.microsoft.com/office/drawing/2014/main" id="{C1AD6C99-A67C-431B-BAA7-89659CC35418}"/>
              </a:ext>
            </a:extLst>
          </p:cNvPr>
          <p:cNvSpPr>
            <a:spLocks noChangeShapeType="1"/>
          </p:cNvSpPr>
          <p:nvPr/>
        </p:nvSpPr>
        <p:spPr bwMode="auto">
          <a:xfrm>
            <a:off x="3784600" y="3246407"/>
            <a:ext cx="2514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 name="Line 6">
            <a:extLst>
              <a:ext uri="{FF2B5EF4-FFF2-40B4-BE49-F238E27FC236}">
                <a16:creationId xmlns:a16="http://schemas.microsoft.com/office/drawing/2014/main" id="{F721FE58-1FD8-4C41-8D31-4E5D5A93E5BC}"/>
              </a:ext>
            </a:extLst>
          </p:cNvPr>
          <p:cNvSpPr>
            <a:spLocks noChangeShapeType="1"/>
          </p:cNvSpPr>
          <p:nvPr/>
        </p:nvSpPr>
        <p:spPr bwMode="auto">
          <a:xfrm>
            <a:off x="4470400" y="2616200"/>
            <a:ext cx="0" cy="1981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 name="Text Box 7">
            <a:extLst>
              <a:ext uri="{FF2B5EF4-FFF2-40B4-BE49-F238E27FC236}">
                <a16:creationId xmlns:a16="http://schemas.microsoft.com/office/drawing/2014/main" id="{63295A1F-3A78-4001-84E6-8EA154A22126}"/>
              </a:ext>
            </a:extLst>
          </p:cNvPr>
          <p:cNvSpPr txBox="1">
            <a:spLocks noChangeArrowheads="1"/>
          </p:cNvSpPr>
          <p:nvPr/>
        </p:nvSpPr>
        <p:spPr bwMode="auto">
          <a:xfrm>
            <a:off x="3844925" y="2825720"/>
            <a:ext cx="2744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t>
            </a:r>
            <a:endParaRPr lang="en-IN" altLang="en-US"/>
          </a:p>
        </p:txBody>
      </p:sp>
      <p:sp>
        <p:nvSpPr>
          <p:cNvPr id="11" name="Text Box 8">
            <a:extLst>
              <a:ext uri="{FF2B5EF4-FFF2-40B4-BE49-F238E27FC236}">
                <a16:creationId xmlns:a16="http://schemas.microsoft.com/office/drawing/2014/main" id="{5C21C4F8-53D5-4271-B911-D236C0EB73B9}"/>
              </a:ext>
            </a:extLst>
          </p:cNvPr>
          <p:cNvSpPr txBox="1">
            <a:spLocks noChangeArrowheads="1"/>
          </p:cNvSpPr>
          <p:nvPr/>
        </p:nvSpPr>
        <p:spPr bwMode="auto">
          <a:xfrm>
            <a:off x="4683125" y="2749520"/>
            <a:ext cx="12362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0	1</a:t>
            </a:r>
            <a:endParaRPr lang="en-IN" altLang="en-US"/>
          </a:p>
        </p:txBody>
      </p:sp>
      <p:sp>
        <p:nvSpPr>
          <p:cNvPr id="13" name="Text Box 9">
            <a:extLst>
              <a:ext uri="{FF2B5EF4-FFF2-40B4-BE49-F238E27FC236}">
                <a16:creationId xmlns:a16="http://schemas.microsoft.com/office/drawing/2014/main" id="{7DECB533-D04E-4338-B298-4CEDCE4A4CD8}"/>
              </a:ext>
            </a:extLst>
          </p:cNvPr>
          <p:cNvSpPr txBox="1">
            <a:spLocks noChangeArrowheads="1"/>
          </p:cNvSpPr>
          <p:nvPr/>
        </p:nvSpPr>
        <p:spPr bwMode="auto">
          <a:xfrm>
            <a:off x="3921125" y="3282921"/>
            <a:ext cx="31290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0</a:t>
            </a:r>
          </a:p>
          <a:p>
            <a:endParaRPr lang="en-US" altLang="en-US"/>
          </a:p>
          <a:p>
            <a:endParaRPr lang="en-US" altLang="en-US"/>
          </a:p>
          <a:p>
            <a:r>
              <a:rPr lang="en-US" altLang="en-US"/>
              <a:t>1</a:t>
            </a:r>
            <a:endParaRPr lang="en-IN" altLang="en-US"/>
          </a:p>
        </p:txBody>
      </p:sp>
      <p:sp>
        <p:nvSpPr>
          <p:cNvPr id="15" name="Text Box 10">
            <a:extLst>
              <a:ext uri="{FF2B5EF4-FFF2-40B4-BE49-F238E27FC236}">
                <a16:creationId xmlns:a16="http://schemas.microsoft.com/office/drawing/2014/main" id="{CBAC2F7A-C1E8-45F7-BD45-F2A72B34C12B}"/>
              </a:ext>
            </a:extLst>
          </p:cNvPr>
          <p:cNvSpPr txBox="1">
            <a:spLocks noChangeArrowheads="1"/>
          </p:cNvSpPr>
          <p:nvPr/>
        </p:nvSpPr>
        <p:spPr bwMode="auto">
          <a:xfrm>
            <a:off x="4683126" y="333689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IN" altLang="en-US"/>
          </a:p>
        </p:txBody>
      </p:sp>
      <p:sp>
        <p:nvSpPr>
          <p:cNvPr id="17" name="Text Box 11">
            <a:extLst>
              <a:ext uri="{FF2B5EF4-FFF2-40B4-BE49-F238E27FC236}">
                <a16:creationId xmlns:a16="http://schemas.microsoft.com/office/drawing/2014/main" id="{3EDA249B-5BC3-4C38-B2E3-58EF5CF3FBF3}"/>
              </a:ext>
            </a:extLst>
          </p:cNvPr>
          <p:cNvSpPr txBox="1">
            <a:spLocks noChangeArrowheads="1"/>
          </p:cNvSpPr>
          <p:nvPr/>
        </p:nvSpPr>
        <p:spPr bwMode="auto">
          <a:xfrm>
            <a:off x="4606925" y="3282921"/>
            <a:ext cx="123623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 0           	1</a:t>
            </a:r>
          </a:p>
          <a:p>
            <a:endParaRPr lang="en-US" altLang="en-US" dirty="0"/>
          </a:p>
          <a:p>
            <a:endParaRPr lang="en-US" altLang="en-US" dirty="0"/>
          </a:p>
          <a:p>
            <a:r>
              <a:rPr lang="en-US" altLang="en-US" dirty="0"/>
              <a:t>1	1</a:t>
            </a:r>
            <a:endParaRPr lang="en-IN" altLang="en-US" dirty="0"/>
          </a:p>
        </p:txBody>
      </p:sp>
      <p:sp>
        <p:nvSpPr>
          <p:cNvPr id="18" name="TextBox 17">
            <a:extLst>
              <a:ext uri="{FF2B5EF4-FFF2-40B4-BE49-F238E27FC236}">
                <a16:creationId xmlns:a16="http://schemas.microsoft.com/office/drawing/2014/main" id="{C6E32F78-7AAD-40AD-A166-BE5B62B12857}"/>
              </a:ext>
            </a:extLst>
          </p:cNvPr>
          <p:cNvSpPr txBox="1"/>
          <p:nvPr/>
        </p:nvSpPr>
        <p:spPr>
          <a:xfrm>
            <a:off x="723363" y="5738092"/>
            <a:ext cx="10655837" cy="707886"/>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 is a binary operation as it is closed with respect to *.</a:t>
            </a:r>
          </a:p>
          <a:p>
            <a:pPr algn="just"/>
            <a:r>
              <a:rPr lang="en-US" altLang="en-US" sz="2000" dirty="0">
                <a:latin typeface="Century Gothic" panose="020B0502020202020204" pitchFamily="34" charset="0"/>
                <a:cs typeface="Times New Roman" panose="02020603050405020304" pitchFamily="18" charset="0"/>
              </a:rPr>
              <a:t>Notice that * is Logical OR operation.</a:t>
            </a:r>
          </a:p>
        </p:txBody>
      </p:sp>
    </p:spTree>
    <p:extLst>
      <p:ext uri="{BB962C8B-B14F-4D97-AF65-F5344CB8AC3E}">
        <p14:creationId xmlns:p14="http://schemas.microsoft.com/office/powerpoint/2010/main" val="11070437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dissolve">
                                      <p:cBhvr>
                                        <p:cTn id="15" dur="500"/>
                                        <p:tgtEl>
                                          <p:spTgt spid="3"/>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dissolve">
                                      <p:cBhvr>
                                        <p:cTn id="18" dur="500"/>
                                        <p:tgtEl>
                                          <p:spTgt spid="9"/>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dissolve">
                                      <p:cBhvr>
                                        <p:cTn id="21" dur="500"/>
                                        <p:tgtEl>
                                          <p:spTgt spid="11"/>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dissolve">
                                      <p:cBhvr>
                                        <p:cTn id="24" dur="500"/>
                                        <p:tgtEl>
                                          <p:spTgt spid="13"/>
                                        </p:tgtEl>
                                      </p:cBhvr>
                                    </p:animEffect>
                                  </p:childTnLst>
                                </p:cTn>
                              </p:par>
                              <p:par>
                                <p:cTn id="25" presetID="9" presetClass="entr" presetSubtype="0" fill="hold" grpId="0" nodeType="withEffect" nodePh="1">
                                  <p:stCondLst>
                                    <p:cond delay="0"/>
                                  </p:stCondLst>
                                  <p:endCondLst>
                                    <p:cond evt="begin" delay="0">
                                      <p:tn val="25"/>
                                    </p:cond>
                                  </p:endCondLst>
                                  <p:childTnLst>
                                    <p:set>
                                      <p:cBhvr>
                                        <p:cTn id="26" dur="1" fill="hold">
                                          <p:stCondLst>
                                            <p:cond delay="0"/>
                                          </p:stCondLst>
                                        </p:cTn>
                                        <p:tgtEl>
                                          <p:spTgt spid="15"/>
                                        </p:tgtEl>
                                        <p:attrNameLst>
                                          <p:attrName>style.visibility</p:attrName>
                                        </p:attrNameLst>
                                      </p:cBhvr>
                                      <p:to>
                                        <p:strVal val="visible"/>
                                      </p:to>
                                    </p:set>
                                    <p:animEffect transition="in" filter="dissolve">
                                      <p:cBhvr>
                                        <p:cTn id="27" dur="500"/>
                                        <p:tgtEl>
                                          <p:spTgt spid="15"/>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dissolve">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animEffect transition="in" filter="wipe(left)">
                                      <p:cBhvr>
                                        <p:cTn id="35" dur="500"/>
                                        <p:tgtEl>
                                          <p:spTgt spid="18">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8">
                                            <p:txEl>
                                              <p:pRg st="1" end="1"/>
                                            </p:txEl>
                                          </p:spTgt>
                                        </p:tgtEl>
                                        <p:attrNameLst>
                                          <p:attrName>style.visibility</p:attrName>
                                        </p:attrNameLst>
                                      </p:cBhvr>
                                      <p:to>
                                        <p:strVal val="visible"/>
                                      </p:to>
                                    </p:set>
                                    <p:animEffect transition="in" filter="wipe(left)">
                                      <p:cBhvr>
                                        <p:cTn id="40" dur="500"/>
                                        <p:tgtEl>
                                          <p:spTgt spid="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2" grpId="0" animBg="1"/>
      <p:bldP spid="3" grpId="0" animBg="1"/>
      <p:bldP spid="9" grpId="0"/>
      <p:bldP spid="11" grpId="0"/>
      <p:bldP spid="13" grpId="0"/>
      <p:bldP spid="15" grpId="0"/>
      <p:bldP spid="17" grpId="0"/>
      <p:bldP spid="18"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3386664" y="327189"/>
            <a:ext cx="3990195"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Binary Operations…..</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6083837" cy="3785652"/>
          </a:xfrm>
          <a:prstGeom prst="rect">
            <a:avLst/>
          </a:prstGeom>
          <a:noFill/>
        </p:spPr>
        <p:txBody>
          <a:bodyPr wrap="square">
            <a:spAutoFit/>
          </a:bodyPr>
          <a:lstStyle/>
          <a:p>
            <a:pPr algn="just"/>
            <a:r>
              <a:rPr lang="en-US" altLang="en-US" sz="2000" dirty="0">
                <a:latin typeface="Century Gothic" panose="020B0502020202020204" pitchFamily="34" charset="0"/>
                <a:cs typeface="Times New Roman" panose="02020603050405020304" pitchFamily="18" charset="0"/>
              </a:rPr>
              <a:t>Binary operation can be defined in any way. for example,</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let S = {a, b, c}. Define * as follows:</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To determine the elements of S assigned to a * b, we look at the intersection of the row labeled by a and the element headed by b.</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We see that a * b = b</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Note that b * a = a</a:t>
            </a:r>
          </a:p>
        </p:txBody>
      </p:sp>
      <p:sp>
        <p:nvSpPr>
          <p:cNvPr id="4" name="Line 5">
            <a:extLst>
              <a:ext uri="{FF2B5EF4-FFF2-40B4-BE49-F238E27FC236}">
                <a16:creationId xmlns:a16="http://schemas.microsoft.com/office/drawing/2014/main" id="{C2A911EC-89EB-40AF-8439-7AEE89A6C610}"/>
              </a:ext>
            </a:extLst>
          </p:cNvPr>
          <p:cNvSpPr>
            <a:spLocks noChangeShapeType="1"/>
          </p:cNvSpPr>
          <p:nvPr/>
        </p:nvSpPr>
        <p:spPr bwMode="auto">
          <a:xfrm>
            <a:off x="7465936" y="2346384"/>
            <a:ext cx="3124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 name="Line 6">
            <a:extLst>
              <a:ext uri="{FF2B5EF4-FFF2-40B4-BE49-F238E27FC236}">
                <a16:creationId xmlns:a16="http://schemas.microsoft.com/office/drawing/2014/main" id="{5F03DF21-4D73-414E-8723-5863BAFA32B9}"/>
              </a:ext>
            </a:extLst>
          </p:cNvPr>
          <p:cNvSpPr>
            <a:spLocks noChangeShapeType="1"/>
          </p:cNvSpPr>
          <p:nvPr/>
        </p:nvSpPr>
        <p:spPr bwMode="auto">
          <a:xfrm>
            <a:off x="8227936" y="1736784"/>
            <a:ext cx="0" cy="2590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 name="Text Box 7">
            <a:extLst>
              <a:ext uri="{FF2B5EF4-FFF2-40B4-BE49-F238E27FC236}">
                <a16:creationId xmlns:a16="http://schemas.microsoft.com/office/drawing/2014/main" id="{C7427D83-84FE-48AE-8764-FCF381D83331}"/>
              </a:ext>
            </a:extLst>
          </p:cNvPr>
          <p:cNvSpPr txBox="1">
            <a:spLocks noChangeArrowheads="1"/>
          </p:cNvSpPr>
          <p:nvPr/>
        </p:nvSpPr>
        <p:spPr bwMode="auto">
          <a:xfrm>
            <a:off x="7526261" y="1925697"/>
            <a:ext cx="2744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t>
            </a:r>
            <a:endParaRPr lang="en-IN" altLang="en-US"/>
          </a:p>
        </p:txBody>
      </p:sp>
      <p:sp>
        <p:nvSpPr>
          <p:cNvPr id="10" name="Text Box 8">
            <a:extLst>
              <a:ext uri="{FF2B5EF4-FFF2-40B4-BE49-F238E27FC236}">
                <a16:creationId xmlns:a16="http://schemas.microsoft.com/office/drawing/2014/main" id="{63100C2D-4AC5-4129-9191-94916608E268}"/>
              </a:ext>
            </a:extLst>
          </p:cNvPr>
          <p:cNvSpPr txBox="1">
            <a:spLocks noChangeArrowheads="1"/>
          </p:cNvSpPr>
          <p:nvPr/>
        </p:nvSpPr>
        <p:spPr bwMode="auto">
          <a:xfrm>
            <a:off x="8364461" y="1849497"/>
            <a:ext cx="21467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	b	c</a:t>
            </a:r>
            <a:endParaRPr lang="en-IN" altLang="en-US"/>
          </a:p>
        </p:txBody>
      </p:sp>
      <p:sp>
        <p:nvSpPr>
          <p:cNvPr id="21" name="Text Box 9">
            <a:extLst>
              <a:ext uri="{FF2B5EF4-FFF2-40B4-BE49-F238E27FC236}">
                <a16:creationId xmlns:a16="http://schemas.microsoft.com/office/drawing/2014/main" id="{E5D9608D-7249-41DC-8100-BF9E73A5499A}"/>
              </a:ext>
            </a:extLst>
          </p:cNvPr>
          <p:cNvSpPr txBox="1">
            <a:spLocks noChangeArrowheads="1"/>
          </p:cNvSpPr>
          <p:nvPr/>
        </p:nvSpPr>
        <p:spPr bwMode="auto">
          <a:xfrm>
            <a:off x="7602461" y="2382898"/>
            <a:ext cx="31290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a:t>
            </a:r>
          </a:p>
          <a:p>
            <a:endParaRPr lang="en-US" altLang="en-US"/>
          </a:p>
          <a:p>
            <a:endParaRPr lang="en-US" altLang="en-US"/>
          </a:p>
          <a:p>
            <a:r>
              <a:rPr lang="en-US" altLang="en-US"/>
              <a:t>b</a:t>
            </a:r>
          </a:p>
          <a:p>
            <a:endParaRPr lang="en-US" altLang="en-US"/>
          </a:p>
          <a:p>
            <a:endParaRPr lang="en-US" altLang="en-US"/>
          </a:p>
          <a:p>
            <a:r>
              <a:rPr lang="en-US" altLang="en-US"/>
              <a:t>c</a:t>
            </a:r>
            <a:endParaRPr lang="en-IN" altLang="en-US"/>
          </a:p>
        </p:txBody>
      </p:sp>
      <p:sp>
        <p:nvSpPr>
          <p:cNvPr id="23" name="Text Box 10">
            <a:extLst>
              <a:ext uri="{FF2B5EF4-FFF2-40B4-BE49-F238E27FC236}">
                <a16:creationId xmlns:a16="http://schemas.microsoft.com/office/drawing/2014/main" id="{34D38C26-64BC-45F8-8611-71556215FCC1}"/>
              </a:ext>
            </a:extLst>
          </p:cNvPr>
          <p:cNvSpPr txBox="1">
            <a:spLocks noChangeArrowheads="1"/>
          </p:cNvSpPr>
          <p:nvPr/>
        </p:nvSpPr>
        <p:spPr bwMode="auto">
          <a:xfrm>
            <a:off x="8364462" y="24368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IN" altLang="en-US"/>
          </a:p>
        </p:txBody>
      </p:sp>
      <p:sp>
        <p:nvSpPr>
          <p:cNvPr id="25" name="Text Box 11">
            <a:extLst>
              <a:ext uri="{FF2B5EF4-FFF2-40B4-BE49-F238E27FC236}">
                <a16:creationId xmlns:a16="http://schemas.microsoft.com/office/drawing/2014/main" id="{965D749A-A007-46B3-96B4-6A8A607789E3}"/>
              </a:ext>
            </a:extLst>
          </p:cNvPr>
          <p:cNvSpPr txBox="1">
            <a:spLocks noChangeArrowheads="1"/>
          </p:cNvSpPr>
          <p:nvPr/>
        </p:nvSpPr>
        <p:spPr bwMode="auto">
          <a:xfrm>
            <a:off x="8304136" y="2346385"/>
            <a:ext cx="235192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 c	b	a   </a:t>
            </a:r>
          </a:p>
          <a:p>
            <a:endParaRPr lang="en-US" altLang="en-US"/>
          </a:p>
          <a:p>
            <a:endParaRPr lang="en-US" altLang="en-US"/>
          </a:p>
          <a:p>
            <a:r>
              <a:rPr lang="en-US" altLang="en-US"/>
              <a:t>a	a	a</a:t>
            </a:r>
          </a:p>
          <a:p>
            <a:endParaRPr lang="en-US" altLang="en-US"/>
          </a:p>
          <a:p>
            <a:endParaRPr lang="en-US" altLang="en-US"/>
          </a:p>
          <a:p>
            <a:r>
              <a:rPr lang="en-US" altLang="en-US"/>
              <a:t>b	b	b</a:t>
            </a:r>
            <a:endParaRPr lang="en-IN" altLang="en-US"/>
          </a:p>
        </p:txBody>
      </p:sp>
    </p:spTree>
    <p:extLst>
      <p:ext uri="{BB962C8B-B14F-4D97-AF65-F5344CB8AC3E}">
        <p14:creationId xmlns:p14="http://schemas.microsoft.com/office/powerpoint/2010/main" val="13872922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dissolve">
                                      <p:cBhvr>
                                        <p:cTn id="23" dur="500"/>
                                        <p:tgtEl>
                                          <p:spTgt spid="8"/>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dissolve">
                                      <p:cBhvr>
                                        <p:cTn id="26" dur="500"/>
                                        <p:tgtEl>
                                          <p:spTgt spid="10"/>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dissolve">
                                      <p:cBhvr>
                                        <p:cTn id="29" dur="500"/>
                                        <p:tgtEl>
                                          <p:spTgt spid="21"/>
                                        </p:tgtEl>
                                      </p:cBhvr>
                                    </p:animEffect>
                                  </p:childTnLst>
                                </p:cTn>
                              </p:par>
                              <p:par>
                                <p:cTn id="30" presetID="9" presetClass="entr" presetSubtype="0" fill="hold" grpId="0" nodeType="with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Effect transition="in" filter="dissolve">
                                      <p:cBhvr>
                                        <p:cTn id="32" dur="500"/>
                                        <p:tgtEl>
                                          <p:spTgt spid="23"/>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dissolve">
                                      <p:cBhvr>
                                        <p:cTn id="35" dur="500"/>
                                        <p:tgtEl>
                                          <p:spTgt spid="2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
                                            <p:txEl>
                                              <p:pRg st="4" end="4"/>
                                            </p:txEl>
                                          </p:spTgt>
                                        </p:tgtEl>
                                        <p:attrNameLst>
                                          <p:attrName>style.visibility</p:attrName>
                                        </p:attrNameLst>
                                      </p:cBhvr>
                                      <p:to>
                                        <p:strVal val="visible"/>
                                      </p:to>
                                    </p:set>
                                    <p:animEffect transition="in" filter="wipe(left)">
                                      <p:cBhvr>
                                        <p:cTn id="40" dur="500"/>
                                        <p:tgtEl>
                                          <p:spTgt spid="5">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5">
                                            <p:txEl>
                                              <p:pRg st="6" end="6"/>
                                            </p:txEl>
                                          </p:spTgt>
                                        </p:tgtEl>
                                        <p:attrNameLst>
                                          <p:attrName>style.visibility</p:attrName>
                                        </p:attrNameLst>
                                      </p:cBhvr>
                                      <p:to>
                                        <p:strVal val="visible"/>
                                      </p:to>
                                    </p:set>
                                    <p:animEffect transition="in" filter="wipe(left)">
                                      <p:cBhvr>
                                        <p:cTn id="45" dur="500"/>
                                        <p:tgtEl>
                                          <p:spTgt spid="5">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5">
                                            <p:txEl>
                                              <p:pRg st="8" end="8"/>
                                            </p:txEl>
                                          </p:spTgt>
                                        </p:tgtEl>
                                        <p:attrNameLst>
                                          <p:attrName>style.visibility</p:attrName>
                                        </p:attrNameLst>
                                      </p:cBhvr>
                                      <p:to>
                                        <p:strVal val="visible"/>
                                      </p:to>
                                    </p:set>
                                    <p:animEffect transition="in" filter="wipe(left)">
                                      <p:cBhvr>
                                        <p:cTn id="50"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4" grpId="0" animBg="1"/>
      <p:bldP spid="6" grpId="0" animBg="1"/>
      <p:bldP spid="8" grpId="0"/>
      <p:bldP spid="10" grpId="0"/>
      <p:bldP spid="21" grpId="0"/>
      <p:bldP spid="23" grpId="0"/>
      <p:bldP spid="2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1EAED7-C8F9-45D8-A96E-859AC6FA8DAD}"/>
              </a:ext>
            </a:extLst>
          </p:cNvPr>
          <p:cNvSpPr txBox="1"/>
          <p:nvPr/>
        </p:nvSpPr>
        <p:spPr>
          <a:xfrm>
            <a:off x="3226866" y="211779"/>
            <a:ext cx="3990195" cy="543675"/>
          </a:xfrm>
          <a:prstGeom prst="rect">
            <a:avLst/>
          </a:prstGeom>
          <a:noFill/>
        </p:spPr>
        <p:txBody>
          <a:bodyPr wrap="none" rtlCol="0">
            <a:spAutoFit/>
          </a:bodyPr>
          <a:lstStyle/>
          <a:p>
            <a:r>
              <a:rPr lang="en-US" altLang="en-US" sz="2933" dirty="0">
                <a:solidFill>
                  <a:schemeClr val="tx1">
                    <a:lumMod val="95000"/>
                    <a:lumOff val="5000"/>
                  </a:schemeClr>
                </a:solidFill>
                <a:latin typeface="Century Gothic" panose="020B0502020202020204" pitchFamily="34" charset="0"/>
                <a:cs typeface="Arial" pitchFamily="34" charset="0"/>
              </a:rPr>
              <a:t>Binary Operations…..</a:t>
            </a:r>
          </a:p>
        </p:txBody>
      </p:sp>
      <p:sp>
        <p:nvSpPr>
          <p:cNvPr id="5" name="TextBox 4">
            <a:extLst>
              <a:ext uri="{FF2B5EF4-FFF2-40B4-BE49-F238E27FC236}">
                <a16:creationId xmlns:a16="http://schemas.microsoft.com/office/drawing/2014/main" id="{01B16CEC-5382-4936-91C2-86CA7AF3650A}"/>
              </a:ext>
            </a:extLst>
          </p:cNvPr>
          <p:cNvSpPr txBox="1"/>
          <p:nvPr/>
        </p:nvSpPr>
        <p:spPr>
          <a:xfrm>
            <a:off x="723363" y="1611721"/>
            <a:ext cx="10655837" cy="3785652"/>
          </a:xfrm>
          <a:prstGeom prst="rect">
            <a:avLst/>
          </a:prstGeom>
          <a:noFill/>
        </p:spPr>
        <p:txBody>
          <a:bodyPr wrap="square">
            <a:spAutoFit/>
          </a:bodyPr>
          <a:lstStyle/>
          <a:p>
            <a:pPr algn="just"/>
            <a:r>
              <a:rPr lang="en-US" altLang="en-US" sz="2000" b="1" dirty="0">
                <a:latin typeface="Century Gothic" panose="020B0502020202020204" pitchFamily="34" charset="0"/>
                <a:cs typeface="Times New Roman" panose="02020603050405020304" pitchFamily="18" charset="0"/>
              </a:rPr>
              <a:t>Algebraic Structure</a:t>
            </a:r>
          </a:p>
          <a:p>
            <a:pPr algn="just"/>
            <a:endParaRPr lang="en-US" altLang="en-US" sz="2000" b="1"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A non empty set S is called an algebraic structure w.r.t binary operation (*) if it follows following axioms:</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Closure: </a:t>
            </a:r>
            <a:r>
              <a:rPr lang="en-US" altLang="en-US" sz="2000" dirty="0">
                <a:latin typeface="Century Gothic" panose="020B0502020202020204" pitchFamily="34" charset="0"/>
                <a:cs typeface="Times New Roman" panose="02020603050405020304" pitchFamily="18" charset="0"/>
              </a:rPr>
              <a:t>(a*b) belongs to S for all </a:t>
            </a:r>
            <a:r>
              <a:rPr lang="en-US" altLang="en-US" sz="2000" dirty="0" err="1">
                <a:latin typeface="Century Gothic" panose="020B0502020202020204" pitchFamily="34" charset="0"/>
                <a:cs typeface="Times New Roman" panose="02020603050405020304" pitchFamily="18" charset="0"/>
              </a:rPr>
              <a:t>a,b</a:t>
            </a:r>
            <a:r>
              <a:rPr lang="en-US" altLang="en-US" sz="2000" dirty="0">
                <a:latin typeface="Century Gothic" panose="020B0502020202020204" pitchFamily="34" charset="0"/>
                <a:cs typeface="Times New Roman" panose="02020603050405020304" pitchFamily="18" charset="0"/>
              </a:rPr>
              <a:t> ∈ S.</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b="1" dirty="0">
                <a:latin typeface="Century Gothic" panose="020B0502020202020204" pitchFamily="34" charset="0"/>
                <a:cs typeface="Times New Roman" panose="02020603050405020304" pitchFamily="18" charset="0"/>
              </a:rPr>
              <a:t>Ex: </a:t>
            </a:r>
            <a:r>
              <a:rPr lang="en-US" altLang="en-US" sz="2000" dirty="0">
                <a:latin typeface="Century Gothic" panose="020B0502020202020204" pitchFamily="34" charset="0"/>
                <a:cs typeface="Times New Roman" panose="02020603050405020304" pitchFamily="18" charset="0"/>
              </a:rPr>
              <a:t>S = {1,-1} is algebraic structure under *</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As 1*1 = 1, 1*-1 = -1, -1*-1 = 1 all results belongs to S.</a:t>
            </a:r>
          </a:p>
          <a:p>
            <a:pPr algn="just"/>
            <a:endParaRPr lang="en-US" altLang="en-US" sz="2000" dirty="0">
              <a:latin typeface="Century Gothic" panose="020B0502020202020204" pitchFamily="34" charset="0"/>
              <a:cs typeface="Times New Roman" panose="02020603050405020304" pitchFamily="18" charset="0"/>
            </a:endParaRPr>
          </a:p>
          <a:p>
            <a:pPr algn="just"/>
            <a:r>
              <a:rPr lang="en-US" altLang="en-US" sz="2000" dirty="0">
                <a:latin typeface="Century Gothic" panose="020B0502020202020204" pitchFamily="34" charset="0"/>
                <a:cs typeface="Times New Roman" panose="02020603050405020304" pitchFamily="18" charset="0"/>
              </a:rPr>
              <a:t>But above is not algebraic structure under + as 1+(-1) = 0 not belongs to S.</a:t>
            </a:r>
          </a:p>
        </p:txBody>
      </p:sp>
    </p:spTree>
    <p:extLst>
      <p:ext uri="{BB962C8B-B14F-4D97-AF65-F5344CB8AC3E}">
        <p14:creationId xmlns:p14="http://schemas.microsoft.com/office/powerpoint/2010/main" val="5367666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left)">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wipe(left)">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left)">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wipe(left)">
                                      <p:cBhvr>
                                        <p:cTn id="27" dur="500"/>
                                        <p:tgtEl>
                                          <p:spTgt spid="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10" end="10"/>
                                            </p:txEl>
                                          </p:spTgt>
                                        </p:tgtEl>
                                        <p:attrNameLst>
                                          <p:attrName>style.visibility</p:attrName>
                                        </p:attrNameLst>
                                      </p:cBhvr>
                                      <p:to>
                                        <p:strVal val="visible"/>
                                      </p:to>
                                    </p:set>
                                    <p:animEffect transition="in" filter="wipe(left)">
                                      <p:cBhvr>
                                        <p:cTn id="32"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4354331" y="354916"/>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- 1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6253" y="1609437"/>
            <a:ext cx="10652948" cy="489364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b="1" dirty="0">
                <a:latin typeface="Century Gothic" panose="020B0502020202020204" pitchFamily="34" charset="0"/>
                <a:cs typeface="Arial" panose="020B0604020202020204" pitchFamily="34" charset="0"/>
              </a:rPr>
              <a:t>A non empty set A is termed as an algebraic structure ________</a:t>
            </a:r>
          </a:p>
          <a:p>
            <a:pPr algn="just"/>
            <a:endParaRPr lang="en-US" sz="2400" b="1"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 with respect to binary operation *</a:t>
            </a:r>
            <a:br>
              <a:rPr lang="en-US" sz="2400" dirty="0">
                <a:latin typeface="Century Gothic" panose="020B0502020202020204" pitchFamily="34" charset="0"/>
                <a:cs typeface="Arial" panose="020B0604020202020204" pitchFamily="34" charset="0"/>
              </a:rPr>
            </a:br>
            <a:r>
              <a:rPr lang="en-US" sz="2400" dirty="0">
                <a:latin typeface="Century Gothic" panose="020B0502020202020204" pitchFamily="34" charset="0"/>
                <a:cs typeface="Arial" panose="020B0604020202020204" pitchFamily="34" charset="0"/>
              </a:rPr>
              <a:t>b) with respect to ternary operation ?</a:t>
            </a:r>
            <a:br>
              <a:rPr lang="en-US" sz="2400" dirty="0">
                <a:latin typeface="Century Gothic" panose="020B0502020202020204" pitchFamily="34" charset="0"/>
                <a:cs typeface="Arial" panose="020B0604020202020204" pitchFamily="34" charset="0"/>
              </a:rPr>
            </a:br>
            <a:r>
              <a:rPr lang="en-US" sz="2400" dirty="0">
                <a:latin typeface="Century Gothic" panose="020B0502020202020204" pitchFamily="34" charset="0"/>
                <a:cs typeface="Arial" panose="020B0604020202020204" pitchFamily="34" charset="0"/>
              </a:rPr>
              <a:t>c) with respect to binary operation +</a:t>
            </a:r>
            <a:br>
              <a:rPr lang="en-US" sz="2400" dirty="0">
                <a:latin typeface="Century Gothic" panose="020B0502020202020204" pitchFamily="34" charset="0"/>
                <a:cs typeface="Arial" panose="020B0604020202020204" pitchFamily="34" charset="0"/>
              </a:rPr>
            </a:br>
            <a:r>
              <a:rPr lang="en-US" sz="2400" dirty="0">
                <a:latin typeface="Century Gothic" panose="020B0502020202020204" pitchFamily="34" charset="0"/>
                <a:cs typeface="Arial" panose="020B0604020202020204" pitchFamily="34" charset="0"/>
              </a:rPr>
              <a:t>d) with respect to unary operation –</a:t>
            </a:r>
          </a:p>
          <a:p>
            <a:pPr algn="just"/>
            <a:endParaRPr lang="en-US" sz="2400" b="1" dirty="0">
              <a:latin typeface="Century Gothic" panose="020B0502020202020204" pitchFamily="34" charset="0"/>
              <a:cs typeface="Arial" panose="020B0604020202020204" pitchFamily="34" charset="0"/>
            </a:endParaRPr>
          </a:p>
          <a:p>
            <a:pPr algn="just"/>
            <a:endParaRPr lang="en-US" sz="2400" b="1" dirty="0">
              <a:latin typeface="Century Gothic" panose="020B0502020202020204" pitchFamily="34" charset="0"/>
              <a:cs typeface="Arial" panose="020B0604020202020204" pitchFamily="34" charset="0"/>
            </a:endParaRPr>
          </a:p>
          <a:p>
            <a:pPr algn="just"/>
            <a:r>
              <a:rPr lang="en-US" sz="2400" b="1" dirty="0">
                <a:latin typeface="Century Gothic" panose="020B0502020202020204" pitchFamily="34" charset="0"/>
                <a:cs typeface="Arial" panose="020B0604020202020204" pitchFamily="34" charset="0"/>
              </a:rPr>
              <a:t>Answer: a).</a:t>
            </a:r>
          </a:p>
          <a:p>
            <a:pPr algn="just"/>
            <a:endParaRPr lang="en-US" sz="2400" b="1" dirty="0">
              <a:latin typeface="Century Gothic" panose="020B0502020202020204" pitchFamily="34" charset="0"/>
              <a:cs typeface="Arial" panose="020B0604020202020204" pitchFamily="34" charset="0"/>
            </a:endParaRPr>
          </a:p>
          <a:p>
            <a:pPr algn="just"/>
            <a:r>
              <a:rPr lang="en-US" sz="2400" dirty="0">
                <a:latin typeface="Century Gothic" panose="020B0502020202020204" pitchFamily="34" charset="0"/>
                <a:cs typeface="Arial" panose="020B0604020202020204" pitchFamily="34" charset="0"/>
              </a:rPr>
              <a:t>Explanation: A non empty set A is called an algebraic structure w.r.t binary operation “*” if (a*b) belongs to S for all (a*b) belongs to S. Therefore “*” is closure operation on </a:t>
            </a:r>
            <a:r>
              <a:rPr lang="en-US" sz="2400" b="1" dirty="0">
                <a:latin typeface="Century Gothic" panose="020B0502020202020204" pitchFamily="34" charset="0"/>
                <a:cs typeface="Arial" panose="020B0604020202020204" pitchFamily="34" charset="0"/>
              </a:rPr>
              <a:t>‘A’.</a:t>
            </a:r>
          </a:p>
        </p:txBody>
      </p:sp>
    </p:spTree>
    <p:extLst>
      <p:ext uri="{BB962C8B-B14F-4D97-AF65-F5344CB8AC3E}">
        <p14:creationId xmlns:p14="http://schemas.microsoft.com/office/powerpoint/2010/main" val="22004011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animEffect transition="in" filter="wipe(left)">
                                      <p:cBhvr>
                                        <p:cTn id="17" dur="500"/>
                                        <p:tgtEl>
                                          <p:spTgt spid="2">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7" end="7"/>
                                            </p:txEl>
                                          </p:spTgt>
                                        </p:tgtEl>
                                        <p:attrNameLst>
                                          <p:attrName>style.visibility</p:attrName>
                                        </p:attrNameLst>
                                      </p:cBhvr>
                                      <p:to>
                                        <p:strVal val="visible"/>
                                      </p:to>
                                    </p:set>
                                    <p:animEffect transition="in" filter="wipe(left)">
                                      <p:cBhvr>
                                        <p:cTn id="2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4034735" y="424843"/>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- 2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6253" y="1609437"/>
            <a:ext cx="10652948" cy="489364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b="1" dirty="0">
                <a:latin typeface="Century Gothic" panose="020B0502020202020204" pitchFamily="34" charset="0"/>
                <a:cs typeface="Arial" panose="020B0604020202020204" pitchFamily="34" charset="0"/>
              </a:rPr>
              <a:t>State True or false:</a:t>
            </a:r>
          </a:p>
          <a:p>
            <a:pPr algn="just"/>
            <a:endParaRPr lang="en-US" sz="2400" b="1" dirty="0">
              <a:latin typeface="Century Gothic" panose="020B0502020202020204" pitchFamily="34" charset="0"/>
              <a:cs typeface="Arial" panose="020B0604020202020204" pitchFamily="34" charset="0"/>
            </a:endParaRPr>
          </a:p>
          <a:p>
            <a:pPr algn="just"/>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Subtraction is a binary operation on Z, the set of integers.</a:t>
            </a:r>
          </a:p>
          <a:p>
            <a:pPr algn="just"/>
            <a:r>
              <a:rPr lang="en-US" sz="2400" dirty="0">
                <a:latin typeface="Century Gothic" panose="020B0502020202020204" pitchFamily="34" charset="0"/>
                <a:cs typeface="Arial" panose="020B0604020202020204" pitchFamily="34" charset="0"/>
              </a:rPr>
              <a:t>ii) Subtraction is a binary operation on N, the set of natural numbers.</a:t>
            </a:r>
          </a:p>
          <a:p>
            <a:pPr algn="just"/>
            <a:r>
              <a:rPr lang="en-US" sz="2400" dirty="0">
                <a:latin typeface="Century Gothic" panose="020B0502020202020204" pitchFamily="34" charset="0"/>
                <a:cs typeface="Arial" panose="020B0604020202020204" pitchFamily="34" charset="0"/>
              </a:rPr>
              <a:t>iii) Addition is a binary operation on Z, the set of integers.</a:t>
            </a:r>
          </a:p>
          <a:p>
            <a:pPr marL="457189" indent="-457189" algn="just">
              <a:buFont typeface="+mj-lt"/>
              <a:buAutoNum type="alphaUcPeriod"/>
            </a:pPr>
            <a:endParaRPr lang="en-US" sz="2400" dirty="0">
              <a:latin typeface="Century Gothic" panose="020B0502020202020204" pitchFamily="34" charset="0"/>
              <a:cs typeface="Arial" panose="020B0604020202020204" pitchFamily="34" charset="0"/>
            </a:endParaRPr>
          </a:p>
          <a:p>
            <a:pPr algn="just"/>
            <a:endParaRPr lang="en-US" sz="2400" b="1" dirty="0">
              <a:latin typeface="Century Gothic" panose="020B0502020202020204" pitchFamily="34" charset="0"/>
              <a:cs typeface="Arial" panose="020B0604020202020204" pitchFamily="34" charset="0"/>
            </a:endParaRPr>
          </a:p>
          <a:p>
            <a:pPr algn="just"/>
            <a:endParaRPr lang="en-US" sz="2400" b="1" dirty="0">
              <a:latin typeface="Century Gothic" panose="020B0502020202020204" pitchFamily="34" charset="0"/>
              <a:cs typeface="Arial" panose="020B0604020202020204" pitchFamily="34" charset="0"/>
            </a:endParaRPr>
          </a:p>
          <a:p>
            <a:pPr algn="just"/>
            <a:r>
              <a:rPr lang="en-US" sz="2400" b="1" dirty="0">
                <a:latin typeface="Century Gothic" panose="020B0502020202020204" pitchFamily="34" charset="0"/>
                <a:cs typeface="Arial" panose="020B0604020202020204" pitchFamily="34" charset="0"/>
              </a:rPr>
              <a:t>Answer:</a:t>
            </a:r>
          </a:p>
          <a:p>
            <a:pPr algn="just"/>
            <a:endParaRPr lang="en-US" sz="2400" b="1" dirty="0">
              <a:latin typeface="Century Gothic" panose="020B0502020202020204" pitchFamily="34" charset="0"/>
              <a:cs typeface="Arial" panose="020B0604020202020204" pitchFamily="34" charset="0"/>
            </a:endParaRPr>
          </a:p>
          <a:p>
            <a:pPr algn="just"/>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(True)</a:t>
            </a:r>
          </a:p>
          <a:p>
            <a:pPr algn="just"/>
            <a:r>
              <a:rPr lang="en-US" sz="2400" dirty="0">
                <a:latin typeface="Century Gothic" panose="020B0502020202020204" pitchFamily="34" charset="0"/>
                <a:cs typeface="Arial" panose="020B0604020202020204" pitchFamily="34" charset="0"/>
              </a:rPr>
              <a:t>ii) (False)</a:t>
            </a:r>
          </a:p>
          <a:p>
            <a:pPr algn="just"/>
            <a:r>
              <a:rPr lang="en-US" sz="2400" dirty="0">
                <a:latin typeface="Century Gothic" panose="020B0502020202020204" pitchFamily="34" charset="0"/>
                <a:cs typeface="Arial" panose="020B0604020202020204" pitchFamily="34" charset="0"/>
              </a:rPr>
              <a:t>iii) (True)</a:t>
            </a:r>
          </a:p>
        </p:txBody>
      </p:sp>
    </p:spTree>
    <p:extLst>
      <p:ext uri="{BB962C8B-B14F-4D97-AF65-F5344CB8AC3E}">
        <p14:creationId xmlns:p14="http://schemas.microsoft.com/office/powerpoint/2010/main" val="16252261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left)">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wipe(left)">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animEffect transition="in" filter="wipe(left)">
                                      <p:cBhvr>
                                        <p:cTn id="27" dur="500"/>
                                        <p:tgtEl>
                                          <p:spTgt spid="2">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10" end="10"/>
                                            </p:txEl>
                                          </p:spTgt>
                                        </p:tgtEl>
                                        <p:attrNameLst>
                                          <p:attrName>style.visibility</p:attrName>
                                        </p:attrNameLst>
                                      </p:cBhvr>
                                      <p:to>
                                        <p:strVal val="visible"/>
                                      </p:to>
                                    </p:set>
                                    <p:animEffect transition="in" filter="wipe(left)">
                                      <p:cBhvr>
                                        <p:cTn id="32" dur="500"/>
                                        <p:tgtEl>
                                          <p:spTgt spid="2">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xEl>
                                              <p:pRg st="11" end="11"/>
                                            </p:txEl>
                                          </p:spTgt>
                                        </p:tgtEl>
                                        <p:attrNameLst>
                                          <p:attrName>style.visibility</p:attrName>
                                        </p:attrNameLst>
                                      </p:cBhvr>
                                      <p:to>
                                        <p:strVal val="visible"/>
                                      </p:to>
                                    </p:set>
                                    <p:animEffect transition="in" filter="wipe(left)">
                                      <p:cBhvr>
                                        <p:cTn id="37" dur="500"/>
                                        <p:tgtEl>
                                          <p:spTgt spid="2">
                                            <p:txEl>
                                              <p:pRg st="11"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txEl>
                                              <p:pRg st="12" end="12"/>
                                            </p:txEl>
                                          </p:spTgt>
                                        </p:tgtEl>
                                        <p:attrNameLst>
                                          <p:attrName>style.visibility</p:attrName>
                                        </p:attrNameLst>
                                      </p:cBhvr>
                                      <p:to>
                                        <p:strVal val="visible"/>
                                      </p:to>
                                    </p:set>
                                    <p:animEffect transition="in" filter="wipe(left)">
                                      <p:cBhvr>
                                        <p:cTn id="42"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304589-BD54-45D9-A84C-DE8A3A67047B}"/>
              </a:ext>
            </a:extLst>
          </p:cNvPr>
          <p:cNvSpPr txBox="1"/>
          <p:nvPr/>
        </p:nvSpPr>
        <p:spPr>
          <a:xfrm>
            <a:off x="4470400" y="2514600"/>
            <a:ext cx="3352800" cy="2062296"/>
          </a:xfrm>
          <a:prstGeom prst="rect">
            <a:avLst/>
          </a:prstGeom>
          <a:noFill/>
        </p:spPr>
        <p:txBody>
          <a:bodyPr wrap="square" rtlCol="0">
            <a:spAutoFit/>
          </a:bodyPr>
          <a:lstStyle/>
          <a:p>
            <a:pPr algn="ctr"/>
            <a:r>
              <a:rPr lang="en-IN" sz="4267" b="1" dirty="0">
                <a:solidFill>
                  <a:srgbClr val="00B0F0"/>
                </a:solidFill>
                <a:latin typeface="Century Gothic" panose="020B0502020202020204" pitchFamily="34" charset="0"/>
              </a:rPr>
              <a:t>Properties of Binary Operations</a:t>
            </a:r>
          </a:p>
        </p:txBody>
      </p:sp>
    </p:spTree>
    <p:extLst>
      <p:ext uri="{BB962C8B-B14F-4D97-AF65-F5344CB8AC3E}">
        <p14:creationId xmlns:p14="http://schemas.microsoft.com/office/powerpoint/2010/main" val="250262207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Box 5">
            <a:extLst>
              <a:ext uri="{FF2B5EF4-FFF2-40B4-BE49-F238E27FC236}">
                <a16:creationId xmlns:a16="http://schemas.microsoft.com/office/drawing/2014/main" id="{1C431252-F32E-46E0-A950-66230590C2C7}"/>
              </a:ext>
            </a:extLst>
          </p:cNvPr>
          <p:cNvSpPr txBox="1">
            <a:spLocks noChangeArrowheads="1"/>
          </p:cNvSpPr>
          <p:nvPr/>
        </p:nvSpPr>
        <p:spPr bwMode="auto">
          <a:xfrm>
            <a:off x="1422400" y="3810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solidFill>
                  <a:srgbClr val="C00000"/>
                </a:solidFill>
                <a:latin typeface="Calibri" panose="020F0502020204030204" pitchFamily="34" charset="0"/>
              </a:rPr>
              <a:t>Algebraic Structure</a:t>
            </a:r>
          </a:p>
        </p:txBody>
      </p:sp>
      <p:sp>
        <p:nvSpPr>
          <p:cNvPr id="117763" name="Text Box 3">
            <a:extLst>
              <a:ext uri="{FF2B5EF4-FFF2-40B4-BE49-F238E27FC236}">
                <a16:creationId xmlns:a16="http://schemas.microsoft.com/office/drawing/2014/main" id="{CB306C80-8951-467C-919D-B431264A52B0}"/>
              </a:ext>
            </a:extLst>
          </p:cNvPr>
          <p:cNvSpPr txBox="1">
            <a:spLocks noChangeArrowheads="1"/>
          </p:cNvSpPr>
          <p:nvPr/>
        </p:nvSpPr>
        <p:spPr bwMode="auto">
          <a:xfrm>
            <a:off x="2209801" y="2130426"/>
            <a:ext cx="794067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A non –empty set together with one or more than one binary  operations is</a:t>
            </a:r>
          </a:p>
          <a:p>
            <a:r>
              <a:rPr lang="en-US" altLang="en-US"/>
              <a:t>called algebraic structure.</a:t>
            </a:r>
          </a:p>
          <a:p>
            <a:endParaRPr lang="en-US" altLang="en-US"/>
          </a:p>
          <a:p>
            <a:r>
              <a:rPr lang="en-US" altLang="en-US"/>
              <a:t>For example,    (N, +), (Z, +), (R, +, .) are all algebraic structure.</a:t>
            </a:r>
          </a:p>
          <a:p>
            <a:endParaRPr lang="en-US" altLang="en-US"/>
          </a:p>
          <a:p>
            <a:r>
              <a:rPr lang="en-US" altLang="en-US"/>
              <a:t>Obviously addition and multiplication are both binary operations on the set R</a:t>
            </a:r>
          </a:p>
          <a:p>
            <a:r>
              <a:rPr lang="en-US" altLang="en-US"/>
              <a:t>of real numbers. Therefore (R, +, .) is an algebraic structure equipped with two operations.</a:t>
            </a:r>
            <a:endParaRPr lang="el-GR" altLang="en-US">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6" name="TextBox 5">
            <a:extLst>
              <a:ext uri="{FF2B5EF4-FFF2-40B4-BE49-F238E27FC236}">
                <a16:creationId xmlns:a16="http://schemas.microsoft.com/office/drawing/2014/main" id="{6CB87B66-376B-4C4F-B952-8AA2233F1173}"/>
              </a:ext>
            </a:extLst>
          </p:cNvPr>
          <p:cNvSpPr txBox="1">
            <a:spLocks noChangeArrowheads="1"/>
          </p:cNvSpPr>
          <p:nvPr/>
        </p:nvSpPr>
        <p:spPr bwMode="auto">
          <a:xfrm>
            <a:off x="13208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Laws of Binary Operations</a:t>
            </a:r>
          </a:p>
        </p:txBody>
      </p:sp>
      <p:sp>
        <p:nvSpPr>
          <p:cNvPr id="100357" name="Text Box 5">
            <a:extLst>
              <a:ext uri="{FF2B5EF4-FFF2-40B4-BE49-F238E27FC236}">
                <a16:creationId xmlns:a16="http://schemas.microsoft.com/office/drawing/2014/main" id="{7F266504-3EB1-4C00-808B-242A4D903EA7}"/>
              </a:ext>
            </a:extLst>
          </p:cNvPr>
          <p:cNvSpPr txBox="1">
            <a:spLocks noChangeArrowheads="1"/>
          </p:cNvSpPr>
          <p:nvPr/>
        </p:nvSpPr>
        <p:spPr bwMode="auto">
          <a:xfrm>
            <a:off x="2346325" y="2619375"/>
            <a:ext cx="79406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b="1"/>
              <a:t>Associative Law</a:t>
            </a:r>
            <a:r>
              <a:rPr lang="en-US" altLang="en-US"/>
              <a:t> – A binary operation * on a set S is said to be associative or to satisfy associate property, if and only if, for any elements a,b,c </a:t>
            </a:r>
            <a:r>
              <a:rPr lang="el-GR" altLang="en-US">
                <a:cs typeface="Arial" panose="020B0604020202020204" pitchFamily="34" charset="0"/>
              </a:rPr>
              <a:t>ϵ</a:t>
            </a:r>
            <a:r>
              <a:rPr lang="en-US" altLang="en-US">
                <a:cs typeface="Arial" panose="020B0604020202020204" pitchFamily="34" charset="0"/>
              </a:rPr>
              <a:t> S</a:t>
            </a:r>
          </a:p>
          <a:p>
            <a:endParaRPr lang="en-US" altLang="en-US">
              <a:cs typeface="Arial" panose="020B0604020202020204" pitchFamily="34" charset="0"/>
            </a:endParaRPr>
          </a:p>
          <a:p>
            <a:pPr algn="ctr"/>
            <a:r>
              <a:rPr lang="en-US" altLang="en-US">
                <a:cs typeface="Arial" panose="020B0604020202020204" pitchFamily="34" charset="0"/>
              </a:rPr>
              <a:t>a* (b* c) = (a*b) * c.</a:t>
            </a:r>
            <a:endParaRPr lang="el-GR" altLang="en-US">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extBox 5">
            <a:extLst>
              <a:ext uri="{FF2B5EF4-FFF2-40B4-BE49-F238E27FC236}">
                <a16:creationId xmlns:a16="http://schemas.microsoft.com/office/drawing/2014/main" id="{3F90D49A-000F-4B87-8BCD-521A70AC98F7}"/>
              </a:ext>
            </a:extLst>
          </p:cNvPr>
          <p:cNvSpPr txBox="1">
            <a:spLocks noChangeArrowheads="1"/>
          </p:cNvSpPr>
          <p:nvPr/>
        </p:nvSpPr>
        <p:spPr bwMode="auto">
          <a:xfrm>
            <a:off x="1320800" y="3810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Laws of Binary Operations</a:t>
            </a:r>
          </a:p>
        </p:txBody>
      </p:sp>
      <p:sp>
        <p:nvSpPr>
          <p:cNvPr id="118788" name="Text Box 4">
            <a:extLst>
              <a:ext uri="{FF2B5EF4-FFF2-40B4-BE49-F238E27FC236}">
                <a16:creationId xmlns:a16="http://schemas.microsoft.com/office/drawing/2014/main" id="{95F756F6-E30A-4FFB-97D7-C92E470AC3C4}"/>
              </a:ext>
            </a:extLst>
          </p:cNvPr>
          <p:cNvSpPr txBox="1">
            <a:spLocks noChangeArrowheads="1"/>
          </p:cNvSpPr>
          <p:nvPr/>
        </p:nvSpPr>
        <p:spPr bwMode="auto">
          <a:xfrm>
            <a:off x="2422525" y="2209800"/>
            <a:ext cx="794067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Commutative Law – A binary operation * on the element of the set S is commutative or to satisfy commutative property, if and only if, for any two elements a,b </a:t>
            </a:r>
            <a:r>
              <a:rPr lang="el-GR" altLang="en-US">
                <a:cs typeface="Arial" panose="020B0604020202020204" pitchFamily="34" charset="0"/>
              </a:rPr>
              <a:t>ϵ</a:t>
            </a:r>
            <a:r>
              <a:rPr lang="en-US" altLang="en-US">
                <a:cs typeface="Arial" panose="020B0604020202020204" pitchFamily="34" charset="0"/>
              </a:rPr>
              <a:t> S</a:t>
            </a:r>
          </a:p>
          <a:p>
            <a:endParaRPr lang="en-US" altLang="en-US">
              <a:cs typeface="Arial" panose="020B0604020202020204" pitchFamily="34" charset="0"/>
            </a:endParaRPr>
          </a:p>
          <a:p>
            <a:pPr algn="ctr"/>
            <a:r>
              <a:rPr lang="en-US" altLang="en-US">
                <a:cs typeface="Arial" panose="020B0604020202020204" pitchFamily="34" charset="0"/>
              </a:rPr>
              <a:t>a* b = b * a.</a:t>
            </a:r>
            <a:endParaRPr lang="el-GR" altLang="en-US">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Box 5">
            <a:extLst>
              <a:ext uri="{FF2B5EF4-FFF2-40B4-BE49-F238E27FC236}">
                <a16:creationId xmlns:a16="http://schemas.microsoft.com/office/drawing/2014/main" id="{E578DC2A-29EA-45D5-B18F-9A058274899A}"/>
              </a:ext>
            </a:extLst>
          </p:cNvPr>
          <p:cNvSpPr txBox="1">
            <a:spLocks noChangeArrowheads="1"/>
          </p:cNvSpPr>
          <p:nvPr/>
        </p:nvSpPr>
        <p:spPr bwMode="auto">
          <a:xfrm>
            <a:off x="1320800" y="3810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Example 1</a:t>
            </a:r>
          </a:p>
        </p:txBody>
      </p:sp>
      <p:sp>
        <p:nvSpPr>
          <p:cNvPr id="101379" name="Text Box 3">
            <a:extLst>
              <a:ext uri="{FF2B5EF4-FFF2-40B4-BE49-F238E27FC236}">
                <a16:creationId xmlns:a16="http://schemas.microsoft.com/office/drawing/2014/main" id="{5E1451C9-815F-407D-8DA6-C5EA10071D30}"/>
              </a:ext>
            </a:extLst>
          </p:cNvPr>
          <p:cNvSpPr txBox="1">
            <a:spLocks noChangeArrowheads="1"/>
          </p:cNvSpPr>
          <p:nvPr/>
        </p:nvSpPr>
        <p:spPr bwMode="auto">
          <a:xfrm>
            <a:off x="2209801" y="2314576"/>
            <a:ext cx="79406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The algebraic structure (Z, +) , (Z, .), where the binary operations of addition and multiplication on Z are both associative and commutative since addition and multiplication of integer is both associative and commutative.</a:t>
            </a:r>
            <a:endParaRPr lang="en-US" altLang="en-US">
              <a:cs typeface="Arial" panose="020B0604020202020204" pitchFamily="34" charset="0"/>
            </a:endParaRPr>
          </a:p>
          <a:p>
            <a:endParaRPr lang="en-US" altLang="en-US">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Box 5">
            <a:extLst>
              <a:ext uri="{FF2B5EF4-FFF2-40B4-BE49-F238E27FC236}">
                <a16:creationId xmlns:a16="http://schemas.microsoft.com/office/drawing/2014/main" id="{E1ADEA2E-3291-40EF-A488-44FC8BC37348}"/>
              </a:ext>
            </a:extLst>
          </p:cNvPr>
          <p:cNvSpPr txBox="1">
            <a:spLocks noChangeArrowheads="1"/>
          </p:cNvSpPr>
          <p:nvPr/>
        </p:nvSpPr>
        <p:spPr bwMode="auto">
          <a:xfrm>
            <a:off x="1422400" y="3810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Example 2</a:t>
            </a:r>
          </a:p>
        </p:txBody>
      </p:sp>
      <p:sp>
        <p:nvSpPr>
          <p:cNvPr id="102403" name="Text Box 3">
            <a:extLst>
              <a:ext uri="{FF2B5EF4-FFF2-40B4-BE49-F238E27FC236}">
                <a16:creationId xmlns:a16="http://schemas.microsoft.com/office/drawing/2014/main" id="{273F41AF-604C-4EF4-974F-E270C4F8BD5A}"/>
              </a:ext>
            </a:extLst>
          </p:cNvPr>
          <p:cNvSpPr txBox="1">
            <a:spLocks noChangeArrowheads="1"/>
          </p:cNvSpPr>
          <p:nvPr/>
        </p:nvSpPr>
        <p:spPr bwMode="auto">
          <a:xfrm>
            <a:off x="2125663" y="1803401"/>
            <a:ext cx="794067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dirty="0"/>
              <a:t>Let M</a:t>
            </a:r>
            <a:r>
              <a:rPr lang="en-US" altLang="en-US" baseline="-25000" dirty="0"/>
              <a:t>2</a:t>
            </a:r>
            <a:r>
              <a:rPr lang="en-US" altLang="en-US" dirty="0"/>
              <a:t> (R) be the set of all 2 x 2 matrices over R </a:t>
            </a:r>
          </a:p>
          <a:p>
            <a:pPr algn="ctr"/>
            <a:endParaRPr lang="en-US" altLang="en-US" dirty="0"/>
          </a:p>
          <a:p>
            <a:r>
              <a:rPr lang="en-US" altLang="en-US" dirty="0">
                <a:cs typeface="Arial" panose="020B0604020202020204" pitchFamily="34" charset="0"/>
              </a:rPr>
              <a:t>Since addition and multiplication of 2x2 matrices over R is a 2x2 matrix over R, it follows that both + and . are binary operation </a:t>
            </a:r>
            <a:r>
              <a:rPr lang="en-US" altLang="en-US" dirty="0" err="1">
                <a:cs typeface="Arial" panose="020B0604020202020204" pitchFamily="34" charset="0"/>
              </a:rPr>
              <a:t>ons</a:t>
            </a:r>
            <a:r>
              <a:rPr lang="en-US" altLang="en-US" dirty="0">
                <a:cs typeface="Arial" panose="020B0604020202020204" pitchFamily="34" charset="0"/>
              </a:rPr>
              <a:t> </a:t>
            </a:r>
            <a:r>
              <a:rPr lang="en-US" altLang="en-US" dirty="0"/>
              <a:t>M</a:t>
            </a:r>
            <a:r>
              <a:rPr lang="en-US" altLang="en-US" baseline="-25000" dirty="0"/>
              <a:t>2</a:t>
            </a:r>
            <a:r>
              <a:rPr lang="en-US" altLang="en-US" dirty="0"/>
              <a:t> (R). Hence </a:t>
            </a:r>
          </a:p>
          <a:p>
            <a:r>
              <a:rPr lang="en-US" altLang="en-US" dirty="0"/>
              <a:t>(M</a:t>
            </a:r>
            <a:r>
              <a:rPr lang="en-US" altLang="en-US" baseline="-25000" dirty="0"/>
              <a:t>2</a:t>
            </a:r>
            <a:r>
              <a:rPr lang="en-US" altLang="en-US" dirty="0"/>
              <a:t> (R), +,.) is a algebraic structure. Note that + is both associative and commutative and . is associative, both not commutative. </a:t>
            </a:r>
            <a:endParaRPr lang="en-US" altLang="en-US" dirty="0">
              <a:cs typeface="Arial" panose="020B0604020202020204" pitchFamily="34" charset="0"/>
            </a:endParaRPr>
          </a:p>
          <a:p>
            <a:endParaRPr lang="en-US" altLang="en-US" dirty="0">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Box 5">
            <a:extLst>
              <a:ext uri="{FF2B5EF4-FFF2-40B4-BE49-F238E27FC236}">
                <a16:creationId xmlns:a16="http://schemas.microsoft.com/office/drawing/2014/main" id="{3C9E46A8-8D76-4F02-82F6-A3A563F02B3A}"/>
              </a:ext>
            </a:extLst>
          </p:cNvPr>
          <p:cNvSpPr txBox="1">
            <a:spLocks noChangeArrowheads="1"/>
          </p:cNvSpPr>
          <p:nvPr/>
        </p:nvSpPr>
        <p:spPr bwMode="auto">
          <a:xfrm>
            <a:off x="1524000" y="4826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Example 3</a:t>
            </a:r>
          </a:p>
        </p:txBody>
      </p:sp>
      <p:sp>
        <p:nvSpPr>
          <p:cNvPr id="103427" name="Text Box 3">
            <a:extLst>
              <a:ext uri="{FF2B5EF4-FFF2-40B4-BE49-F238E27FC236}">
                <a16:creationId xmlns:a16="http://schemas.microsoft.com/office/drawing/2014/main" id="{BEB057CA-B248-40BF-A68A-18BFF08053B6}"/>
              </a:ext>
            </a:extLst>
          </p:cNvPr>
          <p:cNvSpPr txBox="1">
            <a:spLocks noChangeArrowheads="1"/>
          </p:cNvSpPr>
          <p:nvPr/>
        </p:nvSpPr>
        <p:spPr bwMode="auto">
          <a:xfrm>
            <a:off x="2209801" y="2314576"/>
            <a:ext cx="794067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The algebraic structure (Z, -) where – denote the binary operation of subtraction on Z is neither associative nor commutative since </a:t>
            </a:r>
          </a:p>
          <a:p>
            <a:endParaRPr lang="en-US" altLang="en-US"/>
          </a:p>
          <a:p>
            <a:pPr algn="ctr"/>
            <a:r>
              <a:rPr lang="en-US" altLang="en-US">
                <a:cs typeface="Arial" panose="020B0604020202020204" pitchFamily="34" charset="0"/>
              </a:rPr>
              <a:t>3-(4-5) = 4 ≠ -6 = (3-4)-5</a:t>
            </a:r>
          </a:p>
          <a:p>
            <a:pPr algn="ctr"/>
            <a:endParaRPr lang="en-US" altLang="en-US">
              <a:cs typeface="Arial" panose="020B0604020202020204" pitchFamily="34" charset="0"/>
            </a:endParaRPr>
          </a:p>
          <a:p>
            <a:pPr algn="ctr"/>
            <a:r>
              <a:rPr lang="en-US" altLang="en-US">
                <a:cs typeface="Arial" panose="020B0604020202020204" pitchFamily="34" charset="0"/>
              </a:rPr>
              <a:t>And also 3-4 ≠ 4-3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Box 5">
            <a:extLst>
              <a:ext uri="{FF2B5EF4-FFF2-40B4-BE49-F238E27FC236}">
                <a16:creationId xmlns:a16="http://schemas.microsoft.com/office/drawing/2014/main" id="{09822BED-FA53-4196-AD2C-9804BC553B1C}"/>
              </a:ext>
            </a:extLst>
          </p:cNvPr>
          <p:cNvSpPr txBox="1">
            <a:spLocks noChangeArrowheads="1"/>
          </p:cNvSpPr>
          <p:nvPr/>
        </p:nvSpPr>
        <p:spPr bwMode="auto">
          <a:xfrm>
            <a:off x="1422400" y="32688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solidFill>
                  <a:srgbClr val="C00000"/>
                </a:solidFill>
                <a:latin typeface="Calibri" panose="020F0502020204030204" pitchFamily="34" charset="0"/>
              </a:rPr>
              <a:t>Identity Element</a:t>
            </a:r>
          </a:p>
        </p:txBody>
      </p:sp>
      <p:sp>
        <p:nvSpPr>
          <p:cNvPr id="104451" name="Text Box 3">
            <a:extLst>
              <a:ext uri="{FF2B5EF4-FFF2-40B4-BE49-F238E27FC236}">
                <a16:creationId xmlns:a16="http://schemas.microsoft.com/office/drawing/2014/main" id="{D163584C-2861-4534-85EC-78CE2A4EF9C9}"/>
              </a:ext>
            </a:extLst>
          </p:cNvPr>
          <p:cNvSpPr txBox="1">
            <a:spLocks noChangeArrowheads="1"/>
          </p:cNvSpPr>
          <p:nvPr/>
        </p:nvSpPr>
        <p:spPr bwMode="auto">
          <a:xfrm>
            <a:off x="2125663" y="1566953"/>
            <a:ext cx="7940675"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dirty="0"/>
              <a:t>An element </a:t>
            </a:r>
            <a:r>
              <a:rPr lang="en-US" altLang="en-US" i="1" dirty="0"/>
              <a:t>e </a:t>
            </a:r>
            <a:r>
              <a:rPr lang="en-US" altLang="en-US" dirty="0"/>
              <a:t>in a set S is called an identity element with respect to the binary operation * it, for any element </a:t>
            </a:r>
            <a:r>
              <a:rPr lang="en-US" altLang="en-US" i="1" dirty="0"/>
              <a:t>a</a:t>
            </a:r>
            <a:r>
              <a:rPr lang="en-US" altLang="en-US" dirty="0"/>
              <a:t> in S</a:t>
            </a:r>
          </a:p>
          <a:p>
            <a:endParaRPr lang="en-US" altLang="en-US" dirty="0"/>
          </a:p>
          <a:p>
            <a:pPr algn="ctr"/>
            <a:r>
              <a:rPr lang="en-US" altLang="en-US" i="1" dirty="0">
                <a:cs typeface="Arial" panose="020B0604020202020204" pitchFamily="34" charset="0"/>
              </a:rPr>
              <a:t>a* e = e* a = a</a:t>
            </a:r>
          </a:p>
          <a:p>
            <a:pPr algn="ctr"/>
            <a:endParaRPr lang="en-US" altLang="en-US" i="1" dirty="0">
              <a:cs typeface="Arial" panose="020B0604020202020204" pitchFamily="34" charset="0"/>
            </a:endParaRPr>
          </a:p>
          <a:p>
            <a:r>
              <a:rPr lang="en-US" altLang="en-US" dirty="0">
                <a:cs typeface="Arial" panose="020B0604020202020204" pitchFamily="34" charset="0"/>
              </a:rPr>
              <a:t>If a * e, then e is called the </a:t>
            </a:r>
            <a:r>
              <a:rPr lang="en-US" altLang="en-US" b="1" dirty="0">
                <a:cs typeface="Arial" panose="020B0604020202020204" pitchFamily="34" charset="0"/>
              </a:rPr>
              <a:t>right identity</a:t>
            </a:r>
            <a:r>
              <a:rPr lang="en-US" altLang="en-US" dirty="0">
                <a:cs typeface="Arial" panose="020B0604020202020204" pitchFamily="34" charset="0"/>
              </a:rPr>
              <a:t> element for the operation * and if </a:t>
            </a:r>
          </a:p>
          <a:p>
            <a:r>
              <a:rPr lang="en-US" altLang="en-US" dirty="0">
                <a:cs typeface="Arial" panose="020B0604020202020204" pitchFamily="34" charset="0"/>
              </a:rPr>
              <a:t>e * a = a, then e is called </a:t>
            </a:r>
            <a:r>
              <a:rPr lang="en-US" altLang="en-US" b="1" dirty="0">
                <a:cs typeface="Arial" panose="020B0604020202020204" pitchFamily="34" charset="0"/>
              </a:rPr>
              <a:t>left identity</a:t>
            </a:r>
            <a:r>
              <a:rPr lang="en-US" altLang="en-US" dirty="0">
                <a:cs typeface="Arial" panose="020B0604020202020204" pitchFamily="34" charset="0"/>
              </a:rPr>
              <a:t> element for the operation *.</a:t>
            </a:r>
          </a:p>
          <a:p>
            <a:endParaRPr lang="en-US" altLang="en-US" dirty="0">
              <a:cs typeface="Arial" panose="020B0604020202020204" pitchFamily="34" charset="0"/>
            </a:endParaRPr>
          </a:p>
          <a:p>
            <a:r>
              <a:rPr lang="en-US" altLang="en-US" dirty="0">
                <a:cs typeface="Arial" panose="020B0604020202020204" pitchFamily="34" charset="0"/>
              </a:rPr>
              <a:t>Consider and element x of the set Q of rational number with respect to the binary operation addition. Obviously, 0 is the identity, element, since </a:t>
            </a:r>
          </a:p>
          <a:p>
            <a:endParaRPr lang="en-US" altLang="en-US" dirty="0">
              <a:cs typeface="Arial" panose="020B0604020202020204" pitchFamily="34" charset="0"/>
            </a:endParaRPr>
          </a:p>
          <a:p>
            <a:pPr algn="ctr"/>
            <a:r>
              <a:rPr lang="en-US" altLang="en-US" i="1" dirty="0">
                <a:cs typeface="Arial" panose="020B0604020202020204" pitchFamily="34" charset="0"/>
              </a:rPr>
              <a:t>0+x = x+0 = x</a:t>
            </a:r>
            <a:r>
              <a:rPr lang="en-US" altLang="en-US" dirty="0">
                <a:cs typeface="Arial" panose="020B0604020202020204" pitchFamily="34" charset="0"/>
              </a:rPr>
              <a:t>, for every x </a:t>
            </a:r>
            <a:r>
              <a:rPr lang="el-GR" altLang="en-US" dirty="0">
                <a:cs typeface="Arial" panose="020B0604020202020204" pitchFamily="34" charset="0"/>
              </a:rPr>
              <a:t>ϵ</a:t>
            </a:r>
            <a:r>
              <a:rPr lang="en-US" altLang="en-US" dirty="0">
                <a:cs typeface="Arial" panose="020B0604020202020204" pitchFamily="34" charset="0"/>
              </a:rPr>
              <a:t> Q.</a:t>
            </a:r>
            <a:endParaRPr lang="el-GR" altLang="en-US" dirty="0">
              <a:cs typeface="Arial" panose="020B0604020202020204" pitchFamily="34" charset="0"/>
            </a:endParaRPr>
          </a:p>
          <a:p>
            <a:endParaRPr lang="en-US" altLang="en-US" dirty="0">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Text Box 3">
            <a:extLst>
              <a:ext uri="{FF2B5EF4-FFF2-40B4-BE49-F238E27FC236}">
                <a16:creationId xmlns:a16="http://schemas.microsoft.com/office/drawing/2014/main" id="{1FE8101A-822A-4BB7-A7AC-88E8BDDA8C54}"/>
              </a:ext>
            </a:extLst>
          </p:cNvPr>
          <p:cNvSpPr txBox="1">
            <a:spLocks noChangeArrowheads="1"/>
          </p:cNvSpPr>
          <p:nvPr/>
        </p:nvSpPr>
        <p:spPr bwMode="auto">
          <a:xfrm>
            <a:off x="2209801" y="2314576"/>
            <a:ext cx="794067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ltLang="en-US">
              <a:cs typeface="Arial" panose="020B0604020202020204" pitchFamily="34" charset="0"/>
            </a:endParaRPr>
          </a:p>
          <a:p>
            <a:r>
              <a:rPr lang="en-US" altLang="en-US">
                <a:cs typeface="Arial" panose="020B0604020202020204" pitchFamily="34" charset="0"/>
              </a:rPr>
              <a:t>Consider and element x of the set Q of rational number with respect to the binary operation addition. Obviously, 0 is the identity, element, since </a:t>
            </a:r>
          </a:p>
          <a:p>
            <a:endParaRPr lang="en-US" altLang="en-US">
              <a:cs typeface="Arial" panose="020B0604020202020204" pitchFamily="34" charset="0"/>
            </a:endParaRPr>
          </a:p>
          <a:p>
            <a:pPr algn="ctr"/>
            <a:r>
              <a:rPr lang="en-US" altLang="en-US" i="1">
                <a:cs typeface="Arial" panose="020B0604020202020204" pitchFamily="34" charset="0"/>
              </a:rPr>
              <a:t>0+x = x+0 = x</a:t>
            </a:r>
            <a:r>
              <a:rPr lang="en-US" altLang="en-US">
                <a:cs typeface="Arial" panose="020B0604020202020204" pitchFamily="34" charset="0"/>
              </a:rPr>
              <a:t>, for every x </a:t>
            </a:r>
            <a:r>
              <a:rPr lang="el-GR" altLang="en-US">
                <a:cs typeface="Arial" panose="020B0604020202020204" pitchFamily="34" charset="0"/>
              </a:rPr>
              <a:t>ϵ</a:t>
            </a:r>
            <a:r>
              <a:rPr lang="en-US" altLang="en-US">
                <a:cs typeface="Arial" panose="020B0604020202020204" pitchFamily="34" charset="0"/>
              </a:rPr>
              <a:t> Q.</a:t>
            </a:r>
            <a:endParaRPr lang="el-GR" altLang="en-US">
              <a:cs typeface="Arial" panose="020B0604020202020204" pitchFamily="34" charset="0"/>
            </a:endParaRPr>
          </a:p>
          <a:p>
            <a:endParaRPr lang="en-US" altLang="en-US">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Text Box 3">
            <a:extLst>
              <a:ext uri="{FF2B5EF4-FFF2-40B4-BE49-F238E27FC236}">
                <a16:creationId xmlns:a16="http://schemas.microsoft.com/office/drawing/2014/main" id="{8EE2D312-322B-404C-AC84-584A3374ACD2}"/>
              </a:ext>
            </a:extLst>
          </p:cNvPr>
          <p:cNvSpPr txBox="1">
            <a:spLocks noChangeArrowheads="1"/>
          </p:cNvSpPr>
          <p:nvPr/>
        </p:nvSpPr>
        <p:spPr bwMode="auto">
          <a:xfrm>
            <a:off x="2209801" y="2054226"/>
            <a:ext cx="794067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1 is the identity element of Q for the binary operation multiplication, since </a:t>
            </a:r>
          </a:p>
          <a:p>
            <a:pPr algn="ctr"/>
            <a:r>
              <a:rPr lang="en-US" altLang="en-US"/>
              <a:t>1.x = x.1 = x , </a:t>
            </a:r>
            <a:r>
              <a:rPr lang="en-US" altLang="en-US">
                <a:cs typeface="Arial" panose="020B0604020202020204" pitchFamily="34" charset="0"/>
              </a:rPr>
              <a:t>for every x </a:t>
            </a:r>
            <a:r>
              <a:rPr lang="el-GR" altLang="en-US">
                <a:cs typeface="Arial" panose="020B0604020202020204" pitchFamily="34" charset="0"/>
              </a:rPr>
              <a:t>ϵ</a:t>
            </a:r>
            <a:r>
              <a:rPr lang="en-US" altLang="en-US">
                <a:cs typeface="Arial" panose="020B0604020202020204" pitchFamily="34" charset="0"/>
              </a:rPr>
              <a:t> Q.</a:t>
            </a:r>
          </a:p>
          <a:p>
            <a:endParaRPr lang="en-US" altLang="en-US">
              <a:cs typeface="Arial" panose="020B0604020202020204" pitchFamily="34" charset="0"/>
            </a:endParaRPr>
          </a:p>
          <a:p>
            <a:r>
              <a:rPr lang="en-US" altLang="en-US">
                <a:cs typeface="Arial" panose="020B0604020202020204" pitchFamily="34" charset="0"/>
              </a:rPr>
              <a:t>It is easily seen that for the set N of natural numbers there is no identity element for addition; but 1 is an identity element with respect of multiplication.</a:t>
            </a:r>
          </a:p>
          <a:p>
            <a:endParaRPr lang="el-GR" altLang="en-US">
              <a:cs typeface="Arial" panose="020B0604020202020204" pitchFamily="34" charset="0"/>
            </a:endParaRPr>
          </a:p>
          <a:p>
            <a:endParaRPr lang="en-US" altLang="en-US">
              <a:cs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Box 5">
            <a:extLst>
              <a:ext uri="{FF2B5EF4-FFF2-40B4-BE49-F238E27FC236}">
                <a16:creationId xmlns:a16="http://schemas.microsoft.com/office/drawing/2014/main" id="{A21F30A0-F67F-475D-B7BE-96BAECB84BA8}"/>
              </a:ext>
            </a:extLst>
          </p:cNvPr>
          <p:cNvSpPr txBox="1">
            <a:spLocks noChangeArrowheads="1"/>
          </p:cNvSpPr>
          <p:nvPr/>
        </p:nvSpPr>
        <p:spPr bwMode="auto">
          <a:xfrm>
            <a:off x="15240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Inverse Element</a:t>
            </a:r>
          </a:p>
        </p:txBody>
      </p:sp>
      <p:sp>
        <p:nvSpPr>
          <p:cNvPr id="109571" name="Text Box 3">
            <a:extLst>
              <a:ext uri="{FF2B5EF4-FFF2-40B4-BE49-F238E27FC236}">
                <a16:creationId xmlns:a16="http://schemas.microsoft.com/office/drawing/2014/main" id="{8F4F3A79-D0BA-486C-BB60-A509ED78C597}"/>
              </a:ext>
            </a:extLst>
          </p:cNvPr>
          <p:cNvSpPr txBox="1">
            <a:spLocks noChangeArrowheads="1"/>
          </p:cNvSpPr>
          <p:nvPr/>
        </p:nvSpPr>
        <p:spPr bwMode="auto">
          <a:xfrm>
            <a:off x="2209801" y="1905001"/>
            <a:ext cx="794067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Consider a set S having the identity element e with respects to the binary operation*. If corresponding to each element a </a:t>
            </a:r>
            <a:r>
              <a:rPr lang="el-GR" altLang="en-US">
                <a:cs typeface="Arial" panose="020B0604020202020204" pitchFamily="34" charset="0"/>
              </a:rPr>
              <a:t>ϵ</a:t>
            </a:r>
            <a:r>
              <a:rPr lang="en-US" altLang="en-US">
                <a:cs typeface="Arial" panose="020B0604020202020204" pitchFamily="34" charset="0"/>
              </a:rPr>
              <a:t> S there exists an element </a:t>
            </a:r>
          </a:p>
          <a:p>
            <a:r>
              <a:rPr lang="en-US" altLang="en-US">
                <a:cs typeface="Arial" panose="020B0604020202020204" pitchFamily="34" charset="0"/>
              </a:rPr>
              <a:t>b </a:t>
            </a:r>
            <a:r>
              <a:rPr lang="el-GR" altLang="en-US">
                <a:cs typeface="Arial" panose="020B0604020202020204" pitchFamily="34" charset="0"/>
              </a:rPr>
              <a:t>ϵ</a:t>
            </a:r>
            <a:r>
              <a:rPr lang="en-US" altLang="en-US">
                <a:cs typeface="Arial" panose="020B0604020202020204" pitchFamily="34" charset="0"/>
              </a:rPr>
              <a:t> S such that a * b = b* a = e</a:t>
            </a:r>
          </a:p>
          <a:p>
            <a:endParaRPr lang="en-US" altLang="en-US">
              <a:cs typeface="Arial" panose="020B0604020202020204" pitchFamily="34" charset="0"/>
            </a:endParaRPr>
          </a:p>
          <a:p>
            <a:r>
              <a:rPr lang="en-US" altLang="en-US">
                <a:cs typeface="Arial" panose="020B0604020202020204" pitchFamily="34" charset="0"/>
              </a:rPr>
              <a:t>Then b is said to be the inverse of a and is usually denote by a</a:t>
            </a:r>
            <a:r>
              <a:rPr lang="en-US" altLang="en-US" baseline="30000">
                <a:cs typeface="Arial" panose="020B0604020202020204" pitchFamily="34" charset="0"/>
              </a:rPr>
              <a:t>-1.</a:t>
            </a:r>
            <a:r>
              <a:rPr lang="en-US" altLang="en-US">
                <a:cs typeface="Arial" panose="020B0604020202020204" pitchFamily="34" charset="0"/>
              </a:rPr>
              <a:t> We say a is invertible. </a:t>
            </a:r>
          </a:p>
          <a:p>
            <a:endParaRPr lang="en-US" altLang="en-US">
              <a:cs typeface="Arial" panose="020B0604020202020204" pitchFamily="34" charset="0"/>
            </a:endParaRPr>
          </a:p>
          <a:p>
            <a:pPr algn="ctr"/>
            <a:endParaRPr lang="el-GR" altLang="en-US">
              <a:cs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8" name="Text Box 4">
            <a:extLst>
              <a:ext uri="{FF2B5EF4-FFF2-40B4-BE49-F238E27FC236}">
                <a16:creationId xmlns:a16="http://schemas.microsoft.com/office/drawing/2014/main" id="{88D8FFE4-2958-461E-8784-89A0B32184EA}"/>
              </a:ext>
            </a:extLst>
          </p:cNvPr>
          <p:cNvSpPr txBox="1">
            <a:spLocks noChangeArrowheads="1"/>
          </p:cNvSpPr>
          <p:nvPr/>
        </p:nvSpPr>
        <p:spPr bwMode="auto">
          <a:xfrm>
            <a:off x="2514602" y="1917701"/>
            <a:ext cx="730199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Consider the set R of real number which has 0 as the identity element</a:t>
            </a:r>
          </a:p>
          <a:p>
            <a:r>
              <a:rPr lang="en-US" altLang="en-US"/>
              <a:t> with respect to the binary operation addition. </a:t>
            </a:r>
          </a:p>
          <a:p>
            <a:r>
              <a:rPr lang="en-US" altLang="en-US"/>
              <a:t>Then, for any a </a:t>
            </a:r>
            <a:r>
              <a:rPr lang="el-GR" altLang="en-US"/>
              <a:t>ϵ</a:t>
            </a:r>
            <a:r>
              <a:rPr lang="en-US" altLang="en-US"/>
              <a:t> R, we see that</a:t>
            </a:r>
          </a:p>
          <a:p>
            <a:endParaRPr lang="en-US" altLang="en-US"/>
          </a:p>
          <a:p>
            <a:r>
              <a:rPr lang="en-US" altLang="en-US"/>
              <a:t>(-a) + a = a + (-a) = 0 </a:t>
            </a:r>
          </a:p>
          <a:p>
            <a:endParaRPr lang="en-US" altLang="en-US"/>
          </a:p>
          <a:p>
            <a:r>
              <a:rPr lang="en-US" altLang="en-US"/>
              <a:t>Thus, for any a of the real number ser, (-a) is its inverse. </a:t>
            </a:r>
          </a:p>
          <a:p>
            <a:r>
              <a:rPr lang="en-US" altLang="en-US"/>
              <a:t>This is called the </a:t>
            </a:r>
            <a:r>
              <a:rPr lang="en-US" altLang="en-US" b="1"/>
              <a:t>additive inverse</a:t>
            </a:r>
            <a:r>
              <a:rPr lang="en-US" altLang="en-US"/>
              <a:t>. </a:t>
            </a:r>
          </a:p>
          <a:p>
            <a:endParaRPr lang="en-US" altLang="en-US"/>
          </a:p>
          <a:p>
            <a:endParaRPr lang="en-US" altLang="en-US"/>
          </a:p>
          <a:p>
            <a:endParaRPr lang="en-I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Text Box 3">
            <a:extLst>
              <a:ext uri="{FF2B5EF4-FFF2-40B4-BE49-F238E27FC236}">
                <a16:creationId xmlns:a16="http://schemas.microsoft.com/office/drawing/2014/main" id="{5EE6EEE8-13D4-452B-B9A2-D22081C27948}"/>
              </a:ext>
            </a:extLst>
          </p:cNvPr>
          <p:cNvSpPr txBox="1">
            <a:spLocks noChangeArrowheads="1"/>
          </p:cNvSpPr>
          <p:nvPr/>
        </p:nvSpPr>
        <p:spPr bwMode="auto">
          <a:xfrm>
            <a:off x="2209801" y="1905000"/>
            <a:ext cx="794067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cs typeface="Arial" panose="020B0604020202020204" pitchFamily="34" charset="0"/>
              </a:rPr>
              <a:t>Similarly, for the set Q of rational numbers, 1 is the identity element for the binary operation of multiplication. Then, for any a </a:t>
            </a:r>
            <a:r>
              <a:rPr lang="el-GR" altLang="en-US">
                <a:cs typeface="Arial" panose="020B0604020202020204" pitchFamily="34" charset="0"/>
              </a:rPr>
              <a:t>ϵ</a:t>
            </a:r>
            <a:r>
              <a:rPr lang="en-US" altLang="en-US">
                <a:cs typeface="Arial" panose="020B0604020202020204" pitchFamily="34" charset="0"/>
              </a:rPr>
              <a:t> Q we see that</a:t>
            </a:r>
          </a:p>
          <a:p>
            <a:endParaRPr lang="en-US" altLang="en-US">
              <a:cs typeface="Arial" panose="020B0604020202020204" pitchFamily="34" charset="0"/>
            </a:endParaRPr>
          </a:p>
          <a:p>
            <a:pPr algn="ctr"/>
            <a:r>
              <a:rPr lang="en-US" altLang="en-US">
                <a:cs typeface="Arial" panose="020B0604020202020204" pitchFamily="34" charset="0"/>
              </a:rPr>
              <a:t>a . (1/a) = (1/a). a = 1.</a:t>
            </a:r>
          </a:p>
          <a:p>
            <a:pPr algn="ctr"/>
            <a:endParaRPr lang="en-US" altLang="en-US">
              <a:cs typeface="Arial" panose="020B0604020202020204" pitchFamily="34" charset="0"/>
            </a:endParaRPr>
          </a:p>
          <a:p>
            <a:r>
              <a:rPr lang="en-US" altLang="en-US">
                <a:cs typeface="Arial" panose="020B0604020202020204" pitchFamily="34" charset="0"/>
              </a:rPr>
              <a:t>Thus, for any a (non-zero) of the rational number set, its reciprocal is its inverse. This is called the </a:t>
            </a:r>
            <a:r>
              <a:rPr lang="en-US" altLang="en-US" b="1">
                <a:cs typeface="Arial" panose="020B0604020202020204" pitchFamily="34" charset="0"/>
              </a:rPr>
              <a:t>multiplicative inverse.</a:t>
            </a:r>
          </a:p>
          <a:p>
            <a:endParaRPr lang="en-US" altLang="en-US" b="1">
              <a:cs typeface="Arial" panose="020B0604020202020204" pitchFamily="34" charset="0"/>
            </a:endParaRPr>
          </a:p>
          <a:p>
            <a:r>
              <a:rPr lang="en-US" altLang="en-US">
                <a:cs typeface="Arial" panose="020B0604020202020204" pitchFamily="34" charset="0"/>
              </a:rPr>
              <a:t>Note that the inverse of the identity element is the identity element itself</a:t>
            </a:r>
            <a:endParaRPr lang="el-GR" altLang="en-US">
              <a:cs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4" name="Text Box 4">
            <a:extLst>
              <a:ext uri="{FF2B5EF4-FFF2-40B4-BE49-F238E27FC236}">
                <a16:creationId xmlns:a16="http://schemas.microsoft.com/office/drawing/2014/main" id="{8325D089-8B89-40C4-8C35-EEC18DF9CF86}"/>
              </a:ext>
            </a:extLst>
          </p:cNvPr>
          <p:cNvSpPr txBox="1">
            <a:spLocks noChangeArrowheads="1"/>
          </p:cNvSpPr>
          <p:nvPr/>
        </p:nvSpPr>
        <p:spPr bwMode="auto">
          <a:xfrm>
            <a:off x="2574925" y="2559051"/>
            <a:ext cx="677621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Note that while an identity element is same for all elements in S,</a:t>
            </a:r>
          </a:p>
          <a:p>
            <a:r>
              <a:rPr lang="en-US" altLang="en-US"/>
              <a:t>an inverse of an element x is determined by the given element x.</a:t>
            </a:r>
            <a:endParaRPr lang="en-I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1320800" y="1701800"/>
            <a:ext cx="8928637" cy="3416320"/>
          </a:xfrm>
          <a:prstGeom prst="rect">
            <a:avLst/>
          </a:prstGeom>
          <a:noFill/>
        </p:spPr>
        <p:txBody>
          <a:bodyPr wrap="square" rtlCol="0">
            <a:spAutoFit/>
          </a:bodyPr>
          <a:lstStyle/>
          <a:p>
            <a:pPr fontAlgn="base"/>
            <a:r>
              <a:rPr lang="en-US" sz="2400" dirty="0">
                <a:solidFill>
                  <a:srgbClr val="3A3A3A"/>
                </a:solidFill>
                <a:latin typeface="Open Sans"/>
              </a:rPr>
              <a:t>Matrix multiplication is a/an _________ property.</a:t>
            </a:r>
            <a:br>
              <a:rPr lang="en-US" sz="2400" dirty="0"/>
            </a:br>
            <a:r>
              <a:rPr lang="en-US" sz="2400" dirty="0">
                <a:solidFill>
                  <a:srgbClr val="3A3A3A"/>
                </a:solidFill>
                <a:latin typeface="Open Sans"/>
              </a:rPr>
              <a:t>a) Commutative</a:t>
            </a:r>
            <a:br>
              <a:rPr lang="en-US" sz="2400" dirty="0"/>
            </a:br>
            <a:r>
              <a:rPr lang="en-US" sz="2400" dirty="0">
                <a:solidFill>
                  <a:srgbClr val="3A3A3A"/>
                </a:solidFill>
                <a:latin typeface="Open Sans"/>
              </a:rPr>
              <a:t>b) Associative</a:t>
            </a:r>
            <a:br>
              <a:rPr lang="en-US" sz="2400" dirty="0"/>
            </a:br>
            <a:r>
              <a:rPr lang="en-US" sz="2400" dirty="0">
                <a:solidFill>
                  <a:srgbClr val="3A3A3A"/>
                </a:solidFill>
                <a:latin typeface="Open Sans"/>
              </a:rPr>
              <a:t>c) Additive</a:t>
            </a:r>
            <a:br>
              <a:rPr lang="en-US" sz="2400" dirty="0"/>
            </a:br>
            <a:r>
              <a:rPr lang="en-US" sz="2400" dirty="0">
                <a:solidFill>
                  <a:srgbClr val="3A3A3A"/>
                </a:solidFill>
                <a:latin typeface="Open Sans"/>
              </a:rPr>
              <a:t>d) Disjunctive</a:t>
            </a:r>
          </a:p>
          <a:p>
            <a:pPr fontAlgn="base"/>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a:t>
            </a:r>
          </a:p>
          <a:p>
            <a:pPr fontAlgn="base"/>
            <a:r>
              <a:rPr lang="en-IN" sz="2400" dirty="0">
                <a:latin typeface="Century Gothic" panose="020B0502020202020204" pitchFamily="34" charset="0"/>
                <a:cs typeface="Arial" panose="020B0604020202020204" pitchFamily="34" charset="0"/>
              </a:rPr>
              <a:t>ii</a:t>
            </a:r>
          </a:p>
          <a:p>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1</a:t>
            </a:r>
          </a:p>
        </p:txBody>
      </p:sp>
    </p:spTree>
    <p:extLst>
      <p:ext uri="{BB962C8B-B14F-4D97-AF65-F5344CB8AC3E}">
        <p14:creationId xmlns:p14="http://schemas.microsoft.com/office/powerpoint/2010/main" val="1944881770"/>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1219200" y="1295400"/>
            <a:ext cx="8928637" cy="4154984"/>
          </a:xfrm>
          <a:prstGeom prst="rect">
            <a:avLst/>
          </a:prstGeom>
          <a:noFill/>
        </p:spPr>
        <p:txBody>
          <a:bodyPr wrap="square" rtlCol="0">
            <a:spAutoFit/>
          </a:bodyPr>
          <a:lstStyle/>
          <a:p>
            <a:pPr fontAlgn="base"/>
            <a:r>
              <a:rPr lang="en-US" sz="2400" dirty="0"/>
              <a:t>The set of even natural numbers, {6, 8, 10, 12,..,} is closed under addition operation. Which of the following properties will it satisfy?</a:t>
            </a:r>
            <a:br>
              <a:rPr lang="en-US" sz="2400" dirty="0"/>
            </a:br>
            <a:r>
              <a:rPr lang="en-US" sz="2400" dirty="0"/>
              <a:t>a) closure property</a:t>
            </a:r>
            <a:br>
              <a:rPr lang="en-US" sz="2400" dirty="0"/>
            </a:br>
            <a:r>
              <a:rPr lang="en-US" sz="2400" dirty="0"/>
              <a:t>b) associative property</a:t>
            </a:r>
            <a:br>
              <a:rPr lang="en-US" sz="2400" dirty="0"/>
            </a:br>
            <a:r>
              <a:rPr lang="en-US" sz="2400" dirty="0"/>
              <a:t>c) symmetric property</a:t>
            </a:r>
            <a:br>
              <a:rPr lang="en-US" sz="2400" dirty="0"/>
            </a:br>
            <a:r>
              <a:rPr lang="en-US" sz="2400" dirty="0"/>
              <a:t>d) identity property</a:t>
            </a:r>
          </a:p>
          <a:p>
            <a:pPr fontAlgn="base"/>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a:t>
            </a:r>
          </a:p>
          <a:p>
            <a:pPr fontAlgn="base"/>
            <a:r>
              <a:rPr lang="en-US" sz="2400" dirty="0"/>
              <a:t>a</a:t>
            </a:r>
          </a:p>
          <a:p>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2</a:t>
            </a:r>
          </a:p>
        </p:txBody>
      </p:sp>
    </p:spTree>
    <p:extLst>
      <p:ext uri="{BB962C8B-B14F-4D97-AF65-F5344CB8AC3E}">
        <p14:creationId xmlns:p14="http://schemas.microsoft.com/office/powerpoint/2010/main" val="65677099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304589-BD54-45D9-A84C-DE8A3A67047B}"/>
              </a:ext>
            </a:extLst>
          </p:cNvPr>
          <p:cNvSpPr txBox="1"/>
          <p:nvPr/>
        </p:nvSpPr>
        <p:spPr>
          <a:xfrm>
            <a:off x="4470400" y="2514600"/>
            <a:ext cx="3352800" cy="2718949"/>
          </a:xfrm>
          <a:prstGeom prst="rect">
            <a:avLst/>
          </a:prstGeom>
          <a:noFill/>
        </p:spPr>
        <p:txBody>
          <a:bodyPr wrap="square" rtlCol="0">
            <a:spAutoFit/>
          </a:bodyPr>
          <a:lstStyle/>
          <a:p>
            <a:pPr algn="ctr"/>
            <a:r>
              <a:rPr lang="en-IN" sz="4267" b="1" dirty="0">
                <a:solidFill>
                  <a:srgbClr val="00B0F0"/>
                </a:solidFill>
                <a:latin typeface="Century Gothic" panose="020B0502020202020204" pitchFamily="34" charset="0"/>
              </a:rPr>
              <a:t>Properties of Binary Operations…</a:t>
            </a:r>
          </a:p>
        </p:txBody>
      </p:sp>
    </p:spTree>
    <p:extLst>
      <p:ext uri="{BB962C8B-B14F-4D97-AF65-F5344CB8AC3E}">
        <p14:creationId xmlns:p14="http://schemas.microsoft.com/office/powerpoint/2010/main" val="43389083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Box 5">
            <a:extLst>
              <a:ext uri="{FF2B5EF4-FFF2-40B4-BE49-F238E27FC236}">
                <a16:creationId xmlns:a16="http://schemas.microsoft.com/office/drawing/2014/main" id="{53EEDE43-0F24-4875-9D70-6C9964BA5BBE}"/>
              </a:ext>
            </a:extLst>
          </p:cNvPr>
          <p:cNvSpPr txBox="1">
            <a:spLocks noChangeArrowheads="1"/>
          </p:cNvSpPr>
          <p:nvPr/>
        </p:nvSpPr>
        <p:spPr bwMode="auto">
          <a:xfrm>
            <a:off x="1422400" y="4872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Example</a:t>
            </a:r>
          </a:p>
        </p:txBody>
      </p:sp>
      <p:sp>
        <p:nvSpPr>
          <p:cNvPr id="115715" name="Text Box 3">
            <a:extLst>
              <a:ext uri="{FF2B5EF4-FFF2-40B4-BE49-F238E27FC236}">
                <a16:creationId xmlns:a16="http://schemas.microsoft.com/office/drawing/2014/main" id="{6C6C8467-7B62-4681-BA16-01713CF6D003}"/>
              </a:ext>
            </a:extLst>
          </p:cNvPr>
          <p:cNvSpPr txBox="1">
            <a:spLocks noChangeArrowheads="1"/>
          </p:cNvSpPr>
          <p:nvPr/>
        </p:nvSpPr>
        <p:spPr bwMode="auto">
          <a:xfrm>
            <a:off x="2209801" y="1600201"/>
            <a:ext cx="794067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dirty="0"/>
              <a:t>Show that the binary operation * defined on (R, *) where x*y = max (x , y) is associative.</a:t>
            </a:r>
          </a:p>
          <a:p>
            <a:endParaRPr lang="en-US" altLang="en-US" dirty="0"/>
          </a:p>
          <a:p>
            <a:r>
              <a:rPr lang="en-US" altLang="en-US" dirty="0">
                <a:cs typeface="Arial" panose="020B0604020202020204" pitchFamily="34" charset="0"/>
              </a:rPr>
              <a:t>Solution. </a:t>
            </a:r>
          </a:p>
          <a:p>
            <a:endParaRPr lang="en-US" altLang="en-US" dirty="0">
              <a:cs typeface="Arial" panose="020B0604020202020204" pitchFamily="34" charset="0"/>
            </a:endParaRPr>
          </a:p>
          <a:p>
            <a:r>
              <a:rPr lang="en-US" altLang="en-US" dirty="0">
                <a:cs typeface="Arial" panose="020B0604020202020204" pitchFamily="34" charset="0"/>
              </a:rPr>
              <a:t>			(x*y) * z  = max (</a:t>
            </a:r>
            <a:r>
              <a:rPr lang="en-US" altLang="en-US" dirty="0" err="1">
                <a:cs typeface="Arial" panose="020B0604020202020204" pitchFamily="34" charset="0"/>
              </a:rPr>
              <a:t>x,y</a:t>
            </a:r>
            <a:r>
              <a:rPr lang="en-US" altLang="en-US" dirty="0">
                <a:cs typeface="Arial" panose="020B0604020202020204" pitchFamily="34" charset="0"/>
              </a:rPr>
              <a:t>) * z</a:t>
            </a:r>
          </a:p>
          <a:p>
            <a:r>
              <a:rPr lang="en-US" altLang="en-US" dirty="0">
                <a:cs typeface="Arial" panose="020B0604020202020204" pitchFamily="34" charset="0"/>
              </a:rPr>
              <a:t>				= max (max(</a:t>
            </a:r>
            <a:r>
              <a:rPr lang="en-US" altLang="en-US" dirty="0" err="1">
                <a:cs typeface="Arial" panose="020B0604020202020204" pitchFamily="34" charset="0"/>
              </a:rPr>
              <a:t>x,y</a:t>
            </a:r>
            <a:r>
              <a:rPr lang="en-US" altLang="en-US" dirty="0">
                <a:cs typeface="Arial" panose="020B0604020202020204" pitchFamily="34" charset="0"/>
              </a:rPr>
              <a:t>) , z) = max(</a:t>
            </a:r>
            <a:r>
              <a:rPr lang="en-US" altLang="en-US" dirty="0" err="1">
                <a:cs typeface="Arial" panose="020B0604020202020204" pitchFamily="34" charset="0"/>
              </a:rPr>
              <a:t>x,y,z</a:t>
            </a:r>
            <a:r>
              <a:rPr lang="en-US" altLang="en-US" dirty="0">
                <a:cs typeface="Arial" panose="020B0604020202020204" pitchFamily="34" charset="0"/>
              </a:rPr>
              <a:t>)</a:t>
            </a:r>
          </a:p>
          <a:p>
            <a:r>
              <a:rPr lang="en-US" altLang="en-US" dirty="0">
                <a:cs typeface="Arial" panose="020B0604020202020204" pitchFamily="34" charset="0"/>
              </a:rPr>
              <a:t>again			</a:t>
            </a:r>
            <a:r>
              <a:rPr lang="en-US" altLang="en-US" dirty="0"/>
              <a:t>x*(y * z)  = x * max(</a:t>
            </a:r>
            <a:r>
              <a:rPr lang="en-US" altLang="en-US" dirty="0" err="1"/>
              <a:t>y,z</a:t>
            </a:r>
            <a:r>
              <a:rPr lang="en-US" altLang="en-US" dirty="0"/>
              <a:t>)</a:t>
            </a:r>
          </a:p>
          <a:p>
            <a:r>
              <a:rPr lang="en-US" altLang="en-US" dirty="0"/>
              <a:t>				= max (</a:t>
            </a:r>
            <a:r>
              <a:rPr lang="en-US" altLang="en-US" dirty="0" err="1"/>
              <a:t>x,max</a:t>
            </a:r>
            <a:r>
              <a:rPr lang="en-US" altLang="en-US" dirty="0"/>
              <a:t>(</a:t>
            </a:r>
            <a:r>
              <a:rPr lang="en-US" altLang="en-US" dirty="0" err="1"/>
              <a:t>y,z</a:t>
            </a:r>
            <a:r>
              <a:rPr lang="en-US" altLang="en-US" dirty="0"/>
              <a:t>))</a:t>
            </a:r>
          </a:p>
          <a:p>
            <a:r>
              <a:rPr lang="en-US" altLang="en-US" dirty="0"/>
              <a:t>				= max (</a:t>
            </a:r>
            <a:r>
              <a:rPr lang="en-US" altLang="en-US" dirty="0" err="1"/>
              <a:t>x,y,z</a:t>
            </a:r>
            <a:r>
              <a:rPr lang="en-US" altLang="en-US" dirty="0"/>
              <a:t>)</a:t>
            </a:r>
          </a:p>
          <a:p>
            <a:endParaRPr lang="en-US" altLang="en-US" dirty="0"/>
          </a:p>
          <a:p>
            <a:r>
              <a:rPr lang="en-US" altLang="en-US" dirty="0"/>
              <a:t>Hence 			(x*y) * z  = x * (y * z)</a:t>
            </a:r>
          </a:p>
          <a:p>
            <a:endParaRPr lang="en-US" altLang="en-US" dirty="0"/>
          </a:p>
          <a:p>
            <a:r>
              <a:rPr lang="en-US" altLang="en-US" dirty="0"/>
              <a:t>Thus * is associative </a:t>
            </a:r>
            <a:endParaRPr lang="el-GR" altLang="en-US" dirty="0">
              <a:cs typeface="Arial" panose="020B0604020202020204" pitchFamily="34" charset="0"/>
            </a:endParaRPr>
          </a:p>
        </p:txBody>
      </p:sp>
    </p:spTree>
    <p:extLst>
      <p:ext uri="{BB962C8B-B14F-4D97-AF65-F5344CB8AC3E}">
        <p14:creationId xmlns:p14="http://schemas.microsoft.com/office/powerpoint/2010/main" val="35800912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extBox 5">
            <a:extLst>
              <a:ext uri="{FF2B5EF4-FFF2-40B4-BE49-F238E27FC236}">
                <a16:creationId xmlns:a16="http://schemas.microsoft.com/office/drawing/2014/main" id="{F5A27ADA-09BE-4840-87FE-BE6C142BFD7E}"/>
              </a:ext>
            </a:extLst>
          </p:cNvPr>
          <p:cNvSpPr txBox="1">
            <a:spLocks noChangeArrowheads="1"/>
          </p:cNvSpPr>
          <p:nvPr/>
        </p:nvSpPr>
        <p:spPr bwMode="auto">
          <a:xfrm>
            <a:off x="1524000" y="4826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Example</a:t>
            </a:r>
          </a:p>
        </p:txBody>
      </p:sp>
      <p:sp>
        <p:nvSpPr>
          <p:cNvPr id="129027" name="Text Box 3">
            <a:extLst>
              <a:ext uri="{FF2B5EF4-FFF2-40B4-BE49-F238E27FC236}">
                <a16:creationId xmlns:a16="http://schemas.microsoft.com/office/drawing/2014/main" id="{26361381-FE2D-482E-852C-71ED96FB004A}"/>
              </a:ext>
            </a:extLst>
          </p:cNvPr>
          <p:cNvSpPr txBox="1">
            <a:spLocks noChangeArrowheads="1"/>
          </p:cNvSpPr>
          <p:nvPr/>
        </p:nvSpPr>
        <p:spPr bwMode="auto">
          <a:xfrm>
            <a:off x="2209801" y="1295401"/>
            <a:ext cx="7940675"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dirty="0"/>
              <a:t>Show that the binary operation * defined on (R, *) where x*y = </a:t>
            </a:r>
            <a:r>
              <a:rPr lang="en-US" altLang="en-US" dirty="0" err="1"/>
              <a:t>x</a:t>
            </a:r>
            <a:r>
              <a:rPr lang="en-US" altLang="en-US" baseline="30000" dirty="0" err="1"/>
              <a:t>y</a:t>
            </a:r>
            <a:r>
              <a:rPr lang="en-US" altLang="en-US" dirty="0"/>
              <a:t> is associative.</a:t>
            </a:r>
          </a:p>
          <a:p>
            <a:endParaRPr lang="en-US" altLang="en-US" dirty="0"/>
          </a:p>
          <a:p>
            <a:r>
              <a:rPr lang="en-US" altLang="en-US" dirty="0">
                <a:cs typeface="Arial" panose="020B0604020202020204" pitchFamily="34" charset="0"/>
              </a:rPr>
              <a:t>Solution. </a:t>
            </a:r>
          </a:p>
          <a:p>
            <a:endParaRPr lang="en-US" altLang="en-US" dirty="0">
              <a:cs typeface="Arial" panose="020B0604020202020204" pitchFamily="34" charset="0"/>
            </a:endParaRPr>
          </a:p>
          <a:p>
            <a:r>
              <a:rPr lang="en-US" altLang="en-US" dirty="0">
                <a:cs typeface="Arial" panose="020B0604020202020204" pitchFamily="34" charset="0"/>
              </a:rPr>
              <a:t>			(x*y) * z  = </a:t>
            </a:r>
            <a:r>
              <a:rPr lang="en-US" altLang="en-US" dirty="0" err="1">
                <a:cs typeface="Arial" panose="020B0604020202020204" pitchFamily="34" charset="0"/>
              </a:rPr>
              <a:t>x</a:t>
            </a:r>
            <a:r>
              <a:rPr lang="en-US" altLang="en-US" baseline="30000" dirty="0" err="1">
                <a:cs typeface="Arial" panose="020B0604020202020204" pitchFamily="34" charset="0"/>
              </a:rPr>
              <a:t>y</a:t>
            </a:r>
            <a:r>
              <a:rPr lang="en-US" altLang="en-US" dirty="0">
                <a:cs typeface="Arial" panose="020B0604020202020204" pitchFamily="34" charset="0"/>
              </a:rPr>
              <a:t> * z</a:t>
            </a:r>
          </a:p>
          <a:p>
            <a:endParaRPr lang="en-US" altLang="en-US" dirty="0">
              <a:cs typeface="Arial" panose="020B0604020202020204" pitchFamily="34" charset="0"/>
            </a:endParaRPr>
          </a:p>
          <a:p>
            <a:r>
              <a:rPr lang="en-US" altLang="en-US" dirty="0">
                <a:cs typeface="Arial" panose="020B0604020202020204" pitchFamily="34" charset="0"/>
              </a:rPr>
              <a:t>				= (</a:t>
            </a:r>
            <a:r>
              <a:rPr lang="en-US" altLang="en-US" dirty="0" err="1">
                <a:cs typeface="Arial" panose="020B0604020202020204" pitchFamily="34" charset="0"/>
              </a:rPr>
              <a:t>x</a:t>
            </a:r>
            <a:r>
              <a:rPr lang="en-US" altLang="en-US" baseline="30000" dirty="0" err="1">
                <a:cs typeface="Arial" panose="020B0604020202020204" pitchFamily="34" charset="0"/>
              </a:rPr>
              <a:t>y</a:t>
            </a:r>
            <a:r>
              <a:rPr lang="en-US" altLang="en-US" dirty="0">
                <a:cs typeface="Arial" panose="020B0604020202020204" pitchFamily="34" charset="0"/>
              </a:rPr>
              <a:t>)</a:t>
            </a:r>
            <a:r>
              <a:rPr lang="en-US" altLang="en-US" baseline="30000" dirty="0">
                <a:cs typeface="Arial" panose="020B0604020202020204" pitchFamily="34" charset="0"/>
              </a:rPr>
              <a:t>z</a:t>
            </a:r>
            <a:r>
              <a:rPr lang="en-US" altLang="en-US" dirty="0">
                <a:cs typeface="Arial" panose="020B0604020202020204" pitchFamily="34" charset="0"/>
              </a:rPr>
              <a:t> </a:t>
            </a:r>
          </a:p>
          <a:p>
            <a:endParaRPr lang="en-US" altLang="en-US" dirty="0">
              <a:cs typeface="Arial" panose="020B0604020202020204" pitchFamily="34" charset="0"/>
            </a:endParaRPr>
          </a:p>
          <a:p>
            <a:r>
              <a:rPr lang="en-US" altLang="en-US" dirty="0">
                <a:cs typeface="Arial" panose="020B0604020202020204" pitchFamily="34" charset="0"/>
              </a:rPr>
              <a:t>				= </a:t>
            </a:r>
            <a:r>
              <a:rPr lang="en-US" altLang="en-US" dirty="0" err="1">
                <a:cs typeface="Arial" panose="020B0604020202020204" pitchFamily="34" charset="0"/>
              </a:rPr>
              <a:t>x</a:t>
            </a:r>
            <a:r>
              <a:rPr lang="en-US" altLang="en-US" baseline="30000" dirty="0" err="1">
                <a:cs typeface="Arial" panose="020B0604020202020204" pitchFamily="34" charset="0"/>
              </a:rPr>
              <a:t>yz</a:t>
            </a:r>
            <a:endParaRPr lang="en-US" altLang="en-US" baseline="30000" dirty="0">
              <a:cs typeface="Arial" panose="020B0604020202020204" pitchFamily="34" charset="0"/>
            </a:endParaRPr>
          </a:p>
          <a:p>
            <a:r>
              <a:rPr lang="en-US" altLang="en-US" dirty="0">
                <a:cs typeface="Arial" panose="020B0604020202020204" pitchFamily="34" charset="0"/>
              </a:rPr>
              <a:t>again			</a:t>
            </a:r>
            <a:r>
              <a:rPr lang="en-US" altLang="en-US" dirty="0"/>
              <a:t>x* (y * z)  = x * </a:t>
            </a:r>
            <a:r>
              <a:rPr lang="en-US" altLang="en-US" dirty="0" err="1"/>
              <a:t>y</a:t>
            </a:r>
            <a:r>
              <a:rPr lang="en-US" altLang="en-US" baseline="30000" dirty="0" err="1"/>
              <a:t>z</a:t>
            </a:r>
            <a:endParaRPr lang="en-US" altLang="en-US" baseline="30000" dirty="0"/>
          </a:p>
          <a:p>
            <a:endParaRPr lang="en-US" altLang="en-US" baseline="30000" dirty="0"/>
          </a:p>
          <a:p>
            <a:r>
              <a:rPr lang="en-US" altLang="en-US" baseline="30000" dirty="0"/>
              <a:t>				= </a:t>
            </a:r>
            <a:r>
              <a:rPr lang="en-US" altLang="en-US" dirty="0" err="1"/>
              <a:t>x</a:t>
            </a:r>
            <a:r>
              <a:rPr lang="en-US" altLang="en-US" baseline="30000" dirty="0" err="1"/>
              <a:t>y</a:t>
            </a:r>
            <a:r>
              <a:rPr lang="en-US" altLang="en-US" baseline="52000" dirty="0" err="1"/>
              <a:t>z</a:t>
            </a:r>
            <a:endParaRPr lang="en-US" altLang="en-US" baseline="52000" dirty="0"/>
          </a:p>
          <a:p>
            <a:endParaRPr lang="en-US" altLang="en-US" baseline="52000" dirty="0"/>
          </a:p>
          <a:p>
            <a:r>
              <a:rPr lang="en-US" altLang="en-US" dirty="0"/>
              <a:t>Since		</a:t>
            </a:r>
            <a:r>
              <a:rPr lang="en-US" altLang="en-US" dirty="0" err="1"/>
              <a:t>x</a:t>
            </a:r>
            <a:r>
              <a:rPr lang="en-US" altLang="en-US" baseline="30000" dirty="0" err="1"/>
              <a:t>yz</a:t>
            </a:r>
            <a:r>
              <a:rPr lang="en-US" altLang="en-US" dirty="0"/>
              <a:t>  </a:t>
            </a:r>
            <a:r>
              <a:rPr lang="en-US" altLang="en-US" dirty="0">
                <a:cs typeface="Arial" panose="020B0604020202020204" pitchFamily="34" charset="0"/>
              </a:rPr>
              <a:t>≠  </a:t>
            </a:r>
            <a:r>
              <a:rPr lang="en-US" altLang="en-US" dirty="0" err="1">
                <a:cs typeface="Arial" panose="020B0604020202020204" pitchFamily="34" charset="0"/>
              </a:rPr>
              <a:t>x</a:t>
            </a:r>
            <a:r>
              <a:rPr lang="en-US" altLang="en-US" baseline="30000" dirty="0" err="1">
                <a:cs typeface="Arial" panose="020B0604020202020204" pitchFamily="34" charset="0"/>
              </a:rPr>
              <a:t>y</a:t>
            </a:r>
            <a:r>
              <a:rPr lang="en-US" altLang="en-US" baseline="52000" dirty="0" err="1">
                <a:cs typeface="Arial" panose="020B0604020202020204" pitchFamily="34" charset="0"/>
              </a:rPr>
              <a:t>z</a:t>
            </a:r>
            <a:endParaRPr lang="en-US" altLang="en-US" baseline="52000" dirty="0">
              <a:cs typeface="Arial" panose="020B0604020202020204" pitchFamily="34" charset="0"/>
            </a:endParaRPr>
          </a:p>
          <a:p>
            <a:endParaRPr lang="en-US" altLang="en-US" dirty="0"/>
          </a:p>
          <a:p>
            <a:r>
              <a:rPr lang="en-US" altLang="en-US" dirty="0"/>
              <a:t>Hence 			(x*y) * z ≠ x * (y * z)</a:t>
            </a:r>
          </a:p>
          <a:p>
            <a:endParaRPr lang="en-US" altLang="en-US" dirty="0"/>
          </a:p>
          <a:p>
            <a:r>
              <a:rPr lang="en-US" altLang="en-US" dirty="0"/>
              <a:t>Thus * is not associative </a:t>
            </a:r>
            <a:endParaRPr lang="el-GR" altLang="en-US" dirty="0"/>
          </a:p>
        </p:txBody>
      </p:sp>
    </p:spTree>
    <p:extLst>
      <p:ext uri="{BB962C8B-B14F-4D97-AF65-F5344CB8AC3E}">
        <p14:creationId xmlns:p14="http://schemas.microsoft.com/office/powerpoint/2010/main" val="5694983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Text Box 3">
            <a:extLst>
              <a:ext uri="{FF2B5EF4-FFF2-40B4-BE49-F238E27FC236}">
                <a16:creationId xmlns:a16="http://schemas.microsoft.com/office/drawing/2014/main" id="{F993BB52-8829-4E9E-88B3-1C79C6606B56}"/>
              </a:ext>
            </a:extLst>
          </p:cNvPr>
          <p:cNvSpPr txBox="1">
            <a:spLocks noChangeArrowheads="1"/>
          </p:cNvSpPr>
          <p:nvPr/>
        </p:nvSpPr>
        <p:spPr bwMode="auto">
          <a:xfrm>
            <a:off x="2209801" y="1371601"/>
            <a:ext cx="794067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dirty="0"/>
              <a:t>With the  help of composite table, one can conclude,</a:t>
            </a:r>
          </a:p>
          <a:p>
            <a:endParaRPr lang="en-US" altLang="en-US" dirty="0"/>
          </a:p>
          <a:p>
            <a:r>
              <a:rPr lang="en-US" altLang="en-US" b="1" dirty="0"/>
              <a:t>Closure Property</a:t>
            </a:r>
            <a:r>
              <a:rPr lang="en-US" altLang="en-US" dirty="0"/>
              <a:t> : if all the entries in the table are elements of S, then S is closed for *.</a:t>
            </a:r>
          </a:p>
          <a:p>
            <a:endParaRPr lang="en-US" altLang="en-US" dirty="0"/>
          </a:p>
          <a:p>
            <a:r>
              <a:rPr lang="en-US" altLang="en-US" b="1" dirty="0"/>
              <a:t>Commutative law</a:t>
            </a:r>
            <a:r>
              <a:rPr lang="en-US" altLang="en-US" dirty="0"/>
              <a:t> : if every row if the table coincides with the corresponding column, then * is commutative on S</a:t>
            </a:r>
          </a:p>
          <a:p>
            <a:endParaRPr lang="en-US" altLang="en-US" dirty="0"/>
          </a:p>
          <a:p>
            <a:r>
              <a:rPr lang="en-US" altLang="en-US" b="1" dirty="0"/>
              <a:t>Identity element</a:t>
            </a:r>
            <a:r>
              <a:rPr lang="en-US" altLang="en-US" dirty="0"/>
              <a:t> : if the row headed by an element a</a:t>
            </a:r>
            <a:r>
              <a:rPr lang="en-US" altLang="en-US" baseline="-25000" dirty="0"/>
              <a:t>1</a:t>
            </a:r>
            <a:r>
              <a:rPr lang="en-US" altLang="en-US" dirty="0"/>
              <a:t> of S coincides with the top row, then a</a:t>
            </a:r>
            <a:r>
              <a:rPr lang="en-US" altLang="en-US" baseline="-25000" dirty="0"/>
              <a:t>1</a:t>
            </a:r>
            <a:r>
              <a:rPr lang="en-US" altLang="en-US" dirty="0"/>
              <a:t> is the identity element.</a:t>
            </a:r>
          </a:p>
          <a:p>
            <a:endParaRPr lang="en-US" altLang="en-US" dirty="0"/>
          </a:p>
          <a:p>
            <a:r>
              <a:rPr lang="en-US" altLang="en-US" b="1" dirty="0"/>
              <a:t>Inverses</a:t>
            </a:r>
            <a:r>
              <a:rPr lang="en-US" altLang="en-US" dirty="0"/>
              <a:t>: If the identity element e is placed in the table at the intersection of the row headed by a and the column headed by b, then </a:t>
            </a:r>
          </a:p>
          <a:p>
            <a:endParaRPr lang="en-US" altLang="en-US" dirty="0"/>
          </a:p>
          <a:p>
            <a:pPr algn="ctr"/>
            <a:r>
              <a:rPr lang="en-US" altLang="en-US" dirty="0"/>
              <a:t>a</a:t>
            </a:r>
            <a:r>
              <a:rPr lang="en-US" altLang="en-US" baseline="30000" dirty="0"/>
              <a:t>-1  </a:t>
            </a:r>
            <a:r>
              <a:rPr lang="en-US" altLang="en-US" dirty="0"/>
              <a:t>= b and b</a:t>
            </a:r>
            <a:r>
              <a:rPr lang="en-US" altLang="en-US" baseline="30000" dirty="0"/>
              <a:t>-1</a:t>
            </a:r>
            <a:r>
              <a:rPr lang="en-US" altLang="en-US" dirty="0"/>
              <a:t> = a.</a:t>
            </a:r>
            <a:endParaRPr lang="en-US" altLang="en-US" baseline="30000" dirty="0">
              <a:cs typeface="Arial" panose="020B0604020202020204" pitchFamily="34" charset="0"/>
            </a:endParaRPr>
          </a:p>
          <a:p>
            <a:pPr algn="ctr"/>
            <a:endParaRPr lang="el-GR" altLang="en-US" dirty="0">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Box 5">
            <a:extLst>
              <a:ext uri="{FF2B5EF4-FFF2-40B4-BE49-F238E27FC236}">
                <a16:creationId xmlns:a16="http://schemas.microsoft.com/office/drawing/2014/main" id="{D4D98616-5A63-4BF8-B801-C30591977F3A}"/>
              </a:ext>
            </a:extLst>
          </p:cNvPr>
          <p:cNvSpPr txBox="1">
            <a:spLocks noChangeArrowheads="1"/>
          </p:cNvSpPr>
          <p:nvPr/>
        </p:nvSpPr>
        <p:spPr bwMode="auto">
          <a:xfrm>
            <a:off x="1524000" y="3810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solidFill>
                  <a:srgbClr val="C00000"/>
                </a:solidFill>
                <a:latin typeface="Calibri" panose="020F0502020204030204" pitchFamily="34" charset="0"/>
              </a:rPr>
              <a:t>Example</a:t>
            </a:r>
          </a:p>
        </p:txBody>
      </p:sp>
      <p:sp>
        <p:nvSpPr>
          <p:cNvPr id="131075" name="Text Box 3">
            <a:extLst>
              <a:ext uri="{FF2B5EF4-FFF2-40B4-BE49-F238E27FC236}">
                <a16:creationId xmlns:a16="http://schemas.microsoft.com/office/drawing/2014/main" id="{D55C8339-49EA-44B8-AA59-80F68495E44D}"/>
              </a:ext>
            </a:extLst>
          </p:cNvPr>
          <p:cNvSpPr txBox="1">
            <a:spLocks noChangeArrowheads="1"/>
          </p:cNvSpPr>
          <p:nvPr/>
        </p:nvSpPr>
        <p:spPr bwMode="auto">
          <a:xfrm>
            <a:off x="2209801" y="1295401"/>
            <a:ext cx="794067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Prepare the composition table for multiplication on the element in the set</a:t>
            </a:r>
          </a:p>
          <a:p>
            <a:r>
              <a:rPr lang="en-US" altLang="en-US"/>
              <a:t>A = { 1, </a:t>
            </a:r>
            <a:r>
              <a:rPr lang="el-GR" altLang="en-US">
                <a:cs typeface="Arial" panose="020B0604020202020204" pitchFamily="34" charset="0"/>
              </a:rPr>
              <a:t>ω</a:t>
            </a:r>
            <a:r>
              <a:rPr lang="en-US" altLang="en-US">
                <a:cs typeface="Arial" panose="020B0604020202020204" pitchFamily="34" charset="0"/>
              </a:rPr>
              <a:t>, </a:t>
            </a:r>
            <a:r>
              <a:rPr lang="el-GR" altLang="en-US">
                <a:cs typeface="Arial" panose="020B0604020202020204" pitchFamily="34" charset="0"/>
              </a:rPr>
              <a:t>ω</a:t>
            </a:r>
            <a:r>
              <a:rPr lang="en-US" altLang="en-US" baseline="30000">
                <a:cs typeface="Arial" panose="020B0604020202020204" pitchFamily="34" charset="0"/>
              </a:rPr>
              <a:t>2 </a:t>
            </a:r>
            <a:r>
              <a:rPr lang="en-US" altLang="en-US">
                <a:cs typeface="Arial" panose="020B0604020202020204" pitchFamily="34" charset="0"/>
              </a:rPr>
              <a:t>}, where </a:t>
            </a:r>
            <a:r>
              <a:rPr lang="el-GR" altLang="en-US"/>
              <a:t>ω</a:t>
            </a:r>
            <a:r>
              <a:rPr lang="en-US" altLang="en-US"/>
              <a:t> is the cube root of unity. Show that multiplication satisfies the closure property, associative law, commutative law and 1 is the inverse element. Write down the multiplicative inverse of each element.</a:t>
            </a:r>
          </a:p>
          <a:p>
            <a:endParaRPr lang="en-US" altLang="en-US"/>
          </a:p>
          <a:p>
            <a:r>
              <a:rPr lang="en-US" altLang="en-US"/>
              <a:t>Solution:   Since </a:t>
            </a:r>
            <a:r>
              <a:rPr lang="el-GR" altLang="en-US"/>
              <a:t>ω</a:t>
            </a:r>
            <a:r>
              <a:rPr lang="en-US" altLang="en-US"/>
              <a:t> is cube root of unity, </a:t>
            </a:r>
            <a:r>
              <a:rPr lang="el-GR" altLang="en-US"/>
              <a:t>ω</a:t>
            </a:r>
            <a:r>
              <a:rPr lang="en-US" altLang="en-US" baseline="30000"/>
              <a:t>3</a:t>
            </a:r>
            <a:r>
              <a:rPr lang="en-US" altLang="en-US"/>
              <a:t>  = 1.</a:t>
            </a:r>
          </a:p>
          <a:p>
            <a:r>
              <a:rPr lang="en-US" altLang="en-US"/>
              <a:t>	We can operate </a:t>
            </a:r>
            <a:r>
              <a:rPr lang="en-US" altLang="en-US">
                <a:cs typeface="Arial" panose="020B0604020202020204" pitchFamily="34" charset="0"/>
              </a:rPr>
              <a:t>× on various elements and prepare the table as below:</a:t>
            </a:r>
          </a:p>
          <a:p>
            <a:r>
              <a:rPr lang="en-US" altLang="en-US">
                <a:cs typeface="Arial" panose="020B0604020202020204" pitchFamily="34" charset="0"/>
              </a:rPr>
              <a:t> </a:t>
            </a:r>
            <a:endParaRPr lang="en-US" altLang="en-US" baseline="30000">
              <a:cs typeface="Arial" panose="020B0604020202020204" pitchFamily="34" charset="0"/>
            </a:endParaRPr>
          </a:p>
          <a:p>
            <a:endParaRPr lang="el-GR" altLang="en-US"/>
          </a:p>
        </p:txBody>
      </p:sp>
      <p:graphicFrame>
        <p:nvGraphicFramePr>
          <p:cNvPr id="131116" name="Group 44">
            <a:extLst>
              <a:ext uri="{FF2B5EF4-FFF2-40B4-BE49-F238E27FC236}">
                <a16:creationId xmlns:a16="http://schemas.microsoft.com/office/drawing/2014/main" id="{D06E9A44-770C-457C-88AC-DAC5ABC4A2B1}"/>
              </a:ext>
            </a:extLst>
          </p:cNvPr>
          <p:cNvGraphicFramePr>
            <a:graphicFrameLocks noGrp="1"/>
          </p:cNvGraphicFramePr>
          <p:nvPr/>
        </p:nvGraphicFramePr>
        <p:xfrm>
          <a:off x="4495800" y="3810000"/>
          <a:ext cx="2895600" cy="2072640"/>
        </p:xfrm>
        <a:graphic>
          <a:graphicData uri="http://schemas.openxmlformats.org/drawingml/2006/table">
            <a:tbl>
              <a:tblPr/>
              <a:tblGrid>
                <a:gridCol w="685800">
                  <a:extLst>
                    <a:ext uri="{9D8B030D-6E8A-4147-A177-3AD203B41FA5}">
                      <a16:colId xmlns:a16="http://schemas.microsoft.com/office/drawing/2014/main" val="456134673"/>
                    </a:ext>
                  </a:extLst>
                </a:gridCol>
                <a:gridCol w="685800">
                  <a:extLst>
                    <a:ext uri="{9D8B030D-6E8A-4147-A177-3AD203B41FA5}">
                      <a16:colId xmlns:a16="http://schemas.microsoft.com/office/drawing/2014/main" val="3389879312"/>
                    </a:ext>
                  </a:extLst>
                </a:gridCol>
                <a:gridCol w="762000">
                  <a:extLst>
                    <a:ext uri="{9D8B030D-6E8A-4147-A177-3AD203B41FA5}">
                      <a16:colId xmlns:a16="http://schemas.microsoft.com/office/drawing/2014/main" val="1636932500"/>
                    </a:ext>
                  </a:extLst>
                </a:gridCol>
                <a:gridCol w="762000">
                  <a:extLst>
                    <a:ext uri="{9D8B030D-6E8A-4147-A177-3AD203B41FA5}">
                      <a16:colId xmlns:a16="http://schemas.microsoft.com/office/drawing/2014/main" val="2021275672"/>
                    </a:ext>
                  </a:extLst>
                </a:gridCol>
              </a:tblGrid>
              <a:tr h="51816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1</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l-GR" altLang="en-US" sz="2800" b="0" i="0" u="none" strike="noStrike" cap="none" normalizeH="0" baseline="0">
                          <a:ln>
                            <a:noFill/>
                          </a:ln>
                          <a:solidFill>
                            <a:schemeClr val="tx1"/>
                          </a:solidFill>
                          <a:effectLst/>
                          <a:latin typeface="Arial" panose="020B0604020202020204" pitchFamily="34" charset="0"/>
                        </a:rPr>
                        <a:t>ω</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l-GR" altLang="en-US" sz="2800" b="0" i="0" u="none" strike="noStrike" cap="none" normalizeH="0" baseline="0">
                          <a:ln>
                            <a:noFill/>
                          </a:ln>
                          <a:solidFill>
                            <a:schemeClr val="tx1"/>
                          </a:solidFill>
                          <a:effectLst/>
                          <a:latin typeface="Arial" panose="020B0604020202020204" pitchFamily="34" charset="0"/>
                        </a:rPr>
                        <a:t>ω</a:t>
                      </a:r>
                      <a:r>
                        <a:rPr kumimoji="0" lang="en-US" altLang="en-US" sz="2800" b="0" i="0" u="none" strike="noStrike" cap="none" normalizeH="0" baseline="30000">
                          <a:ln>
                            <a:noFill/>
                          </a:ln>
                          <a:solidFill>
                            <a:schemeClr val="tx1"/>
                          </a:solidFill>
                          <a:effectLst/>
                          <a:latin typeface="Arial" panose="020B0604020202020204" pitchFamily="34" charset="0"/>
                        </a:rPr>
                        <a:t>2</a:t>
                      </a:r>
                      <a:endParaRPr kumimoji="0" lang="en-IN" altLang="en-US" sz="2800" b="0" i="0" u="none" strike="noStrike" cap="none" normalizeH="0" baseline="3000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01720064"/>
                  </a:ext>
                </a:extLst>
              </a:tr>
              <a:tr h="51816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1</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1</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l-GR" altLang="en-US" sz="2800" b="0" i="0" u="none" strike="noStrike" cap="none" normalizeH="0" baseline="0">
                          <a:ln>
                            <a:noFill/>
                          </a:ln>
                          <a:solidFill>
                            <a:schemeClr val="tx1"/>
                          </a:solidFill>
                          <a:effectLst/>
                          <a:latin typeface="Arial" panose="020B0604020202020204" pitchFamily="34" charset="0"/>
                        </a:rPr>
                        <a:t>ω</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l-GR" altLang="en-US" sz="2800" b="0" i="0" u="none" strike="noStrike" cap="none" normalizeH="0" baseline="0">
                          <a:ln>
                            <a:noFill/>
                          </a:ln>
                          <a:solidFill>
                            <a:schemeClr val="tx1"/>
                          </a:solidFill>
                          <a:effectLst/>
                          <a:latin typeface="Arial" panose="020B0604020202020204" pitchFamily="34" charset="0"/>
                        </a:rPr>
                        <a:t>ω</a:t>
                      </a:r>
                      <a:r>
                        <a:rPr kumimoji="0" lang="en-US" altLang="en-US" sz="2800" b="0" i="0" u="none" strike="noStrike" cap="none" normalizeH="0" baseline="30000">
                          <a:ln>
                            <a:noFill/>
                          </a:ln>
                          <a:solidFill>
                            <a:schemeClr val="tx1"/>
                          </a:solidFill>
                          <a:effectLst/>
                          <a:latin typeface="Arial" panose="020B0604020202020204" pitchFamily="34" charset="0"/>
                        </a:rPr>
                        <a:t>2</a:t>
                      </a:r>
                      <a:endParaRPr kumimoji="0" lang="en-IN" altLang="en-US" sz="2800" b="0" i="0" u="none" strike="noStrike" cap="none" normalizeH="0" baseline="3000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62184415"/>
                  </a:ext>
                </a:extLst>
              </a:tr>
              <a:tr h="51816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l-GR" altLang="en-US" sz="2800" b="0" i="0" u="none" strike="noStrike" cap="none" normalizeH="0" baseline="0">
                          <a:ln>
                            <a:noFill/>
                          </a:ln>
                          <a:solidFill>
                            <a:schemeClr val="tx1"/>
                          </a:solidFill>
                          <a:effectLst/>
                          <a:latin typeface="Arial" panose="020B0604020202020204" pitchFamily="34" charset="0"/>
                        </a:rPr>
                        <a:t>ω</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l-GR" altLang="en-US" sz="2800" b="0" i="0" u="none" strike="noStrike" cap="none" normalizeH="0" baseline="0">
                          <a:ln>
                            <a:noFill/>
                          </a:ln>
                          <a:solidFill>
                            <a:schemeClr val="tx1"/>
                          </a:solidFill>
                          <a:effectLst/>
                          <a:latin typeface="Arial" panose="020B0604020202020204" pitchFamily="34" charset="0"/>
                        </a:rPr>
                        <a:t>ω</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l-GR" altLang="en-US" sz="2800" b="0" i="0" u="none" strike="noStrike" cap="none" normalizeH="0" baseline="0">
                          <a:ln>
                            <a:noFill/>
                          </a:ln>
                          <a:solidFill>
                            <a:schemeClr val="tx1"/>
                          </a:solidFill>
                          <a:effectLst/>
                          <a:latin typeface="Arial" panose="020B0604020202020204" pitchFamily="34" charset="0"/>
                        </a:rPr>
                        <a:t>ω</a:t>
                      </a:r>
                      <a:r>
                        <a:rPr kumimoji="0" lang="en-US" altLang="en-US" sz="2800" b="0" i="0" u="none" strike="noStrike" cap="none" normalizeH="0" baseline="30000">
                          <a:ln>
                            <a:noFill/>
                          </a:ln>
                          <a:solidFill>
                            <a:schemeClr val="tx1"/>
                          </a:solidFill>
                          <a:effectLst/>
                          <a:latin typeface="Arial" panose="020B0604020202020204" pitchFamily="34" charset="0"/>
                        </a:rPr>
                        <a:t>2</a:t>
                      </a:r>
                      <a:endParaRPr kumimoji="0" lang="en-IN" altLang="en-US" sz="2800" b="0" i="0" u="none" strike="noStrike" cap="none" normalizeH="0" baseline="3000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1</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27017022"/>
                  </a:ext>
                </a:extLst>
              </a:tr>
              <a:tr h="51816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l-GR" altLang="en-US" sz="2800" b="0" i="0" u="none" strike="noStrike" cap="none" normalizeH="0" baseline="0">
                          <a:ln>
                            <a:noFill/>
                          </a:ln>
                          <a:solidFill>
                            <a:schemeClr val="tx1"/>
                          </a:solidFill>
                          <a:effectLst/>
                          <a:latin typeface="Arial" panose="020B0604020202020204" pitchFamily="34" charset="0"/>
                        </a:rPr>
                        <a:t>ω</a:t>
                      </a:r>
                      <a:r>
                        <a:rPr kumimoji="0" lang="en-US" altLang="en-US" sz="2800" b="0" i="0" u="none" strike="noStrike" cap="none" normalizeH="0" baseline="30000">
                          <a:ln>
                            <a:noFill/>
                          </a:ln>
                          <a:solidFill>
                            <a:schemeClr val="tx1"/>
                          </a:solidFill>
                          <a:effectLst/>
                          <a:latin typeface="Arial" panose="020B0604020202020204" pitchFamily="34" charset="0"/>
                        </a:rPr>
                        <a:t>2</a:t>
                      </a:r>
                      <a:endParaRPr kumimoji="0" lang="en-IN" altLang="en-US" sz="2800" b="0" i="0" u="none" strike="noStrike" cap="none" normalizeH="0" baseline="3000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l-GR" altLang="en-US" sz="2800" b="0" i="0" u="none" strike="noStrike" cap="none" normalizeH="0" baseline="0">
                          <a:ln>
                            <a:noFill/>
                          </a:ln>
                          <a:solidFill>
                            <a:schemeClr val="tx1"/>
                          </a:solidFill>
                          <a:effectLst/>
                          <a:latin typeface="Arial" panose="020B0604020202020204" pitchFamily="34" charset="0"/>
                        </a:rPr>
                        <a:t>ω</a:t>
                      </a:r>
                      <a:r>
                        <a:rPr kumimoji="0" lang="en-US" altLang="en-US" sz="2800" b="0" i="0" u="none" strike="noStrike" cap="none" normalizeH="0" baseline="30000">
                          <a:ln>
                            <a:noFill/>
                          </a:ln>
                          <a:solidFill>
                            <a:schemeClr val="tx1"/>
                          </a:solidFill>
                          <a:effectLst/>
                          <a:latin typeface="Arial" panose="020B0604020202020204" pitchFamily="34" charset="0"/>
                        </a:rPr>
                        <a:t>2</a:t>
                      </a:r>
                      <a:endParaRPr kumimoji="0" lang="en-IN" altLang="en-US" sz="2800" b="0" i="0" u="none" strike="noStrike" cap="none" normalizeH="0" baseline="3000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1 </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l-GR" altLang="en-US" sz="2800" b="0" i="0" u="none" strike="noStrike" cap="none" normalizeH="0" baseline="0">
                          <a:ln>
                            <a:noFill/>
                          </a:ln>
                          <a:solidFill>
                            <a:schemeClr val="tx1"/>
                          </a:solidFill>
                          <a:effectLst/>
                          <a:latin typeface="Arial" panose="020B0604020202020204" pitchFamily="34" charset="0"/>
                        </a:rPr>
                        <a:t>ω</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70642593"/>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4" name="Text Box 4">
            <a:extLst>
              <a:ext uri="{FF2B5EF4-FFF2-40B4-BE49-F238E27FC236}">
                <a16:creationId xmlns:a16="http://schemas.microsoft.com/office/drawing/2014/main" id="{D5EA8AF1-9CF5-42BB-BF93-D70DC956D31D}"/>
              </a:ext>
            </a:extLst>
          </p:cNvPr>
          <p:cNvSpPr txBox="1">
            <a:spLocks noChangeArrowheads="1"/>
          </p:cNvSpPr>
          <p:nvPr/>
        </p:nvSpPr>
        <p:spPr bwMode="auto">
          <a:xfrm>
            <a:off x="2270125" y="2038350"/>
            <a:ext cx="764824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eaLnBrk="0" hangingPunct="0">
              <a:defRPr>
                <a:solidFill>
                  <a:schemeClr val="tx1"/>
                </a:solidFill>
                <a:latin typeface="Arial" panose="020B0604020202020204" pitchFamily="34" charset="0"/>
              </a:defRPr>
            </a:lvl1pPr>
            <a:lvl2pPr marL="800100" indent="-342900" eaLnBrk="0" hangingPunct="0">
              <a:defRPr>
                <a:solidFill>
                  <a:schemeClr val="tx1"/>
                </a:solidFill>
                <a:latin typeface="Arial" panose="020B0604020202020204" pitchFamily="34" charset="0"/>
              </a:defRPr>
            </a:lvl2pPr>
            <a:lvl3pPr marL="1257300" indent="-342900" eaLnBrk="0" hangingPunct="0">
              <a:defRPr>
                <a:solidFill>
                  <a:schemeClr val="tx1"/>
                </a:solidFill>
                <a:latin typeface="Arial" panose="020B0604020202020204" pitchFamily="34" charset="0"/>
              </a:defRPr>
            </a:lvl3pPr>
            <a:lvl4pPr marL="1714500" indent="-342900" eaLnBrk="0" hangingPunct="0">
              <a:defRPr>
                <a:solidFill>
                  <a:schemeClr val="tx1"/>
                </a:solidFill>
                <a:latin typeface="Arial" panose="020B0604020202020204" pitchFamily="34" charset="0"/>
              </a:defRPr>
            </a:lvl4pPr>
            <a:lvl5pPr marL="2171700" indent="-342900" eaLnBrk="0" hangingPunct="0">
              <a:defRPr>
                <a:solidFill>
                  <a:schemeClr val="tx1"/>
                </a:solidFill>
                <a:latin typeface="Arial" panose="020B0604020202020204" pitchFamily="34" charset="0"/>
              </a:defRPr>
            </a:lvl5pPr>
            <a:lvl6pPr marL="2628900" indent="-342900" eaLnBrk="0" fontAlgn="base" hangingPunct="0">
              <a:spcBef>
                <a:spcPct val="0"/>
              </a:spcBef>
              <a:spcAft>
                <a:spcPct val="0"/>
              </a:spcAft>
              <a:defRPr>
                <a:solidFill>
                  <a:schemeClr val="tx1"/>
                </a:solidFill>
                <a:latin typeface="Arial" panose="020B0604020202020204" pitchFamily="34" charset="0"/>
              </a:defRPr>
            </a:lvl6pPr>
            <a:lvl7pPr marL="3086100" indent="-342900" eaLnBrk="0" fontAlgn="base" hangingPunct="0">
              <a:spcBef>
                <a:spcPct val="0"/>
              </a:spcBef>
              <a:spcAft>
                <a:spcPct val="0"/>
              </a:spcAft>
              <a:defRPr>
                <a:solidFill>
                  <a:schemeClr val="tx1"/>
                </a:solidFill>
                <a:latin typeface="Arial" panose="020B0604020202020204" pitchFamily="34" charset="0"/>
              </a:defRPr>
            </a:lvl7pPr>
            <a:lvl8pPr marL="3543300" indent="-342900" eaLnBrk="0" fontAlgn="base" hangingPunct="0">
              <a:spcBef>
                <a:spcPct val="0"/>
              </a:spcBef>
              <a:spcAft>
                <a:spcPct val="0"/>
              </a:spcAft>
              <a:defRPr>
                <a:solidFill>
                  <a:schemeClr val="tx1"/>
                </a:solidFill>
                <a:latin typeface="Arial" panose="020B0604020202020204" pitchFamily="34" charset="0"/>
              </a:defRPr>
            </a:lvl8pPr>
            <a:lvl9pPr marL="4000500" indent="-3429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From the table, we can conclude that</a:t>
            </a:r>
          </a:p>
          <a:p>
            <a:pPr eaLnBrk="1" hangingPunct="1"/>
            <a:endParaRPr lang="en-US" altLang="en-US"/>
          </a:p>
          <a:p>
            <a:pPr eaLnBrk="1" hangingPunct="1">
              <a:buFontTx/>
              <a:buAutoNum type="arabicPeriod"/>
            </a:pPr>
            <a:r>
              <a:rPr lang="en-US" altLang="en-US"/>
              <a:t>Closure property:</a:t>
            </a:r>
          </a:p>
          <a:p>
            <a:pPr eaLnBrk="1" hangingPunct="1"/>
            <a:r>
              <a:rPr lang="en-US" altLang="en-US"/>
              <a:t>			Since all the entries in the table are in A, so closure</a:t>
            </a:r>
          </a:p>
          <a:p>
            <a:pPr eaLnBrk="1" hangingPunct="1"/>
            <a:r>
              <a:rPr lang="en-US" altLang="en-US"/>
              <a:t>			 property is satisfied.</a:t>
            </a:r>
          </a:p>
          <a:p>
            <a:pPr eaLnBrk="1" hangingPunct="1"/>
            <a:endParaRPr lang="en-US" altLang="en-US"/>
          </a:p>
          <a:p>
            <a:pPr eaLnBrk="1" hangingPunct="1"/>
            <a:endParaRPr lang="en-US" altLang="en-US"/>
          </a:p>
          <a:p>
            <a:pPr eaLnBrk="1" hangingPunct="1">
              <a:buFontTx/>
              <a:buAutoNum type="arabicPeriod" startAt="2"/>
            </a:pPr>
            <a:r>
              <a:rPr lang="en-US" altLang="en-US"/>
              <a:t>Associative law:</a:t>
            </a:r>
          </a:p>
          <a:p>
            <a:pPr eaLnBrk="1" hangingPunct="1"/>
            <a:r>
              <a:rPr lang="en-US" altLang="en-US"/>
              <a:t>			Since multiplication is associative on complex numbers</a:t>
            </a:r>
          </a:p>
          <a:p>
            <a:pPr eaLnBrk="1" hangingPunct="1"/>
            <a:r>
              <a:rPr lang="en-US" altLang="en-US"/>
              <a:t>			and A is a set of complex numbers, so multiplication </a:t>
            </a:r>
          </a:p>
          <a:p>
            <a:pPr eaLnBrk="1" hangingPunct="1"/>
            <a:r>
              <a:rPr lang="en-US" altLang="en-US"/>
              <a:t>			is associative on A. </a:t>
            </a:r>
            <a:endParaRPr lang="en-I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Text Box 4">
            <a:extLst>
              <a:ext uri="{FF2B5EF4-FFF2-40B4-BE49-F238E27FC236}">
                <a16:creationId xmlns:a16="http://schemas.microsoft.com/office/drawing/2014/main" id="{8D59CB6F-4C99-4E68-9759-9874542CA359}"/>
              </a:ext>
            </a:extLst>
          </p:cNvPr>
          <p:cNvSpPr txBox="1">
            <a:spLocks noChangeArrowheads="1"/>
          </p:cNvSpPr>
          <p:nvPr/>
        </p:nvSpPr>
        <p:spPr bwMode="auto">
          <a:xfrm>
            <a:off x="2438400" y="1320800"/>
            <a:ext cx="731322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eaLnBrk="0" hangingPunct="0">
              <a:defRPr>
                <a:solidFill>
                  <a:schemeClr val="tx1"/>
                </a:solidFill>
                <a:latin typeface="Arial" panose="020B0604020202020204" pitchFamily="34" charset="0"/>
              </a:defRPr>
            </a:lvl1pPr>
            <a:lvl2pPr marL="800100" indent="-342900" eaLnBrk="0" hangingPunct="0">
              <a:defRPr>
                <a:solidFill>
                  <a:schemeClr val="tx1"/>
                </a:solidFill>
                <a:latin typeface="Arial" panose="020B0604020202020204" pitchFamily="34" charset="0"/>
              </a:defRPr>
            </a:lvl2pPr>
            <a:lvl3pPr marL="1257300" indent="-342900" eaLnBrk="0" hangingPunct="0">
              <a:defRPr>
                <a:solidFill>
                  <a:schemeClr val="tx1"/>
                </a:solidFill>
                <a:latin typeface="Arial" panose="020B0604020202020204" pitchFamily="34" charset="0"/>
              </a:defRPr>
            </a:lvl3pPr>
            <a:lvl4pPr marL="1714500" indent="-342900" eaLnBrk="0" hangingPunct="0">
              <a:defRPr>
                <a:solidFill>
                  <a:schemeClr val="tx1"/>
                </a:solidFill>
                <a:latin typeface="Arial" panose="020B0604020202020204" pitchFamily="34" charset="0"/>
              </a:defRPr>
            </a:lvl4pPr>
            <a:lvl5pPr marL="2171700" indent="-342900" eaLnBrk="0" hangingPunct="0">
              <a:defRPr>
                <a:solidFill>
                  <a:schemeClr val="tx1"/>
                </a:solidFill>
                <a:latin typeface="Arial" panose="020B0604020202020204" pitchFamily="34" charset="0"/>
              </a:defRPr>
            </a:lvl5pPr>
            <a:lvl6pPr marL="2628900" indent="-342900" eaLnBrk="0" fontAlgn="base" hangingPunct="0">
              <a:spcBef>
                <a:spcPct val="0"/>
              </a:spcBef>
              <a:spcAft>
                <a:spcPct val="0"/>
              </a:spcAft>
              <a:defRPr>
                <a:solidFill>
                  <a:schemeClr val="tx1"/>
                </a:solidFill>
                <a:latin typeface="Arial" panose="020B0604020202020204" pitchFamily="34" charset="0"/>
              </a:defRPr>
            </a:lvl6pPr>
            <a:lvl7pPr marL="3086100" indent="-342900" eaLnBrk="0" fontAlgn="base" hangingPunct="0">
              <a:spcBef>
                <a:spcPct val="0"/>
              </a:spcBef>
              <a:spcAft>
                <a:spcPct val="0"/>
              </a:spcAft>
              <a:defRPr>
                <a:solidFill>
                  <a:schemeClr val="tx1"/>
                </a:solidFill>
                <a:latin typeface="Arial" panose="020B0604020202020204" pitchFamily="34" charset="0"/>
              </a:defRPr>
            </a:lvl7pPr>
            <a:lvl8pPr marL="3543300" indent="-342900" eaLnBrk="0" fontAlgn="base" hangingPunct="0">
              <a:spcBef>
                <a:spcPct val="0"/>
              </a:spcBef>
              <a:spcAft>
                <a:spcPct val="0"/>
              </a:spcAft>
              <a:defRPr>
                <a:solidFill>
                  <a:schemeClr val="tx1"/>
                </a:solidFill>
                <a:latin typeface="Arial" panose="020B0604020202020204" pitchFamily="34" charset="0"/>
              </a:defRPr>
            </a:lvl8pPr>
            <a:lvl9pPr marL="4000500" indent="-3429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Tx/>
              <a:buAutoNum type="arabicPeriod" startAt="3"/>
            </a:pPr>
            <a:r>
              <a:rPr lang="en-US" altLang="en-US"/>
              <a:t>Commutative law:</a:t>
            </a:r>
          </a:p>
          <a:p>
            <a:pPr eaLnBrk="1" hangingPunct="1"/>
            <a:r>
              <a:rPr lang="en-US" altLang="en-US"/>
              <a:t>			Since 1</a:t>
            </a:r>
            <a:r>
              <a:rPr lang="en-US" altLang="en-US" baseline="30000"/>
              <a:t>st</a:t>
            </a:r>
            <a:r>
              <a:rPr lang="en-US" altLang="en-US"/>
              <a:t> , 2</a:t>
            </a:r>
            <a:r>
              <a:rPr lang="en-US" altLang="en-US" baseline="30000"/>
              <a:t>nd</a:t>
            </a:r>
            <a:r>
              <a:rPr lang="en-US" altLang="en-US"/>
              <a:t> and 3</a:t>
            </a:r>
            <a:r>
              <a:rPr lang="en-US" altLang="en-US" baseline="30000"/>
              <a:t>rd</a:t>
            </a:r>
            <a:r>
              <a:rPr lang="en-US" altLang="en-US"/>
              <a:t> rows coincide with 1</a:t>
            </a:r>
            <a:r>
              <a:rPr lang="en-US" altLang="en-US" baseline="30000"/>
              <a:t>st</a:t>
            </a:r>
            <a:r>
              <a:rPr lang="en-US" altLang="en-US"/>
              <a:t>, 2</a:t>
            </a:r>
            <a:r>
              <a:rPr lang="en-US" altLang="en-US" baseline="30000"/>
              <a:t>nd</a:t>
            </a:r>
            <a:r>
              <a:rPr lang="en-US" altLang="en-US"/>
              <a:t> and</a:t>
            </a:r>
          </a:p>
          <a:p>
            <a:pPr eaLnBrk="1" hangingPunct="1"/>
            <a:r>
              <a:rPr lang="en-US" altLang="en-US"/>
              <a:t>			3</a:t>
            </a:r>
            <a:r>
              <a:rPr lang="en-US" altLang="en-US" baseline="30000"/>
              <a:t>rd</a:t>
            </a:r>
            <a:r>
              <a:rPr lang="en-US" altLang="en-US"/>
              <a:t> columns respectively, so multiplication is</a:t>
            </a:r>
          </a:p>
          <a:p>
            <a:pPr eaLnBrk="1" hangingPunct="1"/>
            <a:r>
              <a:rPr lang="en-US" altLang="en-US"/>
              <a:t>			commutative on A</a:t>
            </a:r>
          </a:p>
          <a:p>
            <a:pPr eaLnBrk="1" hangingPunct="1"/>
            <a:endParaRPr lang="en-US" altLang="en-US"/>
          </a:p>
          <a:p>
            <a:pPr eaLnBrk="1" hangingPunct="1">
              <a:buFontTx/>
              <a:buAutoNum type="arabicPeriod" startAt="4"/>
            </a:pPr>
            <a:r>
              <a:rPr lang="en-US" altLang="en-US"/>
              <a:t>Identity element:</a:t>
            </a:r>
          </a:p>
          <a:p>
            <a:pPr eaLnBrk="1" hangingPunct="1"/>
            <a:r>
              <a:rPr lang="en-US" altLang="en-US"/>
              <a:t>			Since row headed by 1 is same as the initial row,</a:t>
            </a:r>
          </a:p>
          <a:p>
            <a:pPr eaLnBrk="1" hangingPunct="1"/>
            <a:r>
              <a:rPr lang="en-US" altLang="en-US"/>
              <a:t>			1 is the identity element.</a:t>
            </a:r>
          </a:p>
          <a:p>
            <a:pPr eaLnBrk="1" hangingPunct="1"/>
            <a:endParaRPr lang="en-US" altLang="en-US"/>
          </a:p>
          <a:p>
            <a:pPr eaLnBrk="1" hangingPunct="1">
              <a:buFontTx/>
              <a:buAutoNum type="arabicPeriod" startAt="5"/>
            </a:pPr>
            <a:r>
              <a:rPr lang="en-US" altLang="en-US"/>
              <a:t>Inverses:</a:t>
            </a:r>
          </a:p>
          <a:p>
            <a:pPr eaLnBrk="1" hangingPunct="1"/>
            <a:endParaRPr lang="en-US" altLang="en-US"/>
          </a:p>
          <a:p>
            <a:pPr eaLnBrk="1" hangingPunct="1"/>
            <a:r>
              <a:rPr lang="en-US" altLang="en-US"/>
              <a:t>			Clearly,   1</a:t>
            </a:r>
            <a:r>
              <a:rPr lang="en-US" altLang="en-US" baseline="30000"/>
              <a:t>-1</a:t>
            </a:r>
            <a:r>
              <a:rPr lang="en-US" altLang="en-US"/>
              <a:t> = 1</a:t>
            </a:r>
          </a:p>
          <a:p>
            <a:pPr eaLnBrk="1" hangingPunct="1"/>
            <a:r>
              <a:rPr lang="en-US" altLang="en-US"/>
              <a:t>				 </a:t>
            </a:r>
            <a:r>
              <a:rPr lang="el-GR" altLang="en-US"/>
              <a:t>ω</a:t>
            </a:r>
            <a:r>
              <a:rPr lang="en-US" altLang="en-US" baseline="30000"/>
              <a:t>-1</a:t>
            </a:r>
            <a:r>
              <a:rPr lang="en-US" altLang="en-US"/>
              <a:t> = </a:t>
            </a:r>
            <a:r>
              <a:rPr lang="el-GR" altLang="en-US"/>
              <a:t>ω</a:t>
            </a:r>
            <a:r>
              <a:rPr lang="en-US" altLang="en-US" baseline="30000"/>
              <a:t>2</a:t>
            </a:r>
          </a:p>
          <a:p>
            <a:pPr eaLnBrk="1" hangingPunct="1"/>
            <a:r>
              <a:rPr lang="en-US" altLang="en-US"/>
              <a:t>				(</a:t>
            </a:r>
            <a:r>
              <a:rPr lang="el-GR" altLang="en-US"/>
              <a:t>ω</a:t>
            </a:r>
            <a:r>
              <a:rPr lang="en-US" altLang="en-US" baseline="30000"/>
              <a:t>2</a:t>
            </a:r>
            <a:r>
              <a:rPr lang="en-US" altLang="en-US"/>
              <a:t>)</a:t>
            </a:r>
            <a:r>
              <a:rPr lang="en-US" altLang="en-US" baseline="30000"/>
              <a:t>-1</a:t>
            </a:r>
            <a:r>
              <a:rPr lang="en-US" altLang="en-US"/>
              <a:t> = </a:t>
            </a:r>
            <a:r>
              <a:rPr lang="el-GR" altLang="en-US"/>
              <a:t>ω</a:t>
            </a:r>
            <a:r>
              <a:rPr lang="en-US" altLang="en-US"/>
              <a:t> </a:t>
            </a:r>
            <a:endParaRPr lang="en-I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extBox 5">
            <a:extLst>
              <a:ext uri="{FF2B5EF4-FFF2-40B4-BE49-F238E27FC236}">
                <a16:creationId xmlns:a16="http://schemas.microsoft.com/office/drawing/2014/main" id="{581C0C0C-9005-4CF9-AA43-9F67F6CE6477}"/>
              </a:ext>
            </a:extLst>
          </p:cNvPr>
          <p:cNvSpPr txBox="1">
            <a:spLocks noChangeArrowheads="1"/>
          </p:cNvSpPr>
          <p:nvPr/>
        </p:nvSpPr>
        <p:spPr bwMode="auto">
          <a:xfrm>
            <a:off x="14478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solidFill>
                  <a:srgbClr val="C00000"/>
                </a:solidFill>
                <a:latin typeface="Calibri" panose="020F0502020204030204" pitchFamily="34" charset="0"/>
              </a:rPr>
              <a:t>Example</a:t>
            </a:r>
          </a:p>
        </p:txBody>
      </p:sp>
      <p:sp>
        <p:nvSpPr>
          <p:cNvPr id="135171" name="Text Box 3">
            <a:extLst>
              <a:ext uri="{FF2B5EF4-FFF2-40B4-BE49-F238E27FC236}">
                <a16:creationId xmlns:a16="http://schemas.microsoft.com/office/drawing/2014/main" id="{1FDAF672-4347-4C1C-BC3E-DF10670C74ED}"/>
              </a:ext>
            </a:extLst>
          </p:cNvPr>
          <p:cNvSpPr txBox="1">
            <a:spLocks noChangeArrowheads="1"/>
          </p:cNvSpPr>
          <p:nvPr/>
        </p:nvSpPr>
        <p:spPr bwMode="auto">
          <a:xfrm>
            <a:off x="2209801" y="1295400"/>
            <a:ext cx="79406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Let the binary operation * be defined on S = {a, b, c, d, e} by means of the</a:t>
            </a:r>
          </a:p>
          <a:p>
            <a:r>
              <a:rPr lang="en-US" altLang="en-US"/>
              <a:t>following composite table:</a:t>
            </a:r>
            <a:endParaRPr lang="en-US" altLang="en-US">
              <a:cs typeface="Arial" panose="020B0604020202020204" pitchFamily="34" charset="0"/>
            </a:endParaRPr>
          </a:p>
          <a:p>
            <a:r>
              <a:rPr lang="en-US" altLang="en-US">
                <a:cs typeface="Arial" panose="020B0604020202020204" pitchFamily="34" charset="0"/>
              </a:rPr>
              <a:t> </a:t>
            </a:r>
            <a:endParaRPr lang="en-US" altLang="en-US" baseline="30000">
              <a:cs typeface="Arial" panose="020B0604020202020204" pitchFamily="34" charset="0"/>
            </a:endParaRPr>
          </a:p>
          <a:p>
            <a:endParaRPr lang="el-GR" altLang="en-US"/>
          </a:p>
        </p:txBody>
      </p:sp>
      <p:graphicFrame>
        <p:nvGraphicFramePr>
          <p:cNvPr id="135251" name="Group 83">
            <a:extLst>
              <a:ext uri="{FF2B5EF4-FFF2-40B4-BE49-F238E27FC236}">
                <a16:creationId xmlns:a16="http://schemas.microsoft.com/office/drawing/2014/main" id="{7929A239-D44A-4252-8241-AAB06B222EEF}"/>
              </a:ext>
            </a:extLst>
          </p:cNvPr>
          <p:cNvGraphicFramePr>
            <a:graphicFrameLocks noGrp="1"/>
          </p:cNvGraphicFramePr>
          <p:nvPr/>
        </p:nvGraphicFramePr>
        <p:xfrm>
          <a:off x="4114800" y="2438400"/>
          <a:ext cx="3810000" cy="3108960"/>
        </p:xfrm>
        <a:graphic>
          <a:graphicData uri="http://schemas.openxmlformats.org/drawingml/2006/table">
            <a:tbl>
              <a:tblPr/>
              <a:tblGrid>
                <a:gridCol w="635000">
                  <a:extLst>
                    <a:ext uri="{9D8B030D-6E8A-4147-A177-3AD203B41FA5}">
                      <a16:colId xmlns:a16="http://schemas.microsoft.com/office/drawing/2014/main" val="3865671059"/>
                    </a:ext>
                  </a:extLst>
                </a:gridCol>
                <a:gridCol w="635000">
                  <a:extLst>
                    <a:ext uri="{9D8B030D-6E8A-4147-A177-3AD203B41FA5}">
                      <a16:colId xmlns:a16="http://schemas.microsoft.com/office/drawing/2014/main" val="3549191948"/>
                    </a:ext>
                  </a:extLst>
                </a:gridCol>
                <a:gridCol w="635000">
                  <a:extLst>
                    <a:ext uri="{9D8B030D-6E8A-4147-A177-3AD203B41FA5}">
                      <a16:colId xmlns:a16="http://schemas.microsoft.com/office/drawing/2014/main" val="292651936"/>
                    </a:ext>
                  </a:extLst>
                </a:gridCol>
                <a:gridCol w="635000">
                  <a:extLst>
                    <a:ext uri="{9D8B030D-6E8A-4147-A177-3AD203B41FA5}">
                      <a16:colId xmlns:a16="http://schemas.microsoft.com/office/drawing/2014/main" val="646972987"/>
                    </a:ext>
                  </a:extLst>
                </a:gridCol>
                <a:gridCol w="635000">
                  <a:extLst>
                    <a:ext uri="{9D8B030D-6E8A-4147-A177-3AD203B41FA5}">
                      <a16:colId xmlns:a16="http://schemas.microsoft.com/office/drawing/2014/main" val="3569583955"/>
                    </a:ext>
                  </a:extLst>
                </a:gridCol>
                <a:gridCol w="635000">
                  <a:extLst>
                    <a:ext uri="{9D8B030D-6E8A-4147-A177-3AD203B41FA5}">
                      <a16:colId xmlns:a16="http://schemas.microsoft.com/office/drawing/2014/main" val="1405529201"/>
                    </a:ext>
                  </a:extLst>
                </a:gridCol>
              </a:tblGrid>
              <a:tr h="51816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a</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b</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c</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d</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e</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47634630"/>
                  </a:ext>
                </a:extLst>
              </a:tr>
              <a:tr h="51816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a</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a</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b</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c</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b</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d</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16783112"/>
                  </a:ext>
                </a:extLst>
              </a:tr>
              <a:tr h="51816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b</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b</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c</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a</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e</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c</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44607586"/>
                  </a:ext>
                </a:extLst>
              </a:tr>
              <a:tr h="51816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c</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c</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a</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b</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b</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a</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91596281"/>
                  </a:ext>
                </a:extLst>
              </a:tr>
              <a:tr h="51816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d</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b</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e</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b</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e</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d</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54452642"/>
                  </a:ext>
                </a:extLst>
              </a:tr>
              <a:tr h="51816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e</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d</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b</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a</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d</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panose="020B0604020202020204" pitchFamily="34" charset="0"/>
                        </a:rPr>
                        <a:t>e</a:t>
                      </a: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11636713"/>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0" name="Text Box 4">
            <a:extLst>
              <a:ext uri="{FF2B5EF4-FFF2-40B4-BE49-F238E27FC236}">
                <a16:creationId xmlns:a16="http://schemas.microsoft.com/office/drawing/2014/main" id="{DF1AE06B-9220-4097-BE90-CE7F88BCAA2A}"/>
              </a:ext>
            </a:extLst>
          </p:cNvPr>
          <p:cNvSpPr txBox="1">
            <a:spLocks noChangeArrowheads="1"/>
          </p:cNvSpPr>
          <p:nvPr/>
        </p:nvSpPr>
        <p:spPr bwMode="auto">
          <a:xfrm>
            <a:off x="2422526" y="1320800"/>
            <a:ext cx="7173759"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eaLnBrk="0" hangingPunct="0">
              <a:defRPr>
                <a:solidFill>
                  <a:schemeClr val="tx1"/>
                </a:solidFill>
                <a:latin typeface="Arial" panose="020B0604020202020204" pitchFamily="34" charset="0"/>
              </a:defRPr>
            </a:lvl1pPr>
            <a:lvl2pPr marL="800100" indent="-342900" eaLnBrk="0" hangingPunct="0">
              <a:defRPr>
                <a:solidFill>
                  <a:schemeClr val="tx1"/>
                </a:solidFill>
                <a:latin typeface="Arial" panose="020B0604020202020204" pitchFamily="34" charset="0"/>
              </a:defRPr>
            </a:lvl2pPr>
            <a:lvl3pPr marL="1257300" indent="-342900" eaLnBrk="0" hangingPunct="0">
              <a:defRPr>
                <a:solidFill>
                  <a:schemeClr val="tx1"/>
                </a:solidFill>
                <a:latin typeface="Arial" panose="020B0604020202020204" pitchFamily="34" charset="0"/>
              </a:defRPr>
            </a:lvl3pPr>
            <a:lvl4pPr marL="1714500" indent="-342900" eaLnBrk="0" hangingPunct="0">
              <a:defRPr>
                <a:solidFill>
                  <a:schemeClr val="tx1"/>
                </a:solidFill>
                <a:latin typeface="Arial" panose="020B0604020202020204" pitchFamily="34" charset="0"/>
              </a:defRPr>
            </a:lvl4pPr>
            <a:lvl5pPr marL="2171700" indent="-342900" eaLnBrk="0" hangingPunct="0">
              <a:defRPr>
                <a:solidFill>
                  <a:schemeClr val="tx1"/>
                </a:solidFill>
                <a:latin typeface="Arial" panose="020B0604020202020204" pitchFamily="34" charset="0"/>
              </a:defRPr>
            </a:lvl5pPr>
            <a:lvl6pPr marL="2628900" indent="-342900" eaLnBrk="0" fontAlgn="base" hangingPunct="0">
              <a:spcBef>
                <a:spcPct val="0"/>
              </a:spcBef>
              <a:spcAft>
                <a:spcPct val="0"/>
              </a:spcAft>
              <a:defRPr>
                <a:solidFill>
                  <a:schemeClr val="tx1"/>
                </a:solidFill>
                <a:latin typeface="Arial" panose="020B0604020202020204" pitchFamily="34" charset="0"/>
              </a:defRPr>
            </a:lvl6pPr>
            <a:lvl7pPr marL="3086100" indent="-342900" eaLnBrk="0" fontAlgn="base" hangingPunct="0">
              <a:spcBef>
                <a:spcPct val="0"/>
              </a:spcBef>
              <a:spcAft>
                <a:spcPct val="0"/>
              </a:spcAft>
              <a:defRPr>
                <a:solidFill>
                  <a:schemeClr val="tx1"/>
                </a:solidFill>
                <a:latin typeface="Arial" panose="020B0604020202020204" pitchFamily="34" charset="0"/>
              </a:defRPr>
            </a:lvl7pPr>
            <a:lvl8pPr marL="3543300" indent="-342900" eaLnBrk="0" fontAlgn="base" hangingPunct="0">
              <a:spcBef>
                <a:spcPct val="0"/>
              </a:spcBef>
              <a:spcAft>
                <a:spcPct val="0"/>
              </a:spcAft>
              <a:defRPr>
                <a:solidFill>
                  <a:schemeClr val="tx1"/>
                </a:solidFill>
                <a:latin typeface="Arial" panose="020B0604020202020204" pitchFamily="34" charset="0"/>
              </a:defRPr>
            </a:lvl8pPr>
            <a:lvl9pPr marL="4000500" indent="-3429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Tx/>
              <a:buAutoNum type="alphaLcParenR"/>
            </a:pPr>
            <a:r>
              <a:rPr lang="en-US" altLang="en-US"/>
              <a:t>Compute c *d, b * b, (a * b) * c and [(a * c ) * e] * a from the table.</a:t>
            </a:r>
          </a:p>
          <a:p>
            <a:pPr eaLnBrk="1" hangingPunct="1">
              <a:buFontTx/>
              <a:buAutoNum type="alphaLcParenR"/>
            </a:pPr>
            <a:endParaRPr lang="en-US" altLang="en-US"/>
          </a:p>
          <a:p>
            <a:pPr eaLnBrk="1" hangingPunct="1">
              <a:buFontTx/>
              <a:buAutoNum type="alphaLcParenR"/>
            </a:pPr>
            <a:r>
              <a:rPr lang="en-US" altLang="en-US"/>
              <a:t>Is * commutative? Why?</a:t>
            </a:r>
          </a:p>
          <a:p>
            <a:pPr eaLnBrk="1" hangingPunct="1">
              <a:buFontTx/>
              <a:buAutoNum type="alphaLcParenR"/>
            </a:pPr>
            <a:endParaRPr lang="en-US" altLang="en-US"/>
          </a:p>
          <a:p>
            <a:pPr eaLnBrk="1" hangingPunct="1"/>
            <a:endParaRPr lang="en-US" altLang="en-US"/>
          </a:p>
          <a:p>
            <a:pPr eaLnBrk="1" hangingPunct="1"/>
            <a:r>
              <a:rPr lang="en-US" altLang="en-US"/>
              <a:t>Solution:</a:t>
            </a:r>
          </a:p>
          <a:p>
            <a:pPr lvl="1" eaLnBrk="1" hangingPunct="1"/>
            <a:r>
              <a:rPr lang="en-US" altLang="en-US"/>
              <a:t>a)		  c * d = b</a:t>
            </a:r>
          </a:p>
          <a:p>
            <a:pPr eaLnBrk="1" hangingPunct="1"/>
            <a:r>
              <a:rPr lang="en-US" altLang="en-US"/>
              <a:t>		  b * b = c</a:t>
            </a:r>
          </a:p>
          <a:p>
            <a:pPr eaLnBrk="1" hangingPunct="1"/>
            <a:r>
              <a:rPr lang="en-US" altLang="en-US"/>
              <a:t>		  (a * b) * c  = b * c = a</a:t>
            </a:r>
          </a:p>
          <a:p>
            <a:pPr eaLnBrk="1" hangingPunct="1"/>
            <a:r>
              <a:rPr lang="en-US" altLang="en-US"/>
              <a:t>		  [(a * c ) * e] * a = (c * e) * a = a * a = a </a:t>
            </a:r>
          </a:p>
          <a:p>
            <a:pPr eaLnBrk="1" hangingPunct="1"/>
            <a:endParaRPr lang="en-US" altLang="en-US"/>
          </a:p>
          <a:p>
            <a:pPr eaLnBrk="1" hangingPunct="1"/>
            <a:endParaRPr lang="en-US" altLang="en-US"/>
          </a:p>
          <a:p>
            <a:pPr eaLnBrk="1" hangingPunct="1"/>
            <a:r>
              <a:rPr lang="en-US" altLang="en-US"/>
              <a:t>	b)	No, since b * e = c and e * b = b</a:t>
            </a:r>
          </a:p>
          <a:p>
            <a:pPr eaLnBrk="1" hangingPunct="1"/>
            <a:r>
              <a:rPr lang="en-US" altLang="en-US"/>
              <a:t>		and hence b * e </a:t>
            </a:r>
            <a:r>
              <a:rPr lang="en-US" altLang="en-US">
                <a:cs typeface="Arial" panose="020B0604020202020204" pitchFamily="34" charset="0"/>
              </a:rPr>
              <a:t>≠</a:t>
            </a:r>
            <a:r>
              <a:rPr lang="en-US" altLang="en-US"/>
              <a:t>    e * b</a:t>
            </a:r>
            <a:endParaRPr lang="en-I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4" name="TextBox 5">
            <a:extLst>
              <a:ext uri="{FF2B5EF4-FFF2-40B4-BE49-F238E27FC236}">
                <a16:creationId xmlns:a16="http://schemas.microsoft.com/office/drawing/2014/main" id="{6DBC87B4-3B0A-4A62-A276-F7505974F341}"/>
              </a:ext>
            </a:extLst>
          </p:cNvPr>
          <p:cNvSpPr txBox="1">
            <a:spLocks noChangeArrowheads="1"/>
          </p:cNvSpPr>
          <p:nvPr/>
        </p:nvSpPr>
        <p:spPr bwMode="auto">
          <a:xfrm>
            <a:off x="13208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Example</a:t>
            </a:r>
          </a:p>
        </p:txBody>
      </p:sp>
      <p:sp>
        <p:nvSpPr>
          <p:cNvPr id="138245" name="Text Box 5">
            <a:extLst>
              <a:ext uri="{FF2B5EF4-FFF2-40B4-BE49-F238E27FC236}">
                <a16:creationId xmlns:a16="http://schemas.microsoft.com/office/drawing/2014/main" id="{996E0DFD-55C6-456C-A909-261A02B6930B}"/>
              </a:ext>
            </a:extLst>
          </p:cNvPr>
          <p:cNvSpPr txBox="1">
            <a:spLocks noChangeArrowheads="1"/>
          </p:cNvSpPr>
          <p:nvPr/>
        </p:nvSpPr>
        <p:spPr bwMode="auto">
          <a:xfrm>
            <a:off x="2346326" y="2068514"/>
            <a:ext cx="745165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Let Z be the set of integers, show that the operation * on Z, defined by</a:t>
            </a:r>
          </a:p>
          <a:p>
            <a:r>
              <a:rPr lang="en-US" altLang="en-US"/>
              <a:t>			a * b = a + b + 1 for all a, b </a:t>
            </a:r>
            <a:r>
              <a:rPr lang="el-GR" altLang="en-US">
                <a:cs typeface="Arial" panose="020B0604020202020204" pitchFamily="34" charset="0"/>
              </a:rPr>
              <a:t>ϵ</a:t>
            </a:r>
            <a:r>
              <a:rPr lang="en-US" altLang="en-US">
                <a:cs typeface="Arial" panose="020B0604020202020204" pitchFamily="34" charset="0"/>
              </a:rPr>
              <a:t> Z,</a:t>
            </a:r>
          </a:p>
          <a:p>
            <a:r>
              <a:rPr lang="en-US" altLang="en-US">
                <a:cs typeface="Arial" panose="020B0604020202020204" pitchFamily="34" charset="0"/>
              </a:rPr>
              <a:t>satisfies the closure property, associative law and the commutative law.</a:t>
            </a:r>
          </a:p>
          <a:p>
            <a:r>
              <a:rPr lang="en-US" altLang="en-US">
                <a:cs typeface="Arial" panose="020B0604020202020204" pitchFamily="34" charset="0"/>
              </a:rPr>
              <a:t>Find the identity element. What is the inverse of an integer a?</a:t>
            </a:r>
          </a:p>
          <a:p>
            <a:endParaRPr lang="en-US" altLang="en-US">
              <a:cs typeface="Arial" panose="020B0604020202020204" pitchFamily="34" charset="0"/>
            </a:endParaRPr>
          </a:p>
          <a:p>
            <a:r>
              <a:rPr lang="en-US" altLang="en-US">
                <a:cs typeface="Arial" panose="020B0604020202020204" pitchFamily="34" charset="0"/>
              </a:rPr>
              <a:t>Solution:		Since Z is closed for addition, we have</a:t>
            </a:r>
          </a:p>
          <a:p>
            <a:r>
              <a:rPr lang="en-US" altLang="en-US">
                <a:cs typeface="Arial" panose="020B0604020202020204" pitchFamily="34" charset="0"/>
              </a:rPr>
              <a:t>		a + b </a:t>
            </a:r>
            <a:r>
              <a:rPr lang="el-GR" altLang="en-US"/>
              <a:t>ϵ</a:t>
            </a:r>
            <a:r>
              <a:rPr lang="en-US" altLang="en-US"/>
              <a:t> Z for all a, b </a:t>
            </a:r>
            <a:r>
              <a:rPr lang="el-GR" altLang="en-US"/>
              <a:t>ϵ</a:t>
            </a:r>
            <a:r>
              <a:rPr lang="en-US" altLang="en-US"/>
              <a:t> Z</a:t>
            </a:r>
          </a:p>
          <a:p>
            <a:r>
              <a:rPr lang="en-US" altLang="en-US"/>
              <a:t>		</a:t>
            </a:r>
            <a:r>
              <a:rPr lang="en-US" altLang="en-US">
                <a:cs typeface="Arial" panose="020B0604020202020204" pitchFamily="34" charset="0"/>
              </a:rPr>
              <a:t>→	a + b + 1 </a:t>
            </a:r>
            <a:r>
              <a:rPr lang="el-GR" altLang="en-US"/>
              <a:t>ϵ</a:t>
            </a:r>
            <a:r>
              <a:rPr lang="en-US" altLang="en-US"/>
              <a:t> Z</a:t>
            </a:r>
          </a:p>
          <a:p>
            <a:r>
              <a:rPr lang="en-US" altLang="en-US"/>
              <a:t>		</a:t>
            </a:r>
            <a:r>
              <a:rPr lang="en-US" altLang="en-US">
                <a:cs typeface="Arial" panose="020B0604020202020204" pitchFamily="34" charset="0"/>
              </a:rPr>
              <a:t> </a:t>
            </a:r>
            <a:r>
              <a:rPr lang="en-US" altLang="en-US"/>
              <a:t>→	a * b </a:t>
            </a:r>
            <a:r>
              <a:rPr lang="el-GR" altLang="en-US"/>
              <a:t>ϵ</a:t>
            </a:r>
            <a:r>
              <a:rPr lang="en-US" altLang="en-US"/>
              <a:t> Z</a:t>
            </a:r>
          </a:p>
          <a:p>
            <a:endParaRPr lang="en-US" altLang="en-US"/>
          </a:p>
          <a:p>
            <a:r>
              <a:rPr lang="en-US" altLang="en-US"/>
              <a:t>So * is binary operation on Z and hence closed.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9" name="Text Box 5">
            <a:extLst>
              <a:ext uri="{FF2B5EF4-FFF2-40B4-BE49-F238E27FC236}">
                <a16:creationId xmlns:a16="http://schemas.microsoft.com/office/drawing/2014/main" id="{BB8110F7-2FB0-4D8F-B382-37F4B234C346}"/>
              </a:ext>
            </a:extLst>
          </p:cNvPr>
          <p:cNvSpPr txBox="1">
            <a:spLocks noChangeArrowheads="1"/>
          </p:cNvSpPr>
          <p:nvPr/>
        </p:nvSpPr>
        <p:spPr bwMode="auto">
          <a:xfrm>
            <a:off x="2286002" y="1076326"/>
            <a:ext cx="780854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Again,		a * b = a + b + 1</a:t>
            </a:r>
          </a:p>
          <a:p>
            <a:r>
              <a:rPr lang="en-US" altLang="en-US"/>
              <a:t>		        = b + a + 1    ( by commutative law of addition on Z)</a:t>
            </a:r>
          </a:p>
          <a:p>
            <a:r>
              <a:rPr lang="en-US" altLang="en-US"/>
              <a:t>		        = b * a </a:t>
            </a:r>
            <a:r>
              <a:rPr lang="el-GR" altLang="en-US"/>
              <a:t>ϵ</a:t>
            </a:r>
            <a:r>
              <a:rPr lang="en-US" altLang="en-US"/>
              <a:t> Z</a:t>
            </a:r>
          </a:p>
          <a:p>
            <a:endParaRPr lang="en-US" altLang="en-US"/>
          </a:p>
          <a:p>
            <a:r>
              <a:rPr lang="en-US" altLang="en-US"/>
              <a:t>Hence * is commutative.</a:t>
            </a:r>
          </a:p>
          <a:p>
            <a:endParaRPr lang="en-US" altLang="en-US"/>
          </a:p>
          <a:p>
            <a:r>
              <a:rPr lang="en-US" altLang="en-US"/>
              <a:t>Again,		(a * b) * c = (a + b + 1) * c</a:t>
            </a:r>
          </a:p>
          <a:p>
            <a:r>
              <a:rPr lang="en-US" altLang="en-US"/>
              <a:t>			  = (a + b + 1) + c +1</a:t>
            </a:r>
          </a:p>
          <a:p>
            <a:r>
              <a:rPr lang="en-US" altLang="en-US"/>
              <a:t>			  = (a + b + c ) + 2</a:t>
            </a:r>
          </a:p>
          <a:p>
            <a:r>
              <a:rPr lang="en-US" altLang="en-US"/>
              <a:t>and 		a * (b * c) = a * (b + c + 1)</a:t>
            </a:r>
          </a:p>
          <a:p>
            <a:r>
              <a:rPr lang="en-US" altLang="en-US"/>
              <a:t>			  = a + (b + c + 1) + 1</a:t>
            </a:r>
          </a:p>
          <a:p>
            <a:r>
              <a:rPr lang="en-US" altLang="en-US"/>
              <a:t>			  = (a + b + c) + 2</a:t>
            </a:r>
          </a:p>
          <a:p>
            <a:endParaRPr lang="en-US" altLang="en-US"/>
          </a:p>
          <a:p>
            <a:r>
              <a:rPr lang="en-US" altLang="en-US"/>
              <a:t>Thus		(a * b) * c = a * (b * c)</a:t>
            </a:r>
          </a:p>
          <a:p>
            <a:endParaRPr lang="en-US" altLang="en-US"/>
          </a:p>
          <a:p>
            <a:r>
              <a:rPr lang="en-US" altLang="en-US"/>
              <a:t>Hence * is associative.</a:t>
            </a:r>
            <a:endParaRPr lang="en-I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2" name="Text Box 4">
            <a:extLst>
              <a:ext uri="{FF2B5EF4-FFF2-40B4-BE49-F238E27FC236}">
                <a16:creationId xmlns:a16="http://schemas.microsoft.com/office/drawing/2014/main" id="{9A17108B-1C17-42B7-A52D-7D9DBEC5D3DC}"/>
              </a:ext>
            </a:extLst>
          </p:cNvPr>
          <p:cNvSpPr txBox="1">
            <a:spLocks noChangeArrowheads="1"/>
          </p:cNvSpPr>
          <p:nvPr/>
        </p:nvSpPr>
        <p:spPr bwMode="auto">
          <a:xfrm>
            <a:off x="2946401" y="1168400"/>
            <a:ext cx="610295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Now if e is the identity element in Z for *, then for all a </a:t>
            </a:r>
            <a:r>
              <a:rPr lang="el-GR" altLang="en-US"/>
              <a:t>ϵ</a:t>
            </a:r>
            <a:r>
              <a:rPr lang="en-US" altLang="en-US"/>
              <a:t> Z</a:t>
            </a:r>
          </a:p>
          <a:p>
            <a:r>
              <a:rPr lang="en-US" altLang="en-US"/>
              <a:t>			a * e = a</a:t>
            </a:r>
          </a:p>
          <a:p>
            <a:r>
              <a:rPr lang="en-US" altLang="en-US"/>
              <a:t>		 →	a + e + 1 = a</a:t>
            </a:r>
          </a:p>
          <a:p>
            <a:r>
              <a:rPr lang="en-US" altLang="en-US"/>
              <a:t>		 →	e = -1 </a:t>
            </a:r>
            <a:r>
              <a:rPr lang="el-GR" altLang="en-US"/>
              <a:t>ϵ</a:t>
            </a:r>
            <a:r>
              <a:rPr lang="en-US" altLang="en-US"/>
              <a:t> Z</a:t>
            </a:r>
          </a:p>
          <a:p>
            <a:endParaRPr lang="en-US" altLang="en-US"/>
          </a:p>
          <a:p>
            <a:r>
              <a:rPr lang="en-US" altLang="en-US"/>
              <a:t>So -1 is the identity element for * in Z.</a:t>
            </a:r>
          </a:p>
          <a:p>
            <a:endParaRPr lang="en-US" altLang="en-US"/>
          </a:p>
          <a:p>
            <a:endParaRPr lang="en-US" altLang="en-US"/>
          </a:p>
          <a:p>
            <a:r>
              <a:rPr lang="en-US" altLang="en-US"/>
              <a:t>Let the integer a have its inverse b. Then</a:t>
            </a:r>
          </a:p>
          <a:p>
            <a:endParaRPr lang="en-US" altLang="en-US"/>
          </a:p>
          <a:p>
            <a:r>
              <a:rPr lang="en-US" altLang="en-US"/>
              <a:t>			a * b = -1</a:t>
            </a:r>
          </a:p>
          <a:p>
            <a:r>
              <a:rPr lang="en-US" altLang="en-US"/>
              <a:t>		 →	a + b + 1 = -1</a:t>
            </a:r>
          </a:p>
          <a:p>
            <a:r>
              <a:rPr lang="en-US" altLang="en-US"/>
              <a:t>		 →	b = -(2 + a)</a:t>
            </a:r>
          </a:p>
          <a:p>
            <a:r>
              <a:rPr lang="en-US" altLang="en-US"/>
              <a:t>		 →	So, the inverse of a is –(2 + a).</a:t>
            </a:r>
            <a:endParaRPr lang="en-IN" altLang="en-US"/>
          </a:p>
        </p:txBody>
      </p:sp>
      <mc:AlternateContent xmlns:mc="http://schemas.openxmlformats.org/markup-compatibility/2006">
        <mc:Choice xmlns:p14="http://schemas.microsoft.com/office/powerpoint/2010/main" Requires="p14">
          <p:contentPart p14:bwMode="auto" r:id="rId2">
            <p14:nvContentPartPr>
              <p14:cNvPr id="56" name="Ink 55">
                <a:extLst>
                  <a:ext uri="{FF2B5EF4-FFF2-40B4-BE49-F238E27FC236}">
                    <a16:creationId xmlns:a16="http://schemas.microsoft.com/office/drawing/2014/main" id="{CE7272F8-6A7C-4A78-9AED-BD57ED369E05}"/>
                  </a:ext>
                </a:extLst>
              </p14:cNvPr>
              <p14:cNvContentPartPr/>
              <p14:nvPr/>
            </p14:nvContentPartPr>
            <p14:xfrm>
              <a:off x="8439366" y="6240088"/>
              <a:ext cx="39240" cy="31320"/>
            </p14:xfrm>
          </p:contentPart>
        </mc:Choice>
        <mc:Fallback>
          <p:pic>
            <p:nvPicPr>
              <p:cNvPr id="56" name="Ink 55">
                <a:extLst>
                  <a:ext uri="{FF2B5EF4-FFF2-40B4-BE49-F238E27FC236}">
                    <a16:creationId xmlns:a16="http://schemas.microsoft.com/office/drawing/2014/main" id="{CE7272F8-6A7C-4A78-9AED-BD57ED369E05}"/>
                  </a:ext>
                </a:extLst>
              </p:cNvPr>
              <p:cNvPicPr/>
              <p:nvPr/>
            </p:nvPicPr>
            <p:blipFill>
              <a:blip r:embed="rId3"/>
              <a:stretch>
                <a:fillRect/>
              </a:stretch>
            </p:blipFill>
            <p:spPr>
              <a:xfrm>
                <a:off x="8430726" y="6231088"/>
                <a:ext cx="56880" cy="48960"/>
              </a:xfrm>
              <a:prstGeom prst="rect">
                <a:avLst/>
              </a:prstGeom>
            </p:spPr>
          </p:pic>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1320800" y="1701800"/>
            <a:ext cx="8928637" cy="4154984"/>
          </a:xfrm>
          <a:prstGeom prst="rect">
            <a:avLst/>
          </a:prstGeom>
          <a:noFill/>
        </p:spPr>
        <p:txBody>
          <a:bodyPr wrap="square" rtlCol="0">
            <a:spAutoFit/>
          </a:bodyPr>
          <a:lstStyle/>
          <a:p>
            <a:pPr fontAlgn="base"/>
            <a:r>
              <a:rPr lang="en-US" sz="2400" dirty="0"/>
              <a:t>* is a binary operation on Z </a:t>
            </a:r>
            <a:r>
              <a:rPr lang="en-US" sz="2400" dirty="0" err="1"/>
              <a:t>s.t.</a:t>
            </a:r>
            <a:r>
              <a:rPr lang="en-US" sz="2400" dirty="0"/>
              <a:t> a*b = </a:t>
            </a:r>
            <a:r>
              <a:rPr lang="en-US" sz="2400" dirty="0" err="1"/>
              <a:t>a+b+ab</a:t>
            </a:r>
            <a:r>
              <a:rPr lang="en-US" sz="2400" dirty="0"/>
              <a:t>. The solution of (3*4) * x = -1 is</a:t>
            </a:r>
            <a:br>
              <a:rPr lang="en-US" sz="2400" dirty="0"/>
            </a:br>
            <a:r>
              <a:rPr lang="en-US" sz="2400" dirty="0"/>
              <a:t>a) 0</a:t>
            </a:r>
            <a:br>
              <a:rPr lang="en-US" sz="2400" dirty="0"/>
            </a:br>
            <a:r>
              <a:rPr lang="en-US" sz="2400" dirty="0"/>
              <a:t>b) -1</a:t>
            </a:r>
            <a:br>
              <a:rPr lang="en-US" sz="2400" dirty="0"/>
            </a:br>
            <a:r>
              <a:rPr lang="en-US" sz="2400" dirty="0"/>
              <a:t>c) 1</a:t>
            </a:r>
            <a:br>
              <a:rPr lang="en-US" sz="2400" dirty="0"/>
            </a:br>
            <a:r>
              <a:rPr lang="en-US" sz="2400" dirty="0"/>
              <a:t>d) 2</a:t>
            </a:r>
          </a:p>
          <a:p>
            <a:pPr fontAlgn="base"/>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a:t>
            </a:r>
          </a:p>
          <a:p>
            <a:r>
              <a:rPr lang="en-IN" sz="2400" dirty="0">
                <a:latin typeface="Century Gothic" panose="020B0502020202020204" pitchFamily="34" charset="0"/>
                <a:cs typeface="Arial" panose="020B0604020202020204" pitchFamily="34" charset="0"/>
              </a:rPr>
              <a:t>b</a:t>
            </a:r>
          </a:p>
          <a:p>
            <a:pPr fontAlgn="base"/>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4862227" y="447271"/>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1</a:t>
            </a:r>
          </a:p>
        </p:txBody>
      </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C0B581CC-D27A-410E-B004-BF0C9E103675}"/>
                  </a:ext>
                </a:extLst>
              </p14:cNvPr>
              <p14:cNvContentPartPr/>
              <p14:nvPr/>
            </p14:nvContentPartPr>
            <p14:xfrm>
              <a:off x="7586166" y="2722888"/>
              <a:ext cx="63720" cy="14040"/>
            </p14:xfrm>
          </p:contentPart>
        </mc:Choice>
        <mc:Fallback>
          <p:pic>
            <p:nvPicPr>
              <p:cNvPr id="7" name="Ink 6">
                <a:extLst>
                  <a:ext uri="{FF2B5EF4-FFF2-40B4-BE49-F238E27FC236}">
                    <a16:creationId xmlns:a16="http://schemas.microsoft.com/office/drawing/2014/main" id="{C0B581CC-D27A-410E-B004-BF0C9E103675}"/>
                  </a:ext>
                </a:extLst>
              </p:cNvPr>
              <p:cNvPicPr/>
              <p:nvPr/>
            </p:nvPicPr>
            <p:blipFill>
              <a:blip r:embed="rId3"/>
              <a:stretch>
                <a:fillRect/>
              </a:stretch>
            </p:blipFill>
            <p:spPr>
              <a:xfrm>
                <a:off x="7577526" y="2714248"/>
                <a:ext cx="81360" cy="31680"/>
              </a:xfrm>
              <a:prstGeom prst="rect">
                <a:avLst/>
              </a:prstGeom>
            </p:spPr>
          </p:pic>
        </mc:Fallback>
      </mc:AlternateContent>
    </p:spTree>
    <p:extLst>
      <p:ext uri="{BB962C8B-B14F-4D97-AF65-F5344CB8AC3E}">
        <p14:creationId xmlns:p14="http://schemas.microsoft.com/office/powerpoint/2010/main" val="3848676627"/>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1219200" y="1295400"/>
            <a:ext cx="8928637" cy="3416320"/>
          </a:xfrm>
          <a:prstGeom prst="rect">
            <a:avLst/>
          </a:prstGeom>
          <a:noFill/>
        </p:spPr>
        <p:txBody>
          <a:bodyPr wrap="square" rtlCol="0">
            <a:spAutoFit/>
          </a:bodyPr>
          <a:lstStyle/>
          <a:p>
            <a:pPr fontAlgn="base"/>
            <a:r>
              <a:rPr lang="en-IN" sz="2400" dirty="0"/>
              <a:t>The law of a + b = b+ a is called…..</a:t>
            </a:r>
            <a:br>
              <a:rPr lang="en-IN" sz="2400" dirty="0"/>
            </a:br>
            <a:r>
              <a:rPr lang="en-IN" sz="2400" dirty="0"/>
              <a:t>a) Closure</a:t>
            </a:r>
            <a:br>
              <a:rPr lang="en-IN" sz="2400" dirty="0"/>
            </a:br>
            <a:r>
              <a:rPr lang="en-IN" sz="2400" dirty="0"/>
              <a:t>b) Distributive</a:t>
            </a:r>
            <a:br>
              <a:rPr lang="en-IN" sz="2400" dirty="0"/>
            </a:br>
            <a:r>
              <a:rPr lang="en-IN" sz="2400" dirty="0"/>
              <a:t>c) Commutative</a:t>
            </a:r>
            <a:br>
              <a:rPr lang="en-IN" sz="2400" dirty="0"/>
            </a:br>
            <a:r>
              <a:rPr lang="en-IN" sz="2400" dirty="0"/>
              <a:t>d) Associative</a:t>
            </a:r>
          </a:p>
          <a:p>
            <a:pPr fontAlgn="base"/>
            <a:endParaRPr lang="en-IN" sz="2400" dirty="0">
              <a:latin typeface="Century Gothic" panose="020B0502020202020204" pitchFamily="34" charset="0"/>
              <a:cs typeface="Arial" panose="020B0604020202020204" pitchFamily="34" charset="0"/>
            </a:endParaRPr>
          </a:p>
          <a:p>
            <a:pPr fontAlgn="base"/>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a:t>
            </a:r>
          </a:p>
          <a:p>
            <a:pPr fontAlgn="base"/>
            <a:r>
              <a:rPr lang="en-US" sz="2400" dirty="0"/>
              <a:t>c</a:t>
            </a:r>
          </a:p>
        </p:txBody>
      </p:sp>
      <p:sp>
        <p:nvSpPr>
          <p:cNvPr id="6" name="TextBox 5">
            <a:extLst>
              <a:ext uri="{FF2B5EF4-FFF2-40B4-BE49-F238E27FC236}">
                <a16:creationId xmlns:a16="http://schemas.microsoft.com/office/drawing/2014/main" id="{C2ED1AF7-2E15-4F91-A46B-3C77A3032F4C}"/>
              </a:ext>
            </a:extLst>
          </p:cNvPr>
          <p:cNvSpPr txBox="1"/>
          <p:nvPr/>
        </p:nvSpPr>
        <p:spPr>
          <a:xfrm>
            <a:off x="5199110" y="430350"/>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2</a:t>
            </a:r>
          </a:p>
        </p:txBody>
      </p:sp>
    </p:spTree>
    <p:extLst>
      <p:ext uri="{BB962C8B-B14F-4D97-AF65-F5344CB8AC3E}">
        <p14:creationId xmlns:p14="http://schemas.microsoft.com/office/powerpoint/2010/main" val="1618221520"/>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9576</TotalTime>
  <Words>3344</Words>
  <Application>Microsoft Office PowerPoint</Application>
  <PresentationFormat>Widescreen</PresentationFormat>
  <Paragraphs>421</Paragraphs>
  <Slides>42</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Century Gothic</vt:lpstr>
      <vt:lpstr>Open Sans</vt:lpstr>
      <vt:lpstr>Times New Roman</vt:lpstr>
      <vt:lpstr>Default Design</vt:lpstr>
      <vt:lpstr>Amity Institute of Information Technology BCA , Ist Semester  Basic Mathematics- Group Theory Dr Sarika Jain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Amity Institute of Information Technology MCA , Ist Semester  Graph Theory  Dr Sarika Jain</dc:title>
  <dc:creator>Lalit Kumar</dc:creator>
  <cp:lastModifiedBy>Lalit Kumar</cp:lastModifiedBy>
  <cp:revision>40</cp:revision>
  <dcterms:created xsi:type="dcterms:W3CDTF">2020-09-10T06:54:54Z</dcterms:created>
  <dcterms:modified xsi:type="dcterms:W3CDTF">2020-11-17T07:11:00Z</dcterms:modified>
</cp:coreProperties>
</file>